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firstSlideNum="0" saveSubsetFonts="1">
  <p:sldMasterIdLst>
    <p:sldMasterId id="2147483660" r:id="rId1"/>
  </p:sldMasterIdLst>
  <p:notesMasterIdLst>
    <p:notesMasterId r:id="rId357"/>
  </p:notesMasterIdLst>
  <p:handoutMasterIdLst>
    <p:handoutMasterId r:id="rId358"/>
  </p:handoutMasterIdLst>
  <p:sldIdLst>
    <p:sldId id="256" r:id="rId2"/>
    <p:sldId id="502" r:id="rId3"/>
    <p:sldId id="295" r:id="rId4"/>
    <p:sldId id="741" r:id="rId5"/>
    <p:sldId id="742" r:id="rId6"/>
    <p:sldId id="294" r:id="rId7"/>
    <p:sldId id="745" r:id="rId8"/>
    <p:sldId id="281" r:id="rId9"/>
    <p:sldId id="265" r:id="rId10"/>
    <p:sldId id="304" r:id="rId11"/>
    <p:sldId id="287" r:id="rId12"/>
    <p:sldId id="270" r:id="rId13"/>
    <p:sldId id="271" r:id="rId14"/>
    <p:sldId id="743" r:id="rId15"/>
    <p:sldId id="273" r:id="rId16"/>
    <p:sldId id="275" r:id="rId17"/>
    <p:sldId id="276" r:id="rId18"/>
    <p:sldId id="277" r:id="rId19"/>
    <p:sldId id="279" r:id="rId20"/>
    <p:sldId id="744" r:id="rId21"/>
    <p:sldId id="301" r:id="rId22"/>
    <p:sldId id="503" r:id="rId23"/>
    <p:sldId id="284" r:id="rId24"/>
    <p:sldId id="288" r:id="rId25"/>
    <p:sldId id="289" r:id="rId26"/>
    <p:sldId id="290" r:id="rId27"/>
    <p:sldId id="308" r:id="rId28"/>
    <p:sldId id="309" r:id="rId29"/>
    <p:sldId id="310" r:id="rId30"/>
    <p:sldId id="724" r:id="rId31"/>
    <p:sldId id="386" r:id="rId32"/>
    <p:sldId id="420" r:id="rId33"/>
    <p:sldId id="311" r:id="rId34"/>
    <p:sldId id="714" r:id="rId35"/>
    <p:sldId id="314" r:id="rId36"/>
    <p:sldId id="715" r:id="rId37"/>
    <p:sldId id="317" r:id="rId38"/>
    <p:sldId id="322" r:id="rId39"/>
    <p:sldId id="716" r:id="rId40"/>
    <p:sldId id="313" r:id="rId41"/>
    <p:sldId id="318" r:id="rId42"/>
    <p:sldId id="323" r:id="rId43"/>
    <p:sldId id="717" r:id="rId44"/>
    <p:sldId id="324" r:id="rId45"/>
    <p:sldId id="718" r:id="rId46"/>
    <p:sldId id="319" r:id="rId47"/>
    <p:sldId id="315" r:id="rId48"/>
    <p:sldId id="316" r:id="rId49"/>
    <p:sldId id="321" r:id="rId50"/>
    <p:sldId id="320" r:id="rId51"/>
    <p:sldId id="326" r:id="rId52"/>
    <p:sldId id="325" r:id="rId53"/>
    <p:sldId id="327" r:id="rId54"/>
    <p:sldId id="328" r:id="rId55"/>
    <p:sldId id="330" r:id="rId56"/>
    <p:sldId id="329" r:id="rId57"/>
    <p:sldId id="331" r:id="rId58"/>
    <p:sldId id="746" r:id="rId59"/>
    <p:sldId id="374" r:id="rId60"/>
    <p:sldId id="375" r:id="rId61"/>
    <p:sldId id="332" r:id="rId62"/>
    <p:sldId id="371" r:id="rId63"/>
    <p:sldId id="372" r:id="rId64"/>
    <p:sldId id="373" r:id="rId65"/>
    <p:sldId id="747" r:id="rId66"/>
    <p:sldId id="748" r:id="rId67"/>
    <p:sldId id="749" r:id="rId68"/>
    <p:sldId id="378" r:id="rId69"/>
    <p:sldId id="379" r:id="rId70"/>
    <p:sldId id="725" r:id="rId71"/>
    <p:sldId id="380" r:id="rId72"/>
    <p:sldId id="381" r:id="rId73"/>
    <p:sldId id="382" r:id="rId74"/>
    <p:sldId id="383" r:id="rId75"/>
    <p:sldId id="726" r:id="rId76"/>
    <p:sldId id="727" r:id="rId77"/>
    <p:sldId id="384" r:id="rId78"/>
    <p:sldId id="728" r:id="rId79"/>
    <p:sldId id="385" r:id="rId80"/>
    <p:sldId id="400" r:id="rId81"/>
    <p:sldId id="401" r:id="rId82"/>
    <p:sldId id="729" r:id="rId83"/>
    <p:sldId id="402" r:id="rId84"/>
    <p:sldId id="504" r:id="rId85"/>
    <p:sldId id="403" r:id="rId86"/>
    <p:sldId id="404" r:id="rId87"/>
    <p:sldId id="730" r:id="rId88"/>
    <p:sldId id="731" r:id="rId89"/>
    <p:sldId id="732" r:id="rId90"/>
    <p:sldId id="733" r:id="rId91"/>
    <p:sldId id="734" r:id="rId92"/>
    <p:sldId id="735" r:id="rId93"/>
    <p:sldId id="736" r:id="rId94"/>
    <p:sldId id="405" r:id="rId95"/>
    <p:sldId id="737" r:id="rId96"/>
    <p:sldId id="406" r:id="rId97"/>
    <p:sldId id="738" r:id="rId98"/>
    <p:sldId id="626" r:id="rId99"/>
    <p:sldId id="407" r:id="rId100"/>
    <p:sldId id="408" r:id="rId101"/>
    <p:sldId id="739" r:id="rId102"/>
    <p:sldId id="409" r:id="rId103"/>
    <p:sldId id="740" r:id="rId104"/>
    <p:sldId id="410" r:id="rId105"/>
    <p:sldId id="577" r:id="rId106"/>
    <p:sldId id="411" r:id="rId107"/>
    <p:sldId id="412" r:id="rId108"/>
    <p:sldId id="505" r:id="rId109"/>
    <p:sldId id="506" r:id="rId110"/>
    <p:sldId id="507" r:id="rId111"/>
    <p:sldId id="508" r:id="rId112"/>
    <p:sldId id="413" r:id="rId113"/>
    <p:sldId id="719" r:id="rId114"/>
    <p:sldId id="414" r:id="rId115"/>
    <p:sldId id="509" r:id="rId116"/>
    <p:sldId id="510" r:id="rId117"/>
    <p:sldId id="511" r:id="rId118"/>
    <p:sldId id="512" r:id="rId119"/>
    <p:sldId id="513" r:id="rId120"/>
    <p:sldId id="514" r:id="rId121"/>
    <p:sldId id="515" r:id="rId122"/>
    <p:sldId id="516" r:id="rId123"/>
    <p:sldId id="415" r:id="rId124"/>
    <p:sldId id="518" r:id="rId125"/>
    <p:sldId id="519" r:id="rId126"/>
    <p:sldId id="517" r:id="rId127"/>
    <p:sldId id="521" r:id="rId128"/>
    <p:sldId id="524" r:id="rId129"/>
    <p:sldId id="522" r:id="rId130"/>
    <p:sldId id="525" r:id="rId131"/>
    <p:sldId id="526" r:id="rId132"/>
    <p:sldId id="720" r:id="rId133"/>
    <p:sldId id="527" r:id="rId134"/>
    <p:sldId id="528" r:id="rId135"/>
    <p:sldId id="529" r:id="rId136"/>
    <p:sldId id="530" r:id="rId137"/>
    <p:sldId id="531" r:id="rId138"/>
    <p:sldId id="532" r:id="rId139"/>
    <p:sldId id="541" r:id="rId140"/>
    <p:sldId id="536" r:id="rId141"/>
    <p:sldId id="537" r:id="rId142"/>
    <p:sldId id="538" r:id="rId143"/>
    <p:sldId id="539" r:id="rId144"/>
    <p:sldId id="540" r:id="rId145"/>
    <p:sldId id="533" r:id="rId146"/>
    <p:sldId id="535" r:id="rId147"/>
    <p:sldId id="542" r:id="rId148"/>
    <p:sldId id="543" r:id="rId149"/>
    <p:sldId id="544" r:id="rId150"/>
    <p:sldId id="545" r:id="rId151"/>
    <p:sldId id="546" r:id="rId152"/>
    <p:sldId id="547" r:id="rId153"/>
    <p:sldId id="548" r:id="rId154"/>
    <p:sldId id="549" r:id="rId155"/>
    <p:sldId id="550" r:id="rId156"/>
    <p:sldId id="551" r:id="rId157"/>
    <p:sldId id="552" r:id="rId158"/>
    <p:sldId id="553" r:id="rId159"/>
    <p:sldId id="556" r:id="rId160"/>
    <p:sldId id="557" r:id="rId161"/>
    <p:sldId id="560" r:id="rId162"/>
    <p:sldId id="558" r:id="rId163"/>
    <p:sldId id="559" r:id="rId164"/>
    <p:sldId id="555" r:id="rId165"/>
    <p:sldId id="554" r:id="rId166"/>
    <p:sldId id="561" r:id="rId167"/>
    <p:sldId id="562" r:id="rId168"/>
    <p:sldId id="563" r:id="rId169"/>
    <p:sldId id="564" r:id="rId170"/>
    <p:sldId id="565" r:id="rId171"/>
    <p:sldId id="566" r:id="rId172"/>
    <p:sldId id="569" r:id="rId173"/>
    <p:sldId id="567" r:id="rId174"/>
    <p:sldId id="568" r:id="rId175"/>
    <p:sldId id="570" r:id="rId176"/>
    <p:sldId id="571" r:id="rId177"/>
    <p:sldId id="572" r:id="rId178"/>
    <p:sldId id="722" r:id="rId179"/>
    <p:sldId id="574" r:id="rId180"/>
    <p:sldId id="578" r:id="rId181"/>
    <p:sldId id="575" r:id="rId182"/>
    <p:sldId id="576" r:id="rId183"/>
    <p:sldId id="590" r:id="rId184"/>
    <p:sldId id="591" r:id="rId185"/>
    <p:sldId id="592" r:id="rId186"/>
    <p:sldId id="588" r:id="rId187"/>
    <p:sldId id="589" r:id="rId188"/>
    <p:sldId id="593" r:id="rId189"/>
    <p:sldId id="595" r:id="rId190"/>
    <p:sldId id="596" r:id="rId191"/>
    <p:sldId id="594" r:id="rId192"/>
    <p:sldId id="579" r:id="rId193"/>
    <p:sldId id="583" r:id="rId194"/>
    <p:sldId id="580" r:id="rId195"/>
    <p:sldId id="582" r:id="rId196"/>
    <p:sldId id="584" r:id="rId197"/>
    <p:sldId id="587" r:id="rId198"/>
    <p:sldId id="586" r:id="rId199"/>
    <p:sldId id="585" r:id="rId200"/>
    <p:sldId id="337" r:id="rId201"/>
    <p:sldId id="338" r:id="rId202"/>
    <p:sldId id="750" r:id="rId203"/>
    <p:sldId id="388" r:id="rId204"/>
    <p:sldId id="611" r:id="rId205"/>
    <p:sldId id="612" r:id="rId206"/>
    <p:sldId id="613" r:id="rId207"/>
    <p:sldId id="614" r:id="rId208"/>
    <p:sldId id="615" r:id="rId209"/>
    <p:sldId id="616" r:id="rId210"/>
    <p:sldId id="617" r:id="rId211"/>
    <p:sldId id="389" r:id="rId212"/>
    <p:sldId id="618" r:id="rId213"/>
    <p:sldId id="619" r:id="rId214"/>
    <p:sldId id="620" r:id="rId215"/>
    <p:sldId id="621" r:id="rId216"/>
    <p:sldId id="622" r:id="rId217"/>
    <p:sldId id="623" r:id="rId218"/>
    <p:sldId id="624" r:id="rId219"/>
    <p:sldId id="390" r:id="rId220"/>
    <p:sldId id="627" r:id="rId221"/>
    <p:sldId id="392" r:id="rId222"/>
    <p:sldId id="393" r:id="rId223"/>
    <p:sldId id="628" r:id="rId224"/>
    <p:sldId id="629" r:id="rId225"/>
    <p:sldId id="394" r:id="rId226"/>
    <p:sldId id="630" r:id="rId227"/>
    <p:sldId id="631" r:id="rId228"/>
    <p:sldId id="632" r:id="rId229"/>
    <p:sldId id="633" r:id="rId230"/>
    <p:sldId id="634" r:id="rId231"/>
    <p:sldId id="635" r:id="rId232"/>
    <p:sldId id="636" r:id="rId233"/>
    <p:sldId id="637" r:id="rId234"/>
    <p:sldId id="638" r:id="rId235"/>
    <p:sldId id="639" r:id="rId236"/>
    <p:sldId id="640" r:id="rId237"/>
    <p:sldId id="641" r:id="rId238"/>
    <p:sldId id="642" r:id="rId239"/>
    <p:sldId id="643" r:id="rId240"/>
    <p:sldId id="644" r:id="rId241"/>
    <p:sldId id="645" r:id="rId242"/>
    <p:sldId id="646" r:id="rId243"/>
    <p:sldId id="647" r:id="rId244"/>
    <p:sldId id="668" r:id="rId245"/>
    <p:sldId id="669" r:id="rId246"/>
    <p:sldId id="670" r:id="rId247"/>
    <p:sldId id="648" r:id="rId248"/>
    <p:sldId id="649" r:id="rId249"/>
    <p:sldId id="650" r:id="rId250"/>
    <p:sldId id="723" r:id="rId251"/>
    <p:sldId id="652" r:id="rId252"/>
    <p:sldId id="653" r:id="rId253"/>
    <p:sldId id="654" r:id="rId254"/>
    <p:sldId id="655" r:id="rId255"/>
    <p:sldId id="656" r:id="rId256"/>
    <p:sldId id="657" r:id="rId257"/>
    <p:sldId id="658" r:id="rId258"/>
    <p:sldId id="659" r:id="rId259"/>
    <p:sldId id="660" r:id="rId260"/>
    <p:sldId id="661" r:id="rId261"/>
    <p:sldId id="662" r:id="rId262"/>
    <p:sldId id="663" r:id="rId263"/>
    <p:sldId id="664" r:id="rId264"/>
    <p:sldId id="665" r:id="rId265"/>
    <p:sldId id="666" r:id="rId266"/>
    <p:sldId id="667" r:id="rId267"/>
    <p:sldId id="395" r:id="rId268"/>
    <p:sldId id="671" r:id="rId269"/>
    <p:sldId id="672" r:id="rId270"/>
    <p:sldId id="673" r:id="rId271"/>
    <p:sldId id="674" r:id="rId272"/>
    <p:sldId id="675" r:id="rId273"/>
    <p:sldId id="676" r:id="rId274"/>
    <p:sldId id="677" r:id="rId275"/>
    <p:sldId id="678" r:id="rId276"/>
    <p:sldId id="679" r:id="rId277"/>
    <p:sldId id="680" r:id="rId278"/>
    <p:sldId id="681" r:id="rId279"/>
    <p:sldId id="682" r:id="rId280"/>
    <p:sldId id="683" r:id="rId281"/>
    <p:sldId id="684" r:id="rId282"/>
    <p:sldId id="685" r:id="rId283"/>
    <p:sldId id="686" r:id="rId284"/>
    <p:sldId id="687" r:id="rId285"/>
    <p:sldId id="688" r:id="rId286"/>
    <p:sldId id="689" r:id="rId287"/>
    <p:sldId id="690" r:id="rId288"/>
    <p:sldId id="691" r:id="rId289"/>
    <p:sldId id="692" r:id="rId290"/>
    <p:sldId id="693" r:id="rId291"/>
    <p:sldId id="694" r:id="rId292"/>
    <p:sldId id="695" r:id="rId293"/>
    <p:sldId id="696" r:id="rId294"/>
    <p:sldId id="697" r:id="rId295"/>
    <p:sldId id="698" r:id="rId296"/>
    <p:sldId id="699" r:id="rId297"/>
    <p:sldId id="700" r:id="rId298"/>
    <p:sldId id="701" r:id="rId299"/>
    <p:sldId id="702" r:id="rId300"/>
    <p:sldId id="703" r:id="rId301"/>
    <p:sldId id="704" r:id="rId302"/>
    <p:sldId id="705" r:id="rId303"/>
    <p:sldId id="706" r:id="rId304"/>
    <p:sldId id="707" r:id="rId305"/>
    <p:sldId id="708" r:id="rId306"/>
    <p:sldId id="709" r:id="rId307"/>
    <p:sldId id="710" r:id="rId308"/>
    <p:sldId id="711" r:id="rId309"/>
    <p:sldId id="712" r:id="rId310"/>
    <p:sldId id="713" r:id="rId311"/>
    <p:sldId id="597" r:id="rId312"/>
    <p:sldId id="599" r:id="rId313"/>
    <p:sldId id="600" r:id="rId314"/>
    <p:sldId id="598" r:id="rId315"/>
    <p:sldId id="601" r:id="rId316"/>
    <p:sldId id="602" r:id="rId317"/>
    <p:sldId id="603" r:id="rId318"/>
    <p:sldId id="604" r:id="rId319"/>
    <p:sldId id="605" r:id="rId320"/>
    <p:sldId id="340" r:id="rId321"/>
    <p:sldId id="341" r:id="rId322"/>
    <p:sldId id="751" r:id="rId323"/>
    <p:sldId id="365" r:id="rId324"/>
    <p:sldId id="366" r:id="rId325"/>
    <p:sldId id="367" r:id="rId326"/>
    <p:sldId id="368" r:id="rId327"/>
    <p:sldId id="369" r:id="rId328"/>
    <p:sldId id="370" r:id="rId329"/>
    <p:sldId id="387" r:id="rId330"/>
    <p:sldId id="356" r:id="rId331"/>
    <p:sldId id="357" r:id="rId332"/>
    <p:sldId id="753" r:id="rId333"/>
    <p:sldId id="359" r:id="rId334"/>
    <p:sldId id="360" r:id="rId335"/>
    <p:sldId id="361" r:id="rId336"/>
    <p:sldId id="755" r:id="rId337"/>
    <p:sldId id="363" r:id="rId338"/>
    <p:sldId id="364" r:id="rId339"/>
    <p:sldId id="344" r:id="rId340"/>
    <p:sldId id="345" r:id="rId341"/>
    <p:sldId id="752" r:id="rId342"/>
    <p:sldId id="343" r:id="rId343"/>
    <p:sldId id="347" r:id="rId344"/>
    <p:sldId id="348" r:id="rId345"/>
    <p:sldId id="349" r:id="rId346"/>
    <p:sldId id="350" r:id="rId347"/>
    <p:sldId id="351" r:id="rId348"/>
    <p:sldId id="352" r:id="rId349"/>
    <p:sldId id="353" r:id="rId350"/>
    <p:sldId id="354" r:id="rId351"/>
    <p:sldId id="608" r:id="rId352"/>
    <p:sldId id="609" r:id="rId353"/>
    <p:sldId id="754" r:id="rId354"/>
    <p:sldId id="607" r:id="rId355"/>
    <p:sldId id="625" r:id="rId356"/>
  </p:sldIdLst>
  <p:sldSz cx="9906000" cy="6858000" type="A4"/>
  <p:notesSz cx="6797675" cy="9926638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기본 구역" id="{B2DA4170-F762-425B-95F8-DAAFDEEB0953}">
          <p14:sldIdLst>
            <p14:sldId id="256"/>
            <p14:sldId id="502"/>
            <p14:sldId id="295"/>
            <p14:sldId id="741"/>
            <p14:sldId id="742"/>
          </p14:sldIdLst>
        </p14:section>
        <p14:section name="01.앱실행, 로그인" id="{7E43C6AD-2135-422B-B2B2-E0906DF4CC1E}">
          <p14:sldIdLst>
            <p14:sldId id="294"/>
            <p14:sldId id="745"/>
            <p14:sldId id="281"/>
            <p14:sldId id="265"/>
            <p14:sldId id="304"/>
            <p14:sldId id="287"/>
            <p14:sldId id="270"/>
            <p14:sldId id="271"/>
            <p14:sldId id="743"/>
            <p14:sldId id="273"/>
            <p14:sldId id="275"/>
            <p14:sldId id="276"/>
            <p14:sldId id="277"/>
            <p14:sldId id="279"/>
            <p14:sldId id="744"/>
            <p14:sldId id="301"/>
            <p14:sldId id="503"/>
            <p14:sldId id="284"/>
            <p14:sldId id="288"/>
            <p14:sldId id="289"/>
            <p14:sldId id="290"/>
            <p14:sldId id="308"/>
            <p14:sldId id="309"/>
            <p14:sldId id="310"/>
            <p14:sldId id="724"/>
            <p14:sldId id="386"/>
            <p14:sldId id="420"/>
            <p14:sldId id="311"/>
            <p14:sldId id="714"/>
            <p14:sldId id="314"/>
            <p14:sldId id="715"/>
            <p14:sldId id="317"/>
            <p14:sldId id="322"/>
            <p14:sldId id="716"/>
            <p14:sldId id="313"/>
            <p14:sldId id="318"/>
            <p14:sldId id="323"/>
            <p14:sldId id="717"/>
            <p14:sldId id="324"/>
            <p14:sldId id="718"/>
            <p14:sldId id="319"/>
            <p14:sldId id="315"/>
            <p14:sldId id="316"/>
            <p14:sldId id="321"/>
            <p14:sldId id="320"/>
            <p14:sldId id="326"/>
            <p14:sldId id="325"/>
            <p14:sldId id="327"/>
            <p14:sldId id="328"/>
            <p14:sldId id="330"/>
            <p14:sldId id="329"/>
          </p14:sldIdLst>
        </p14:section>
        <p14:section name="02.마이페이지" id="{0DFCED7B-14DB-43DA-80A6-9739242572F6}">
          <p14:sldIdLst>
            <p14:sldId id="331"/>
            <p14:sldId id="746"/>
            <p14:sldId id="374"/>
            <p14:sldId id="375"/>
            <p14:sldId id="332"/>
            <p14:sldId id="371"/>
            <p14:sldId id="372"/>
            <p14:sldId id="373"/>
            <p14:sldId id="747"/>
            <p14:sldId id="748"/>
            <p14:sldId id="749"/>
            <p14:sldId id="378"/>
            <p14:sldId id="379"/>
            <p14:sldId id="725"/>
            <p14:sldId id="380"/>
            <p14:sldId id="381"/>
            <p14:sldId id="382"/>
            <p14:sldId id="383"/>
            <p14:sldId id="726"/>
            <p14:sldId id="727"/>
            <p14:sldId id="384"/>
            <p14:sldId id="728"/>
            <p14:sldId id="385"/>
            <p14:sldId id="400"/>
            <p14:sldId id="401"/>
            <p14:sldId id="729"/>
            <p14:sldId id="402"/>
            <p14:sldId id="504"/>
            <p14:sldId id="403"/>
            <p14:sldId id="404"/>
            <p14:sldId id="730"/>
            <p14:sldId id="731"/>
            <p14:sldId id="732"/>
            <p14:sldId id="733"/>
            <p14:sldId id="734"/>
            <p14:sldId id="735"/>
            <p14:sldId id="736"/>
            <p14:sldId id="405"/>
            <p14:sldId id="737"/>
            <p14:sldId id="406"/>
            <p14:sldId id="738"/>
            <p14:sldId id="626"/>
            <p14:sldId id="407"/>
            <p14:sldId id="408"/>
            <p14:sldId id="739"/>
            <p14:sldId id="409"/>
            <p14:sldId id="740"/>
          </p14:sldIdLst>
        </p14:section>
        <p14:section name="업체정보관리" id="{50D8D151-F082-4229-B97C-00A16B270850}">
          <p14:sldIdLst>
            <p14:sldId id="410"/>
            <p14:sldId id="577"/>
            <p14:sldId id="411"/>
            <p14:sldId id="412"/>
            <p14:sldId id="505"/>
            <p14:sldId id="506"/>
            <p14:sldId id="507"/>
            <p14:sldId id="508"/>
            <p14:sldId id="413"/>
            <p14:sldId id="719"/>
            <p14:sldId id="414"/>
            <p14:sldId id="509"/>
            <p14:sldId id="510"/>
            <p14:sldId id="511"/>
            <p14:sldId id="512"/>
            <p14:sldId id="513"/>
            <p14:sldId id="514"/>
            <p14:sldId id="515"/>
            <p14:sldId id="516"/>
            <p14:sldId id="415"/>
            <p14:sldId id="518"/>
            <p14:sldId id="519"/>
            <p14:sldId id="517"/>
            <p14:sldId id="521"/>
            <p14:sldId id="524"/>
            <p14:sldId id="522"/>
            <p14:sldId id="525"/>
            <p14:sldId id="526"/>
            <p14:sldId id="720"/>
            <p14:sldId id="527"/>
            <p14:sldId id="528"/>
            <p14:sldId id="529"/>
            <p14:sldId id="530"/>
            <p14:sldId id="531"/>
            <p14:sldId id="532"/>
            <p14:sldId id="541"/>
            <p14:sldId id="536"/>
            <p14:sldId id="537"/>
            <p14:sldId id="538"/>
            <p14:sldId id="539"/>
            <p14:sldId id="540"/>
            <p14:sldId id="533"/>
            <p14:sldId id="535"/>
            <p14:sldId id="542"/>
            <p14:sldId id="543"/>
            <p14:sldId id="544"/>
            <p14:sldId id="545"/>
            <p14:sldId id="546"/>
            <p14:sldId id="547"/>
            <p14:sldId id="548"/>
            <p14:sldId id="549"/>
            <p14:sldId id="550"/>
            <p14:sldId id="551"/>
            <p14:sldId id="552"/>
            <p14:sldId id="553"/>
            <p14:sldId id="556"/>
            <p14:sldId id="557"/>
            <p14:sldId id="560"/>
            <p14:sldId id="558"/>
            <p14:sldId id="559"/>
            <p14:sldId id="555"/>
            <p14:sldId id="554"/>
            <p14:sldId id="561"/>
            <p14:sldId id="562"/>
            <p14:sldId id="563"/>
            <p14:sldId id="564"/>
            <p14:sldId id="565"/>
            <p14:sldId id="566"/>
            <p14:sldId id="569"/>
            <p14:sldId id="567"/>
            <p14:sldId id="568"/>
            <p14:sldId id="570"/>
            <p14:sldId id="571"/>
            <p14:sldId id="572"/>
            <p14:sldId id="722"/>
          </p14:sldIdLst>
        </p14:section>
        <p14:section name="사용자정보관리" id="{41411C3E-8007-4445-AF0C-3F184754AE3A}">
          <p14:sldIdLst>
            <p14:sldId id="574"/>
            <p14:sldId id="578"/>
            <p14:sldId id="575"/>
            <p14:sldId id="576"/>
            <p14:sldId id="590"/>
            <p14:sldId id="591"/>
            <p14:sldId id="592"/>
            <p14:sldId id="588"/>
            <p14:sldId id="589"/>
            <p14:sldId id="593"/>
            <p14:sldId id="595"/>
            <p14:sldId id="596"/>
            <p14:sldId id="594"/>
            <p14:sldId id="579"/>
            <p14:sldId id="583"/>
            <p14:sldId id="580"/>
            <p14:sldId id="582"/>
            <p14:sldId id="584"/>
            <p14:sldId id="587"/>
            <p14:sldId id="586"/>
            <p14:sldId id="585"/>
          </p14:sldIdLst>
        </p14:section>
        <p14:section name="03.고객센터" id="{31AD4FE9-64B7-4CD8-8B66-89803A7FBCEB}">
          <p14:sldIdLst>
            <p14:sldId id="337"/>
            <p14:sldId id="338"/>
            <p14:sldId id="750"/>
            <p14:sldId id="388"/>
            <p14:sldId id="611"/>
            <p14:sldId id="612"/>
            <p14:sldId id="613"/>
            <p14:sldId id="614"/>
            <p14:sldId id="615"/>
            <p14:sldId id="616"/>
            <p14:sldId id="617"/>
            <p14:sldId id="389"/>
            <p14:sldId id="618"/>
            <p14:sldId id="619"/>
            <p14:sldId id="620"/>
            <p14:sldId id="621"/>
            <p14:sldId id="622"/>
            <p14:sldId id="623"/>
            <p14:sldId id="624"/>
            <p14:sldId id="390"/>
            <p14:sldId id="627"/>
            <p14:sldId id="392"/>
            <p14:sldId id="393"/>
            <p14:sldId id="628"/>
            <p14:sldId id="629"/>
            <p14:sldId id="394"/>
            <p14:sldId id="630"/>
            <p14:sldId id="631"/>
            <p14:sldId id="632"/>
            <p14:sldId id="633"/>
            <p14:sldId id="634"/>
            <p14:sldId id="635"/>
            <p14:sldId id="636"/>
            <p14:sldId id="637"/>
            <p14:sldId id="638"/>
            <p14:sldId id="639"/>
            <p14:sldId id="640"/>
            <p14:sldId id="641"/>
            <p14:sldId id="642"/>
            <p14:sldId id="643"/>
            <p14:sldId id="644"/>
            <p14:sldId id="645"/>
            <p14:sldId id="646"/>
            <p14:sldId id="647"/>
            <p14:sldId id="668"/>
            <p14:sldId id="669"/>
            <p14:sldId id="670"/>
            <p14:sldId id="648"/>
            <p14:sldId id="649"/>
            <p14:sldId id="650"/>
            <p14:sldId id="723"/>
            <p14:sldId id="652"/>
            <p14:sldId id="653"/>
            <p14:sldId id="654"/>
            <p14:sldId id="655"/>
            <p14:sldId id="656"/>
            <p14:sldId id="657"/>
            <p14:sldId id="658"/>
            <p14:sldId id="659"/>
            <p14:sldId id="660"/>
            <p14:sldId id="661"/>
            <p14:sldId id="662"/>
            <p14:sldId id="663"/>
            <p14:sldId id="664"/>
            <p14:sldId id="665"/>
            <p14:sldId id="666"/>
            <p14:sldId id="667"/>
            <p14:sldId id="395"/>
            <p14:sldId id="671"/>
            <p14:sldId id="672"/>
            <p14:sldId id="673"/>
            <p14:sldId id="674"/>
            <p14:sldId id="675"/>
            <p14:sldId id="676"/>
            <p14:sldId id="677"/>
            <p14:sldId id="678"/>
            <p14:sldId id="679"/>
            <p14:sldId id="680"/>
            <p14:sldId id="681"/>
            <p14:sldId id="682"/>
            <p14:sldId id="683"/>
            <p14:sldId id="684"/>
            <p14:sldId id="685"/>
            <p14:sldId id="686"/>
            <p14:sldId id="687"/>
            <p14:sldId id="688"/>
            <p14:sldId id="689"/>
            <p14:sldId id="690"/>
            <p14:sldId id="691"/>
            <p14:sldId id="692"/>
            <p14:sldId id="693"/>
            <p14:sldId id="694"/>
            <p14:sldId id="695"/>
            <p14:sldId id="696"/>
            <p14:sldId id="697"/>
            <p14:sldId id="698"/>
            <p14:sldId id="699"/>
            <p14:sldId id="700"/>
            <p14:sldId id="701"/>
            <p14:sldId id="702"/>
            <p14:sldId id="703"/>
            <p14:sldId id="704"/>
            <p14:sldId id="705"/>
            <p14:sldId id="706"/>
            <p14:sldId id="707"/>
            <p14:sldId id="708"/>
            <p14:sldId id="709"/>
            <p14:sldId id="710"/>
            <p14:sldId id="711"/>
            <p14:sldId id="712"/>
            <p14:sldId id="713"/>
            <p14:sldId id="597"/>
            <p14:sldId id="599"/>
            <p14:sldId id="600"/>
            <p14:sldId id="598"/>
            <p14:sldId id="601"/>
            <p14:sldId id="602"/>
            <p14:sldId id="603"/>
            <p14:sldId id="604"/>
            <p14:sldId id="605"/>
          </p14:sldIdLst>
        </p14:section>
        <p14:section name="04.인증센터" id="{370026AB-4560-42C7-933C-20AD7FF7D4C7}">
          <p14:sldIdLst>
            <p14:sldId id="340"/>
            <p14:sldId id="341"/>
            <p14:sldId id="751"/>
            <p14:sldId id="365"/>
            <p14:sldId id="366"/>
            <p14:sldId id="367"/>
            <p14:sldId id="368"/>
            <p14:sldId id="369"/>
            <p14:sldId id="370"/>
            <p14:sldId id="387"/>
          </p14:sldIdLst>
        </p14:section>
        <p14:section name="05.국방전자조달 소개" id="{317907BD-AF37-4930-AA6E-11361BD27737}">
          <p14:sldIdLst>
            <p14:sldId id="356"/>
            <p14:sldId id="357"/>
            <p14:sldId id="753"/>
            <p14:sldId id="359"/>
            <p14:sldId id="360"/>
            <p14:sldId id="361"/>
            <p14:sldId id="755"/>
            <p14:sldId id="363"/>
            <p14:sldId id="364"/>
          </p14:sldIdLst>
        </p14:section>
        <p14:section name="06.이용안내" id="{2AA9B4A0-6D89-4E2A-BCBC-A38FB8486982}">
          <p14:sldIdLst>
            <p14:sldId id="344"/>
            <p14:sldId id="345"/>
            <p14:sldId id="752"/>
            <p14:sldId id="343"/>
            <p14:sldId id="347"/>
            <p14:sldId id="348"/>
            <p14:sldId id="349"/>
            <p14:sldId id="350"/>
            <p14:sldId id="351"/>
            <p14:sldId id="352"/>
            <p14:sldId id="353"/>
            <p14:sldId id="354"/>
          </p14:sldIdLst>
        </p14:section>
        <p14:section name="07. 앱설정" id="{8336C8C1-3D30-4EFD-A9FE-B72CDC643A19}">
          <p14:sldIdLst>
            <p14:sldId id="608"/>
            <p14:sldId id="609"/>
            <p14:sldId id="754"/>
            <p14:sldId id="607"/>
            <p14:sldId id="625"/>
          </p14:sldIdLst>
        </p14:section>
      </p14:sectionLst>
    </p:ex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5B9BD5"/>
    <a:srgbClr val="000000"/>
    <a:srgbClr val="0D0D0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616DA210-FB5B-4158-B5E0-FEB733F419BA}" styleName="밝은 스타일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2869" autoAdjust="0"/>
    <p:restoredTop sz="94660"/>
  </p:normalViewPr>
  <p:slideViewPr>
    <p:cSldViewPr snapToGrid="0">
      <p:cViewPr varScale="1">
        <p:scale>
          <a:sx n="177" d="100"/>
          <a:sy n="177" d="100"/>
        </p:scale>
        <p:origin x="1128" y="104"/>
      </p:cViewPr>
      <p:guideLst/>
    </p:cSldViewPr>
  </p:slideViewPr>
  <p:notesTextViewPr>
    <p:cViewPr>
      <p:scale>
        <a:sx n="3" d="2"/>
        <a:sy n="3" d="2"/>
      </p:scale>
      <p:origin x="0" y="0"/>
    </p:cViewPr>
  </p:notesTextViewPr>
  <p:notesViewPr>
    <p:cSldViewPr snapToGrid="0">
      <p:cViewPr varScale="1">
        <p:scale>
          <a:sx n="81" d="100"/>
          <a:sy n="81" d="100"/>
        </p:scale>
        <p:origin x="3996" y="84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99" Type="http://schemas.openxmlformats.org/officeDocument/2006/relationships/slide" Target="slides/slide298.xml"/><Relationship Id="rId21" Type="http://schemas.openxmlformats.org/officeDocument/2006/relationships/slide" Target="slides/slide20.xml"/><Relationship Id="rId63" Type="http://schemas.openxmlformats.org/officeDocument/2006/relationships/slide" Target="slides/slide62.xml"/><Relationship Id="rId159" Type="http://schemas.openxmlformats.org/officeDocument/2006/relationships/slide" Target="slides/slide158.xml"/><Relationship Id="rId324" Type="http://schemas.openxmlformats.org/officeDocument/2006/relationships/slide" Target="slides/slide323.xml"/><Relationship Id="rId170" Type="http://schemas.openxmlformats.org/officeDocument/2006/relationships/slide" Target="slides/slide169.xml"/><Relationship Id="rId226" Type="http://schemas.openxmlformats.org/officeDocument/2006/relationships/slide" Target="slides/slide225.xml"/><Relationship Id="rId268" Type="http://schemas.openxmlformats.org/officeDocument/2006/relationships/slide" Target="slides/slide267.xml"/><Relationship Id="rId32" Type="http://schemas.openxmlformats.org/officeDocument/2006/relationships/slide" Target="slides/slide31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335" Type="http://schemas.openxmlformats.org/officeDocument/2006/relationships/slide" Target="slides/slide334.xml"/><Relationship Id="rId5" Type="http://schemas.openxmlformats.org/officeDocument/2006/relationships/slide" Target="slides/slide4.xml"/><Relationship Id="rId181" Type="http://schemas.openxmlformats.org/officeDocument/2006/relationships/slide" Target="slides/slide180.xml"/><Relationship Id="rId237" Type="http://schemas.openxmlformats.org/officeDocument/2006/relationships/slide" Target="slides/slide236.xml"/><Relationship Id="rId279" Type="http://schemas.openxmlformats.org/officeDocument/2006/relationships/slide" Target="slides/slide278.xml"/><Relationship Id="rId43" Type="http://schemas.openxmlformats.org/officeDocument/2006/relationships/slide" Target="slides/slide42.xml"/><Relationship Id="rId139" Type="http://schemas.openxmlformats.org/officeDocument/2006/relationships/slide" Target="slides/slide138.xml"/><Relationship Id="rId290" Type="http://schemas.openxmlformats.org/officeDocument/2006/relationships/slide" Target="slides/slide289.xml"/><Relationship Id="rId304" Type="http://schemas.openxmlformats.org/officeDocument/2006/relationships/slide" Target="slides/slide303.xml"/><Relationship Id="rId346" Type="http://schemas.openxmlformats.org/officeDocument/2006/relationships/slide" Target="slides/slide345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92" Type="http://schemas.openxmlformats.org/officeDocument/2006/relationships/slide" Target="slides/slide191.xml"/><Relationship Id="rId206" Type="http://schemas.openxmlformats.org/officeDocument/2006/relationships/slide" Target="slides/slide205.xml"/><Relationship Id="rId248" Type="http://schemas.openxmlformats.org/officeDocument/2006/relationships/slide" Target="slides/slide247.xml"/><Relationship Id="rId12" Type="http://schemas.openxmlformats.org/officeDocument/2006/relationships/slide" Target="slides/slide11.xml"/><Relationship Id="rId108" Type="http://schemas.openxmlformats.org/officeDocument/2006/relationships/slide" Target="slides/slide107.xml"/><Relationship Id="rId315" Type="http://schemas.openxmlformats.org/officeDocument/2006/relationships/slide" Target="slides/slide314.xml"/><Relationship Id="rId357" Type="http://schemas.openxmlformats.org/officeDocument/2006/relationships/notesMaster" Target="notesMasters/notesMaster1.xml"/><Relationship Id="rId54" Type="http://schemas.openxmlformats.org/officeDocument/2006/relationships/slide" Target="slides/slide53.xml"/><Relationship Id="rId96" Type="http://schemas.openxmlformats.org/officeDocument/2006/relationships/slide" Target="slides/slide95.xml"/><Relationship Id="rId161" Type="http://schemas.openxmlformats.org/officeDocument/2006/relationships/slide" Target="slides/slide160.xml"/><Relationship Id="rId217" Type="http://schemas.openxmlformats.org/officeDocument/2006/relationships/slide" Target="slides/slide216.xml"/><Relationship Id="rId259" Type="http://schemas.openxmlformats.org/officeDocument/2006/relationships/slide" Target="slides/slide258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270" Type="http://schemas.openxmlformats.org/officeDocument/2006/relationships/slide" Target="slides/slide269.xml"/><Relationship Id="rId326" Type="http://schemas.openxmlformats.org/officeDocument/2006/relationships/slide" Target="slides/slide325.xml"/><Relationship Id="rId65" Type="http://schemas.openxmlformats.org/officeDocument/2006/relationships/slide" Target="slides/slide64.xml"/><Relationship Id="rId130" Type="http://schemas.openxmlformats.org/officeDocument/2006/relationships/slide" Target="slides/slide129.xml"/><Relationship Id="rId172" Type="http://schemas.openxmlformats.org/officeDocument/2006/relationships/slide" Target="slides/slide171.xml"/><Relationship Id="rId228" Type="http://schemas.openxmlformats.org/officeDocument/2006/relationships/slide" Target="slides/slide227.xml"/><Relationship Id="rId281" Type="http://schemas.openxmlformats.org/officeDocument/2006/relationships/slide" Target="slides/slide280.xml"/><Relationship Id="rId337" Type="http://schemas.openxmlformats.org/officeDocument/2006/relationships/slide" Target="slides/slide336.xml"/><Relationship Id="rId34" Type="http://schemas.openxmlformats.org/officeDocument/2006/relationships/slide" Target="slides/slide33.xml"/><Relationship Id="rId76" Type="http://schemas.openxmlformats.org/officeDocument/2006/relationships/slide" Target="slides/slide75.xml"/><Relationship Id="rId141" Type="http://schemas.openxmlformats.org/officeDocument/2006/relationships/slide" Target="slides/slide140.xml"/><Relationship Id="rId7" Type="http://schemas.openxmlformats.org/officeDocument/2006/relationships/slide" Target="slides/slide6.xml"/><Relationship Id="rId183" Type="http://schemas.openxmlformats.org/officeDocument/2006/relationships/slide" Target="slides/slide182.xml"/><Relationship Id="rId239" Type="http://schemas.openxmlformats.org/officeDocument/2006/relationships/slide" Target="slides/slide238.xml"/><Relationship Id="rId250" Type="http://schemas.openxmlformats.org/officeDocument/2006/relationships/slide" Target="slides/slide249.xml"/><Relationship Id="rId292" Type="http://schemas.openxmlformats.org/officeDocument/2006/relationships/slide" Target="slides/slide291.xml"/><Relationship Id="rId306" Type="http://schemas.openxmlformats.org/officeDocument/2006/relationships/slide" Target="slides/slide305.xml"/><Relationship Id="rId45" Type="http://schemas.openxmlformats.org/officeDocument/2006/relationships/slide" Target="slides/slide44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348" Type="http://schemas.openxmlformats.org/officeDocument/2006/relationships/slide" Target="slides/slide347.xml"/><Relationship Id="rId152" Type="http://schemas.openxmlformats.org/officeDocument/2006/relationships/slide" Target="slides/slide151.xml"/><Relationship Id="rId194" Type="http://schemas.openxmlformats.org/officeDocument/2006/relationships/slide" Target="slides/slide193.xml"/><Relationship Id="rId208" Type="http://schemas.openxmlformats.org/officeDocument/2006/relationships/slide" Target="slides/slide207.xml"/><Relationship Id="rId261" Type="http://schemas.openxmlformats.org/officeDocument/2006/relationships/slide" Target="slides/slide260.xml"/><Relationship Id="rId14" Type="http://schemas.openxmlformats.org/officeDocument/2006/relationships/slide" Target="slides/slide13.xml"/><Relationship Id="rId56" Type="http://schemas.openxmlformats.org/officeDocument/2006/relationships/slide" Target="slides/slide55.xml"/><Relationship Id="rId317" Type="http://schemas.openxmlformats.org/officeDocument/2006/relationships/slide" Target="slides/slide316.xml"/><Relationship Id="rId359" Type="http://schemas.openxmlformats.org/officeDocument/2006/relationships/presProps" Target="presProps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63" Type="http://schemas.openxmlformats.org/officeDocument/2006/relationships/slide" Target="slides/slide162.xml"/><Relationship Id="rId219" Type="http://schemas.openxmlformats.org/officeDocument/2006/relationships/slide" Target="slides/slide218.xml"/><Relationship Id="rId230" Type="http://schemas.openxmlformats.org/officeDocument/2006/relationships/slide" Target="slides/slide229.xml"/><Relationship Id="rId25" Type="http://schemas.openxmlformats.org/officeDocument/2006/relationships/slide" Target="slides/slide24.xml"/><Relationship Id="rId67" Type="http://schemas.openxmlformats.org/officeDocument/2006/relationships/slide" Target="slides/slide66.xml"/><Relationship Id="rId272" Type="http://schemas.openxmlformats.org/officeDocument/2006/relationships/slide" Target="slides/slide271.xml"/><Relationship Id="rId328" Type="http://schemas.openxmlformats.org/officeDocument/2006/relationships/slide" Target="slides/slide327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slide" Target="slides/slide173.xml"/><Relationship Id="rId195" Type="http://schemas.openxmlformats.org/officeDocument/2006/relationships/slide" Target="slides/slide194.xml"/><Relationship Id="rId209" Type="http://schemas.openxmlformats.org/officeDocument/2006/relationships/slide" Target="slides/slide208.xml"/><Relationship Id="rId360" Type="http://schemas.openxmlformats.org/officeDocument/2006/relationships/viewProps" Target="viewProps.xml"/><Relationship Id="rId220" Type="http://schemas.openxmlformats.org/officeDocument/2006/relationships/slide" Target="slides/slide219.xml"/><Relationship Id="rId241" Type="http://schemas.openxmlformats.org/officeDocument/2006/relationships/slide" Target="slides/slide240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262" Type="http://schemas.openxmlformats.org/officeDocument/2006/relationships/slide" Target="slides/slide261.xml"/><Relationship Id="rId283" Type="http://schemas.openxmlformats.org/officeDocument/2006/relationships/slide" Target="slides/slide282.xml"/><Relationship Id="rId318" Type="http://schemas.openxmlformats.org/officeDocument/2006/relationships/slide" Target="slides/slide317.xml"/><Relationship Id="rId339" Type="http://schemas.openxmlformats.org/officeDocument/2006/relationships/slide" Target="slides/slide338.xml"/><Relationship Id="rId78" Type="http://schemas.openxmlformats.org/officeDocument/2006/relationships/slide" Target="slides/slide77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64" Type="http://schemas.openxmlformats.org/officeDocument/2006/relationships/slide" Target="slides/slide163.xml"/><Relationship Id="rId185" Type="http://schemas.openxmlformats.org/officeDocument/2006/relationships/slide" Target="slides/slide184.xml"/><Relationship Id="rId350" Type="http://schemas.openxmlformats.org/officeDocument/2006/relationships/slide" Target="slides/slide349.xml"/><Relationship Id="rId9" Type="http://schemas.openxmlformats.org/officeDocument/2006/relationships/slide" Target="slides/slide8.xml"/><Relationship Id="rId210" Type="http://schemas.openxmlformats.org/officeDocument/2006/relationships/slide" Target="slides/slide209.xml"/><Relationship Id="rId26" Type="http://schemas.openxmlformats.org/officeDocument/2006/relationships/slide" Target="slides/slide25.xml"/><Relationship Id="rId231" Type="http://schemas.openxmlformats.org/officeDocument/2006/relationships/slide" Target="slides/slide230.xml"/><Relationship Id="rId252" Type="http://schemas.openxmlformats.org/officeDocument/2006/relationships/slide" Target="slides/slide251.xml"/><Relationship Id="rId273" Type="http://schemas.openxmlformats.org/officeDocument/2006/relationships/slide" Target="slides/slide272.xml"/><Relationship Id="rId294" Type="http://schemas.openxmlformats.org/officeDocument/2006/relationships/slide" Target="slides/slide293.xml"/><Relationship Id="rId308" Type="http://schemas.openxmlformats.org/officeDocument/2006/relationships/slide" Target="slides/slide307.xml"/><Relationship Id="rId329" Type="http://schemas.openxmlformats.org/officeDocument/2006/relationships/slide" Target="slides/slide328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slide" Target="slides/slide174.xml"/><Relationship Id="rId340" Type="http://schemas.openxmlformats.org/officeDocument/2006/relationships/slide" Target="slides/slide339.xml"/><Relationship Id="rId361" Type="http://schemas.openxmlformats.org/officeDocument/2006/relationships/theme" Target="theme/theme1.xml"/><Relationship Id="rId196" Type="http://schemas.openxmlformats.org/officeDocument/2006/relationships/slide" Target="slides/slide195.xml"/><Relationship Id="rId200" Type="http://schemas.openxmlformats.org/officeDocument/2006/relationships/slide" Target="slides/slide199.xml"/><Relationship Id="rId16" Type="http://schemas.openxmlformats.org/officeDocument/2006/relationships/slide" Target="slides/slide15.xml"/><Relationship Id="rId221" Type="http://schemas.openxmlformats.org/officeDocument/2006/relationships/slide" Target="slides/slide220.xml"/><Relationship Id="rId242" Type="http://schemas.openxmlformats.org/officeDocument/2006/relationships/slide" Target="slides/slide241.xml"/><Relationship Id="rId263" Type="http://schemas.openxmlformats.org/officeDocument/2006/relationships/slide" Target="slides/slide262.xml"/><Relationship Id="rId284" Type="http://schemas.openxmlformats.org/officeDocument/2006/relationships/slide" Target="slides/slide283.xml"/><Relationship Id="rId319" Type="http://schemas.openxmlformats.org/officeDocument/2006/relationships/slide" Target="slides/slide318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330" Type="http://schemas.openxmlformats.org/officeDocument/2006/relationships/slide" Target="slides/slide329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slide" Target="slides/slide185.xml"/><Relationship Id="rId351" Type="http://schemas.openxmlformats.org/officeDocument/2006/relationships/slide" Target="slides/slide350.xml"/><Relationship Id="rId211" Type="http://schemas.openxmlformats.org/officeDocument/2006/relationships/slide" Target="slides/slide210.xml"/><Relationship Id="rId232" Type="http://schemas.openxmlformats.org/officeDocument/2006/relationships/slide" Target="slides/slide231.xml"/><Relationship Id="rId253" Type="http://schemas.openxmlformats.org/officeDocument/2006/relationships/slide" Target="slides/slide252.xml"/><Relationship Id="rId274" Type="http://schemas.openxmlformats.org/officeDocument/2006/relationships/slide" Target="slides/slide273.xml"/><Relationship Id="rId295" Type="http://schemas.openxmlformats.org/officeDocument/2006/relationships/slide" Target="slides/slide294.xml"/><Relationship Id="rId309" Type="http://schemas.openxmlformats.org/officeDocument/2006/relationships/slide" Target="slides/slide308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320" Type="http://schemas.openxmlformats.org/officeDocument/2006/relationships/slide" Target="slides/slide319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slide" Target="slides/slide175.xml"/><Relationship Id="rId197" Type="http://schemas.openxmlformats.org/officeDocument/2006/relationships/slide" Target="slides/slide196.xml"/><Relationship Id="rId341" Type="http://schemas.openxmlformats.org/officeDocument/2006/relationships/slide" Target="slides/slide340.xml"/><Relationship Id="rId362" Type="http://schemas.openxmlformats.org/officeDocument/2006/relationships/tableStyles" Target="tableStyles.xml"/><Relationship Id="rId201" Type="http://schemas.openxmlformats.org/officeDocument/2006/relationships/slide" Target="slides/slide200.xml"/><Relationship Id="rId222" Type="http://schemas.openxmlformats.org/officeDocument/2006/relationships/slide" Target="slides/slide221.xml"/><Relationship Id="rId243" Type="http://schemas.openxmlformats.org/officeDocument/2006/relationships/slide" Target="slides/slide242.xml"/><Relationship Id="rId264" Type="http://schemas.openxmlformats.org/officeDocument/2006/relationships/slide" Target="slides/slide263.xml"/><Relationship Id="rId285" Type="http://schemas.openxmlformats.org/officeDocument/2006/relationships/slide" Target="slides/slide284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310" Type="http://schemas.openxmlformats.org/officeDocument/2006/relationships/slide" Target="slides/slide309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slide" Target="slides/slide165.xml"/><Relationship Id="rId187" Type="http://schemas.openxmlformats.org/officeDocument/2006/relationships/slide" Target="slides/slide186.xml"/><Relationship Id="rId331" Type="http://schemas.openxmlformats.org/officeDocument/2006/relationships/slide" Target="slides/slide330.xml"/><Relationship Id="rId352" Type="http://schemas.openxmlformats.org/officeDocument/2006/relationships/slide" Target="slides/slide351.xml"/><Relationship Id="rId1" Type="http://schemas.openxmlformats.org/officeDocument/2006/relationships/slideMaster" Target="slideMasters/slideMaster1.xml"/><Relationship Id="rId212" Type="http://schemas.openxmlformats.org/officeDocument/2006/relationships/slide" Target="slides/slide211.xml"/><Relationship Id="rId233" Type="http://schemas.openxmlformats.org/officeDocument/2006/relationships/slide" Target="slides/slide232.xml"/><Relationship Id="rId254" Type="http://schemas.openxmlformats.org/officeDocument/2006/relationships/slide" Target="slides/slide253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275" Type="http://schemas.openxmlformats.org/officeDocument/2006/relationships/slide" Target="slides/slide274.xml"/><Relationship Id="rId296" Type="http://schemas.openxmlformats.org/officeDocument/2006/relationships/slide" Target="slides/slide295.xml"/><Relationship Id="rId300" Type="http://schemas.openxmlformats.org/officeDocument/2006/relationships/slide" Target="slides/slide299.xml"/><Relationship Id="rId60" Type="http://schemas.openxmlformats.org/officeDocument/2006/relationships/slide" Target="slides/slide5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slide" Target="slides/slide197.xml"/><Relationship Id="rId321" Type="http://schemas.openxmlformats.org/officeDocument/2006/relationships/slide" Target="slides/slide320.xml"/><Relationship Id="rId342" Type="http://schemas.openxmlformats.org/officeDocument/2006/relationships/slide" Target="slides/slide341.xml"/><Relationship Id="rId202" Type="http://schemas.openxmlformats.org/officeDocument/2006/relationships/slide" Target="slides/slide201.xml"/><Relationship Id="rId223" Type="http://schemas.openxmlformats.org/officeDocument/2006/relationships/slide" Target="slides/slide222.xml"/><Relationship Id="rId244" Type="http://schemas.openxmlformats.org/officeDocument/2006/relationships/slide" Target="slides/slide243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265" Type="http://schemas.openxmlformats.org/officeDocument/2006/relationships/slide" Target="slides/slide264.xml"/><Relationship Id="rId286" Type="http://schemas.openxmlformats.org/officeDocument/2006/relationships/slide" Target="slides/slide285.xml"/><Relationship Id="rId50" Type="http://schemas.openxmlformats.org/officeDocument/2006/relationships/slide" Target="slides/slide49.xml"/><Relationship Id="rId104" Type="http://schemas.openxmlformats.org/officeDocument/2006/relationships/slide" Target="slides/slide103.xml"/><Relationship Id="rId125" Type="http://schemas.openxmlformats.org/officeDocument/2006/relationships/slide" Target="slides/slide124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311" Type="http://schemas.openxmlformats.org/officeDocument/2006/relationships/slide" Target="slides/slide310.xml"/><Relationship Id="rId332" Type="http://schemas.openxmlformats.org/officeDocument/2006/relationships/slide" Target="slides/slide331.xml"/><Relationship Id="rId353" Type="http://schemas.openxmlformats.org/officeDocument/2006/relationships/slide" Target="slides/slide352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13" Type="http://schemas.openxmlformats.org/officeDocument/2006/relationships/slide" Target="slides/slide212.xml"/><Relationship Id="rId234" Type="http://schemas.openxmlformats.org/officeDocument/2006/relationships/slide" Target="slides/slide233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55" Type="http://schemas.openxmlformats.org/officeDocument/2006/relationships/slide" Target="slides/slide254.xml"/><Relationship Id="rId276" Type="http://schemas.openxmlformats.org/officeDocument/2006/relationships/slide" Target="slides/slide275.xml"/><Relationship Id="rId297" Type="http://schemas.openxmlformats.org/officeDocument/2006/relationships/slide" Target="slides/slide296.xml"/><Relationship Id="rId40" Type="http://schemas.openxmlformats.org/officeDocument/2006/relationships/slide" Target="slides/slide39.xml"/><Relationship Id="rId115" Type="http://schemas.openxmlformats.org/officeDocument/2006/relationships/slide" Target="slides/slide114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301" Type="http://schemas.openxmlformats.org/officeDocument/2006/relationships/slide" Target="slides/slide300.xml"/><Relationship Id="rId322" Type="http://schemas.openxmlformats.org/officeDocument/2006/relationships/slide" Target="slides/slide321.xml"/><Relationship Id="rId343" Type="http://schemas.openxmlformats.org/officeDocument/2006/relationships/slide" Target="slides/slide342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9" Type="http://schemas.openxmlformats.org/officeDocument/2006/relationships/slide" Target="slides/slide198.xml"/><Relationship Id="rId203" Type="http://schemas.openxmlformats.org/officeDocument/2006/relationships/slide" Target="slides/slide202.xml"/><Relationship Id="rId19" Type="http://schemas.openxmlformats.org/officeDocument/2006/relationships/slide" Target="slides/slide18.xml"/><Relationship Id="rId224" Type="http://schemas.openxmlformats.org/officeDocument/2006/relationships/slide" Target="slides/slide223.xml"/><Relationship Id="rId245" Type="http://schemas.openxmlformats.org/officeDocument/2006/relationships/slide" Target="slides/slide244.xml"/><Relationship Id="rId266" Type="http://schemas.openxmlformats.org/officeDocument/2006/relationships/slide" Target="slides/slide265.xml"/><Relationship Id="rId287" Type="http://schemas.openxmlformats.org/officeDocument/2006/relationships/slide" Target="slides/slide286.xml"/><Relationship Id="rId30" Type="http://schemas.openxmlformats.org/officeDocument/2006/relationships/slide" Target="slides/slide2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312" Type="http://schemas.openxmlformats.org/officeDocument/2006/relationships/slide" Target="slides/slide311.xml"/><Relationship Id="rId333" Type="http://schemas.openxmlformats.org/officeDocument/2006/relationships/slide" Target="slides/slide332.xml"/><Relationship Id="rId354" Type="http://schemas.openxmlformats.org/officeDocument/2006/relationships/slide" Target="slides/slide353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189" Type="http://schemas.openxmlformats.org/officeDocument/2006/relationships/slide" Target="slides/slide188.xml"/><Relationship Id="rId3" Type="http://schemas.openxmlformats.org/officeDocument/2006/relationships/slide" Target="slides/slide2.xml"/><Relationship Id="rId214" Type="http://schemas.openxmlformats.org/officeDocument/2006/relationships/slide" Target="slides/slide213.xml"/><Relationship Id="rId235" Type="http://schemas.openxmlformats.org/officeDocument/2006/relationships/slide" Target="slides/slide234.xml"/><Relationship Id="rId256" Type="http://schemas.openxmlformats.org/officeDocument/2006/relationships/slide" Target="slides/slide255.xml"/><Relationship Id="rId277" Type="http://schemas.openxmlformats.org/officeDocument/2006/relationships/slide" Target="slides/slide276.xml"/><Relationship Id="rId298" Type="http://schemas.openxmlformats.org/officeDocument/2006/relationships/slide" Target="slides/slide297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302" Type="http://schemas.openxmlformats.org/officeDocument/2006/relationships/slide" Target="slides/slide301.xml"/><Relationship Id="rId323" Type="http://schemas.openxmlformats.org/officeDocument/2006/relationships/slide" Target="slides/slide322.xml"/><Relationship Id="rId344" Type="http://schemas.openxmlformats.org/officeDocument/2006/relationships/slide" Target="slides/slide343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179" Type="http://schemas.openxmlformats.org/officeDocument/2006/relationships/slide" Target="slides/slide178.xml"/><Relationship Id="rId190" Type="http://schemas.openxmlformats.org/officeDocument/2006/relationships/slide" Target="slides/slide189.xml"/><Relationship Id="rId204" Type="http://schemas.openxmlformats.org/officeDocument/2006/relationships/slide" Target="slides/slide203.xml"/><Relationship Id="rId225" Type="http://schemas.openxmlformats.org/officeDocument/2006/relationships/slide" Target="slides/slide224.xml"/><Relationship Id="rId246" Type="http://schemas.openxmlformats.org/officeDocument/2006/relationships/slide" Target="slides/slide245.xml"/><Relationship Id="rId267" Type="http://schemas.openxmlformats.org/officeDocument/2006/relationships/slide" Target="slides/slide266.xml"/><Relationship Id="rId288" Type="http://schemas.openxmlformats.org/officeDocument/2006/relationships/slide" Target="slides/slide287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313" Type="http://schemas.openxmlformats.org/officeDocument/2006/relationships/slide" Target="slides/slide312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94" Type="http://schemas.openxmlformats.org/officeDocument/2006/relationships/slide" Target="slides/slide93.xml"/><Relationship Id="rId148" Type="http://schemas.openxmlformats.org/officeDocument/2006/relationships/slide" Target="slides/slide147.xml"/><Relationship Id="rId169" Type="http://schemas.openxmlformats.org/officeDocument/2006/relationships/slide" Target="slides/slide168.xml"/><Relationship Id="rId334" Type="http://schemas.openxmlformats.org/officeDocument/2006/relationships/slide" Target="slides/slide333.xml"/><Relationship Id="rId355" Type="http://schemas.openxmlformats.org/officeDocument/2006/relationships/slide" Target="slides/slide354.xml"/><Relationship Id="rId4" Type="http://schemas.openxmlformats.org/officeDocument/2006/relationships/slide" Target="slides/slide3.xml"/><Relationship Id="rId180" Type="http://schemas.openxmlformats.org/officeDocument/2006/relationships/slide" Target="slides/slide179.xml"/><Relationship Id="rId215" Type="http://schemas.openxmlformats.org/officeDocument/2006/relationships/slide" Target="slides/slide214.xml"/><Relationship Id="rId236" Type="http://schemas.openxmlformats.org/officeDocument/2006/relationships/slide" Target="slides/slide235.xml"/><Relationship Id="rId257" Type="http://schemas.openxmlformats.org/officeDocument/2006/relationships/slide" Target="slides/slide256.xml"/><Relationship Id="rId278" Type="http://schemas.openxmlformats.org/officeDocument/2006/relationships/slide" Target="slides/slide277.xml"/><Relationship Id="rId303" Type="http://schemas.openxmlformats.org/officeDocument/2006/relationships/slide" Target="slides/slide302.xml"/><Relationship Id="rId42" Type="http://schemas.openxmlformats.org/officeDocument/2006/relationships/slide" Target="slides/slide41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345" Type="http://schemas.openxmlformats.org/officeDocument/2006/relationships/slide" Target="slides/slide344.xml"/><Relationship Id="rId191" Type="http://schemas.openxmlformats.org/officeDocument/2006/relationships/slide" Target="slides/slide190.xml"/><Relationship Id="rId205" Type="http://schemas.openxmlformats.org/officeDocument/2006/relationships/slide" Target="slides/slide204.xml"/><Relationship Id="rId247" Type="http://schemas.openxmlformats.org/officeDocument/2006/relationships/slide" Target="slides/slide246.xml"/><Relationship Id="rId107" Type="http://schemas.openxmlformats.org/officeDocument/2006/relationships/slide" Target="slides/slide106.xml"/><Relationship Id="rId289" Type="http://schemas.openxmlformats.org/officeDocument/2006/relationships/slide" Target="slides/slide288.xml"/><Relationship Id="rId11" Type="http://schemas.openxmlformats.org/officeDocument/2006/relationships/slide" Target="slides/slide10.xml"/><Relationship Id="rId53" Type="http://schemas.openxmlformats.org/officeDocument/2006/relationships/slide" Target="slides/slide52.xml"/><Relationship Id="rId149" Type="http://schemas.openxmlformats.org/officeDocument/2006/relationships/slide" Target="slides/slide148.xml"/><Relationship Id="rId314" Type="http://schemas.openxmlformats.org/officeDocument/2006/relationships/slide" Target="slides/slide313.xml"/><Relationship Id="rId356" Type="http://schemas.openxmlformats.org/officeDocument/2006/relationships/slide" Target="slides/slide355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216" Type="http://schemas.openxmlformats.org/officeDocument/2006/relationships/slide" Target="slides/slide215.xml"/><Relationship Id="rId258" Type="http://schemas.openxmlformats.org/officeDocument/2006/relationships/slide" Target="slides/slide257.xml"/><Relationship Id="rId22" Type="http://schemas.openxmlformats.org/officeDocument/2006/relationships/slide" Target="slides/slide21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325" Type="http://schemas.openxmlformats.org/officeDocument/2006/relationships/slide" Target="slides/slide324.xml"/><Relationship Id="rId171" Type="http://schemas.openxmlformats.org/officeDocument/2006/relationships/slide" Target="slides/slide170.xml"/><Relationship Id="rId227" Type="http://schemas.openxmlformats.org/officeDocument/2006/relationships/slide" Target="slides/slide226.xml"/><Relationship Id="rId269" Type="http://schemas.openxmlformats.org/officeDocument/2006/relationships/slide" Target="slides/slide268.xml"/><Relationship Id="rId33" Type="http://schemas.openxmlformats.org/officeDocument/2006/relationships/slide" Target="slides/slide32.xml"/><Relationship Id="rId129" Type="http://schemas.openxmlformats.org/officeDocument/2006/relationships/slide" Target="slides/slide128.xml"/><Relationship Id="rId280" Type="http://schemas.openxmlformats.org/officeDocument/2006/relationships/slide" Target="slides/slide279.xml"/><Relationship Id="rId336" Type="http://schemas.openxmlformats.org/officeDocument/2006/relationships/slide" Target="slides/slide335.xml"/><Relationship Id="rId75" Type="http://schemas.openxmlformats.org/officeDocument/2006/relationships/slide" Target="slides/slide74.xml"/><Relationship Id="rId140" Type="http://schemas.openxmlformats.org/officeDocument/2006/relationships/slide" Target="slides/slide139.xml"/><Relationship Id="rId182" Type="http://schemas.openxmlformats.org/officeDocument/2006/relationships/slide" Target="slides/slide181.xml"/><Relationship Id="rId6" Type="http://schemas.openxmlformats.org/officeDocument/2006/relationships/slide" Target="slides/slide5.xml"/><Relationship Id="rId238" Type="http://schemas.openxmlformats.org/officeDocument/2006/relationships/slide" Target="slides/slide237.xml"/><Relationship Id="rId291" Type="http://schemas.openxmlformats.org/officeDocument/2006/relationships/slide" Target="slides/slide290.xml"/><Relationship Id="rId305" Type="http://schemas.openxmlformats.org/officeDocument/2006/relationships/slide" Target="slides/slide304.xml"/><Relationship Id="rId347" Type="http://schemas.openxmlformats.org/officeDocument/2006/relationships/slide" Target="slides/slide346.xml"/><Relationship Id="rId44" Type="http://schemas.openxmlformats.org/officeDocument/2006/relationships/slide" Target="slides/slide43.xml"/><Relationship Id="rId86" Type="http://schemas.openxmlformats.org/officeDocument/2006/relationships/slide" Target="slides/slide85.xml"/><Relationship Id="rId151" Type="http://schemas.openxmlformats.org/officeDocument/2006/relationships/slide" Target="slides/slide150.xml"/><Relationship Id="rId193" Type="http://schemas.openxmlformats.org/officeDocument/2006/relationships/slide" Target="slides/slide192.xml"/><Relationship Id="rId207" Type="http://schemas.openxmlformats.org/officeDocument/2006/relationships/slide" Target="slides/slide206.xml"/><Relationship Id="rId249" Type="http://schemas.openxmlformats.org/officeDocument/2006/relationships/slide" Target="slides/slide248.xml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260" Type="http://schemas.openxmlformats.org/officeDocument/2006/relationships/slide" Target="slides/slide259.xml"/><Relationship Id="rId316" Type="http://schemas.openxmlformats.org/officeDocument/2006/relationships/slide" Target="slides/slide315.xml"/><Relationship Id="rId55" Type="http://schemas.openxmlformats.org/officeDocument/2006/relationships/slide" Target="slides/slide54.xml"/><Relationship Id="rId97" Type="http://schemas.openxmlformats.org/officeDocument/2006/relationships/slide" Target="slides/slide96.xml"/><Relationship Id="rId120" Type="http://schemas.openxmlformats.org/officeDocument/2006/relationships/slide" Target="slides/slide119.xml"/><Relationship Id="rId358" Type="http://schemas.openxmlformats.org/officeDocument/2006/relationships/handoutMaster" Target="handoutMasters/handoutMaster1.xml"/><Relationship Id="rId162" Type="http://schemas.openxmlformats.org/officeDocument/2006/relationships/slide" Target="slides/slide161.xml"/><Relationship Id="rId218" Type="http://schemas.openxmlformats.org/officeDocument/2006/relationships/slide" Target="slides/slide217.xml"/><Relationship Id="rId271" Type="http://schemas.openxmlformats.org/officeDocument/2006/relationships/slide" Target="slides/slide270.xml"/><Relationship Id="rId24" Type="http://schemas.openxmlformats.org/officeDocument/2006/relationships/slide" Target="slides/slide23.xml"/><Relationship Id="rId66" Type="http://schemas.openxmlformats.org/officeDocument/2006/relationships/slide" Target="slides/slide65.xml"/><Relationship Id="rId131" Type="http://schemas.openxmlformats.org/officeDocument/2006/relationships/slide" Target="slides/slide130.xml"/><Relationship Id="rId327" Type="http://schemas.openxmlformats.org/officeDocument/2006/relationships/slide" Target="slides/slide326.xml"/><Relationship Id="rId173" Type="http://schemas.openxmlformats.org/officeDocument/2006/relationships/slide" Target="slides/slide172.xml"/><Relationship Id="rId229" Type="http://schemas.openxmlformats.org/officeDocument/2006/relationships/slide" Target="slides/slide228.xml"/><Relationship Id="rId240" Type="http://schemas.openxmlformats.org/officeDocument/2006/relationships/slide" Target="slides/slide239.xml"/><Relationship Id="rId35" Type="http://schemas.openxmlformats.org/officeDocument/2006/relationships/slide" Target="slides/slide34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282" Type="http://schemas.openxmlformats.org/officeDocument/2006/relationships/slide" Target="slides/slide281.xml"/><Relationship Id="rId338" Type="http://schemas.openxmlformats.org/officeDocument/2006/relationships/slide" Target="slides/slide337.xml"/><Relationship Id="rId8" Type="http://schemas.openxmlformats.org/officeDocument/2006/relationships/slide" Target="slides/slide7.xml"/><Relationship Id="rId142" Type="http://schemas.openxmlformats.org/officeDocument/2006/relationships/slide" Target="slides/slide141.xml"/><Relationship Id="rId184" Type="http://schemas.openxmlformats.org/officeDocument/2006/relationships/slide" Target="slides/slide183.xml"/><Relationship Id="rId251" Type="http://schemas.openxmlformats.org/officeDocument/2006/relationships/slide" Target="slides/slide250.xml"/><Relationship Id="rId46" Type="http://schemas.openxmlformats.org/officeDocument/2006/relationships/slide" Target="slides/slide45.xml"/><Relationship Id="rId293" Type="http://schemas.openxmlformats.org/officeDocument/2006/relationships/slide" Target="slides/slide292.xml"/><Relationship Id="rId307" Type="http://schemas.openxmlformats.org/officeDocument/2006/relationships/slide" Target="slides/slide306.xml"/><Relationship Id="rId349" Type="http://schemas.openxmlformats.org/officeDocument/2006/relationships/slide" Target="slides/slide348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sz="quarter" idx="1"/>
          </p:nvPr>
        </p:nvSpPr>
        <p:spPr>
          <a:xfrm>
            <a:off x="3849688" y="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8F486772-663E-498C-98A4-55676C0C79D5}" type="datetimeFigureOut">
              <a:rPr lang="ko-KR" altLang="en-US" smtClean="0"/>
              <a:t>2026-06-12</a:t>
            </a:fld>
            <a:endParaRPr lang="ko-KR" altLang="en-US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2"/>
          </p:nvPr>
        </p:nvSpPr>
        <p:spPr>
          <a:xfrm>
            <a:off x="0" y="942975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3"/>
          </p:nvPr>
        </p:nvSpPr>
        <p:spPr>
          <a:xfrm>
            <a:off x="3849688" y="942975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A728BB6-27BE-4996-B82F-8E6CE98335C9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21904833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50443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9880DED-BD55-4631-A63F-CC2459F192F4}" type="datetimeFigureOut">
              <a:rPr lang="ko-KR" altLang="en-US" smtClean="0"/>
              <a:t>2026-06-12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981075" y="1241425"/>
            <a:ext cx="4835525" cy="33496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79768" y="4777194"/>
            <a:ext cx="5438140" cy="3908614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50443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1E14ED1-D705-4645-B89F-2D03A70CCA7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4773054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701840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216071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83237032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4343594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4076842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제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그림 17">
            <a:extLst>
              <a:ext uri="{FF2B5EF4-FFF2-40B4-BE49-F238E27FC236}">
                <a16:creationId xmlns:a16="http://schemas.microsoft.com/office/drawing/2014/main" id="{D56036D5-DD5F-441E-9594-5002CA0E85B5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4295427" y="5938279"/>
            <a:ext cx="1331674" cy="164897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46694" y="1306235"/>
            <a:ext cx="8640000" cy="612000"/>
          </a:xfrm>
          <a:prstGeom prst="rect">
            <a:avLst/>
          </a:prstGeom>
          <a:ln w="12700">
            <a:noFill/>
          </a:ln>
        </p:spPr>
        <p:txBody>
          <a:bodyPr anchor="b"/>
          <a:lstStyle>
            <a:lvl1pPr algn="r">
              <a:lnSpc>
                <a:spcPct val="100000"/>
              </a:lnSpc>
              <a:defRPr sz="2400" b="1" u="none"/>
            </a:lvl1pPr>
          </a:lstStyle>
          <a:p>
            <a:r>
              <a:rPr lang="ko-KR" altLang="en-US" dirty="0"/>
              <a:t>마스터 제목 스타일 편집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37669" y="1942226"/>
            <a:ext cx="8649025" cy="396376"/>
          </a:xfrm>
          <a:prstGeom prst="rect">
            <a:avLst/>
          </a:prstGeom>
        </p:spPr>
        <p:txBody>
          <a:bodyPr anchor="ctr"/>
          <a:lstStyle>
            <a:lvl1pPr marL="0" indent="0" algn="r">
              <a:lnSpc>
                <a:spcPct val="100000"/>
              </a:lnSpc>
              <a:buNone/>
              <a:defRPr sz="1600" b="1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ko-KR" altLang="en-US" dirty="0"/>
              <a:t>마스터 부제목 스타일 편집</a:t>
            </a:r>
            <a:endParaRPr lang="en-US" dirty="0"/>
          </a:p>
        </p:txBody>
      </p:sp>
      <p:cxnSp>
        <p:nvCxnSpPr>
          <p:cNvPr id="8" name="직선 연결선 7"/>
          <p:cNvCxnSpPr/>
          <p:nvPr userDrawn="1"/>
        </p:nvCxnSpPr>
        <p:spPr>
          <a:xfrm>
            <a:off x="637669" y="1925053"/>
            <a:ext cx="8640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1" name="표 10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13922239"/>
              </p:ext>
            </p:extLst>
          </p:nvPr>
        </p:nvGraphicFramePr>
        <p:xfrm>
          <a:off x="4551204" y="3815479"/>
          <a:ext cx="4744543" cy="952503"/>
        </p:xfrm>
        <a:graphic>
          <a:graphicData uri="http://schemas.openxmlformats.org/drawingml/2006/table">
            <a:tbl>
              <a:tblPr firstRow="1" firstCol="1" bandRow="1"/>
              <a:tblGrid>
                <a:gridCol w="97138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7731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7501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ko-KR" sz="1000" b="1" kern="100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Times New Roman" panose="02020603050405020304" pitchFamily="18" charset="0"/>
                        </a:rPr>
                        <a:t>프로젝트</a:t>
                      </a:r>
                    </a:p>
                  </a:txBody>
                  <a:tcPr marL="36195" marR="36195" marT="36195" marB="3619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ko-KR" sz="1000" kern="1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195" marR="36195" marT="36195" marB="36195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7501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ko-KR" sz="1000" b="1" kern="100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Times New Roman" panose="02020603050405020304" pitchFamily="18" charset="0"/>
                        </a:rPr>
                        <a:t>문서번호</a:t>
                      </a:r>
                    </a:p>
                  </a:txBody>
                  <a:tcPr marL="36195" marR="36195" marT="36195" marB="3619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ko-KR" sz="1000" kern="1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195" marR="36195" marT="36195" marB="36195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17501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ko-KR" altLang="en-US" sz="1000" b="1" kern="100" dirty="0" err="1">
                          <a:effectLst/>
                          <a:latin typeface="맑은 고딕" panose="020B0503020000020004" pitchFamily="50" charset="-127"/>
                          <a:ea typeface="+mn-ea"/>
                          <a:cs typeface="Times New Roman" panose="02020603050405020304" pitchFamily="18" charset="0"/>
                        </a:rPr>
                        <a:t>제개정이력</a:t>
                      </a:r>
                      <a:endParaRPr lang="ko-KR" sz="1000" b="1" kern="1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195" marR="36195" marT="36195" marB="3619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ko-KR" sz="1000" kern="1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195" marR="36195" marT="36195" marB="36195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5183031"/>
                  </a:ext>
                </a:extLst>
              </a:tr>
            </a:tbl>
          </a:graphicData>
        </a:graphic>
      </p:graphicFrame>
      <p:sp>
        <p:nvSpPr>
          <p:cNvPr id="14" name="텍스트 개체 틀 12"/>
          <p:cNvSpPr>
            <a:spLocks noGrp="1"/>
          </p:cNvSpPr>
          <p:nvPr>
            <p:ph type="body" sz="quarter" idx="11"/>
          </p:nvPr>
        </p:nvSpPr>
        <p:spPr>
          <a:xfrm>
            <a:off x="5540722" y="3848071"/>
            <a:ext cx="3736946" cy="252000"/>
          </a:xfrm>
          <a:prstGeom prst="rect">
            <a:avLst/>
          </a:prstGeom>
        </p:spPr>
        <p:txBody>
          <a:bodyPr anchor="ctr"/>
          <a:lstStyle>
            <a:lvl1pPr marL="0" marR="0" indent="0" algn="l" defTabSz="914400" rtl="0" eaLnBrk="1" fontAlgn="auto" latinLnBrk="1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  <a:lvl2pPr marL="457200" indent="0">
              <a:buNone/>
              <a:defRPr sz="1000"/>
            </a:lvl2pPr>
            <a:lvl3pPr marL="914400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ko-KR" altLang="ko-KR" sz="1000" kern="100" dirty="0">
              <a:effectLst/>
              <a:latin typeface="맑은 고딕" panose="020B0503020000020004" pitchFamily="50" charset="-127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15" name="텍스트 개체 틀 12"/>
          <p:cNvSpPr>
            <a:spLocks noGrp="1"/>
          </p:cNvSpPr>
          <p:nvPr>
            <p:ph type="body" sz="quarter" idx="12"/>
          </p:nvPr>
        </p:nvSpPr>
        <p:spPr>
          <a:xfrm>
            <a:off x="5540722" y="4163525"/>
            <a:ext cx="3736946" cy="252000"/>
          </a:xfrm>
          <a:prstGeom prst="rect">
            <a:avLst/>
          </a:prstGeom>
        </p:spPr>
        <p:txBody>
          <a:bodyPr anchor="ctr"/>
          <a:lstStyle>
            <a:lvl1pPr marL="0" indent="0">
              <a:lnSpc>
                <a:spcPct val="100000"/>
              </a:lnSpc>
              <a:buNone/>
              <a:defRPr sz="1000"/>
            </a:lvl1pPr>
            <a:lvl2pPr marL="457200" indent="0">
              <a:buNone/>
              <a:defRPr sz="1000"/>
            </a:lvl2pPr>
            <a:lvl3pPr marL="914400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lvl="0"/>
            <a:endParaRPr lang="ko-KR" altLang="en-US" dirty="0"/>
          </a:p>
        </p:txBody>
      </p:sp>
      <p:sp>
        <p:nvSpPr>
          <p:cNvPr id="13" name="직사각형 12"/>
          <p:cNvSpPr/>
          <p:nvPr userDrawn="1"/>
        </p:nvSpPr>
        <p:spPr>
          <a:xfrm>
            <a:off x="1527804" y="6225242"/>
            <a:ext cx="6858548" cy="40831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20000"/>
              </a:lnSpc>
              <a:spcAft>
                <a:spcPts val="0"/>
              </a:spcAft>
            </a:pPr>
            <a:r>
              <a:rPr lang="en-US" altLang="ko-KR" sz="900" kern="1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Copyright © 2025 by </a:t>
            </a:r>
            <a:r>
              <a:rPr lang="ko-KR" altLang="en-US" sz="900" kern="1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방위사업청</a:t>
            </a:r>
            <a:endParaRPr lang="en-US" altLang="ko-KR" sz="900" kern="100" dirty="0">
              <a:effectLst/>
              <a:latin typeface="+mn-ea"/>
              <a:ea typeface="+mn-ea"/>
              <a:cs typeface="Times New Roman" panose="02020603050405020304" pitchFamily="18" charset="0"/>
            </a:endParaRPr>
          </a:p>
          <a:p>
            <a:pPr algn="ctr">
              <a:lnSpc>
                <a:spcPct val="120000"/>
              </a:lnSpc>
              <a:spcAft>
                <a:spcPts val="0"/>
              </a:spcAft>
            </a:pPr>
            <a:r>
              <a:rPr lang="ko-KR" altLang="en-US" sz="900" kern="1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방위사업청의 </a:t>
            </a:r>
            <a:r>
              <a:rPr lang="ko-KR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사전 승인 없이 본 내용의 전부 또는 일부에 대한 복사</a:t>
            </a:r>
            <a:r>
              <a:rPr lang="en-US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, </a:t>
            </a:r>
            <a:r>
              <a:rPr lang="ko-KR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전재</a:t>
            </a:r>
            <a:r>
              <a:rPr lang="en-US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, </a:t>
            </a:r>
            <a:r>
              <a:rPr lang="ko-KR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배포</a:t>
            </a:r>
            <a:r>
              <a:rPr lang="en-US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, </a:t>
            </a:r>
            <a:r>
              <a:rPr lang="ko-KR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사용을 금합니다</a:t>
            </a:r>
            <a:r>
              <a:rPr lang="en-US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.</a:t>
            </a:r>
            <a:endParaRPr lang="ko-KR" altLang="en-US" sz="900" dirty="0">
              <a:latin typeface="+mn-ea"/>
              <a:ea typeface="+mn-ea"/>
            </a:endParaRPr>
          </a:p>
        </p:txBody>
      </p:sp>
      <p:sp>
        <p:nvSpPr>
          <p:cNvPr id="12" name="텍스트 개체 틀 12"/>
          <p:cNvSpPr>
            <a:spLocks noGrp="1"/>
          </p:cNvSpPr>
          <p:nvPr>
            <p:ph type="body" sz="quarter" idx="13"/>
          </p:nvPr>
        </p:nvSpPr>
        <p:spPr>
          <a:xfrm>
            <a:off x="5540722" y="4479945"/>
            <a:ext cx="3736946" cy="252000"/>
          </a:xfrm>
          <a:prstGeom prst="rect">
            <a:avLst/>
          </a:prstGeom>
        </p:spPr>
        <p:txBody>
          <a:bodyPr anchor="ctr"/>
          <a:lstStyle>
            <a:lvl1pPr marL="0" indent="0">
              <a:lnSpc>
                <a:spcPct val="100000"/>
              </a:lnSpc>
              <a:buNone/>
              <a:defRPr sz="1000"/>
            </a:lvl1pPr>
            <a:lvl2pPr marL="457200" indent="0">
              <a:buNone/>
              <a:defRPr sz="1000"/>
            </a:lvl2pPr>
            <a:lvl3pPr marL="914400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lvl="0"/>
            <a:endParaRPr lang="ko-KR" altLang="en-US" dirty="0"/>
          </a:p>
        </p:txBody>
      </p:sp>
      <p:pic>
        <p:nvPicPr>
          <p:cNvPr id="17" name="그림 16" descr="그래픽, 폰트, 그래픽 디자인, 로고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5A9D3F7C-59D2-46B0-9671-095C3D9268C5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637641" y="465349"/>
            <a:ext cx="1005840" cy="34004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4430355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개정이력/목차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6220" y="6588000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20" name="텍스트 개체 틀 12"/>
          <p:cNvSpPr>
            <a:spLocks noGrp="1"/>
          </p:cNvSpPr>
          <p:nvPr>
            <p:ph type="body" sz="quarter" idx="10"/>
          </p:nvPr>
        </p:nvSpPr>
        <p:spPr>
          <a:xfrm>
            <a:off x="2250485" y="821363"/>
            <a:ext cx="5400000" cy="417890"/>
          </a:xfrm>
          <a:prstGeom prst="rect">
            <a:avLst/>
          </a:prstGeom>
        </p:spPr>
        <p:txBody>
          <a:bodyPr anchor="ctr"/>
          <a:lstStyle>
            <a:lvl1pPr marL="0" indent="0" algn="ctr">
              <a:lnSpc>
                <a:spcPct val="100000"/>
              </a:lnSpc>
              <a:buNone/>
              <a:defRPr sz="1400" b="1" u="sng"/>
            </a:lvl1pPr>
            <a:lvl2pPr marL="457200" indent="0">
              <a:buNone/>
              <a:defRPr sz="1000"/>
            </a:lvl2pPr>
            <a:lvl3pPr marL="914400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9757759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-제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50000"/>
              </a:lnSpc>
              <a:buNone/>
              <a:defRPr sz="1400" b="1"/>
            </a:lvl1pPr>
            <a:lvl2pPr marL="457200" indent="0">
              <a:buNone/>
              <a:defRPr sz="1200" b="1"/>
            </a:lvl2pPr>
            <a:lvl3pPr marL="914400" indent="0">
              <a:buNone/>
              <a:defRPr sz="1200" b="1"/>
            </a:lvl3pPr>
            <a:lvl4pPr marL="1371600" indent="0">
              <a:buNone/>
              <a:defRPr sz="1200" b="1"/>
            </a:lvl4pPr>
            <a:lvl5pPr marL="1828800" indent="0">
              <a:buNone/>
              <a:defRPr sz="1200" b="1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2660253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-제목&amp;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734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0"/>
          </p:nvPr>
        </p:nvSpPr>
        <p:spPr>
          <a:xfrm>
            <a:off x="467025" y="612000"/>
            <a:ext cx="9000000" cy="324000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50000"/>
              </a:lnSpc>
              <a:buNone/>
              <a:defRPr sz="1200" b="1"/>
            </a:lvl1pPr>
            <a:lvl2pPr marL="457200" indent="0">
              <a:buNone/>
              <a:defRPr sz="1200" b="1"/>
            </a:lvl2pPr>
            <a:lvl3pPr marL="914400" indent="0">
              <a:buNone/>
              <a:defRPr sz="1200" b="1"/>
            </a:lvl3pPr>
            <a:lvl4pPr marL="1371600" indent="0">
              <a:buNone/>
              <a:defRPr sz="1200" b="1"/>
            </a:lvl4pPr>
            <a:lvl5pPr marL="1828800" indent="0">
              <a:buNone/>
              <a:defRPr sz="1200" b="1"/>
            </a:lvl5pPr>
          </a:lstStyle>
          <a:p>
            <a:pPr lvl="0"/>
            <a:endParaRPr lang="ko-KR" altLang="en-US" dirty="0"/>
          </a:p>
        </p:txBody>
      </p:sp>
      <p:sp>
        <p:nvSpPr>
          <p:cNvPr id="10" name="텍스트 개체 틀 2"/>
          <p:cNvSpPr>
            <a:spLocks noGrp="1"/>
          </p:cNvSpPr>
          <p:nvPr>
            <p:ph type="body" sz="quarter" idx="11"/>
          </p:nvPr>
        </p:nvSpPr>
        <p:spPr>
          <a:xfrm>
            <a:off x="457200" y="1038808"/>
            <a:ext cx="9000000" cy="5424196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50000"/>
              </a:lnSpc>
              <a:buNone/>
              <a:defRPr sz="1000" b="0"/>
            </a:lvl1pPr>
            <a:lvl2pPr marL="457200" indent="0">
              <a:buNone/>
              <a:defRPr sz="1200" b="1"/>
            </a:lvl2pPr>
            <a:lvl3pPr marL="914400" indent="0">
              <a:buNone/>
              <a:defRPr sz="1200" b="1"/>
            </a:lvl3pPr>
            <a:lvl4pPr marL="1371600" indent="0">
              <a:buNone/>
              <a:defRPr sz="1200" b="1"/>
            </a:lvl4pPr>
            <a:lvl5pPr marL="1828800" indent="0">
              <a:buNone/>
              <a:defRPr sz="1200" b="1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2103159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-내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7" name="텍스트 개체 틀 2"/>
          <p:cNvSpPr>
            <a:spLocks noGrp="1"/>
          </p:cNvSpPr>
          <p:nvPr>
            <p:ph type="body" sz="quarter" idx="11"/>
          </p:nvPr>
        </p:nvSpPr>
        <p:spPr>
          <a:xfrm>
            <a:off x="457200" y="612000"/>
            <a:ext cx="9000000" cy="5851004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50000"/>
              </a:lnSpc>
              <a:buNone/>
              <a:defRPr sz="1100" b="0"/>
            </a:lvl1pPr>
            <a:lvl2pPr marL="457200" indent="0">
              <a:buNone/>
              <a:defRPr sz="1200" b="1"/>
            </a:lvl2pPr>
            <a:lvl3pPr marL="914400" indent="0">
              <a:buNone/>
              <a:defRPr sz="1200" b="1"/>
            </a:lvl3pPr>
            <a:lvl4pPr marL="1371600" indent="0">
              <a:buNone/>
              <a:defRPr sz="1200" b="1"/>
            </a:lvl4pPr>
            <a:lvl5pPr marL="1828800" indent="0">
              <a:buNone/>
              <a:defRPr sz="1200" b="1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60396506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-서식없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3547538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사용자인터페이스 이미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표 3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072137626"/>
              </p:ext>
            </p:extLst>
          </p:nvPr>
        </p:nvGraphicFramePr>
        <p:xfrm>
          <a:off x="458167" y="719999"/>
          <a:ext cx="8988374" cy="575544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89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513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8593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680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424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4337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37653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6355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/>
                        <a:t>UI</a:t>
                      </a:r>
                      <a:r>
                        <a:rPr lang="en-US" altLang="ko-KR" sz="900" b="1" baseline="0" dirty="0"/>
                        <a:t> ID</a:t>
                      </a:r>
                      <a:endParaRPr lang="ko-KR" altLang="en-US" sz="900" b="1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/>
                        <a:t>UI </a:t>
                      </a:r>
                      <a:r>
                        <a:rPr lang="ko-KR" altLang="en-US" sz="900" b="1" dirty="0"/>
                        <a:t>명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/>
                        <a:t>화면경로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355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/>
                        <a:t>개요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7322">
                <a:tc rowSpan="2" gridSpan="6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/>
                        <a:t>설명 및 특이사항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981007">
                <a:tc gridSpan="6" v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6" name="텍스트 개체 틀 5"/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  <p:sp>
        <p:nvSpPr>
          <p:cNvPr id="7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9DF8E3FD-B4FB-473B-BCAD-C4534B9A9D97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11" name="텍스트 개체 틀 10"/>
          <p:cNvSpPr>
            <a:spLocks noGrp="1"/>
          </p:cNvSpPr>
          <p:nvPr>
            <p:ph type="body" sz="quarter" idx="12"/>
          </p:nvPr>
        </p:nvSpPr>
        <p:spPr>
          <a:xfrm>
            <a:off x="3390640" y="755764"/>
            <a:ext cx="2101850" cy="162201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  <p:sp>
        <p:nvSpPr>
          <p:cNvPr id="12" name="텍스트 개체 틀 10"/>
          <p:cNvSpPr>
            <a:spLocks noGrp="1"/>
          </p:cNvSpPr>
          <p:nvPr>
            <p:ph type="body" sz="quarter" idx="13"/>
          </p:nvPr>
        </p:nvSpPr>
        <p:spPr>
          <a:xfrm>
            <a:off x="956623" y="1010025"/>
            <a:ext cx="8434506" cy="193878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>
              <a:buNone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  <p:sp>
        <p:nvSpPr>
          <p:cNvPr id="13" name="텍스트 개체 틀 10"/>
          <p:cNvSpPr>
            <a:spLocks noGrp="1"/>
          </p:cNvSpPr>
          <p:nvPr>
            <p:ph type="body" sz="quarter" idx="14"/>
          </p:nvPr>
        </p:nvSpPr>
        <p:spPr>
          <a:xfrm>
            <a:off x="6238614" y="755764"/>
            <a:ext cx="3140076" cy="177622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  <p:sp>
        <p:nvSpPr>
          <p:cNvPr id="10" name="텍스트 개체 틀 10"/>
          <p:cNvSpPr>
            <a:spLocks noGrp="1"/>
          </p:cNvSpPr>
          <p:nvPr>
            <p:ph type="body" sz="quarter" idx="15"/>
          </p:nvPr>
        </p:nvSpPr>
        <p:spPr>
          <a:xfrm>
            <a:off x="956623" y="755764"/>
            <a:ext cx="1404000" cy="193878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8971634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10" Type="http://schemas.openxmlformats.org/officeDocument/2006/relationships/image" Target="../media/image2.png"/><Relationship Id="rId4" Type="http://schemas.openxmlformats.org/officeDocument/2006/relationships/slideLayout" Target="../slideLayouts/slideLayout4.xml"/><Relationship Id="rId9" Type="http://schemas.openxmlformats.org/officeDocument/2006/relationships/image" Target="../media/image1.pn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그림 11">
            <a:extLst>
              <a:ext uri="{FF2B5EF4-FFF2-40B4-BE49-F238E27FC236}">
                <a16:creationId xmlns:a16="http://schemas.microsoft.com/office/drawing/2014/main" id="{D11E9F2C-2481-4ADA-BED0-11F45689328C}"/>
              </a:ext>
            </a:extLst>
          </p:cNvPr>
          <p:cNvPicPr>
            <a:picLocks noChangeAspect="1"/>
          </p:cNvPicPr>
          <p:nvPr userDrawn="1"/>
        </p:nvPicPr>
        <p:blipFill>
          <a:blip r:embed="rId9"/>
          <a:stretch>
            <a:fillRect/>
          </a:stretch>
        </p:blipFill>
        <p:spPr>
          <a:xfrm>
            <a:off x="8685200" y="6640342"/>
            <a:ext cx="738733" cy="91480"/>
          </a:xfrm>
          <a:prstGeom prst="rect">
            <a:avLst/>
          </a:prstGeom>
        </p:spPr>
      </p:pic>
      <p:cxnSp>
        <p:nvCxnSpPr>
          <p:cNvPr id="8" name="직선 연결선 7"/>
          <p:cNvCxnSpPr/>
          <p:nvPr userDrawn="1"/>
        </p:nvCxnSpPr>
        <p:spPr>
          <a:xfrm>
            <a:off x="445168" y="540000"/>
            <a:ext cx="9000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/>
          <p:cNvCxnSpPr/>
          <p:nvPr userDrawn="1"/>
        </p:nvCxnSpPr>
        <p:spPr>
          <a:xfrm>
            <a:off x="465216" y="6588000"/>
            <a:ext cx="9000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직사각형 16"/>
          <p:cNvSpPr/>
          <p:nvPr userDrawn="1"/>
        </p:nvSpPr>
        <p:spPr>
          <a:xfrm>
            <a:off x="4950372" y="376754"/>
            <a:ext cx="4519928" cy="15388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/>
            <a:r>
              <a:rPr lang="ko-KR" altLang="en-US" sz="1000" b="1" kern="100" dirty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사용자인터페이스설계서 </a:t>
            </a:r>
            <a:r>
              <a:rPr lang="en-US" altLang="ko-KR" sz="1000" b="1" kern="100" dirty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– 00.</a:t>
            </a:r>
            <a:r>
              <a:rPr lang="ko-KR" altLang="en-US" sz="1000" b="1" kern="100" dirty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공통</a:t>
            </a:r>
            <a:r>
              <a:rPr lang="en-US" altLang="ko-KR" sz="1000" b="1" kern="100" dirty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-</a:t>
            </a:r>
            <a:r>
              <a:rPr lang="ko-KR" altLang="en-US" sz="1000" b="1" kern="100" dirty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모바일</a:t>
            </a:r>
            <a:endParaRPr lang="ko-KR" altLang="en-US" sz="1000" dirty="0"/>
          </a:p>
        </p:txBody>
      </p:sp>
      <p:sp>
        <p:nvSpPr>
          <p:cNvPr id="10" name="직사각형 9"/>
          <p:cNvSpPr/>
          <p:nvPr userDrawn="1"/>
        </p:nvSpPr>
        <p:spPr>
          <a:xfrm>
            <a:off x="445168" y="376754"/>
            <a:ext cx="3939450" cy="15388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ko-KR" altLang="en-US" sz="1000" b="1" kern="100" dirty="0">
                <a:effectLst/>
              </a:rPr>
              <a:t>국방전자조달시스템 고도화 구축사업</a:t>
            </a:r>
          </a:p>
        </p:txBody>
      </p:sp>
      <p:pic>
        <p:nvPicPr>
          <p:cNvPr id="11" name="Picture 1">
            <a:extLst>
              <a:ext uri="{FF2B5EF4-FFF2-40B4-BE49-F238E27FC236}">
                <a16:creationId xmlns:a16="http://schemas.microsoft.com/office/drawing/2014/main" id="{3BECD7E0-1778-4975-BFA0-E9C4CE243F54}"/>
              </a:ext>
            </a:extLst>
          </p:cNvPr>
          <p:cNvPicPr>
            <a:picLocks noChangeAspect="1"/>
          </p:cNvPicPr>
          <p:nvPr userDrawn="1"/>
        </p:nvPicPr>
        <p:blipFill>
          <a:blip r:embed="rId10"/>
          <a:stretch>
            <a:fillRect/>
          </a:stretch>
        </p:blipFill>
        <p:spPr>
          <a:xfrm>
            <a:off x="474463" y="6577231"/>
            <a:ext cx="668534" cy="233715"/>
          </a:xfrm>
          <a:prstGeom prst="rect">
            <a:avLst/>
          </a:prstGeom>
          <a:noFill/>
          <a:ln>
            <a:noFill/>
          </a:ln>
          <a:effectLst/>
        </p:spPr>
      </p:pic>
    </p:spTree>
    <p:extLst>
      <p:ext uri="{BB962C8B-B14F-4D97-AF65-F5344CB8AC3E}">
        <p14:creationId xmlns:p14="http://schemas.microsoft.com/office/powerpoint/2010/main" val="371401212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7" r:id="rId3"/>
    <p:sldLayoutId id="2147483664" r:id="rId4"/>
    <p:sldLayoutId id="2147483665" r:id="rId5"/>
    <p:sldLayoutId id="2147483666" r:id="rId6"/>
    <p:sldLayoutId id="2147483668" r:id="rId7"/>
  </p:sldLayoutIdLst>
  <p:hf hdr="0" ftr="0" dt="0"/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hyperlink" Target="http://delis.mnd.go.kr:8080/" TargetMode="External"/><Relationship Id="rId1" Type="http://schemas.openxmlformats.org/officeDocument/2006/relationships/slideLayout" Target="../slideLayouts/slideLayout6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7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7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1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7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.xml"/></Relationships>
</file>

<file path=ppt/slides/_rels/slide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75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2.xml"/></Relationships>
</file>

<file path=ppt/slides/_rels/slide1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2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2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2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2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2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2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2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2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2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2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2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2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2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2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2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2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2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3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7.xml"/></Relationships>
</file>

<file path=ppt/slides/_rels/slide3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7.xml"/></Relationships>
</file>

<file path=ppt/slides/_rels/slide3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/Relationships>
</file>

<file path=ppt/slides/_rels/slide3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3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7.xml"/></Relationships>
</file>

<file path=ppt/slides/_rels/slide3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/Relationships>
</file>

<file path=ppt/slides/_rels/slide3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7.xml"/></Relationships>
</file>

<file path=ppt/slides/_rels/slide3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7.xml"/></Relationships>
</file>

<file path=ppt/slides/_rels/slide3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7.xml"/></Relationships>
</file>

<file path=ppt/slides/_rels/slide3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7.xml"/></Relationships>
</file>

<file path=ppt/slides/_rels/slide3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7.xml"/></Relationships>
</file>

<file path=ppt/slides/_rels/slide3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7.xml"/></Relationships>
</file>

<file path=ppt/slides/_rels/slide3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3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6.png"/></Relationships>
</file>

<file path=ppt/slides/_rels/slide3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7.xml"/></Relationships>
</file>

<file path=ppt/slides/_rels/slide3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제목 52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ko-KR" altLang="en-US" dirty="0"/>
              <a:t>사용자인터페이스 설계서 </a:t>
            </a:r>
            <a:r>
              <a:rPr lang="en-US" altLang="ko-KR" dirty="0"/>
              <a:t>- </a:t>
            </a:r>
            <a:r>
              <a:rPr lang="ko-KR" altLang="en-US" dirty="0"/>
              <a:t>모바일</a:t>
            </a:r>
          </a:p>
        </p:txBody>
      </p:sp>
      <p:sp>
        <p:nvSpPr>
          <p:cNvPr id="54" name="부제목 53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altLang="ko-KR" dirty="0"/>
              <a:t>00.</a:t>
            </a:r>
            <a:r>
              <a:rPr lang="ko-KR" altLang="en-US" dirty="0" err="1"/>
              <a:t>스플래시</a:t>
            </a:r>
            <a:r>
              <a:rPr lang="ko-KR" altLang="en-US" dirty="0"/>
              <a:t> </a:t>
            </a:r>
            <a:r>
              <a:rPr lang="en-US" altLang="ko-KR" dirty="0"/>
              <a:t>~ </a:t>
            </a:r>
            <a:r>
              <a:rPr lang="ko-KR" altLang="en-US" dirty="0"/>
              <a:t>공통</a:t>
            </a:r>
          </a:p>
        </p:txBody>
      </p:sp>
      <p:sp>
        <p:nvSpPr>
          <p:cNvPr id="56" name="텍스트 개체 틀 55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국방전자조달시스템 고도화 구축사업</a:t>
            </a:r>
          </a:p>
        </p:txBody>
      </p:sp>
      <p:sp>
        <p:nvSpPr>
          <p:cNvPr id="57" name="텍스트 개체 틀 56"/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/>
              <a:t>D2BA-AP-3CD-0601</a:t>
            </a:r>
            <a:endParaRPr lang="ko-KR" altLang="en-US" dirty="0"/>
          </a:p>
        </p:txBody>
      </p:sp>
      <p:sp>
        <p:nvSpPr>
          <p:cNvPr id="6" name="텍스트 개체 틀 5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/>
              <a:t>2026.06.19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71563249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</a:t>
            </a:fld>
            <a:endParaRPr lang="ko-KR" altLang="en-US"/>
          </a:p>
        </p:txBody>
      </p:sp>
      <p:sp>
        <p:nvSpPr>
          <p:cNvPr id="4" name="텍스트 개체 틀 15">
            <a:extLst>
              <a:ext uri="{FF2B5EF4-FFF2-40B4-BE49-F238E27FC236}">
                <a16:creationId xmlns:a16="http://schemas.microsoft.com/office/drawing/2014/main" id="{44A815B9-A3EA-BA0B-410C-A69AB9D1A040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2250485" y="821363"/>
            <a:ext cx="5400000" cy="417890"/>
          </a:xfrm>
        </p:spPr>
        <p:txBody>
          <a:bodyPr/>
          <a:lstStyle/>
          <a:p>
            <a:r>
              <a:rPr lang="ko-KR" altLang="en-US" dirty="0" err="1"/>
              <a:t>제</a:t>
            </a:r>
            <a:r>
              <a:rPr lang="ko-KR" altLang="en-US" dirty="0" err="1">
                <a:sym typeface="Wingdings" panose="05000000000000000000" pitchFamily="2" charset="2"/>
              </a:rPr>
              <a:t></a:t>
            </a:r>
            <a:r>
              <a:rPr lang="ko-KR" altLang="en-US" dirty="0" err="1"/>
              <a:t>개</a:t>
            </a:r>
            <a:r>
              <a:rPr lang="ko-KR" altLang="en-US" dirty="0"/>
              <a:t> 정 이 력</a:t>
            </a:r>
          </a:p>
        </p:txBody>
      </p:sp>
      <p:graphicFrame>
        <p:nvGraphicFramePr>
          <p:cNvPr id="7" name="Group 759">
            <a:extLst>
              <a:ext uri="{FF2B5EF4-FFF2-40B4-BE49-F238E27FC236}">
                <a16:creationId xmlns:a16="http://schemas.microsoft.com/office/drawing/2014/main" id="{2831990E-7701-AF86-804F-42A7268A9043}"/>
              </a:ext>
            </a:extLst>
          </p:cNvPr>
          <p:cNvGraphicFramePr>
            <a:graphicFrameLocks noGrp="1"/>
          </p:cNvGraphicFramePr>
          <p:nvPr/>
        </p:nvGraphicFramePr>
        <p:xfrm>
          <a:off x="652374" y="1286787"/>
          <a:ext cx="8782571" cy="2188764"/>
        </p:xfrm>
        <a:graphic>
          <a:graphicData uri="http://schemas.openxmlformats.org/drawingml/2006/table">
            <a:tbl>
              <a:tblPr/>
              <a:tblGrid>
                <a:gridCol w="7848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195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0098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5614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19745">
                  <a:extLst>
                    <a:ext uri="{9D8B030D-6E8A-4147-A177-3AD203B41FA5}">
                      <a16:colId xmlns:a16="http://schemas.microsoft.com/office/drawing/2014/main" val="353883393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제개정일</a:t>
                      </a:r>
                      <a:endParaRPr lang="ko-KR" altLang="en-US" sz="1000" b="1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버전</a:t>
                      </a:r>
                      <a:endParaRPr lang="ko-KR" altLang="en-US" sz="1000" b="1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제개정내용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작성자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승인자 및 관련근거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2025.11.03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서식 작성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</a:rPr>
                        <a:t>신미영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2026.03.16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0.3.2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서식 수정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김민재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2026.04.23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0.4</a:t>
                      </a:r>
                      <a:endParaRPr 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1</a:t>
                      </a:r>
                      <a:r>
                        <a:rPr lang="ko-KR" altLang="en-US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차 작성</a:t>
                      </a: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김영수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권순태</a:t>
                      </a: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2026.06.16</a:t>
                      </a:r>
                      <a:endParaRPr 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0.4.1</a:t>
                      </a:r>
                      <a:endParaRPr 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설계단계</a:t>
                      </a:r>
                      <a:r>
                        <a:rPr lang="ko-KR" altLang="en-US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작성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완료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김영수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권순태</a:t>
                      </a: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2026.06.18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 dirty="0" smtClean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0.5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설계단계</a:t>
                      </a:r>
                      <a:r>
                        <a:rPr lang="ko-KR" altLang="en-US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 내부 검토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김영수</a:t>
                      </a:r>
                      <a:r>
                        <a:rPr lang="en-US" altLang="ko-KR" sz="900" b="0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권순태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2026.06.19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0.6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 err="1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설계단계</a:t>
                      </a:r>
                      <a:r>
                        <a:rPr lang="ko-KR" altLang="en-US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PL </a:t>
                      </a:r>
                      <a:r>
                        <a:rPr lang="ko-KR" altLang="en-US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검토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 err="1" smtClean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황종서</a:t>
                      </a:r>
                      <a:endParaRPr lang="ko-KR" altLang="en-US" sz="900" b="0" i="0" u="none" strike="noStrike" kern="1200" dirty="0" smtClean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1829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 smtClean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5701681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2</a:t>
            </a:fld>
            <a:endParaRPr lang="ko-KR" altLang="en-US"/>
          </a:p>
        </p:txBody>
      </p:sp>
      <p:sp>
        <p:nvSpPr>
          <p:cNvPr id="7" name="텍스트 개체 틀 15">
            <a:extLst>
              <a:ext uri="{FF2B5EF4-FFF2-40B4-BE49-F238E27FC236}">
                <a16:creationId xmlns:a16="http://schemas.microsoft.com/office/drawing/2014/main" id="{74E68DA1-2E20-231A-31AD-28EAC2F24FE9}"/>
              </a:ext>
            </a:extLst>
          </p:cNvPr>
          <p:cNvSpPr txBox="1">
            <a:spLocks/>
          </p:cNvSpPr>
          <p:nvPr/>
        </p:nvSpPr>
        <p:spPr>
          <a:xfrm>
            <a:off x="2250485" y="959912"/>
            <a:ext cx="5400000" cy="417890"/>
          </a:xfrm>
          <a:prstGeom prst="rect">
            <a:avLst/>
          </a:prstGeom>
        </p:spPr>
        <p:txBody>
          <a:bodyPr anchor="ctr"/>
          <a:lstStyle>
            <a:lvl1pPr marL="0" indent="0" algn="ctr" defTabSz="914400" rtl="0" eaLnBrk="1" latinLnBrk="1" hangingPunct="1">
              <a:lnSpc>
                <a:spcPct val="10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b="1" u="sng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dirty="0"/>
              <a:t>신구 변경 </a:t>
            </a:r>
            <a:r>
              <a:rPr lang="ko-KR" altLang="en-US" dirty="0" err="1"/>
              <a:t>내용표</a:t>
            </a:r>
            <a:endParaRPr lang="ko-KR" altLang="en-US" dirty="0"/>
          </a:p>
        </p:txBody>
      </p:sp>
      <p:graphicFrame>
        <p:nvGraphicFramePr>
          <p:cNvPr id="8" name="Group 759">
            <a:extLst>
              <a:ext uri="{FF2B5EF4-FFF2-40B4-BE49-F238E27FC236}">
                <a16:creationId xmlns:a16="http://schemas.microsoft.com/office/drawing/2014/main" id="{319C15BD-6050-0EF7-51D6-033B70274342}"/>
              </a:ext>
            </a:extLst>
          </p:cNvPr>
          <p:cNvGraphicFramePr>
            <a:graphicFrameLocks noGrp="1"/>
          </p:cNvGraphicFramePr>
          <p:nvPr/>
        </p:nvGraphicFramePr>
        <p:xfrm>
          <a:off x="652374" y="1416776"/>
          <a:ext cx="8782571" cy="964656"/>
        </p:xfrm>
        <a:graphic>
          <a:graphicData uri="http://schemas.openxmlformats.org/drawingml/2006/table">
            <a:tbl>
              <a:tblPr/>
              <a:tblGrid>
                <a:gridCol w="590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037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8059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6848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144489">
                  <a:extLst>
                    <a:ext uri="{9D8B030D-6E8A-4147-A177-3AD203B41FA5}">
                      <a16:colId xmlns:a16="http://schemas.microsoft.com/office/drawing/2014/main" val="3538833938"/>
                    </a:ext>
                  </a:extLst>
                </a:gridCol>
                <a:gridCol w="938150">
                  <a:extLst>
                    <a:ext uri="{9D8B030D-6E8A-4147-A177-3AD203B41FA5}">
                      <a16:colId xmlns:a16="http://schemas.microsoft.com/office/drawing/2014/main" val="392641555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순번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구버전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신버전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변경 항목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변경 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 rowSpan="3"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1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6839116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258447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99963041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</a:t>
            </a:fld>
            <a:endParaRPr lang="ko-KR" altLang="en-US"/>
          </a:p>
        </p:txBody>
      </p:sp>
      <p:sp>
        <p:nvSpPr>
          <p:cNvPr id="16" name="텍스트 개체 틀 15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ko-KR" altLang="en-US" dirty="0"/>
              <a:t>목     차</a:t>
            </a: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2574036"/>
              </p:ext>
            </p:extLst>
          </p:nvPr>
        </p:nvGraphicFramePr>
        <p:xfrm>
          <a:off x="988586" y="1265003"/>
          <a:ext cx="7926814" cy="44805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41975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70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 </a:t>
                      </a:r>
                      <a:r>
                        <a:rPr lang="ko-KR" altLang="en-US" sz="1200" dirty="0" err="1"/>
                        <a:t>앱실행</a:t>
                      </a:r>
                      <a:r>
                        <a:rPr lang="en-US" altLang="ko-KR" sz="1200" dirty="0"/>
                        <a:t>, </a:t>
                      </a:r>
                      <a:r>
                        <a:rPr lang="ko-KR" altLang="en-US" sz="1200" dirty="0"/>
                        <a:t>로그인 메뉴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1.1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1.2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1.3 </a:t>
                      </a:r>
                      <a:r>
                        <a:rPr lang="ko-KR" altLang="en-US" sz="1200" dirty="0" smtClean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1.4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Layout</a:t>
                      </a: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 </a:t>
                      </a:r>
                      <a:r>
                        <a:rPr lang="ko-KR" altLang="en-US" sz="1200" dirty="0" err="1"/>
                        <a:t>마이페이지</a:t>
                      </a:r>
                      <a:r>
                        <a:rPr lang="ko-KR" altLang="en-US" sz="1200" dirty="0"/>
                        <a:t> 메뉴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2.1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2.2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2.3 </a:t>
                      </a:r>
                      <a:r>
                        <a:rPr lang="ko-KR" altLang="en-US" sz="1200" dirty="0" smtClean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2.4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Layout</a:t>
                      </a: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3. </a:t>
                      </a:r>
                      <a:r>
                        <a:rPr lang="ko-KR" altLang="en-US" sz="1200" dirty="0"/>
                        <a:t>고객센터 메뉴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3.1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3.2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3.3 </a:t>
                      </a:r>
                      <a:r>
                        <a:rPr lang="ko-KR" altLang="en-US" sz="1200" dirty="0" smtClean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3.4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Layout</a:t>
                      </a: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endParaRPr lang="en-US" altLang="ko-KR" sz="1200" dirty="0">
                        <a:latin typeface="+mn-ea"/>
                        <a:ea typeface="+mn-ea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5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5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 smtClean="0">
                          <a:latin typeface="+mn-ea"/>
                          <a:ea typeface="+mn-ea"/>
                        </a:rPr>
                        <a:t>8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 smtClean="0">
                          <a:latin typeface="+mn-ea"/>
                          <a:ea typeface="+mn-ea"/>
                        </a:rPr>
                        <a:t>13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 smtClean="0">
                          <a:latin typeface="+mn-ea"/>
                          <a:ea typeface="+mn-ea"/>
                        </a:rPr>
                        <a:t>14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 smtClean="0">
                          <a:latin typeface="+mn-ea"/>
                          <a:ea typeface="+mn-ea"/>
                        </a:rPr>
                        <a:t>56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 smtClean="0">
                          <a:latin typeface="+mn-ea"/>
                          <a:ea typeface="+mn-ea"/>
                        </a:rPr>
                        <a:t>56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 smtClean="0">
                          <a:latin typeface="+mn-ea"/>
                          <a:ea typeface="+mn-ea"/>
                        </a:rPr>
                        <a:t>60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 smtClean="0">
                          <a:latin typeface="+mn-ea"/>
                          <a:ea typeface="+mn-ea"/>
                        </a:rPr>
                        <a:t>66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 smtClean="0">
                          <a:latin typeface="+mn-ea"/>
                          <a:ea typeface="+mn-ea"/>
                        </a:rPr>
                        <a:t>67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 smtClean="0">
                          <a:latin typeface="+mn-ea"/>
                          <a:ea typeface="+mn-ea"/>
                        </a:rPr>
                        <a:t>199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 smtClean="0">
                          <a:latin typeface="+mn-ea"/>
                          <a:ea typeface="+mn-ea"/>
                        </a:rPr>
                        <a:t>199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 smtClean="0">
                          <a:latin typeface="+mn-ea"/>
                          <a:ea typeface="+mn-ea"/>
                        </a:rPr>
                        <a:t>200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 smtClean="0">
                          <a:latin typeface="+mn-ea"/>
                          <a:ea typeface="+mn-ea"/>
                        </a:rPr>
                        <a:t>201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 smtClean="0">
                          <a:latin typeface="+mn-ea"/>
                          <a:ea typeface="+mn-ea"/>
                        </a:rPr>
                        <a:t>202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82863425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4</a:t>
            </a:fld>
            <a:endParaRPr lang="ko-KR" altLang="en-US"/>
          </a:p>
        </p:txBody>
      </p:sp>
      <p:sp>
        <p:nvSpPr>
          <p:cNvPr id="16" name="텍스트 개체 틀 15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ko-KR" altLang="en-US" dirty="0"/>
              <a:t>목     차</a:t>
            </a: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5617802"/>
              </p:ext>
            </p:extLst>
          </p:nvPr>
        </p:nvGraphicFramePr>
        <p:xfrm>
          <a:off x="988586" y="1265003"/>
          <a:ext cx="7926814" cy="531539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41975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70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269286">
                <a:tc>
                  <a:txBody>
                    <a:bodyPr/>
                    <a:lstStyle/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4. </a:t>
                      </a:r>
                      <a:r>
                        <a:rPr lang="ko-KR" altLang="en-US" sz="1150" dirty="0"/>
                        <a:t>인증센터 메뉴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4.1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4.2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4.3 </a:t>
                      </a:r>
                      <a:r>
                        <a:rPr lang="ko-KR" altLang="en-US" sz="1150" dirty="0" smtClean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4.4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Layout</a:t>
                      </a: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5. </a:t>
                      </a:r>
                      <a:r>
                        <a:rPr lang="ko-KR" altLang="en-US" sz="1150" dirty="0"/>
                        <a:t>국방전자조달 소개 메뉴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5.1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5.2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5.3 </a:t>
                      </a:r>
                      <a:r>
                        <a:rPr lang="ko-KR" altLang="en-US" sz="1150" dirty="0" smtClean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5.4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Layout</a:t>
                      </a: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6. </a:t>
                      </a:r>
                      <a:r>
                        <a:rPr lang="ko-KR" altLang="en-US" sz="1150" dirty="0"/>
                        <a:t>이용안내 메뉴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6.1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6.2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6.3 </a:t>
                      </a:r>
                      <a:r>
                        <a:rPr lang="ko-KR" altLang="en-US" sz="1150" dirty="0" smtClean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6.4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Layout</a:t>
                      </a: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 smtClean="0">
                          <a:latin typeface="+mn-ea"/>
                          <a:ea typeface="+mn-ea"/>
                        </a:rPr>
                        <a:t>7. </a:t>
                      </a:r>
                      <a:r>
                        <a:rPr lang="ko-KR" altLang="en-US" sz="1150" dirty="0" smtClean="0"/>
                        <a:t>앱 설정</a:t>
                      </a:r>
                      <a:endParaRPr lang="en-US" altLang="ko-KR" sz="1150" dirty="0" smtClean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 smtClean="0">
                          <a:latin typeface="+mn-ea"/>
                          <a:ea typeface="+mn-ea"/>
                        </a:rPr>
                        <a:t>7.1 </a:t>
                      </a:r>
                      <a:r>
                        <a:rPr lang="ko-KR" altLang="en-US" sz="1150" dirty="0" smtClean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150" dirty="0" smtClean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 smtClean="0">
                          <a:latin typeface="+mn-ea"/>
                          <a:ea typeface="+mn-ea"/>
                        </a:rPr>
                        <a:t>7.2 </a:t>
                      </a:r>
                      <a:r>
                        <a:rPr lang="ko-KR" altLang="en-US" sz="1150" dirty="0" smtClean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150" dirty="0" smtClean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 smtClean="0">
                          <a:latin typeface="+mn-ea"/>
                          <a:ea typeface="+mn-ea"/>
                        </a:rPr>
                        <a:t>7.3 </a:t>
                      </a:r>
                      <a:r>
                        <a:rPr lang="ko-KR" altLang="en-US" sz="1150" dirty="0" smtClean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150" dirty="0" smtClean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 smtClean="0">
                          <a:latin typeface="+mn-ea"/>
                          <a:ea typeface="+mn-ea"/>
                        </a:rPr>
                        <a:t>7.4 </a:t>
                      </a:r>
                      <a:r>
                        <a:rPr lang="ko-KR" altLang="en-US" sz="1150" dirty="0" smtClean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150" dirty="0" smtClean="0">
                          <a:latin typeface="+mn-ea"/>
                          <a:ea typeface="+mn-ea"/>
                        </a:rPr>
                        <a:t>Layout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 smtClean="0">
                          <a:latin typeface="+mn-ea"/>
                          <a:ea typeface="+mn-ea"/>
                        </a:rPr>
                        <a:t>319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 smtClean="0">
                          <a:latin typeface="+mn-ea"/>
                          <a:ea typeface="+mn-ea"/>
                        </a:rPr>
                        <a:t>319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 smtClean="0">
                          <a:latin typeface="+mn-ea"/>
                          <a:ea typeface="+mn-ea"/>
                        </a:rPr>
                        <a:t>320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 smtClean="0">
                          <a:latin typeface="+mn-ea"/>
                          <a:ea typeface="+mn-ea"/>
                        </a:rPr>
                        <a:t>321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 smtClean="0">
                          <a:latin typeface="+mn-ea"/>
                          <a:ea typeface="+mn-ea"/>
                        </a:rPr>
                        <a:t>322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 smtClean="0">
                          <a:latin typeface="+mn-ea"/>
                          <a:ea typeface="+mn-ea"/>
                        </a:rPr>
                        <a:t>329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 smtClean="0">
                          <a:latin typeface="+mn-ea"/>
                          <a:ea typeface="+mn-ea"/>
                        </a:rPr>
                        <a:t>329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 smtClean="0">
                          <a:latin typeface="+mn-ea"/>
                          <a:ea typeface="+mn-ea"/>
                        </a:rPr>
                        <a:t>330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 smtClean="0">
                          <a:latin typeface="+mn-ea"/>
                          <a:ea typeface="+mn-ea"/>
                        </a:rPr>
                        <a:t>331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 smtClean="0">
                          <a:latin typeface="+mn-ea"/>
                          <a:ea typeface="+mn-ea"/>
                        </a:rPr>
                        <a:t>332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 smtClean="0">
                          <a:latin typeface="+mn-ea"/>
                          <a:ea typeface="+mn-ea"/>
                        </a:rPr>
                        <a:t>338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 smtClean="0">
                          <a:latin typeface="+mn-ea"/>
                          <a:ea typeface="+mn-ea"/>
                        </a:rPr>
                        <a:t>338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 smtClean="0">
                          <a:latin typeface="+mn-ea"/>
                          <a:ea typeface="+mn-ea"/>
                        </a:rPr>
                        <a:t>339340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 smtClean="0">
                          <a:latin typeface="+mn-ea"/>
                          <a:ea typeface="+mn-ea"/>
                        </a:rPr>
                        <a:t>341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 smtClean="0">
                          <a:latin typeface="+mn-ea"/>
                          <a:ea typeface="+mn-ea"/>
                        </a:rPr>
                        <a:t>350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 smtClean="0">
                          <a:latin typeface="+mn-ea"/>
                          <a:ea typeface="+mn-ea"/>
                        </a:rPr>
                        <a:t>350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 smtClean="0">
                          <a:latin typeface="+mn-ea"/>
                          <a:ea typeface="+mn-ea"/>
                        </a:rPr>
                        <a:t>351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 smtClean="0">
                          <a:latin typeface="+mn-ea"/>
                          <a:ea typeface="+mn-ea"/>
                        </a:rPr>
                        <a:t>352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 smtClean="0">
                          <a:latin typeface="+mn-ea"/>
                          <a:ea typeface="+mn-ea"/>
                        </a:rPr>
                        <a:t>353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78676627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1. </a:t>
            </a:r>
            <a:r>
              <a:rPr lang="ko-KR" altLang="en-US" dirty="0" err="1"/>
              <a:t>앱실행</a:t>
            </a:r>
            <a:r>
              <a:rPr lang="en-US" altLang="ko-KR" dirty="0"/>
              <a:t>, </a:t>
            </a:r>
            <a:r>
              <a:rPr lang="ko-KR" altLang="en-US" dirty="0"/>
              <a:t>로그인 메뉴</a:t>
            </a:r>
            <a:endParaRPr lang="en-US" altLang="ko-KR" dirty="0"/>
          </a:p>
          <a:p>
            <a:r>
              <a:rPr lang="en-US" altLang="ko-KR" dirty="0"/>
              <a:t>1.1 </a:t>
            </a:r>
            <a:r>
              <a:rPr lang="ko-KR" altLang="en-US" dirty="0"/>
              <a:t>화면 목록 </a:t>
            </a:r>
            <a:r>
              <a:rPr lang="en-US" altLang="ko-KR" dirty="0"/>
              <a:t>(</a:t>
            </a:r>
            <a:r>
              <a:rPr lang="en-US" altLang="ko-KR" dirty="0" smtClean="0"/>
              <a:t>1/3)</a:t>
            </a:r>
            <a:endParaRPr lang="ko-KR" altLang="en-US" dirty="0"/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3421059"/>
              </p:ext>
            </p:extLst>
          </p:nvPr>
        </p:nvGraphicFramePr>
        <p:xfrm>
          <a:off x="635474" y="1413419"/>
          <a:ext cx="8701200" cy="493342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 smtClean="0">
                          <a:latin typeface="+mn-ea"/>
                          <a:ea typeface="+mn-ea"/>
                        </a:rPr>
                        <a:t>ID</a:t>
                      </a:r>
                      <a:r>
                        <a:rPr lang="en-US" altLang="ko-KR" sz="800" b="1" baseline="30000" dirty="0" smtClean="0">
                          <a:latin typeface="+mn-ea"/>
                          <a:ea typeface="+mn-ea"/>
                        </a:rPr>
                        <a:t> 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t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MUI-MS-01-M01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앱 실행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스플래시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로고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SplashPage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앱 기동 시 노출되는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스플래시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화면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앱 로딩 시 보안 프로그램 동작 확인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/biz/cm/splash/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splashPage.tsx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Native</a:t>
                      </a:r>
                      <a:r>
                        <a:rPr lang="en-US" altLang="ko-KR" sz="700" baseline="0" dirty="0">
                          <a:latin typeface="+mn-ea"/>
                          <a:ea typeface="+mn-ea"/>
                        </a:rPr>
                        <a:t> App </a:t>
                      </a:r>
                      <a:r>
                        <a:rPr lang="ko-KR" altLang="en-US" sz="700" baseline="0" dirty="0">
                          <a:latin typeface="+mn-ea"/>
                          <a:ea typeface="+mn-ea"/>
                        </a:rPr>
                        <a:t>화면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-01-M02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앱 접근 권한 동의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최초 앱 기동 시 앱 접근 권한 동의 설명 화면 표시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AppAuthrtAgrePage.tsx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-01-P03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앱 접근 권한 동의 팝업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접근 권한 동의 팝업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869652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-01-P04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앱 업데이트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안내 팝업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AppUpdateInfo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필수 업데이트가 있는 경우 노출되는 안내 팝업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AppUpdateInfo.tsx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7373192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-01-P05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앱 오류 안내 팝업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AppErrInfo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앱 오류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장애 등 실행이 불가능한 경우 노출되는 안내 팝업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AppErrInfo.tsx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0172525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-01-P06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앱 이용 안내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AppSrvcExpln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최초 앱 기동 시 앱 이용 안내 설명 화면 표시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AppSrvcExpln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057218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-01-M07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메인 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MscrnPage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앱 기동 완료 후 노출되는 메인 화면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 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비로그인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사용자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mscrn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MscrnPage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UC-ZZ-18-01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UC-ZZ-18-02</a:t>
                      </a:r>
                      <a:endParaRPr lang="ko-KR" altLang="en-US" sz="8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8823180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MUI-MS-01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-P08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중요 공지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시스템 안내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SysExpln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메인에서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중요 공지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시스템 안내 팝업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mscrn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SysExpln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Native</a:t>
                      </a:r>
                      <a:r>
                        <a:rPr lang="en-US" altLang="ko-KR" sz="700" baseline="0" dirty="0">
                          <a:latin typeface="+mn-ea"/>
                          <a:ea typeface="+mn-ea"/>
                        </a:rPr>
                        <a:t> App </a:t>
                      </a:r>
                      <a:r>
                        <a:rPr lang="ko-KR" altLang="en-US" sz="700" baseline="0" dirty="0">
                          <a:latin typeface="+mn-ea"/>
                          <a:ea typeface="+mn-ea"/>
                        </a:rPr>
                        <a:t>화면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471371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UI-MS-01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-M09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통합검색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IntgSrchPage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메인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서브에서 검색 영역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아이콘을 클릭하는 경우 통합 검색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IntgSrch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IntgSrchPage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솔루션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698132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MUI-MS-01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-M10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통합검색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결과 목록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IntgSrch_Rslt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통합 검색 결과 목록 표시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IntgSrch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IntgSrch_Rslt.tsx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솔루션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881621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MUI-MS-01-M11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챗봇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문의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ChatbotPage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모바일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챗봇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Chatbot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ChatbotPage.tsx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솔루션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5095591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MUI-MS-01-M12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햄버거 메뉴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MenuPage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모바일 메뉴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/biz/cm/menu/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MenuPage.tsx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Native App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화면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04479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MUI-MS-01-M13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알림 현황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NotiPrstPage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모바일 푸시 알림 현황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notiPrst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notiPrstPage.tsx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UC-ZZ-11-07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UC-ZZ-14-03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443466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MUI-MS-01-P14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업체선택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팝업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BzentyChc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소속된 업체가 많은 경우 로그인 이후 로그인할 업체 선택 팝업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bzentyChc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BzentyChc.tsx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8635376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방식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MainLoginPage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ID/PW,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간편인증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등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선택화면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mainLogin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MainLoginPage.tsx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49704392"/>
                  </a:ext>
                </a:extLst>
              </a:tr>
            </a:tbl>
          </a:graphicData>
        </a:graphic>
      </p:graphicFrame>
      <p:sp>
        <p:nvSpPr>
          <p:cNvPr id="8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8304" y="1140446"/>
            <a:ext cx="2346262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 smtClean="0">
                <a:solidFill>
                  <a:prstClr val="black"/>
                </a:solidFill>
                <a:latin typeface="+mn-ea"/>
              </a:rPr>
              <a:t>2) 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 </a:t>
            </a:r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모바일 시스템은 </a:t>
            </a:r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유스케이스</a:t>
            </a:r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ID</a:t>
            </a:r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가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부존재함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.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99344242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1. </a:t>
            </a:r>
            <a:r>
              <a:rPr lang="ko-KR" altLang="en-US" dirty="0" err="1"/>
              <a:t>앱실행</a:t>
            </a:r>
            <a:r>
              <a:rPr lang="en-US" altLang="ko-KR" dirty="0"/>
              <a:t>, </a:t>
            </a:r>
            <a:r>
              <a:rPr lang="ko-KR" altLang="en-US" dirty="0"/>
              <a:t>로그인 메뉴</a:t>
            </a:r>
            <a:endParaRPr lang="en-US" altLang="ko-KR" dirty="0"/>
          </a:p>
          <a:p>
            <a:r>
              <a:rPr lang="en-US" altLang="ko-KR" dirty="0"/>
              <a:t>1.1 </a:t>
            </a:r>
            <a:r>
              <a:rPr lang="ko-KR" altLang="en-US" dirty="0"/>
              <a:t>화면 목록 </a:t>
            </a:r>
            <a:r>
              <a:rPr lang="en-US" altLang="ko-KR" dirty="0" smtClean="0"/>
              <a:t>(2/3)</a:t>
            </a:r>
            <a:endParaRPr lang="ko-KR" altLang="en-US" dirty="0"/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8771004"/>
              </p:ext>
            </p:extLst>
          </p:nvPr>
        </p:nvGraphicFramePr>
        <p:xfrm>
          <a:off x="635474" y="1413419"/>
          <a:ext cx="8701200" cy="284446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 smtClean="0">
                          <a:latin typeface="+mn-ea"/>
                          <a:ea typeface="+mn-ea"/>
                        </a:rPr>
                        <a:t>ID</a:t>
                      </a:r>
                      <a:r>
                        <a:rPr lang="en-US" altLang="ko-KR" sz="800" b="1" baseline="30000" dirty="0" smtClean="0">
                          <a:latin typeface="+mn-ea"/>
                          <a:ea typeface="+mn-ea"/>
                        </a:rPr>
                        <a:t> 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ID/PW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IdPswdLoginPage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ID/PW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입력화면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idPswdLogin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IdPswdLoginPage.tsx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8849108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찾기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IdFndngPage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찾기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IdFndng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IdFndngPage.tsx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062344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MUI-CM-03-M04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등록정보로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찾기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IdRegInfoFndngPage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등록정보로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찾기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IdRegInfoFndng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IdRegInfoFndngPage.tsx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773182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찾기 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IdRsltPage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찾기의 성공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실패 화면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IdRslt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IdRsltPage.tsx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252546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MUI-CM-03-M06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PW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찾기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PswdFndngPage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PW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찾기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PswdFndng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PswdFndngPage.tsx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1268897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PW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등록정보로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찾기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PswdRegInfoFndngPage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PW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등록정보로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찾기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PswdRegInfoFndng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PswdRegInfoFndngPage.tsx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475290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MUI-CM-03-M08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PW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찾기 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PswdRsltPage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PW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찾기 성공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실패 화면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성공 시 비밀번호 변경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PswdRslt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PswdRsltPage.tsx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0046021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 등록 안내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UserRegInfoPage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나라장터 등록한 대상만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버전에서 사용자 등록이 가능함</a:t>
                      </a:r>
                    </a:p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안내 페이지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PC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등록만 가능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UserRegInfo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UserRegInfoPage.tsx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UC-ZZ-01-01</a:t>
                      </a:r>
                      <a:endParaRPr lang="ko-KR" altLang="en-US" sz="1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5963418"/>
                  </a:ext>
                </a:extLst>
              </a:tr>
            </a:tbl>
          </a:graphicData>
        </a:graphic>
      </p:graphicFrame>
      <p:sp>
        <p:nvSpPr>
          <p:cNvPr id="8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8304" y="1140446"/>
            <a:ext cx="2346262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 smtClean="0">
                <a:solidFill>
                  <a:prstClr val="black"/>
                </a:solidFill>
                <a:latin typeface="+mn-ea"/>
              </a:rPr>
              <a:t>2) 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 </a:t>
            </a:r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모바일 시스템은 </a:t>
            </a:r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유스케이스</a:t>
            </a:r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ID</a:t>
            </a:r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가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부존재함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.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93146191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1. </a:t>
            </a:r>
            <a:r>
              <a:rPr lang="ko-KR" altLang="en-US" dirty="0" err="1"/>
              <a:t>앱실행</a:t>
            </a:r>
            <a:r>
              <a:rPr lang="en-US" altLang="ko-KR" dirty="0"/>
              <a:t>, </a:t>
            </a:r>
            <a:r>
              <a:rPr lang="ko-KR" altLang="en-US" dirty="0"/>
              <a:t>로그인 메뉴</a:t>
            </a:r>
            <a:endParaRPr lang="en-US" altLang="ko-KR" dirty="0"/>
          </a:p>
          <a:p>
            <a:r>
              <a:rPr lang="en-US" altLang="ko-KR" dirty="0"/>
              <a:t>1.1 </a:t>
            </a:r>
            <a:r>
              <a:rPr lang="ko-KR" altLang="en-US" dirty="0"/>
              <a:t>화면 목록 </a:t>
            </a:r>
            <a:r>
              <a:rPr lang="en-US" altLang="ko-KR" dirty="0" smtClean="0"/>
              <a:t>(3/3</a:t>
            </a:r>
            <a:r>
              <a:rPr lang="en-US" altLang="ko-KR" dirty="0"/>
              <a:t>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67708784"/>
              </p:ext>
            </p:extLst>
          </p:nvPr>
        </p:nvGraphicFramePr>
        <p:xfrm>
          <a:off x="635474" y="1413419"/>
          <a:ext cx="8701200" cy="347614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MUI-CM-03-P10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간편인증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SimpleCert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Any-ID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간편인증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프로세스 호출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simpleCert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SimpleCert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937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MUI-CM-03-P11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금융인증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FnstCert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Any-ID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금융인증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프로세스 호출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fnstCert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FnstCert.tsx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2598586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MUI-CM-03-P12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공동인증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JntCert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Any-ID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공동인증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프로세스 호출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jntCert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JntCert.tsx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620418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MUI-CM-03-P13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모바일신분증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MobileIdntyCert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행안부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모바일 신분증 프로세스 호출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mobileIdntyCert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MobileIdntyCert.tsx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033051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MUI-CM-03-M14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생체인증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BioInfoCertPage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휴대폰의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생체인증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기능 호출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bioInfoCert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BioInfoCertPage.tsx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3255434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MUI-CM-03-M15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생체인증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등록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BioInfoCertReg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Page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시스템의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생체인증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등록 프로세스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bioInfoCertReg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BioInfoCertRegPage.tsx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0519012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t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MUI-CM-03-P16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 성공 실패 안내 팝업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CertRslt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각 로그인 방식에 따른 인증 성공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 성공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실패 안내 메시지</a:t>
                      </a:r>
                    </a:p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 성공의 경우는 안내 메시지 또는 토스트 메시지 없이 메인 페이지 이동으로 변경될 수 있음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certRslt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CertRslt.tsx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MUI-CM-03-M17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QR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PcQRLgnPage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화면의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QR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코드를 앱에서 읽어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 시키는 화면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pcQRLgn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PcQRLgnPage.tsx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MUI-CM-03-P18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로그아웃 안내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LgoInfo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로그아웃 안내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background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에서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복귀 시 안내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모바일은 타임아웃 불필요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lgoInfo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LgoInfo.tsx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869652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t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MUI-CM-03-P19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로그인 필요 서비스 안내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LgnSrvcInfo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비로그인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상태에서 로그인 서비스 사용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시도시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노출되는 팝업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lgnSrvcInfo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LgnSrvcInfo.tsx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0572186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03895887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8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스플래시</a:t>
            </a:r>
            <a:r>
              <a:rPr lang="en-US" altLang="ko-KR" sz="800" dirty="0">
                <a:solidFill>
                  <a:schemeClr val="tx1"/>
                </a:solidFill>
              </a:rPr>
              <a:t/>
            </a:r>
            <a:br>
              <a:rPr lang="en-US" altLang="ko-KR" sz="800" dirty="0">
                <a:solidFill>
                  <a:schemeClr val="tx1"/>
                </a:solidFill>
              </a:rPr>
            </a:br>
            <a:r>
              <a:rPr lang="ko-KR" altLang="en-US" sz="800" dirty="0">
                <a:solidFill>
                  <a:schemeClr val="tx1"/>
                </a:solidFill>
              </a:rPr>
              <a:t>로고 노출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1507268" y="1632242"/>
            <a:ext cx="344646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앱 실행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162896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보안 프로그램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실행</a:t>
            </a:r>
          </a:p>
        </p:txBody>
      </p:sp>
      <p:sp>
        <p:nvSpPr>
          <p:cNvPr id="2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307750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 업데이트 여부 검증</a:t>
            </a: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22" idx="1"/>
          </p:cNvCxnSpPr>
          <p:nvPr/>
        </p:nvCxnSpPr>
        <p:spPr>
          <a:xfrm>
            <a:off x="3266608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 업데이트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안내 팝업 노출</a:t>
            </a:r>
          </a:p>
        </p:txBody>
      </p: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endCxn id="34" idx="1"/>
          </p:cNvCxnSpPr>
          <p:nvPr/>
        </p:nvCxnSpPr>
        <p:spPr>
          <a:xfrm>
            <a:off x="5092692" y="2451750"/>
            <a:ext cx="93618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116426" y="2307750"/>
            <a:ext cx="894476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필수 업데이트 있음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3750504" y="2307750"/>
            <a:ext cx="447238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실행 완료</a:t>
            </a:r>
          </a:p>
        </p:txBody>
      </p:sp>
      <p:sp>
        <p:nvSpPr>
          <p:cNvPr id="8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2307750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 종료</a:t>
            </a:r>
          </a:p>
        </p:txBody>
      </p:sp>
      <p:sp>
        <p:nvSpPr>
          <p:cNvPr id="8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2986536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 업데이트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실행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 err="1">
                <a:solidFill>
                  <a:schemeClr val="tx1"/>
                </a:solidFill>
              </a:rPr>
              <a:t>재기동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84" name="직선 화살표 연결선 8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34" idx="3"/>
            <a:endCxn id="82" idx="1"/>
          </p:cNvCxnSpPr>
          <p:nvPr/>
        </p:nvCxnSpPr>
        <p:spPr>
          <a:xfrm>
            <a:off x="6928876" y="2451750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34" idx="3"/>
            <a:endCxn id="83" idx="1"/>
          </p:cNvCxnSpPr>
          <p:nvPr/>
        </p:nvCxnSpPr>
        <p:spPr>
          <a:xfrm>
            <a:off x="6928876" y="2451750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7394799" y="2307750"/>
            <a:ext cx="447238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미동의 시</a:t>
            </a: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7497391" y="2986536"/>
            <a:ext cx="344646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동의 시</a:t>
            </a:r>
          </a:p>
        </p:txBody>
      </p:sp>
      <p:sp>
        <p:nvSpPr>
          <p:cNvPr id="9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3670961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최초 기동 여부 검증</a:t>
            </a:r>
          </a:p>
        </p:txBody>
      </p:sp>
      <p:cxnSp>
        <p:nvCxnSpPr>
          <p:cNvPr id="92" name="직선 화살표 연결선 9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4" idx="2"/>
            <a:endCxn id="91" idx="0"/>
          </p:cNvCxnSpPr>
          <p:nvPr/>
        </p:nvCxnSpPr>
        <p:spPr>
          <a:xfrm>
            <a:off x="4647742" y="2595750"/>
            <a:ext cx="0" cy="107521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434974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이용 안내 보기 선택</a:t>
            </a: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200122" y="3670961"/>
            <a:ext cx="82875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현 버전 최초 실행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129698" y="2558007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158695" y="2361749"/>
            <a:ext cx="180000" cy="180000"/>
            <a:chOff x="5058274" y="2498299"/>
            <a:chExt cx="180000" cy="180000"/>
          </a:xfrm>
        </p:grpSpPr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5" name="타원 104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06" name="직선 화살표 연결선 10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82" idx="3"/>
            <a:endCxn id="104" idx="2"/>
          </p:cNvCxnSpPr>
          <p:nvPr/>
        </p:nvCxnSpPr>
        <p:spPr>
          <a:xfrm flipV="1">
            <a:off x="8760010" y="2451749"/>
            <a:ext cx="398685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3405859" y="3670961"/>
            <a:ext cx="79188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필수 최신화 완료</a:t>
            </a:r>
          </a:p>
        </p:txBody>
      </p:sp>
      <p:sp>
        <p:nvSpPr>
          <p:cNvPr id="11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434974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이용 안내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STEP </a:t>
            </a:r>
            <a:r>
              <a:rPr lang="ko-KR" altLang="en-US" sz="800" dirty="0">
                <a:solidFill>
                  <a:schemeClr val="tx1"/>
                </a:solidFill>
              </a:rPr>
              <a:t>표시</a:t>
            </a: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440195" y="4349746"/>
            <a:ext cx="586699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보기 선택 시</a:t>
            </a:r>
          </a:p>
        </p:txBody>
      </p:sp>
      <p:sp>
        <p:nvSpPr>
          <p:cNvPr id="14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367096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접근 권한 안내</a:t>
            </a:r>
          </a:p>
        </p:txBody>
      </p:sp>
      <p:sp>
        <p:nvSpPr>
          <p:cNvPr id="14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367096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알림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푸시 동의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카메라 접근 동의</a:t>
            </a:r>
          </a:p>
        </p:txBody>
      </p:sp>
      <p:sp>
        <p:nvSpPr>
          <p:cNvPr id="15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503287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메인 페이지 진입</a:t>
            </a:r>
          </a:p>
        </p:txBody>
      </p:sp>
      <p:cxnSp>
        <p:nvCxnSpPr>
          <p:cNvPr id="155" name="직선 화살표 연결선 15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1" idx="3"/>
            <a:endCxn id="140" idx="1"/>
          </p:cNvCxnSpPr>
          <p:nvPr/>
        </p:nvCxnSpPr>
        <p:spPr>
          <a:xfrm>
            <a:off x="5097742" y="3814961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직선 화살표 연결선 15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40" idx="3"/>
            <a:endCxn id="142" idx="1"/>
          </p:cNvCxnSpPr>
          <p:nvPr/>
        </p:nvCxnSpPr>
        <p:spPr>
          <a:xfrm>
            <a:off x="6928876" y="3814961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화살표 연결선 17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8" idx="3"/>
            <a:endCxn id="118" idx="1"/>
          </p:cNvCxnSpPr>
          <p:nvPr/>
        </p:nvCxnSpPr>
        <p:spPr>
          <a:xfrm>
            <a:off x="5097742" y="4493746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화살표 연결선 18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1" idx="2"/>
            <a:endCxn id="98" idx="0"/>
          </p:cNvCxnSpPr>
          <p:nvPr/>
        </p:nvCxnSpPr>
        <p:spPr>
          <a:xfrm>
            <a:off x="4647742" y="3958961"/>
            <a:ext cx="0" cy="39078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화살표 연결선 18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8" idx="2"/>
            <a:endCxn id="151" idx="0"/>
          </p:cNvCxnSpPr>
          <p:nvPr/>
        </p:nvCxnSpPr>
        <p:spPr>
          <a:xfrm>
            <a:off x="4647742" y="4637746"/>
            <a:ext cx="0" cy="395128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8" idx="2"/>
            <a:endCxn id="151" idx="0"/>
          </p:cNvCxnSpPr>
          <p:nvPr/>
        </p:nvCxnSpPr>
        <p:spPr>
          <a:xfrm rot="5400000">
            <a:off x="5365745" y="3919743"/>
            <a:ext cx="395128" cy="183113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4528745" y="5757160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91" name="그룹 190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4557742" y="5560902"/>
            <a:ext cx="180000" cy="180000"/>
            <a:chOff x="5058274" y="2498299"/>
            <a:chExt cx="180000" cy="180000"/>
          </a:xfrm>
        </p:grpSpPr>
        <p:sp>
          <p:nvSpPr>
            <p:cNvPr id="192" name="타원 191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3" name="타원 192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94" name="직선 화살표 연결선 19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51" idx="2"/>
            <a:endCxn id="192" idx="0"/>
          </p:cNvCxnSpPr>
          <p:nvPr/>
        </p:nvCxnSpPr>
        <p:spPr>
          <a:xfrm>
            <a:off x="4647742" y="5320874"/>
            <a:ext cx="0" cy="240028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42" idx="2"/>
            <a:endCxn id="98" idx="0"/>
          </p:cNvCxnSpPr>
          <p:nvPr/>
        </p:nvCxnSpPr>
        <p:spPr>
          <a:xfrm rot="5400000">
            <a:off x="6283484" y="2323219"/>
            <a:ext cx="390785" cy="366226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3333723" y="4349746"/>
            <a:ext cx="864019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이용안내 </a:t>
            </a:r>
            <a:r>
              <a:rPr lang="en-US" altLang="ko-KR" sz="800" dirty="0">
                <a:solidFill>
                  <a:schemeClr val="tx1"/>
                </a:solidFill>
              </a:rPr>
              <a:t>= </a:t>
            </a:r>
            <a:r>
              <a:rPr lang="ko-KR" altLang="en-US" sz="800" dirty="0">
                <a:solidFill>
                  <a:schemeClr val="tx1"/>
                </a:solidFill>
              </a:rPr>
              <a:t>도움말</a:t>
            </a:r>
          </a:p>
        </p:txBody>
      </p:sp>
      <p:cxnSp>
        <p:nvCxnSpPr>
          <p:cNvPr id="7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83" idx="3"/>
            <a:endCxn id="104" idx="2"/>
          </p:cNvCxnSpPr>
          <p:nvPr/>
        </p:nvCxnSpPr>
        <p:spPr>
          <a:xfrm flipV="1">
            <a:off x="8760010" y="2451749"/>
            <a:ext cx="398685" cy="67878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직선 화살표 연결선 5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2" idx="2"/>
            <a:endCxn id="24" idx="0"/>
          </p:cNvCxnSpPr>
          <p:nvPr/>
        </p:nvCxnSpPr>
        <p:spPr>
          <a:xfrm>
            <a:off x="4647742" y="1916964"/>
            <a:ext cx="0" cy="390786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1.2.1 </a:t>
            </a:r>
            <a:r>
              <a:rPr lang="ko-KR" altLang="en-US" sz="1200" dirty="0">
                <a:solidFill>
                  <a:schemeClr val="tx1"/>
                </a:solidFill>
              </a:rPr>
              <a:t>앱 실행 </a:t>
            </a:r>
            <a:r>
              <a:rPr lang="en-US" altLang="ko-KR" sz="1200" dirty="0">
                <a:solidFill>
                  <a:schemeClr val="tx1"/>
                </a:solidFill>
              </a:rPr>
              <a:t>(</a:t>
            </a:r>
            <a:r>
              <a:rPr lang="ko-KR" altLang="en-US" sz="1200" dirty="0">
                <a:solidFill>
                  <a:schemeClr val="tx1"/>
                </a:solidFill>
              </a:rPr>
              <a:t>업데이트</a:t>
            </a:r>
            <a:r>
              <a:rPr lang="en-US" altLang="ko-KR" sz="1200" dirty="0">
                <a:solidFill>
                  <a:schemeClr val="tx1"/>
                </a:solidFill>
              </a:rPr>
              <a:t>(</a:t>
            </a:r>
            <a:r>
              <a:rPr lang="ko-KR" altLang="en-US" sz="1200" dirty="0">
                <a:solidFill>
                  <a:schemeClr val="tx1"/>
                </a:solidFill>
              </a:rPr>
              <a:t>필수</a:t>
            </a:r>
            <a:r>
              <a:rPr lang="en-US" altLang="ko-KR" sz="1200" dirty="0">
                <a:solidFill>
                  <a:schemeClr val="tx1"/>
                </a:solidFill>
              </a:rPr>
              <a:t>), </a:t>
            </a:r>
            <a:r>
              <a:rPr lang="ko-KR" altLang="en-US" sz="1200" dirty="0">
                <a:solidFill>
                  <a:schemeClr val="tx1"/>
                </a:solidFill>
              </a:rPr>
              <a:t>권한 동의</a:t>
            </a:r>
            <a:r>
              <a:rPr lang="en-US" altLang="ko-KR" sz="1200" dirty="0">
                <a:solidFill>
                  <a:schemeClr val="tx1"/>
                </a:solidFill>
              </a:rPr>
              <a:t>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22342373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9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메인 페이지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1173151" y="1543298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햄버거 메뉴</a:t>
            </a:r>
          </a:p>
        </p:txBody>
      </p:sp>
      <p:sp>
        <p:nvSpPr>
          <p:cNvPr id="2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986536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22" idx="1"/>
          </p:cNvCxnSpPr>
          <p:nvPr/>
        </p:nvCxnSpPr>
        <p:spPr>
          <a:xfrm>
            <a:off x="3266608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98653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 </a:t>
            </a:r>
            <a:r>
              <a:rPr lang="en-US" altLang="ko-KR" sz="800" dirty="0">
                <a:solidFill>
                  <a:schemeClr val="tx1"/>
                </a:solidFill>
              </a:rPr>
              <a:t>- </a:t>
            </a:r>
            <a:r>
              <a:rPr lang="ko-KR" altLang="en-US" sz="800" dirty="0">
                <a:solidFill>
                  <a:schemeClr val="tx1"/>
                </a:solidFill>
              </a:rPr>
              <a:t>방식 선택</a:t>
            </a:r>
          </a:p>
        </p:txBody>
      </p: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endCxn id="34" idx="1"/>
          </p:cNvCxnSpPr>
          <p:nvPr/>
        </p:nvCxnSpPr>
        <p:spPr>
          <a:xfrm>
            <a:off x="5092692" y="3130536"/>
            <a:ext cx="93618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2983614"/>
            <a:ext cx="900000" cy="293844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Any-ID </a:t>
            </a:r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600" dirty="0" err="1">
                <a:solidFill>
                  <a:schemeClr val="tx1"/>
                </a:solidFill>
              </a:rPr>
              <a:t>간편인증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 err="1">
                <a:solidFill>
                  <a:schemeClr val="tx1"/>
                </a:solidFill>
              </a:rPr>
              <a:t>금융인증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 err="1">
                <a:solidFill>
                  <a:schemeClr val="tx1"/>
                </a:solidFill>
              </a:rPr>
              <a:t>공동인증</a:t>
            </a:r>
            <a:endParaRPr lang="ko-KR" altLang="en-US" sz="600" dirty="0">
              <a:solidFill>
                <a:schemeClr val="tx1"/>
              </a:solidFill>
            </a:endParaRPr>
          </a:p>
        </p:txBody>
      </p:sp>
      <p:sp>
        <p:nvSpPr>
          <p:cNvPr id="8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366532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모바일 신분증</a:t>
            </a:r>
          </a:p>
        </p:txBody>
      </p:sp>
      <p:cxnSp>
        <p:nvCxnSpPr>
          <p:cNvPr id="84" name="직선 화살표 연결선 8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34" idx="3"/>
            <a:endCxn id="82" idx="1"/>
          </p:cNvCxnSpPr>
          <p:nvPr/>
        </p:nvCxnSpPr>
        <p:spPr>
          <a:xfrm>
            <a:off x="6928876" y="3130536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34" idx="3"/>
            <a:endCxn id="83" idx="1"/>
          </p:cNvCxnSpPr>
          <p:nvPr/>
        </p:nvCxnSpPr>
        <p:spPr>
          <a:xfrm>
            <a:off x="6928876" y="3130536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129698" y="3236793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158695" y="3040535"/>
            <a:ext cx="180000" cy="180000"/>
            <a:chOff x="5058274" y="2498299"/>
            <a:chExt cx="180000" cy="180000"/>
          </a:xfrm>
        </p:grpSpPr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5" name="타원 104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06" name="직선 화살표 연결선 10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82" idx="3"/>
            <a:endCxn id="104" idx="2"/>
          </p:cNvCxnSpPr>
          <p:nvPr/>
        </p:nvCxnSpPr>
        <p:spPr>
          <a:xfrm flipV="1">
            <a:off x="8760010" y="3130535"/>
            <a:ext cx="398685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83" idx="3"/>
            <a:endCxn id="104" idx="2"/>
          </p:cNvCxnSpPr>
          <p:nvPr/>
        </p:nvCxnSpPr>
        <p:spPr>
          <a:xfrm flipV="1">
            <a:off x="8760010" y="3130535"/>
            <a:ext cx="398685" cy="67878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1.2.2 </a:t>
            </a:r>
            <a:r>
              <a:rPr lang="ko-KR" altLang="en-US" sz="1200" dirty="0">
                <a:solidFill>
                  <a:schemeClr val="tx1"/>
                </a:solidFill>
              </a:rPr>
              <a:t>메인 페이지</a:t>
            </a:r>
          </a:p>
        </p:txBody>
      </p:sp>
      <p:cxnSp>
        <p:nvCxnSpPr>
          <p:cNvPr id="5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24" idx="1"/>
          </p:cNvCxnSpPr>
          <p:nvPr/>
        </p:nvCxnSpPr>
        <p:spPr>
          <a:xfrm>
            <a:off x="3266608" y="1772964"/>
            <a:ext cx="931134" cy="135757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433987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통합검색</a:t>
            </a:r>
          </a:p>
        </p:txBody>
      </p:sp>
      <p:cxnSp>
        <p:nvCxnSpPr>
          <p:cNvPr id="6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58" idx="1"/>
          </p:cNvCxnSpPr>
          <p:nvPr/>
        </p:nvCxnSpPr>
        <p:spPr>
          <a:xfrm>
            <a:off x="3266608" y="1772964"/>
            <a:ext cx="931134" cy="271091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50186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알림 현황</a:t>
            </a:r>
          </a:p>
        </p:txBody>
      </p:sp>
      <p:cxnSp>
        <p:nvCxnSpPr>
          <p:cNvPr id="6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63" idx="1"/>
          </p:cNvCxnSpPr>
          <p:nvPr/>
        </p:nvCxnSpPr>
        <p:spPr>
          <a:xfrm>
            <a:off x="3266608" y="1772964"/>
            <a:ext cx="931134" cy="338970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433987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통합검색 결과</a:t>
            </a:r>
          </a:p>
        </p:txBody>
      </p:sp>
      <p:cxnSp>
        <p:nvCxnSpPr>
          <p:cNvPr id="71" name="직선 화살표 연결선 7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58" idx="3"/>
            <a:endCxn id="68" idx="1"/>
          </p:cNvCxnSpPr>
          <p:nvPr/>
        </p:nvCxnSpPr>
        <p:spPr>
          <a:xfrm>
            <a:off x="5097742" y="4483878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434410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생체인증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7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34" idx="3"/>
            <a:endCxn id="73" idx="1"/>
          </p:cNvCxnSpPr>
          <p:nvPr/>
        </p:nvCxnSpPr>
        <p:spPr>
          <a:xfrm>
            <a:off x="6928876" y="3130536"/>
            <a:ext cx="931134" cy="135757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104" idx="2"/>
          </p:cNvCxnSpPr>
          <p:nvPr/>
        </p:nvCxnSpPr>
        <p:spPr>
          <a:xfrm flipV="1">
            <a:off x="8760010" y="3130535"/>
            <a:ext cx="398685" cy="135757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501866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ID/PW </a:t>
            </a:r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cxnSp>
        <p:nvCxnSpPr>
          <p:cNvPr id="8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34" idx="3"/>
            <a:endCxn id="86" idx="1"/>
          </p:cNvCxnSpPr>
          <p:nvPr/>
        </p:nvCxnSpPr>
        <p:spPr>
          <a:xfrm>
            <a:off x="6928876" y="3130536"/>
            <a:ext cx="931134" cy="203212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86" idx="3"/>
            <a:endCxn id="104" idx="2"/>
          </p:cNvCxnSpPr>
          <p:nvPr/>
        </p:nvCxnSpPr>
        <p:spPr>
          <a:xfrm flipV="1">
            <a:off x="8760010" y="3130535"/>
            <a:ext cx="398685" cy="203212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PC QR </a:t>
            </a:r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cxnSp>
        <p:nvCxnSpPr>
          <p:cNvPr id="94" name="직선 화살표 연결선 9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2" idx="3"/>
            <a:endCxn id="93" idx="1"/>
          </p:cNvCxnSpPr>
          <p:nvPr/>
        </p:nvCxnSpPr>
        <p:spPr>
          <a:xfrm>
            <a:off x="5097742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307750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세부 메뉴 이동</a:t>
            </a:r>
          </a:p>
        </p:txBody>
      </p:sp>
      <p:cxnSp>
        <p:nvCxnSpPr>
          <p:cNvPr id="10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2" idx="3"/>
            <a:endCxn id="97" idx="1"/>
          </p:cNvCxnSpPr>
          <p:nvPr/>
        </p:nvCxnSpPr>
        <p:spPr>
          <a:xfrm>
            <a:off x="5097742" y="1772964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 안내</a:t>
            </a:r>
          </a:p>
        </p:txBody>
      </p:sp>
      <p:cxnSp>
        <p:nvCxnSpPr>
          <p:cNvPr id="11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2" idx="2"/>
            <a:endCxn id="34" idx="0"/>
          </p:cNvCxnSpPr>
          <p:nvPr/>
        </p:nvCxnSpPr>
        <p:spPr>
          <a:xfrm rot="16200000" flipH="1">
            <a:off x="5367916" y="1875576"/>
            <a:ext cx="390786" cy="183113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195484" y="2184638"/>
            <a:ext cx="65242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 err="1">
                <a:solidFill>
                  <a:schemeClr val="tx1"/>
                </a:solidFill>
              </a:rPr>
              <a:t>미로그인</a:t>
            </a:r>
            <a:r>
              <a:rPr lang="ko-KR" altLang="en-US" sz="800" dirty="0">
                <a:solidFill>
                  <a:schemeClr val="tx1"/>
                </a:solidFill>
              </a:rPr>
              <a:t> 상태</a:t>
            </a:r>
          </a:p>
        </p:txBody>
      </p:sp>
      <p:sp>
        <p:nvSpPr>
          <p:cNvPr id="13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5018663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 페이지 이동</a:t>
            </a:r>
          </a:p>
        </p:txBody>
      </p:sp>
      <p:cxnSp>
        <p:nvCxnSpPr>
          <p:cNvPr id="134" name="직선 화살표 연결선 13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8" idx="2"/>
            <a:endCxn id="133" idx="0"/>
          </p:cNvCxnSpPr>
          <p:nvPr/>
        </p:nvCxnSpPr>
        <p:spPr>
          <a:xfrm>
            <a:off x="6478876" y="4627878"/>
            <a:ext cx="0" cy="39078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7" name="직선 화살표 연결선 136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3" idx="3"/>
            <a:endCxn id="133" idx="1"/>
          </p:cNvCxnSpPr>
          <p:nvPr/>
        </p:nvCxnSpPr>
        <p:spPr>
          <a:xfrm flipV="1">
            <a:off x="5097742" y="5162663"/>
            <a:ext cx="931134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366824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사용자 등록 안내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모바일 회원가입 불가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4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4" idx="3"/>
            <a:endCxn id="145" idx="1"/>
          </p:cNvCxnSpPr>
          <p:nvPr/>
        </p:nvCxnSpPr>
        <p:spPr>
          <a:xfrm>
            <a:off x="5097742" y="3130536"/>
            <a:ext cx="931134" cy="68170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569321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ID/PW </a:t>
            </a:r>
            <a:r>
              <a:rPr lang="ko-KR" altLang="en-US" sz="800" dirty="0">
                <a:solidFill>
                  <a:schemeClr val="tx1"/>
                </a:solidFill>
              </a:rPr>
              <a:t>찾기</a:t>
            </a:r>
          </a:p>
        </p:txBody>
      </p:sp>
      <p:cxnSp>
        <p:nvCxnSpPr>
          <p:cNvPr id="156" name="직선 화살표 연결선 15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86" idx="2"/>
            <a:endCxn id="154" idx="0"/>
          </p:cNvCxnSpPr>
          <p:nvPr/>
        </p:nvCxnSpPr>
        <p:spPr>
          <a:xfrm>
            <a:off x="8310010" y="5306663"/>
            <a:ext cx="0" cy="38655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54" idx="3"/>
            <a:endCxn id="104" idx="2"/>
          </p:cNvCxnSpPr>
          <p:nvPr/>
        </p:nvCxnSpPr>
        <p:spPr>
          <a:xfrm flipV="1">
            <a:off x="8760010" y="3130535"/>
            <a:ext cx="398685" cy="270668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7" idx="3"/>
            <a:endCxn id="104" idx="2"/>
          </p:cNvCxnSpPr>
          <p:nvPr/>
        </p:nvCxnSpPr>
        <p:spPr>
          <a:xfrm>
            <a:off x="6928876" y="2451750"/>
            <a:ext cx="2229819" cy="678785"/>
          </a:xfrm>
          <a:prstGeom prst="bentConnector3">
            <a:avLst>
              <a:gd name="adj1" fmla="val 91276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3" idx="3"/>
            <a:endCxn id="104" idx="2"/>
          </p:cNvCxnSpPr>
          <p:nvPr/>
        </p:nvCxnSpPr>
        <p:spPr>
          <a:xfrm>
            <a:off x="6928876" y="1772964"/>
            <a:ext cx="2229819" cy="1357571"/>
          </a:xfrm>
          <a:prstGeom prst="bentConnector3">
            <a:avLst>
              <a:gd name="adj1" fmla="val 91276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569029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 </a:t>
            </a:r>
            <a:r>
              <a:rPr lang="ko-KR" altLang="en-US" sz="800" dirty="0" err="1">
                <a:solidFill>
                  <a:schemeClr val="tx1"/>
                </a:solidFill>
              </a:rPr>
              <a:t>챗봇</a:t>
            </a:r>
            <a:r>
              <a:rPr lang="ko-KR" altLang="en-US" sz="800" dirty="0">
                <a:solidFill>
                  <a:schemeClr val="tx1"/>
                </a:solidFill>
              </a:rPr>
              <a:t> 문의</a:t>
            </a:r>
          </a:p>
        </p:txBody>
      </p:sp>
      <p:cxnSp>
        <p:nvCxnSpPr>
          <p:cNvPr id="17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171" idx="1"/>
          </p:cNvCxnSpPr>
          <p:nvPr/>
        </p:nvCxnSpPr>
        <p:spPr>
          <a:xfrm>
            <a:off x="3266608" y="1772964"/>
            <a:ext cx="931134" cy="406133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5" name="직사각형 174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6359879" y="5924711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6388876" y="5744298"/>
            <a:ext cx="180000" cy="180000"/>
            <a:chOff x="5058274" y="2498299"/>
            <a:chExt cx="180000" cy="180000"/>
          </a:xfrm>
        </p:grpSpPr>
        <p:sp>
          <p:nvSpPr>
            <p:cNvPr id="177" name="타원 176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80" name="직선 화살표 연결선 17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71" idx="3"/>
            <a:endCxn id="177" idx="2"/>
          </p:cNvCxnSpPr>
          <p:nvPr/>
        </p:nvCxnSpPr>
        <p:spPr>
          <a:xfrm>
            <a:off x="5097742" y="5834298"/>
            <a:ext cx="129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화살표 연결선 18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33" idx="2"/>
            <a:endCxn id="177" idx="0"/>
          </p:cNvCxnSpPr>
          <p:nvPr/>
        </p:nvCxnSpPr>
        <p:spPr>
          <a:xfrm>
            <a:off x="6478876" y="5306663"/>
            <a:ext cx="0" cy="43763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45" idx="3"/>
            <a:endCxn id="177" idx="6"/>
          </p:cNvCxnSpPr>
          <p:nvPr/>
        </p:nvCxnSpPr>
        <p:spPr>
          <a:xfrm flipH="1">
            <a:off x="6568876" y="3812244"/>
            <a:ext cx="360000" cy="2022054"/>
          </a:xfrm>
          <a:prstGeom prst="bentConnector3">
            <a:avLst>
              <a:gd name="adj1" fmla="val -635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2" idx="3"/>
            <a:endCxn id="112" idx="3"/>
          </p:cNvCxnSpPr>
          <p:nvPr/>
        </p:nvCxnSpPr>
        <p:spPr>
          <a:xfrm>
            <a:off x="5097742" y="1772964"/>
            <a:ext cx="12700" cy="678786"/>
          </a:xfrm>
          <a:prstGeom prst="bentConnector3">
            <a:avLst>
              <a:gd name="adj1" fmla="val 3682354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6033667" y="1920752"/>
            <a:ext cx="993862" cy="24622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en-US" altLang="ko-KR" sz="800" dirty="0">
                <a:solidFill>
                  <a:schemeClr val="tx1"/>
                </a:solidFill>
              </a:rPr>
              <a:t>PC </a:t>
            </a:r>
            <a:r>
              <a:rPr lang="ko-KR" altLang="en-US" sz="800" dirty="0">
                <a:solidFill>
                  <a:schemeClr val="tx1"/>
                </a:solidFill>
              </a:rPr>
              <a:t>화면의 </a:t>
            </a:r>
            <a:r>
              <a:rPr lang="en-US" altLang="ko-KR" sz="800" dirty="0">
                <a:solidFill>
                  <a:schemeClr val="tx1"/>
                </a:solidFill>
              </a:rPr>
              <a:t>QR </a:t>
            </a:r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>
                <a:solidFill>
                  <a:schemeClr val="tx1"/>
                </a:solidFill>
              </a:rPr>
              <a:t>화면 스캔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6619C48D-7E22-9D49-50C5-2404458A47CE}"/>
              </a:ext>
            </a:extLst>
          </p:cNvPr>
          <p:cNvSpPr txBox="1"/>
          <p:nvPr/>
        </p:nvSpPr>
        <p:spPr>
          <a:xfrm>
            <a:off x="736948" y="6163510"/>
            <a:ext cx="8640000" cy="269680"/>
          </a:xfrm>
          <a:prstGeom prst="rect">
            <a:avLst/>
          </a:prstGeom>
          <a:noFill/>
        </p:spPr>
        <p:txBody>
          <a:bodyPr wrap="square" lIns="36000" tIns="36000" rIns="36000" bIns="36000">
            <a:spAutoFit/>
          </a:bodyPr>
          <a:lstStyle/>
          <a:p>
            <a:pPr marL="87313" lvl="0" indent="-87313" fontAlgn="base" latinLnBrk="0">
              <a:lnSpc>
                <a:spcPct val="160000"/>
              </a:lnSpc>
              <a:buFont typeface="Wingdings" panose="05000000000000000000" pitchFamily="2" charset="2"/>
              <a:buChar char="v"/>
            </a:pP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앱 서비스에서 회원가입은 불가능하며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,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 국방전자조달시스템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(PC)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에 등록하여야 함을 안내합니다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.</a:t>
            </a:r>
            <a:endParaRPr lang="ko-KR" altLang="en-US" sz="800" kern="0" spc="0" dirty="0">
              <a:solidFill>
                <a:srgbClr val="0000FF"/>
              </a:solidFill>
              <a:effectLst/>
              <a:latin typeface="+mn-ea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195484" y="3289310"/>
            <a:ext cx="79188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경로 안내용 표지</a:t>
            </a:r>
          </a:p>
        </p:txBody>
      </p:sp>
    </p:spTree>
    <p:extLst>
      <p:ext uri="{BB962C8B-B14F-4D97-AF65-F5344CB8AC3E}">
        <p14:creationId xmlns:p14="http://schemas.microsoft.com/office/powerpoint/2010/main" val="1696483905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10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 아이콘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선택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Any-ID </a:t>
            </a:r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600" dirty="0" err="1">
                <a:solidFill>
                  <a:schemeClr val="tx1"/>
                </a:solidFill>
              </a:rPr>
              <a:t>간편인증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 err="1">
                <a:solidFill>
                  <a:schemeClr val="tx1"/>
                </a:solidFill>
              </a:rPr>
              <a:t>금융인증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 err="1">
                <a:solidFill>
                  <a:schemeClr val="tx1"/>
                </a:solidFill>
              </a:rPr>
              <a:t>공동인증</a:t>
            </a:r>
            <a:endParaRPr lang="ko-KR" altLang="en-US" sz="600" dirty="0">
              <a:solidFill>
                <a:schemeClr val="tx1"/>
              </a:solidFill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0" idx="3"/>
            <a:endCxn id="75" idx="1"/>
          </p:cNvCxnSpPr>
          <p:nvPr/>
        </p:nvCxnSpPr>
        <p:spPr>
          <a:xfrm>
            <a:off x="3266608" y="2451750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 </a:t>
            </a:r>
            <a:r>
              <a:rPr lang="en-US" altLang="ko-KR" sz="800" dirty="0">
                <a:solidFill>
                  <a:schemeClr val="tx1"/>
                </a:solidFill>
              </a:rPr>
              <a:t>- </a:t>
            </a:r>
            <a:r>
              <a:rPr lang="ko-KR" altLang="en-US" sz="800" dirty="0">
                <a:solidFill>
                  <a:schemeClr val="tx1"/>
                </a:solidFill>
              </a:rPr>
              <a:t>방식 선택</a:t>
            </a:r>
          </a:p>
        </p:txBody>
      </p:sp>
      <p:cxnSp>
        <p:nvCxnSpPr>
          <p:cNvPr id="74" name="직선 화살표 연결선 7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2"/>
            <a:endCxn id="70" idx="0"/>
          </p:cNvCxnSpPr>
          <p:nvPr/>
        </p:nvCxnSpPr>
        <p:spPr>
          <a:xfrm>
            <a:off x="2816608" y="1916964"/>
            <a:ext cx="0" cy="390786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모바일 신분증</a:t>
            </a:r>
          </a:p>
        </p:txBody>
      </p:sp>
      <p:sp>
        <p:nvSpPr>
          <p:cNvPr id="7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98653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인증서 선택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sp>
        <p:nvSpPr>
          <p:cNvPr id="7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98653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각</a:t>
            </a:r>
            <a:r>
              <a:rPr lang="en-US" altLang="ko-KR" sz="800" dirty="0">
                <a:solidFill>
                  <a:schemeClr val="tx1"/>
                </a:solidFill>
              </a:rPr>
              <a:t> </a:t>
            </a:r>
            <a:r>
              <a:rPr lang="ko-KR" altLang="en-US" sz="800" dirty="0">
                <a:solidFill>
                  <a:schemeClr val="tx1"/>
                </a:solidFill>
              </a:rPr>
              <a:t>인증서</a:t>
            </a:r>
          </a:p>
        </p:txBody>
      </p:sp>
      <p:sp>
        <p:nvSpPr>
          <p:cNvPr id="7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434684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생체인증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503196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ID/PW </a:t>
            </a:r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cxnSp>
        <p:nvCxnSpPr>
          <p:cNvPr id="9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22" idx="1"/>
          </p:cNvCxnSpPr>
          <p:nvPr/>
        </p:nvCxnSpPr>
        <p:spPr>
          <a:xfrm flipV="1">
            <a:off x="3266608" y="1772964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79" idx="1"/>
          </p:cNvCxnSpPr>
          <p:nvPr/>
        </p:nvCxnSpPr>
        <p:spPr>
          <a:xfrm>
            <a:off x="3266608" y="2451750"/>
            <a:ext cx="931134" cy="272421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78" idx="1"/>
          </p:cNvCxnSpPr>
          <p:nvPr/>
        </p:nvCxnSpPr>
        <p:spPr>
          <a:xfrm>
            <a:off x="3266608" y="2451750"/>
            <a:ext cx="931134" cy="203909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77" idx="1"/>
          </p:cNvCxnSpPr>
          <p:nvPr/>
        </p:nvCxnSpPr>
        <p:spPr>
          <a:xfrm>
            <a:off x="3266608" y="2451750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162896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Any-ID</a:t>
            </a: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솔루션 프로세스</a:t>
            </a:r>
          </a:p>
        </p:txBody>
      </p:sp>
      <p:sp>
        <p:nvSpPr>
          <p:cNvPr id="10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307750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행안부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솔루션 프로세스</a:t>
            </a:r>
          </a:p>
        </p:txBody>
      </p:sp>
      <p:cxnSp>
        <p:nvCxnSpPr>
          <p:cNvPr id="111" name="직선 화살표 연결선 11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2" idx="3"/>
            <a:endCxn id="101" idx="1"/>
          </p:cNvCxnSpPr>
          <p:nvPr/>
        </p:nvCxnSpPr>
        <p:spPr>
          <a:xfrm>
            <a:off x="5097742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직선 화살표 연결선 11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5" idx="3"/>
            <a:endCxn id="107" idx="1"/>
          </p:cNvCxnSpPr>
          <p:nvPr/>
        </p:nvCxnSpPr>
        <p:spPr>
          <a:xfrm>
            <a:off x="5097742" y="2451750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화살표 연결선 11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7" idx="3"/>
            <a:endCxn id="76" idx="1"/>
          </p:cNvCxnSpPr>
          <p:nvPr/>
        </p:nvCxnSpPr>
        <p:spPr>
          <a:xfrm>
            <a:off x="5097742" y="3130536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 성공 안내</a:t>
            </a:r>
          </a:p>
        </p:txBody>
      </p:sp>
      <p:sp>
        <p:nvSpPr>
          <p:cNvPr id="12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 실패 안내</a:t>
            </a:r>
          </a:p>
        </p:txBody>
      </p:sp>
      <p:cxnSp>
        <p:nvCxnSpPr>
          <p:cNvPr id="126" name="직선 화살표 연결선 12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01" idx="3"/>
            <a:endCxn id="124" idx="1"/>
          </p:cNvCxnSpPr>
          <p:nvPr/>
        </p:nvCxnSpPr>
        <p:spPr>
          <a:xfrm>
            <a:off x="6928876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3" name="직선 화살표 연결선 132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07" idx="3"/>
            <a:endCxn id="125" idx="1"/>
          </p:cNvCxnSpPr>
          <p:nvPr/>
        </p:nvCxnSpPr>
        <p:spPr>
          <a:xfrm>
            <a:off x="6928876" y="2451750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167951" y="1884627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65" name="그룹 164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196948" y="1682964"/>
            <a:ext cx="180000" cy="180000"/>
            <a:chOff x="5058274" y="2498299"/>
            <a:chExt cx="180000" cy="180000"/>
          </a:xfrm>
        </p:grpSpPr>
        <p:sp>
          <p:nvSpPr>
            <p:cNvPr id="166" name="타원 165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7" name="타원 166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68" name="직선 화살표 연결선 16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24" idx="3"/>
            <a:endCxn id="166" idx="2"/>
          </p:cNvCxnSpPr>
          <p:nvPr/>
        </p:nvCxnSpPr>
        <p:spPr>
          <a:xfrm>
            <a:off x="8760010" y="1772964"/>
            <a:ext cx="436938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3662423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인증센터</a:t>
            </a:r>
          </a:p>
        </p:txBody>
      </p:sp>
      <p:cxnSp>
        <p:nvCxnSpPr>
          <p:cNvPr id="20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7" idx="3"/>
            <a:endCxn id="205" idx="1"/>
          </p:cNvCxnSpPr>
          <p:nvPr/>
        </p:nvCxnSpPr>
        <p:spPr>
          <a:xfrm>
            <a:off x="5097742" y="3130536"/>
            <a:ext cx="931134" cy="67588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7" name="TextBox 24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543140" y="6326480"/>
            <a:ext cx="847989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다음페이지 계속</a:t>
            </a:r>
          </a:p>
        </p:txBody>
      </p:sp>
      <p:sp>
        <p:nvSpPr>
          <p:cNvPr id="255" name="직사각형 254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684230" y="3662423"/>
            <a:ext cx="344646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미 등록</a:t>
            </a:r>
          </a:p>
        </p:txBody>
      </p:sp>
      <p:sp>
        <p:nvSpPr>
          <p:cNvPr id="256" name="직사각형 255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684230" y="2986536"/>
            <a:ext cx="344646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기 등록</a:t>
            </a:r>
          </a:p>
        </p:txBody>
      </p:sp>
      <p:sp>
        <p:nvSpPr>
          <p:cNvPr id="25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366242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/>
            <a:r>
              <a:rPr lang="ko-KR" altLang="en-US" sz="800" dirty="0">
                <a:solidFill>
                  <a:schemeClr val="tx1"/>
                </a:solidFill>
              </a:rPr>
              <a:t>인증서 가져오기</a:t>
            </a:r>
            <a:endParaRPr lang="en-US" altLang="ko-KR" sz="800" dirty="0">
              <a:solidFill>
                <a:prstClr val="black"/>
              </a:solidFill>
            </a:endParaRPr>
          </a:p>
          <a:p>
            <a:pPr lvl="0" algn="ctr"/>
            <a:r>
              <a:rPr lang="en-US" altLang="ko-KR" sz="700" dirty="0">
                <a:solidFill>
                  <a:prstClr val="black"/>
                </a:solidFill>
              </a:rPr>
              <a:t>(PC </a:t>
            </a:r>
            <a:r>
              <a:rPr lang="en-US" altLang="ko-KR" sz="700" dirty="0">
                <a:solidFill>
                  <a:prstClr val="black"/>
                </a:solidFill>
                <a:sym typeface="Wingdings" panose="05000000000000000000" pitchFamily="2" charset="2"/>
              </a:rPr>
              <a:t> </a:t>
            </a:r>
            <a:r>
              <a:rPr lang="ko-KR" altLang="en-US" sz="700" dirty="0">
                <a:solidFill>
                  <a:prstClr val="black"/>
                </a:solidFill>
                <a:sym typeface="Wingdings" panose="05000000000000000000" pitchFamily="2" charset="2"/>
              </a:rPr>
              <a:t>모바일</a:t>
            </a:r>
            <a:r>
              <a:rPr lang="en-US" altLang="ko-KR" sz="700" dirty="0">
                <a:solidFill>
                  <a:prstClr val="black"/>
                </a:solidFill>
              </a:rPr>
              <a:t>)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cxnSp>
        <p:nvCxnSpPr>
          <p:cNvPr id="260" name="직선 화살표 연결선 25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05" idx="3"/>
            <a:endCxn id="259" idx="1"/>
          </p:cNvCxnSpPr>
          <p:nvPr/>
        </p:nvCxnSpPr>
        <p:spPr>
          <a:xfrm>
            <a:off x="6928876" y="3806423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56934" y="502492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사용자 등록 안내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모바일 회원가입 불가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64" name="직사각형 263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7853858" y="2180725"/>
            <a:ext cx="65242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회원정보 없음</a:t>
            </a: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167951" y="5962190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268" name="그룹 267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196948" y="5764482"/>
            <a:ext cx="180000" cy="180000"/>
            <a:chOff x="5058274" y="2498299"/>
            <a:chExt cx="180000" cy="180000"/>
          </a:xfrm>
        </p:grpSpPr>
        <p:sp>
          <p:nvSpPr>
            <p:cNvPr id="269" name="타원 268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70" name="타원 269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27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59" idx="0"/>
            <a:endCxn id="76" idx="2"/>
          </p:cNvCxnSpPr>
          <p:nvPr/>
        </p:nvCxnSpPr>
        <p:spPr>
          <a:xfrm rot="16200000" flipV="1">
            <a:off x="7200500" y="2552913"/>
            <a:ext cx="387887" cy="183113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2" name="직사각형 281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7853858" y="1508753"/>
            <a:ext cx="65242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회원정보 있음</a:t>
            </a:r>
          </a:p>
        </p:txBody>
      </p:sp>
      <p:sp>
        <p:nvSpPr>
          <p:cNvPr id="283" name="TextBox 282">
            <a:extLst>
              <a:ext uri="{FF2B5EF4-FFF2-40B4-BE49-F238E27FC236}">
                <a16:creationId xmlns:a16="http://schemas.microsoft.com/office/drawing/2014/main" id="{6619C48D-7E22-9D49-50C5-2404458A47CE}"/>
              </a:ext>
            </a:extLst>
          </p:cNvPr>
          <p:cNvSpPr txBox="1"/>
          <p:nvPr/>
        </p:nvSpPr>
        <p:spPr>
          <a:xfrm>
            <a:off x="736948" y="6163510"/>
            <a:ext cx="8640000" cy="269680"/>
          </a:xfrm>
          <a:prstGeom prst="rect">
            <a:avLst/>
          </a:prstGeom>
          <a:noFill/>
        </p:spPr>
        <p:txBody>
          <a:bodyPr wrap="square" lIns="36000" tIns="36000" rIns="36000" bIns="36000">
            <a:spAutoFit/>
          </a:bodyPr>
          <a:lstStyle/>
          <a:p>
            <a:pPr marL="87313" lvl="0" indent="-87313" fontAlgn="base" latinLnBrk="0">
              <a:lnSpc>
                <a:spcPct val="160000"/>
              </a:lnSpc>
              <a:buFont typeface="Wingdings" panose="05000000000000000000" pitchFamily="2" charset="2"/>
              <a:buChar char="v"/>
            </a:pP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앱 서비스에서 회원가입은 불가능하며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,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 국방전자조달시스템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(PC)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에 등록하여야 함을 안내합니다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.</a:t>
            </a:r>
            <a:endParaRPr lang="ko-KR" altLang="en-US" sz="800" kern="0" spc="0" dirty="0">
              <a:solidFill>
                <a:srgbClr val="0000FF"/>
              </a:solidFill>
              <a:effectLst/>
              <a:latin typeface="+mn-ea"/>
            </a:endParaRPr>
          </a:p>
        </p:txBody>
      </p:sp>
      <p:cxnSp>
        <p:nvCxnSpPr>
          <p:cNvPr id="6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25" idx="3"/>
            <a:endCxn id="263" idx="3"/>
          </p:cNvCxnSpPr>
          <p:nvPr/>
        </p:nvCxnSpPr>
        <p:spPr>
          <a:xfrm flipH="1">
            <a:off x="8756934" y="2451750"/>
            <a:ext cx="3076" cy="2717175"/>
          </a:xfrm>
          <a:prstGeom prst="bentConnector3">
            <a:avLst>
              <a:gd name="adj1" fmla="val -743173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1.2.3 </a:t>
            </a:r>
            <a:r>
              <a:rPr lang="ko-KR" altLang="en-US" sz="1200" dirty="0">
                <a:solidFill>
                  <a:schemeClr val="tx1"/>
                </a:solidFill>
              </a:rPr>
              <a:t>로그인 </a:t>
            </a:r>
            <a:r>
              <a:rPr lang="en-US" altLang="ko-KR" sz="1200" dirty="0">
                <a:solidFill>
                  <a:schemeClr val="tx1"/>
                </a:solidFill>
              </a:rPr>
              <a:t>(1/3)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cxnSp>
        <p:nvCxnSpPr>
          <p:cNvPr id="6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63" idx="2"/>
            <a:endCxn id="269" idx="2"/>
          </p:cNvCxnSpPr>
          <p:nvPr/>
        </p:nvCxnSpPr>
        <p:spPr>
          <a:xfrm rot="16200000" flipH="1">
            <a:off x="8481163" y="5138696"/>
            <a:ext cx="541557" cy="890014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1173151" y="1543298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cxnSp>
        <p:nvCxnSpPr>
          <p:cNvPr id="6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6" idx="3"/>
            <a:endCxn id="124" idx="1"/>
          </p:cNvCxnSpPr>
          <p:nvPr/>
        </p:nvCxnSpPr>
        <p:spPr>
          <a:xfrm flipV="1">
            <a:off x="6928876" y="1772964"/>
            <a:ext cx="931134" cy="135757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337608" y="5356830"/>
            <a:ext cx="327013" cy="923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후술</a:t>
            </a:r>
          </a:p>
        </p:txBody>
      </p:sp>
      <p:sp>
        <p:nvSpPr>
          <p:cNvPr id="6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089887" y="4274050"/>
            <a:ext cx="1112636" cy="1175112"/>
          </a:xfrm>
          <a:prstGeom prst="roundRect">
            <a:avLst>
              <a:gd name="adj" fmla="val 4682"/>
            </a:avLst>
          </a:prstGeom>
          <a:noFill/>
          <a:ln>
            <a:solidFill>
              <a:schemeClr val="bg1">
                <a:lumMod val="85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6031638" y="3967076"/>
            <a:ext cx="79188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경로 안내용 표지</a:t>
            </a:r>
          </a:p>
        </p:txBody>
      </p:sp>
    </p:spTree>
    <p:extLst>
      <p:ext uri="{BB962C8B-B14F-4D97-AF65-F5344CB8AC3E}">
        <p14:creationId xmlns:p14="http://schemas.microsoft.com/office/powerpoint/2010/main" val="1545877026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11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 아이콘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선택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Any-ID </a:t>
            </a:r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600" dirty="0" err="1">
                <a:solidFill>
                  <a:schemeClr val="tx1"/>
                </a:solidFill>
              </a:rPr>
              <a:t>간편인증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 err="1">
                <a:solidFill>
                  <a:schemeClr val="tx1"/>
                </a:solidFill>
              </a:rPr>
              <a:t>금융인증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 err="1">
                <a:solidFill>
                  <a:schemeClr val="tx1"/>
                </a:solidFill>
              </a:rPr>
              <a:t>공동인증</a:t>
            </a:r>
            <a:endParaRPr lang="ko-KR" altLang="en-US" sz="600" dirty="0">
              <a:solidFill>
                <a:schemeClr val="tx1"/>
              </a:solidFill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0" idx="3"/>
            <a:endCxn id="75" idx="1"/>
          </p:cNvCxnSpPr>
          <p:nvPr/>
        </p:nvCxnSpPr>
        <p:spPr>
          <a:xfrm>
            <a:off x="3266608" y="2451750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 </a:t>
            </a:r>
            <a:r>
              <a:rPr lang="en-US" altLang="ko-KR" sz="800" dirty="0">
                <a:solidFill>
                  <a:schemeClr val="tx1"/>
                </a:solidFill>
              </a:rPr>
              <a:t>- </a:t>
            </a:r>
            <a:r>
              <a:rPr lang="ko-KR" altLang="en-US" sz="800" dirty="0">
                <a:solidFill>
                  <a:schemeClr val="tx1"/>
                </a:solidFill>
              </a:rPr>
              <a:t>방식 선택</a:t>
            </a:r>
          </a:p>
        </p:txBody>
      </p:sp>
      <p:cxnSp>
        <p:nvCxnSpPr>
          <p:cNvPr id="74" name="직선 화살표 연결선 7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2"/>
            <a:endCxn id="70" idx="0"/>
          </p:cNvCxnSpPr>
          <p:nvPr/>
        </p:nvCxnSpPr>
        <p:spPr>
          <a:xfrm>
            <a:off x="2816608" y="1916964"/>
            <a:ext cx="0" cy="390786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모바일 신분증</a:t>
            </a:r>
          </a:p>
        </p:txBody>
      </p:sp>
      <p:sp>
        <p:nvSpPr>
          <p:cNvPr id="7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98653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각</a:t>
            </a:r>
            <a:r>
              <a:rPr lang="en-US" altLang="ko-KR" sz="800" dirty="0">
                <a:solidFill>
                  <a:schemeClr val="tx1"/>
                </a:solidFill>
              </a:rPr>
              <a:t> </a:t>
            </a:r>
            <a:r>
              <a:rPr lang="ko-KR" altLang="en-US" sz="800" dirty="0">
                <a:solidFill>
                  <a:schemeClr val="tx1"/>
                </a:solidFill>
              </a:rPr>
              <a:t>인증서</a:t>
            </a:r>
          </a:p>
        </p:txBody>
      </p:sp>
      <p:sp>
        <p:nvSpPr>
          <p:cNvPr id="7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366806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생체인증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570371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ID/PW </a:t>
            </a:r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cxnSp>
        <p:nvCxnSpPr>
          <p:cNvPr id="9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22" idx="1"/>
          </p:cNvCxnSpPr>
          <p:nvPr/>
        </p:nvCxnSpPr>
        <p:spPr>
          <a:xfrm flipV="1">
            <a:off x="3266608" y="1772964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79" idx="1"/>
          </p:cNvCxnSpPr>
          <p:nvPr/>
        </p:nvCxnSpPr>
        <p:spPr>
          <a:xfrm>
            <a:off x="3266608" y="2451750"/>
            <a:ext cx="931134" cy="339596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78" idx="1"/>
          </p:cNvCxnSpPr>
          <p:nvPr/>
        </p:nvCxnSpPr>
        <p:spPr>
          <a:xfrm>
            <a:off x="3266608" y="2451750"/>
            <a:ext cx="931134" cy="1360311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77" idx="1"/>
          </p:cNvCxnSpPr>
          <p:nvPr/>
        </p:nvCxnSpPr>
        <p:spPr>
          <a:xfrm>
            <a:off x="3266608" y="2451750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434684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생체인증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등록 안내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119" name="직선 화살표 연결선 118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8" idx="2"/>
            <a:endCxn id="108" idx="0"/>
          </p:cNvCxnSpPr>
          <p:nvPr/>
        </p:nvCxnSpPr>
        <p:spPr>
          <a:xfrm>
            <a:off x="4647742" y="3956061"/>
            <a:ext cx="0" cy="39078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434684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생체인증</a:t>
            </a:r>
            <a:r>
              <a:rPr lang="ko-KR" altLang="en-US" sz="800" dirty="0">
                <a:solidFill>
                  <a:schemeClr val="tx1"/>
                </a:solidFill>
              </a:rPr>
              <a:t> 등록</a:t>
            </a:r>
          </a:p>
        </p:txBody>
      </p:sp>
      <p:cxnSp>
        <p:nvCxnSpPr>
          <p:cNvPr id="15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08" idx="3"/>
            <a:endCxn id="92" idx="1"/>
          </p:cNvCxnSpPr>
          <p:nvPr/>
        </p:nvCxnSpPr>
        <p:spPr>
          <a:xfrm>
            <a:off x="5097742" y="4490846"/>
            <a:ext cx="931134" cy="67807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9" name="직사각형 238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6512772" y="4625097"/>
            <a:ext cx="65242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회원정보 있음</a:t>
            </a:r>
          </a:p>
        </p:txBody>
      </p:sp>
      <p:sp>
        <p:nvSpPr>
          <p:cNvPr id="24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56934" y="3668061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생체인증</a:t>
            </a:r>
            <a:r>
              <a:rPr lang="ko-KR" altLang="en-US" sz="800" dirty="0">
                <a:solidFill>
                  <a:schemeClr val="tx1"/>
                </a:solidFill>
              </a:rPr>
              <a:t> 로그인</a:t>
            </a:r>
          </a:p>
        </p:txBody>
      </p:sp>
      <p:cxnSp>
        <p:nvCxnSpPr>
          <p:cNvPr id="244" name="직선 화살표 연결선 24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8" idx="3"/>
            <a:endCxn id="242" idx="1"/>
          </p:cNvCxnSpPr>
          <p:nvPr/>
        </p:nvCxnSpPr>
        <p:spPr>
          <a:xfrm>
            <a:off x="5097742" y="3812061"/>
            <a:ext cx="2759192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화살표 연결선 86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2" idx="0"/>
            <a:endCxn id="154" idx="2"/>
          </p:cNvCxnSpPr>
          <p:nvPr/>
        </p:nvCxnSpPr>
        <p:spPr>
          <a:xfrm flipV="1">
            <a:off x="6478876" y="4634846"/>
            <a:ext cx="0" cy="390079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5024925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본인인증</a:t>
            </a:r>
            <a:r>
              <a:rPr lang="en-US" altLang="ko-KR" sz="800" dirty="0">
                <a:solidFill>
                  <a:schemeClr val="tx1"/>
                </a:solidFill>
              </a:rPr>
              <a:t/>
            </a:r>
            <a:br>
              <a:rPr lang="en-US" altLang="ko-KR" sz="800" dirty="0">
                <a:solidFill>
                  <a:schemeClr val="tx1"/>
                </a:solidFill>
              </a:rPr>
            </a:br>
            <a:r>
              <a:rPr lang="en-US" altLang="ko-KR" sz="700" dirty="0">
                <a:solidFill>
                  <a:schemeClr val="tx1"/>
                </a:solidFill>
              </a:rPr>
              <a:t>(</a:t>
            </a:r>
            <a:r>
              <a:rPr lang="ko-KR" altLang="en-US" sz="700" dirty="0" err="1">
                <a:solidFill>
                  <a:schemeClr val="tx1"/>
                </a:solidFill>
              </a:rPr>
              <a:t>간편인증</a:t>
            </a:r>
            <a:r>
              <a:rPr lang="ko-KR" altLang="en-US" sz="700" dirty="0">
                <a:solidFill>
                  <a:schemeClr val="tx1"/>
                </a:solidFill>
              </a:rPr>
              <a:t> 등</a:t>
            </a:r>
            <a:r>
              <a:rPr lang="en-US" altLang="ko-KR" sz="700" dirty="0">
                <a:solidFill>
                  <a:schemeClr val="tx1"/>
                </a:solidFill>
              </a:rPr>
              <a:t>)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6103838" y="3668061"/>
            <a:ext cx="746999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 err="1">
                <a:solidFill>
                  <a:schemeClr val="tx1"/>
                </a:solidFill>
              </a:rPr>
              <a:t>생체인증</a:t>
            </a:r>
            <a:r>
              <a:rPr lang="ko-KR" altLang="en-US" sz="800" dirty="0">
                <a:solidFill>
                  <a:schemeClr val="tx1"/>
                </a:solidFill>
              </a:rPr>
              <a:t> 등록 </a:t>
            </a:r>
            <a:r>
              <a:rPr lang="en-US" altLang="ko-KR" sz="800" dirty="0">
                <a:solidFill>
                  <a:schemeClr val="tx1"/>
                </a:solidFill>
              </a:rPr>
              <a:t>Y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681839" y="4217818"/>
            <a:ext cx="767839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 err="1">
                <a:solidFill>
                  <a:schemeClr val="tx1"/>
                </a:solidFill>
              </a:rPr>
              <a:t>생체인증</a:t>
            </a:r>
            <a:r>
              <a:rPr lang="ko-KR" altLang="en-US" sz="800" dirty="0">
                <a:solidFill>
                  <a:schemeClr val="tx1"/>
                </a:solidFill>
              </a:rPr>
              <a:t> 등록 </a:t>
            </a:r>
            <a:r>
              <a:rPr lang="en-US" altLang="ko-KR" sz="800" dirty="0">
                <a:solidFill>
                  <a:schemeClr val="tx1"/>
                </a:solidFill>
              </a:rPr>
              <a:t>N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0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54" idx="3"/>
            <a:endCxn id="242" idx="1"/>
          </p:cNvCxnSpPr>
          <p:nvPr/>
        </p:nvCxnSpPr>
        <p:spPr>
          <a:xfrm flipV="1">
            <a:off x="6928876" y="3812061"/>
            <a:ext cx="928058" cy="67878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TextBox 10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543140" y="6326480"/>
            <a:ext cx="847989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다음페이지 계속</a:t>
            </a: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167951" y="3919769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14" name="그룹 113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196948" y="3722061"/>
            <a:ext cx="180000" cy="180000"/>
            <a:chOff x="5058274" y="2498299"/>
            <a:chExt cx="180000" cy="180000"/>
          </a:xfrm>
        </p:grpSpPr>
        <p:sp>
          <p:nvSpPr>
            <p:cNvPr id="115" name="타원 114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7" name="타원 116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18" name="직선 화살표 연결선 11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42" idx="3"/>
            <a:endCxn id="115" idx="2"/>
          </p:cNvCxnSpPr>
          <p:nvPr/>
        </p:nvCxnSpPr>
        <p:spPr>
          <a:xfrm>
            <a:off x="8756934" y="3812061"/>
            <a:ext cx="44001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56934" y="502492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사용자 등록 안내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모바일 회원가입 불가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42" name="직선 화살표 연결선 14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2" idx="3"/>
            <a:endCxn id="131" idx="1"/>
          </p:cNvCxnSpPr>
          <p:nvPr/>
        </p:nvCxnSpPr>
        <p:spPr>
          <a:xfrm>
            <a:off x="6928876" y="5168925"/>
            <a:ext cx="928058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직사각형 142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7204511" y="5024925"/>
            <a:ext cx="65242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>
                <a:solidFill>
                  <a:schemeClr val="tx1"/>
                </a:solidFill>
              </a:rPr>
              <a:t>회원정보 없음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1.2.3 </a:t>
            </a:r>
            <a:r>
              <a:rPr lang="ko-KR" altLang="en-US" sz="1200" dirty="0">
                <a:solidFill>
                  <a:schemeClr val="tx1"/>
                </a:solidFill>
              </a:rPr>
              <a:t>로그인 </a:t>
            </a:r>
            <a:r>
              <a:rPr lang="en-US" altLang="ko-KR" sz="1200" dirty="0">
                <a:solidFill>
                  <a:schemeClr val="tx1"/>
                </a:solidFill>
              </a:rPr>
              <a:t>(2/3)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6619C48D-7E22-9D49-50C5-2404458A47CE}"/>
              </a:ext>
            </a:extLst>
          </p:cNvPr>
          <p:cNvSpPr txBox="1"/>
          <p:nvPr/>
        </p:nvSpPr>
        <p:spPr>
          <a:xfrm>
            <a:off x="736948" y="6163510"/>
            <a:ext cx="8640000" cy="242814"/>
          </a:xfrm>
          <a:prstGeom prst="rect">
            <a:avLst/>
          </a:prstGeom>
          <a:noFill/>
        </p:spPr>
        <p:txBody>
          <a:bodyPr wrap="square" lIns="36000" tIns="36000" rIns="36000" bIns="36000">
            <a:spAutoFit/>
          </a:bodyPr>
          <a:lstStyle/>
          <a:p>
            <a:pPr marL="87313" lvl="0" indent="-87313" fontAlgn="base" latinLnBrk="0">
              <a:lnSpc>
                <a:spcPct val="160000"/>
              </a:lnSpc>
              <a:buFont typeface="Wingdings" panose="05000000000000000000" pitchFamily="2" charset="2"/>
              <a:buChar char="v"/>
            </a:pP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앱 서비스에서 회원가입은 불가능하며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,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 국방전자조달시스템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(PC)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에 등록하여야 함을 안내합니다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.</a:t>
            </a:r>
            <a:endParaRPr lang="ko-KR" altLang="en-US" sz="800" kern="0" dirty="0">
              <a:solidFill>
                <a:srgbClr val="0000FF"/>
              </a:solidFill>
              <a:latin typeface="+mn-ea"/>
            </a:endParaRPr>
          </a:p>
        </p:txBody>
      </p:sp>
      <p:cxnSp>
        <p:nvCxnSpPr>
          <p:cNvPr id="5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31" idx="3"/>
            <a:endCxn id="115" idx="2"/>
          </p:cNvCxnSpPr>
          <p:nvPr/>
        </p:nvCxnSpPr>
        <p:spPr>
          <a:xfrm flipV="1">
            <a:off x="8756934" y="3812061"/>
            <a:ext cx="440014" cy="135686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1173151" y="1543298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4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089887" y="1559962"/>
            <a:ext cx="1112636" cy="1792299"/>
          </a:xfrm>
          <a:prstGeom prst="roundRect">
            <a:avLst>
              <a:gd name="adj" fmla="val 4682"/>
            </a:avLst>
          </a:prstGeom>
          <a:noFill/>
          <a:ln>
            <a:solidFill>
              <a:schemeClr val="bg1">
                <a:lumMod val="85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337608" y="1559961"/>
            <a:ext cx="327013" cy="923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이전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337608" y="5949752"/>
            <a:ext cx="327013" cy="923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후술</a:t>
            </a:r>
          </a:p>
        </p:txBody>
      </p:sp>
      <p:sp>
        <p:nvSpPr>
          <p:cNvPr id="5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089887" y="5658853"/>
            <a:ext cx="1112636" cy="383232"/>
          </a:xfrm>
          <a:prstGeom prst="roundRect">
            <a:avLst>
              <a:gd name="adj" fmla="val 4682"/>
            </a:avLst>
          </a:prstGeom>
          <a:noFill/>
          <a:ln>
            <a:solidFill>
              <a:schemeClr val="bg1">
                <a:lumMod val="85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lang="ko-KR" altLang="en-US" sz="8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17435055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12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 아이콘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선택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간편인증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0" idx="3"/>
            <a:endCxn id="75" idx="1"/>
          </p:cNvCxnSpPr>
          <p:nvPr/>
        </p:nvCxnSpPr>
        <p:spPr>
          <a:xfrm>
            <a:off x="3266608" y="2451750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 </a:t>
            </a:r>
            <a:r>
              <a:rPr lang="en-US" altLang="ko-KR" sz="800" dirty="0">
                <a:solidFill>
                  <a:schemeClr val="tx1"/>
                </a:solidFill>
              </a:rPr>
              <a:t>- </a:t>
            </a:r>
            <a:r>
              <a:rPr lang="ko-KR" altLang="en-US" sz="800" dirty="0">
                <a:solidFill>
                  <a:schemeClr val="tx1"/>
                </a:solidFill>
              </a:rPr>
              <a:t>방식 선택</a:t>
            </a:r>
          </a:p>
        </p:txBody>
      </p:sp>
      <p:cxnSp>
        <p:nvCxnSpPr>
          <p:cNvPr id="74" name="직선 화살표 연결선 7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2"/>
            <a:endCxn id="70" idx="0"/>
          </p:cNvCxnSpPr>
          <p:nvPr/>
        </p:nvCxnSpPr>
        <p:spPr>
          <a:xfrm>
            <a:off x="2816608" y="1916964"/>
            <a:ext cx="0" cy="390786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모바일 신분증</a:t>
            </a:r>
          </a:p>
        </p:txBody>
      </p:sp>
      <p:sp>
        <p:nvSpPr>
          <p:cNvPr id="7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98653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각</a:t>
            </a:r>
            <a:r>
              <a:rPr lang="en-US" altLang="ko-KR" sz="800" dirty="0">
                <a:solidFill>
                  <a:schemeClr val="tx1"/>
                </a:solidFill>
              </a:rPr>
              <a:t> </a:t>
            </a:r>
            <a:r>
              <a:rPr lang="ko-KR" altLang="en-US" sz="800" dirty="0">
                <a:solidFill>
                  <a:schemeClr val="tx1"/>
                </a:solidFill>
              </a:rPr>
              <a:t>인증서</a:t>
            </a:r>
          </a:p>
        </p:txBody>
      </p:sp>
      <p:sp>
        <p:nvSpPr>
          <p:cNvPr id="7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366806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생체인증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434684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ID/PW </a:t>
            </a:r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cxnSp>
        <p:nvCxnSpPr>
          <p:cNvPr id="9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22" idx="1"/>
          </p:cNvCxnSpPr>
          <p:nvPr/>
        </p:nvCxnSpPr>
        <p:spPr>
          <a:xfrm flipV="1">
            <a:off x="3266608" y="1772964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79" idx="1"/>
          </p:cNvCxnSpPr>
          <p:nvPr/>
        </p:nvCxnSpPr>
        <p:spPr>
          <a:xfrm>
            <a:off x="3266608" y="2451750"/>
            <a:ext cx="931134" cy="203909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78" idx="1"/>
          </p:cNvCxnSpPr>
          <p:nvPr/>
        </p:nvCxnSpPr>
        <p:spPr>
          <a:xfrm>
            <a:off x="3266608" y="2451750"/>
            <a:ext cx="931134" cy="1360311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77" idx="1"/>
          </p:cNvCxnSpPr>
          <p:nvPr/>
        </p:nvCxnSpPr>
        <p:spPr>
          <a:xfrm>
            <a:off x="3266608" y="2451750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화살표 연결선 14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08" idx="3"/>
            <a:endCxn id="149" idx="1"/>
          </p:cNvCxnSpPr>
          <p:nvPr/>
        </p:nvCxnSpPr>
        <p:spPr>
          <a:xfrm>
            <a:off x="5097742" y="4490846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98653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ID/PW </a:t>
            </a:r>
            <a:r>
              <a:rPr lang="ko-KR" altLang="en-US" sz="800" dirty="0">
                <a:solidFill>
                  <a:schemeClr val="tx1"/>
                </a:solidFill>
              </a:rPr>
              <a:t>찾기</a:t>
            </a:r>
          </a:p>
        </p:txBody>
      </p:sp>
      <p:cxnSp>
        <p:nvCxnSpPr>
          <p:cNvPr id="15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9" idx="3"/>
            <a:endCxn id="154" idx="1"/>
          </p:cNvCxnSpPr>
          <p:nvPr/>
        </p:nvCxnSpPr>
        <p:spPr>
          <a:xfrm flipV="1">
            <a:off x="5097742" y="3130536"/>
            <a:ext cx="931134" cy="136031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434269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사용자 등록 안내</a:t>
            </a:r>
            <a:endParaRPr lang="en-US" altLang="ko-KR" sz="800" dirty="0">
              <a:solidFill>
                <a:prstClr val="black"/>
              </a:solidFill>
            </a:endParaRPr>
          </a:p>
          <a:p>
            <a:pPr lvl="0" algn="ctr"/>
            <a:r>
              <a:rPr lang="ko-KR" altLang="en-US" sz="600" dirty="0">
                <a:solidFill>
                  <a:prstClr val="black"/>
                </a:solidFill>
              </a:rPr>
              <a:t>모바일 회원가입 불가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4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56934" y="2986536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</a:t>
            </a:r>
            <a:r>
              <a:rPr lang="en-US" altLang="ko-KR" sz="800" dirty="0">
                <a:solidFill>
                  <a:schemeClr val="tx1"/>
                </a:solidFill>
              </a:rPr>
              <a:t/>
            </a:r>
            <a:br>
              <a:rPr lang="en-US" altLang="ko-KR" sz="800" dirty="0">
                <a:solidFill>
                  <a:schemeClr val="tx1"/>
                </a:solidFill>
              </a:rPr>
            </a:br>
            <a:r>
              <a:rPr lang="en-US" altLang="ko-KR" sz="700" dirty="0">
                <a:solidFill>
                  <a:schemeClr val="tx1"/>
                </a:solidFill>
              </a:rPr>
              <a:t>(</a:t>
            </a:r>
            <a:r>
              <a:rPr lang="ko-KR" altLang="en-US" sz="700" dirty="0" err="1">
                <a:solidFill>
                  <a:schemeClr val="tx1"/>
                </a:solidFill>
              </a:rPr>
              <a:t>간편인증</a:t>
            </a:r>
            <a:r>
              <a:rPr lang="en-US" altLang="ko-KR" sz="700" dirty="0">
                <a:solidFill>
                  <a:schemeClr val="tx1"/>
                </a:solidFill>
              </a:rPr>
              <a:t>, </a:t>
            </a:r>
            <a:r>
              <a:rPr lang="ko-KR" altLang="en-US" sz="700" dirty="0">
                <a:solidFill>
                  <a:schemeClr val="tx1"/>
                </a:solidFill>
              </a:rPr>
              <a:t>본인인증</a:t>
            </a:r>
            <a:r>
              <a:rPr lang="en-US" altLang="ko-KR" sz="7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43" name="직선 화살표 연결선 42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54" idx="3"/>
            <a:endCxn id="42" idx="1"/>
          </p:cNvCxnSpPr>
          <p:nvPr/>
        </p:nvCxnSpPr>
        <p:spPr>
          <a:xfrm>
            <a:off x="6928876" y="3130536"/>
            <a:ext cx="928058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56934" y="366461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ID/PW </a:t>
            </a:r>
            <a:r>
              <a:rPr lang="ko-KR" altLang="en-US" sz="800" dirty="0">
                <a:solidFill>
                  <a:schemeClr val="tx1"/>
                </a:solidFill>
              </a:rPr>
              <a:t>찾기 완료</a:t>
            </a:r>
          </a:p>
        </p:txBody>
      </p:sp>
      <p:cxnSp>
        <p:nvCxnSpPr>
          <p:cNvPr id="58" name="직선 화살표 연결선 5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42" idx="2"/>
            <a:endCxn id="46" idx="0"/>
          </p:cNvCxnSpPr>
          <p:nvPr/>
        </p:nvCxnSpPr>
        <p:spPr>
          <a:xfrm>
            <a:off x="8306934" y="3274536"/>
            <a:ext cx="0" cy="390079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167951" y="3919769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65" name="그룹 64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196948" y="3718615"/>
            <a:ext cx="180000" cy="180000"/>
            <a:chOff x="5058274" y="2498299"/>
            <a:chExt cx="180000" cy="180000"/>
          </a:xfrm>
        </p:grpSpPr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7" name="타원 66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68" name="직선 화살표 연결선 6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46" idx="3"/>
            <a:endCxn id="66" idx="2"/>
          </p:cNvCxnSpPr>
          <p:nvPr/>
        </p:nvCxnSpPr>
        <p:spPr>
          <a:xfrm>
            <a:off x="8756934" y="3808615"/>
            <a:ext cx="44001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 성공</a:t>
            </a:r>
            <a:r>
              <a:rPr lang="en-US" altLang="ko-KR" sz="800" dirty="0">
                <a:solidFill>
                  <a:schemeClr val="tx1"/>
                </a:solidFill>
              </a:rPr>
              <a:t>,</a:t>
            </a:r>
            <a:br>
              <a:rPr lang="en-US" altLang="ko-KR" sz="800" dirty="0">
                <a:solidFill>
                  <a:schemeClr val="tx1"/>
                </a:solidFill>
              </a:rPr>
            </a:br>
            <a:r>
              <a:rPr lang="ko-KR" altLang="en-US" sz="800" dirty="0">
                <a:solidFill>
                  <a:schemeClr val="tx1"/>
                </a:solidFill>
              </a:rPr>
              <a:t>실패 메시지</a:t>
            </a:r>
          </a:p>
        </p:txBody>
      </p:sp>
      <p:cxnSp>
        <p:nvCxnSpPr>
          <p:cNvPr id="8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9" idx="3"/>
            <a:endCxn id="83" idx="1"/>
          </p:cNvCxnSpPr>
          <p:nvPr/>
        </p:nvCxnSpPr>
        <p:spPr>
          <a:xfrm flipV="1">
            <a:off x="5097742" y="2451750"/>
            <a:ext cx="931134" cy="203909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83" idx="3"/>
            <a:endCxn id="66" idx="2"/>
          </p:cNvCxnSpPr>
          <p:nvPr/>
        </p:nvCxnSpPr>
        <p:spPr>
          <a:xfrm>
            <a:off x="6928876" y="2451750"/>
            <a:ext cx="2268072" cy="1356865"/>
          </a:xfrm>
          <a:prstGeom prst="bentConnector3">
            <a:avLst>
              <a:gd name="adj1" fmla="val 89196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1.2.3 </a:t>
            </a:r>
            <a:r>
              <a:rPr lang="ko-KR" altLang="en-US" sz="1200" dirty="0">
                <a:solidFill>
                  <a:schemeClr val="tx1"/>
                </a:solidFill>
              </a:rPr>
              <a:t>로그인 </a:t>
            </a:r>
            <a:r>
              <a:rPr lang="en-US" altLang="ko-KR" sz="1200" dirty="0">
                <a:solidFill>
                  <a:schemeClr val="tx1"/>
                </a:solidFill>
              </a:rPr>
              <a:t>(3/3)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cxnSp>
        <p:nvCxnSpPr>
          <p:cNvPr id="5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2" idx="3"/>
            <a:endCxn id="66" idx="2"/>
          </p:cNvCxnSpPr>
          <p:nvPr/>
        </p:nvCxnSpPr>
        <p:spPr>
          <a:xfrm flipV="1">
            <a:off x="6928876" y="3808615"/>
            <a:ext cx="2268072" cy="678079"/>
          </a:xfrm>
          <a:prstGeom prst="bentConnector3">
            <a:avLst>
              <a:gd name="adj1" fmla="val 89196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TextBox 59">
            <a:extLst>
              <a:ext uri="{FF2B5EF4-FFF2-40B4-BE49-F238E27FC236}">
                <a16:creationId xmlns:a16="http://schemas.microsoft.com/office/drawing/2014/main" id="{6619C48D-7E22-9D49-50C5-2404458A47CE}"/>
              </a:ext>
            </a:extLst>
          </p:cNvPr>
          <p:cNvSpPr txBox="1"/>
          <p:nvPr/>
        </p:nvSpPr>
        <p:spPr>
          <a:xfrm>
            <a:off x="736948" y="6163510"/>
            <a:ext cx="8640000" cy="242814"/>
          </a:xfrm>
          <a:prstGeom prst="rect">
            <a:avLst/>
          </a:prstGeom>
          <a:noFill/>
        </p:spPr>
        <p:txBody>
          <a:bodyPr wrap="square" lIns="36000" tIns="36000" rIns="36000" bIns="36000">
            <a:spAutoFit/>
          </a:bodyPr>
          <a:lstStyle/>
          <a:p>
            <a:pPr marL="87313" lvl="0" indent="-87313" fontAlgn="base" latinLnBrk="0">
              <a:lnSpc>
                <a:spcPct val="160000"/>
              </a:lnSpc>
              <a:buFont typeface="Wingdings" panose="05000000000000000000" pitchFamily="2" charset="2"/>
              <a:buChar char="v"/>
            </a:pP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앱 서비스에서 회원가입은 불가능하며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,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 국방전자조달시스템에 등록하여야 함을 안내합니다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.</a:t>
            </a:r>
            <a:endParaRPr lang="ko-KR" altLang="en-US" sz="800" kern="0" spc="0" dirty="0">
              <a:solidFill>
                <a:srgbClr val="0000FF"/>
              </a:solidFill>
              <a:effectLst/>
              <a:latin typeface="+mn-ea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1173151" y="1543298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5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089887" y="1559962"/>
            <a:ext cx="1112636" cy="2482918"/>
          </a:xfrm>
          <a:prstGeom prst="roundRect">
            <a:avLst>
              <a:gd name="adj" fmla="val 4682"/>
            </a:avLst>
          </a:prstGeom>
          <a:noFill/>
          <a:ln>
            <a:solidFill>
              <a:schemeClr val="bg1">
                <a:lumMod val="85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337608" y="1559961"/>
            <a:ext cx="327013" cy="923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이전</a:t>
            </a:r>
          </a:p>
        </p:txBody>
      </p:sp>
    </p:spTree>
    <p:extLst>
      <p:ext uri="{BB962C8B-B14F-4D97-AF65-F5344CB8AC3E}">
        <p14:creationId xmlns:p14="http://schemas.microsoft.com/office/powerpoint/2010/main" val="2530150890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13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스플래시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SplashPage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앱 업데이트 안내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AppUpdateInfo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접근권한 안내</a:t>
            </a:r>
            <a:endParaRPr lang="en-US" altLang="ko-KR" sz="7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700" dirty="0" err="1">
                <a:solidFill>
                  <a:schemeClr val="tx1"/>
                </a:solidFill>
                <a:latin typeface="+mn-ea"/>
              </a:rPr>
              <a:t>AppAuthrtAgrePage</a:t>
            </a:r>
            <a:r>
              <a:rPr lang="en-US" altLang="ko-KR" sz="7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7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&lt;&lt;Controller&gt;&gt;</a:t>
            </a:r>
          </a:p>
          <a:p>
            <a:pPr algn="ctr"/>
            <a:r>
              <a:rPr lang="ko-KR" altLang="en-US" sz="1100" dirty="0" err="1"/>
              <a:t>앱실행</a:t>
            </a:r>
            <a:r>
              <a:rPr lang="ko-KR" altLang="en-US" sz="1100" dirty="0"/>
              <a:t> </a:t>
            </a:r>
            <a:r>
              <a:rPr lang="en-US" altLang="ko-KR" sz="1100" dirty="0"/>
              <a:t>Controller</a:t>
            </a:r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앱 오류 안내 팝업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AppErrInfo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앱 이용 안내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AppSrvcExpln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메인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MscrnPage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중요 공지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시스템 안내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SysExpln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55423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&lt;&lt;Controller&gt;&gt;</a:t>
            </a:r>
          </a:p>
          <a:p>
            <a:pPr algn="ctr"/>
            <a:r>
              <a:rPr lang="ko-KR" altLang="en-US" sz="1100" dirty="0" err="1"/>
              <a:t>메인페이지</a:t>
            </a:r>
            <a:r>
              <a:rPr lang="ko-KR" altLang="en-US" sz="1100" dirty="0"/>
              <a:t> </a:t>
            </a:r>
            <a:r>
              <a:rPr lang="en-US" altLang="ko-KR" sz="1100" dirty="0"/>
              <a:t>Controller</a:t>
            </a:r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28" idx="1"/>
          </p:cNvCxnSpPr>
          <p:nvPr/>
        </p:nvCxnSpPr>
        <p:spPr>
          <a:xfrm>
            <a:off x="5687291" y="2990174"/>
            <a:ext cx="1226127" cy="70822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1.3.1 </a:t>
            </a:r>
            <a:r>
              <a:rPr lang="ko-KR" altLang="en-US" sz="1200" dirty="0" err="1">
                <a:solidFill>
                  <a:schemeClr val="tx1"/>
                </a:solidFill>
              </a:rPr>
              <a:t>앱실행</a:t>
            </a:r>
            <a:r>
              <a:rPr lang="en-US" altLang="ko-KR" sz="1200" dirty="0">
                <a:solidFill>
                  <a:schemeClr val="tx1"/>
                </a:solidFill>
              </a:rPr>
              <a:t>, </a:t>
            </a:r>
            <a:r>
              <a:rPr lang="ko-KR" altLang="en-US" sz="1200" dirty="0">
                <a:solidFill>
                  <a:schemeClr val="tx1"/>
                </a:solidFill>
              </a:rPr>
              <a:t>로그인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통합검색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IntgSrchPage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298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햄버거 메뉴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MenuPage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4435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로그인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- 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방식 선택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MainLoginPage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635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사용자 등록 안내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UserRegInfoPage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7" idx="3"/>
            <a:endCxn id="9" idx="1"/>
          </p:cNvCxnSpPr>
          <p:nvPr/>
        </p:nvCxnSpPr>
        <p:spPr>
          <a:xfrm flipV="1">
            <a:off x="2992582" y="2990174"/>
            <a:ext cx="967509" cy="22264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8" idx="3"/>
            <a:endCxn id="9" idx="1"/>
          </p:cNvCxnSpPr>
          <p:nvPr/>
        </p:nvCxnSpPr>
        <p:spPr>
          <a:xfrm flipV="1">
            <a:off x="2992582" y="2990174"/>
            <a:ext cx="967509" cy="26400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9" name="직선 화살표 연결선 7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9" idx="3"/>
            <a:endCxn id="9" idx="1"/>
          </p:cNvCxnSpPr>
          <p:nvPr/>
        </p:nvCxnSpPr>
        <p:spPr>
          <a:xfrm flipV="1">
            <a:off x="2992582" y="2990174"/>
            <a:ext cx="967509" cy="30600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생체인증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 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로그인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IdPswdLoginPage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4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ID/PW 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찾기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IdFndngPage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PswdFndngPage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9" name="직선 화살표 연결선 3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6" idx="0"/>
            <a:endCxn id="9" idx="2"/>
          </p:cNvCxnSpPr>
          <p:nvPr/>
        </p:nvCxnSpPr>
        <p:spPr>
          <a:xfrm flipV="1">
            <a:off x="3855704" y="3810190"/>
            <a:ext cx="967987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2" name="직선 화살표 연결선 4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7" idx="0"/>
            <a:endCxn id="9" idx="2"/>
          </p:cNvCxnSpPr>
          <p:nvPr/>
        </p:nvCxnSpPr>
        <p:spPr>
          <a:xfrm flipH="1" flipV="1">
            <a:off x="4823691" y="3810190"/>
            <a:ext cx="509121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37833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AnyID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 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로그인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SimpleCert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37833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ID/PW 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로그인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IdPswdLoginPage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48" name="직선 화살표 연결선 4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46" idx="0"/>
            <a:endCxn id="9" idx="2"/>
          </p:cNvCxnSpPr>
          <p:nvPr/>
        </p:nvCxnSpPr>
        <p:spPr>
          <a:xfrm flipV="1">
            <a:off x="3855704" y="3810190"/>
            <a:ext cx="967987" cy="156814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1" name="직선 화살표 연결선 5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47" idx="0"/>
            <a:endCxn id="9" idx="2"/>
          </p:cNvCxnSpPr>
          <p:nvPr/>
        </p:nvCxnSpPr>
        <p:spPr>
          <a:xfrm flipH="1" flipV="1">
            <a:off x="4823691" y="3810190"/>
            <a:ext cx="509121" cy="156814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4169812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&lt;&lt;Controller&gt;&gt;</a:t>
            </a:r>
          </a:p>
          <a:p>
            <a:pPr algn="ctr"/>
            <a:r>
              <a:rPr lang="ko-KR" altLang="en-US" sz="1100" dirty="0"/>
              <a:t>로그인 </a:t>
            </a:r>
            <a:r>
              <a:rPr lang="en-US" altLang="ko-KR" sz="1100" dirty="0"/>
              <a:t>Controller</a:t>
            </a:r>
          </a:p>
        </p:txBody>
      </p: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4" idx="1"/>
          </p:cNvCxnSpPr>
          <p:nvPr/>
        </p:nvCxnSpPr>
        <p:spPr>
          <a:xfrm>
            <a:off x="5687291" y="2990174"/>
            <a:ext cx="1226127" cy="142261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55035351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앱 기동 시 노출되는 로고 </a:t>
            </a:r>
            <a:r>
              <a:rPr lang="ko-KR" altLang="en-US" dirty="0" err="1"/>
              <a:t>스플래시</a:t>
            </a:r>
            <a:r>
              <a:rPr lang="ko-KR" altLang="en-US" dirty="0"/>
              <a:t> 화면</a:t>
            </a:r>
            <a:endParaRPr lang="en-US" altLang="ko-KR" dirty="0"/>
          </a:p>
          <a:p>
            <a:pPr marL="369887" lvl="1"/>
            <a:r>
              <a:rPr lang="en-US" altLang="ko-KR" dirty="0" smtClean="0"/>
              <a:t>1-1. </a:t>
            </a:r>
            <a:r>
              <a:rPr lang="ko-KR" altLang="en-US" dirty="0" smtClean="0"/>
              <a:t>앱 </a:t>
            </a:r>
            <a:r>
              <a:rPr lang="ko-KR" altLang="en-US" dirty="0"/>
              <a:t>실행 로딩 바 표시</a:t>
            </a:r>
            <a:endParaRPr lang="en-US" altLang="ko-KR" dirty="0"/>
          </a:p>
          <a:p>
            <a:pPr marL="369887" lvl="1"/>
            <a:r>
              <a:rPr lang="ko-KR" altLang="en-US" dirty="0"/>
              <a:t>보안 프로그램 로딩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앱 실행 </a:t>
            </a:r>
            <a:r>
              <a:rPr lang="ko-KR" altLang="en-US" dirty="0" err="1">
                <a:latin typeface="+mn-ea"/>
              </a:rPr>
              <a:t>스플래시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로고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앱을 실행 시 앱 노출되는 로고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앱 기동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앱 실행 로고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MUI-MS-01-M01</a:t>
            </a:r>
            <a:endParaRPr lang="ko-KR" altLang="en-US" dirty="0"/>
          </a:p>
        </p:txBody>
      </p:sp>
      <p:sp>
        <p:nvSpPr>
          <p:cNvPr id="3" name="직사각형 2"/>
          <p:cNvSpPr/>
          <p:nvPr/>
        </p:nvSpPr>
        <p:spPr>
          <a:xfrm>
            <a:off x="7103287" y="5662958"/>
            <a:ext cx="2300284" cy="7386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ko-KR" altLang="en-US" sz="700" b="1" dirty="0">
                <a:latin typeface="+mn-ea"/>
              </a:rPr>
              <a:t>보안 프로그램 목록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- 모바일 백신 </a:t>
            </a:r>
            <a:r>
              <a:rPr lang="ko-KR" altLang="en-US" sz="700" dirty="0" err="1">
                <a:latin typeface="+mn-ea"/>
              </a:rPr>
              <a:t>TouchEn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mVacchine</a:t>
            </a:r>
            <a:r>
              <a:rPr lang="ko-KR" altLang="en-US" sz="700" dirty="0">
                <a:latin typeface="+mn-ea"/>
              </a:rPr>
              <a:t> V3.0 2.24</a:t>
            </a:r>
          </a:p>
          <a:p>
            <a:r>
              <a:rPr lang="ko-KR" altLang="en-US" sz="700" dirty="0">
                <a:latin typeface="+mn-ea"/>
              </a:rPr>
              <a:t>- 모바일키보드보안 </a:t>
            </a:r>
            <a:r>
              <a:rPr lang="ko-KR" altLang="en-US" sz="700" dirty="0" err="1">
                <a:latin typeface="+mn-ea"/>
              </a:rPr>
              <a:t>TouchEn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mTransKey</a:t>
            </a:r>
            <a:r>
              <a:rPr lang="ko-KR" altLang="en-US" sz="700" dirty="0">
                <a:latin typeface="+mn-ea"/>
              </a:rPr>
              <a:t> 2.24</a:t>
            </a:r>
          </a:p>
          <a:p>
            <a:r>
              <a:rPr lang="ko-KR" altLang="en-US" sz="700" dirty="0">
                <a:latin typeface="+mn-ea"/>
              </a:rPr>
              <a:t>- </a:t>
            </a:r>
            <a:r>
              <a:rPr lang="ko-KR" altLang="en-US" sz="700" dirty="0" err="1">
                <a:latin typeface="+mn-ea"/>
              </a:rPr>
              <a:t>모바일앱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위변조방지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TouchEn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AppIron</a:t>
            </a:r>
            <a:r>
              <a:rPr lang="ko-KR" altLang="en-US" sz="700" dirty="0">
                <a:latin typeface="+mn-ea"/>
              </a:rPr>
              <a:t> V1.0 2.24</a:t>
            </a:r>
          </a:p>
          <a:p>
            <a:r>
              <a:rPr lang="ko-KR" altLang="en-US" sz="700" dirty="0">
                <a:latin typeface="+mn-ea"/>
              </a:rPr>
              <a:t>- 모바일 전자서명 </a:t>
            </a:r>
            <a:r>
              <a:rPr lang="ko-KR" altLang="en-US" sz="700" dirty="0" err="1">
                <a:latin typeface="+mn-ea"/>
              </a:rPr>
              <a:t>smart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pki</a:t>
            </a:r>
            <a:r>
              <a:rPr lang="ko-KR" altLang="en-US" sz="700" dirty="0">
                <a:latin typeface="+mn-ea"/>
              </a:rPr>
              <a:t> v2.0(</a:t>
            </a:r>
            <a:r>
              <a:rPr lang="ko-KR" altLang="en-US" sz="700" dirty="0" err="1">
                <a:latin typeface="+mn-ea"/>
              </a:rPr>
              <a:t>Android</a:t>
            </a:r>
            <a:r>
              <a:rPr lang="ko-KR" altLang="en-US" sz="700" dirty="0">
                <a:latin typeface="+mn-ea"/>
              </a:rPr>
              <a:t>) 2.24</a:t>
            </a:r>
          </a:p>
          <a:p>
            <a:r>
              <a:rPr lang="ko-KR" altLang="en-US" sz="700" dirty="0">
                <a:latin typeface="+mn-ea"/>
              </a:rPr>
              <a:t>- 모바일 전자서명 </a:t>
            </a:r>
            <a:r>
              <a:rPr lang="ko-KR" altLang="en-US" sz="700" dirty="0" err="1">
                <a:latin typeface="+mn-ea"/>
              </a:rPr>
              <a:t>smart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pki</a:t>
            </a:r>
            <a:r>
              <a:rPr lang="ko-KR" altLang="en-US" sz="700" dirty="0">
                <a:latin typeface="+mn-ea"/>
              </a:rPr>
              <a:t> v2.0(IOS) 2.24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677960" y="1493927"/>
            <a:ext cx="2712027" cy="4738372"/>
            <a:chOff x="677960" y="1493927"/>
            <a:chExt cx="2712027" cy="4738372"/>
          </a:xfrm>
        </p:grpSpPr>
        <p:sp>
          <p:nvSpPr>
            <p:cNvPr id="14" name="직사각형 1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7960" y="1493927"/>
              <a:ext cx="2712027" cy="4738372"/>
            </a:xfrm>
            <a:prstGeom prst="rect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16433" y="5063763"/>
              <a:ext cx="1835080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잠시만 기다려주세요</a:t>
              </a:r>
              <a:r>
                <a:rPr lang="en-US" altLang="ko-KR" sz="900" b="1" dirty="0">
                  <a:latin typeface="+mn-ea"/>
                </a:rPr>
                <a:t>. (74%)</a:t>
              </a:r>
              <a:endParaRPr lang="ko-KR" altLang="en-US" sz="900" b="1" dirty="0">
                <a:latin typeface="+mn-ea"/>
              </a:endParaRPr>
            </a:p>
          </p:txBody>
        </p:sp>
        <p:pic>
          <p:nvPicPr>
            <p:cNvPr id="38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8828" r="-453"/>
            <a:stretch/>
          </p:blipFill>
          <p:spPr bwMode="auto">
            <a:xfrm>
              <a:off x="1582903" y="2951238"/>
              <a:ext cx="902144" cy="3312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" name="직사각형 6"/>
            <p:cNvSpPr/>
            <p:nvPr/>
          </p:nvSpPr>
          <p:spPr>
            <a:xfrm>
              <a:off x="1116432" y="4932680"/>
              <a:ext cx="1835081" cy="50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9" name="직사각형 38"/>
            <p:cNvSpPr/>
            <p:nvPr/>
          </p:nvSpPr>
          <p:spPr>
            <a:xfrm>
              <a:off x="1116432" y="4932680"/>
              <a:ext cx="1368000" cy="5080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pic>
          <p:nvPicPr>
            <p:cNvPr id="41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-101" r="32311"/>
            <a:stretch>
              <a:fillRect/>
            </a:stretch>
          </p:blipFill>
          <p:spPr bwMode="auto">
            <a:xfrm>
              <a:off x="1107986" y="2555213"/>
              <a:ext cx="1843528" cy="31574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16433" y="5806168"/>
              <a:ext cx="1835080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900" dirty="0">
                  <a:latin typeface="+mn-ea"/>
                </a:rPr>
                <a:t>@</a:t>
              </a:r>
              <a:r>
                <a:rPr lang="ko-KR" altLang="en-US" sz="900" dirty="0">
                  <a:latin typeface="+mn-ea"/>
                </a:rPr>
                <a:t>국방전자조달시스템</a:t>
              </a:r>
            </a:p>
          </p:txBody>
        </p:sp>
        <p:sp>
          <p:nvSpPr>
            <p:cNvPr id="40" name="사각형: 둥근 모서리 25">
              <a:extLst>
                <a:ext uri="{FF2B5EF4-FFF2-40B4-BE49-F238E27FC236}">
                  <a16:creationId xmlns:a16="http://schemas.microsoft.com/office/drawing/2014/main" id="{D17B50F9-89DD-C80C-4195-7E69A48DBE7F}"/>
                </a:ext>
              </a:extLst>
            </p:cNvPr>
            <p:cNvSpPr/>
            <p:nvPr/>
          </p:nvSpPr>
          <p:spPr>
            <a:xfrm>
              <a:off x="1077385" y="4696730"/>
              <a:ext cx="327084" cy="146280"/>
            </a:xfrm>
            <a:prstGeom prst="roundRect">
              <a:avLst/>
            </a:prstGeom>
            <a:solidFill>
              <a:schemeClr val="accent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900" b="1" dirty="0"/>
                <a:t>1-1</a:t>
              </a:r>
              <a:endParaRPr lang="ko-KR" altLang="en-US" sz="900" b="1" dirty="0"/>
            </a:p>
          </p:txBody>
        </p:sp>
      </p:grpSp>
      <p:sp>
        <p:nvSpPr>
          <p:cNvPr id="20" name="타원 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8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744573441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필수 접근권한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</a:t>
            </a:r>
            <a:r>
              <a:rPr lang="en-US" altLang="ko-KR" dirty="0"/>
              <a:t>ID, IP, </a:t>
            </a:r>
            <a:r>
              <a:rPr lang="ko-KR" altLang="en-US" dirty="0" err="1"/>
              <a:t>메뉴명</a:t>
            </a:r>
            <a:r>
              <a:rPr lang="en-US" altLang="ko-KR" dirty="0"/>
              <a:t>, OS, </a:t>
            </a:r>
            <a:r>
              <a:rPr lang="ko-KR" altLang="en-US" dirty="0"/>
              <a:t>접속방법</a:t>
            </a:r>
            <a:r>
              <a:rPr lang="en-US" altLang="ko-KR" dirty="0"/>
              <a:t>, </a:t>
            </a:r>
            <a:r>
              <a:rPr lang="ko-KR" altLang="en-US" dirty="0"/>
              <a:t>위치정보 수집</a:t>
            </a:r>
            <a:r>
              <a:rPr lang="en-US" altLang="ko-KR" dirty="0"/>
              <a:t>, </a:t>
            </a:r>
            <a:r>
              <a:rPr lang="ko-KR" altLang="en-US" dirty="0"/>
              <a:t>최근 접속 시간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선택 접근권한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사용자가 기능 사용시 사용되는 권한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확인 버튼으로 필수 접근권한 </a:t>
            </a:r>
            <a:r>
              <a:rPr lang="ko-KR" altLang="en-US" dirty="0" err="1"/>
              <a:t>동의처리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0" indent="0">
              <a:buNone/>
            </a:pPr>
            <a:r>
              <a:rPr lang="ko-KR" altLang="en-US" dirty="0" err="1">
                <a:solidFill>
                  <a:srgbClr val="FF0000"/>
                </a:solidFill>
              </a:rPr>
              <a:t>접근권한은</a:t>
            </a:r>
            <a:r>
              <a:rPr lang="ko-KR" altLang="en-US" dirty="0">
                <a:solidFill>
                  <a:srgbClr val="FF0000"/>
                </a:solidFill>
              </a:rPr>
              <a:t> 정책에 따라</a:t>
            </a:r>
            <a:r>
              <a:rPr lang="en-US" altLang="ko-KR" dirty="0">
                <a:solidFill>
                  <a:srgbClr val="FF0000"/>
                </a:solidFill>
              </a:rPr>
              <a:t/>
            </a:r>
            <a:br>
              <a:rPr lang="en-US" altLang="ko-KR" dirty="0">
                <a:solidFill>
                  <a:srgbClr val="FF0000"/>
                </a:solidFill>
              </a:rPr>
            </a:br>
            <a:r>
              <a:rPr lang="ko-KR" altLang="en-US" dirty="0">
                <a:solidFill>
                  <a:srgbClr val="FF0000"/>
                </a:solidFill>
              </a:rPr>
              <a:t>추후 추가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>
                <a:solidFill>
                  <a:srgbClr val="FF0000"/>
                </a:solidFill>
              </a:rPr>
              <a:t>변경될 수 있음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앱 접근 권한 동의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앱에서 사용되는 접근권한 정보 안내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앱 기동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앱 접근 권한 동의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MUI-MS-01-M02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2003051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앱 접근권한 안내</a:t>
            </a:r>
          </a:p>
        </p:txBody>
      </p:sp>
      <p:pic>
        <p:nvPicPr>
          <p:cNvPr id="18" name="Picture 2">
            <a:extLst>
              <a:ext uri="{FF2B5EF4-FFF2-40B4-BE49-F238E27FC236}">
                <a16:creationId xmlns:a16="http://schemas.microsoft.com/office/drawing/2014/main" id="{1C4B5929-C206-23D9-2234-19ADD0E7AA5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101" r="32311"/>
          <a:stretch>
            <a:fillRect/>
          </a:stretch>
        </p:blipFill>
        <p:spPr bwMode="auto">
          <a:xfrm>
            <a:off x="1403619" y="1637051"/>
            <a:ext cx="1252261" cy="2144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2231220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국방전자조달시스템에서는 다음 권한들을 사용합니다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pPr algn="ctr"/>
            <a:r>
              <a:rPr lang="ko-KR" altLang="en-US" sz="700" dirty="0">
                <a:latin typeface="+mn-ea"/>
              </a:rPr>
              <a:t>서비스 시용을 위해 권한을 허용해 주시기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2673636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필수 접근권한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2955665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기기 및 앱 기록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앱 상태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버전</a:t>
            </a:r>
            <a:r>
              <a:rPr lang="en-US" altLang="ko-KR" sz="700" dirty="0">
                <a:latin typeface="+mn-ea"/>
              </a:rPr>
              <a:t>) </a:t>
            </a:r>
            <a:r>
              <a:rPr lang="ko-KR" altLang="en-US" sz="700" dirty="0">
                <a:latin typeface="+mn-ea"/>
              </a:rPr>
              <a:t>확인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앱 접근 메뉴 확인</a:t>
            </a:r>
          </a:p>
        </p:txBody>
      </p:sp>
      <p:sp>
        <p:nvSpPr>
          <p:cNvPr id="3" name="타원 2"/>
          <p:cNvSpPr/>
          <p:nvPr/>
        </p:nvSpPr>
        <p:spPr>
          <a:xfrm>
            <a:off x="881401" y="2949087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3297186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기기 </a:t>
            </a:r>
            <a:r>
              <a:rPr lang="en-US" altLang="ko-KR" sz="700" b="1" dirty="0">
                <a:latin typeface="+mn-ea"/>
              </a:rPr>
              <a:t>ID </a:t>
            </a:r>
            <a:r>
              <a:rPr lang="ko-KR" altLang="en-US" sz="700" b="1" dirty="0">
                <a:latin typeface="+mn-ea"/>
              </a:rPr>
              <a:t>정보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접속 기기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식별</a:t>
            </a:r>
            <a:r>
              <a:rPr lang="en-US" altLang="ko-KR" sz="700" dirty="0">
                <a:latin typeface="+mn-ea"/>
              </a:rPr>
              <a:t>, OS </a:t>
            </a:r>
            <a:r>
              <a:rPr lang="ko-KR" altLang="en-US" sz="700" dirty="0">
                <a:latin typeface="+mn-ea"/>
              </a:rPr>
              <a:t>식별</a:t>
            </a:r>
          </a:p>
        </p:txBody>
      </p:sp>
      <p:sp>
        <p:nvSpPr>
          <p:cNvPr id="21" name="타원 20"/>
          <p:cNvSpPr/>
          <p:nvPr/>
        </p:nvSpPr>
        <p:spPr>
          <a:xfrm>
            <a:off x="881401" y="3290608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3629610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인터넷 연결 정보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접속 </a:t>
            </a:r>
            <a:r>
              <a:rPr lang="en-US" altLang="ko-KR" sz="700" dirty="0">
                <a:latin typeface="+mn-ea"/>
              </a:rPr>
              <a:t>IP, </a:t>
            </a:r>
            <a:r>
              <a:rPr lang="ko-KR" altLang="en-US" sz="700" dirty="0">
                <a:latin typeface="+mn-ea"/>
              </a:rPr>
              <a:t>접속 정보 확인</a:t>
            </a:r>
          </a:p>
        </p:txBody>
      </p:sp>
      <p:sp>
        <p:nvSpPr>
          <p:cNvPr id="23" name="타원 22"/>
          <p:cNvSpPr/>
          <p:nvPr/>
        </p:nvSpPr>
        <p:spPr>
          <a:xfrm>
            <a:off x="881401" y="3623032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3955456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위치 정보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접속 위치 정보 확인</a:t>
            </a:r>
          </a:p>
        </p:txBody>
      </p:sp>
      <p:sp>
        <p:nvSpPr>
          <p:cNvPr id="25" name="타원 24"/>
          <p:cNvSpPr/>
          <p:nvPr/>
        </p:nvSpPr>
        <p:spPr>
          <a:xfrm>
            <a:off x="881401" y="3948878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4382074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선택 접근권한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4664103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전화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전화 걸기 및 관리</a:t>
            </a:r>
          </a:p>
        </p:txBody>
      </p:sp>
      <p:sp>
        <p:nvSpPr>
          <p:cNvPr id="28" name="타원 27"/>
          <p:cNvSpPr/>
          <p:nvPr/>
        </p:nvSpPr>
        <p:spPr>
          <a:xfrm>
            <a:off x="881401" y="4657525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5023077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사진</a:t>
            </a:r>
            <a:r>
              <a:rPr lang="en-US" altLang="ko-KR" sz="700" b="1" dirty="0">
                <a:latin typeface="+mn-ea"/>
              </a:rPr>
              <a:t>/</a:t>
            </a:r>
            <a:r>
              <a:rPr lang="ko-KR" altLang="en-US" sz="700" b="1" dirty="0">
                <a:latin typeface="+mn-ea"/>
              </a:rPr>
              <a:t>미디어</a:t>
            </a:r>
            <a:r>
              <a:rPr lang="en-US" altLang="ko-KR" sz="700" b="1" dirty="0">
                <a:latin typeface="+mn-ea"/>
              </a:rPr>
              <a:t>/</a:t>
            </a:r>
            <a:r>
              <a:rPr lang="ko-KR" altLang="en-US" sz="700" b="1" dirty="0">
                <a:latin typeface="+mn-ea"/>
              </a:rPr>
              <a:t>파일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이미지 파일첨부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문서 파일첨부</a:t>
            </a:r>
          </a:p>
        </p:txBody>
      </p:sp>
      <p:sp>
        <p:nvSpPr>
          <p:cNvPr id="30" name="타원 29"/>
          <p:cNvSpPr/>
          <p:nvPr/>
        </p:nvSpPr>
        <p:spPr>
          <a:xfrm>
            <a:off x="881401" y="5016499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5381865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카메라</a:t>
            </a:r>
            <a:endParaRPr lang="en-US" altLang="ko-KR" sz="700" b="1" dirty="0">
              <a:latin typeface="+mn-ea"/>
            </a:endParaRPr>
          </a:p>
          <a:p>
            <a:r>
              <a:rPr lang="en-US" altLang="ko-KR" sz="700" dirty="0">
                <a:latin typeface="+mn-ea"/>
              </a:rPr>
              <a:t>PC </a:t>
            </a:r>
            <a:r>
              <a:rPr lang="ko-KR" altLang="en-US" sz="700" dirty="0">
                <a:latin typeface="+mn-ea"/>
              </a:rPr>
              <a:t>로그인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촬영 파일 등록</a:t>
            </a:r>
          </a:p>
        </p:txBody>
      </p:sp>
      <p:sp>
        <p:nvSpPr>
          <p:cNvPr id="33" name="타원 32"/>
          <p:cNvSpPr/>
          <p:nvPr/>
        </p:nvSpPr>
        <p:spPr>
          <a:xfrm>
            <a:off x="881401" y="5375287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88902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2343" y="1565643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필수 접근권한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7055" y="1847672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기기 및 앱 기록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앱 상태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버전</a:t>
            </a:r>
            <a:r>
              <a:rPr lang="en-US" altLang="ko-KR" sz="700" dirty="0">
                <a:latin typeface="+mn-ea"/>
              </a:rPr>
              <a:t>) </a:t>
            </a:r>
            <a:r>
              <a:rPr lang="ko-KR" altLang="en-US" sz="700" dirty="0">
                <a:latin typeface="+mn-ea"/>
              </a:rPr>
              <a:t>확인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앱 접근 메뉴 확인</a:t>
            </a:r>
          </a:p>
        </p:txBody>
      </p:sp>
      <p:sp>
        <p:nvSpPr>
          <p:cNvPr id="46" name="타원 45"/>
          <p:cNvSpPr/>
          <p:nvPr/>
        </p:nvSpPr>
        <p:spPr>
          <a:xfrm>
            <a:off x="3992343" y="18410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7055" y="2189193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기기 </a:t>
            </a:r>
            <a:r>
              <a:rPr lang="en-US" altLang="ko-KR" sz="700" b="1" dirty="0">
                <a:latin typeface="+mn-ea"/>
              </a:rPr>
              <a:t>ID </a:t>
            </a:r>
            <a:r>
              <a:rPr lang="ko-KR" altLang="en-US" sz="700" b="1" dirty="0">
                <a:latin typeface="+mn-ea"/>
              </a:rPr>
              <a:t>정보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접속 기기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식별</a:t>
            </a:r>
            <a:r>
              <a:rPr lang="en-US" altLang="ko-KR" sz="700" dirty="0">
                <a:latin typeface="+mn-ea"/>
              </a:rPr>
              <a:t>, OS </a:t>
            </a:r>
            <a:r>
              <a:rPr lang="ko-KR" altLang="en-US" sz="700" dirty="0">
                <a:latin typeface="+mn-ea"/>
              </a:rPr>
              <a:t>식별</a:t>
            </a:r>
          </a:p>
        </p:txBody>
      </p:sp>
      <p:sp>
        <p:nvSpPr>
          <p:cNvPr id="48" name="타원 47"/>
          <p:cNvSpPr/>
          <p:nvPr/>
        </p:nvSpPr>
        <p:spPr>
          <a:xfrm>
            <a:off x="3992343" y="2182615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7055" y="2521617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인터넷 연결 정보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접속 </a:t>
            </a:r>
            <a:r>
              <a:rPr lang="en-US" altLang="ko-KR" sz="700" dirty="0">
                <a:latin typeface="+mn-ea"/>
              </a:rPr>
              <a:t>IP, </a:t>
            </a:r>
            <a:r>
              <a:rPr lang="ko-KR" altLang="en-US" sz="700" dirty="0">
                <a:latin typeface="+mn-ea"/>
              </a:rPr>
              <a:t>접속 정보 확인</a:t>
            </a:r>
          </a:p>
        </p:txBody>
      </p:sp>
      <p:sp>
        <p:nvSpPr>
          <p:cNvPr id="50" name="타원 49"/>
          <p:cNvSpPr/>
          <p:nvPr/>
        </p:nvSpPr>
        <p:spPr>
          <a:xfrm>
            <a:off x="3992343" y="2515039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7055" y="2847463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위치 정보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접속 위치 정보 확인</a:t>
            </a:r>
          </a:p>
        </p:txBody>
      </p:sp>
      <p:sp>
        <p:nvSpPr>
          <p:cNvPr id="52" name="타원 51"/>
          <p:cNvSpPr/>
          <p:nvPr/>
        </p:nvSpPr>
        <p:spPr>
          <a:xfrm>
            <a:off x="3992343" y="2840885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2343" y="3274081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선택 접근권한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7055" y="3556110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전화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전화 걸기 및 관리</a:t>
            </a:r>
          </a:p>
        </p:txBody>
      </p:sp>
      <p:sp>
        <p:nvSpPr>
          <p:cNvPr id="55" name="타원 54"/>
          <p:cNvSpPr/>
          <p:nvPr/>
        </p:nvSpPr>
        <p:spPr>
          <a:xfrm>
            <a:off x="3992343" y="3549532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7055" y="3915084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사진</a:t>
            </a:r>
            <a:r>
              <a:rPr lang="en-US" altLang="ko-KR" sz="700" b="1" dirty="0">
                <a:latin typeface="+mn-ea"/>
              </a:rPr>
              <a:t>/</a:t>
            </a:r>
            <a:r>
              <a:rPr lang="ko-KR" altLang="en-US" sz="700" b="1" dirty="0">
                <a:latin typeface="+mn-ea"/>
              </a:rPr>
              <a:t>미디어</a:t>
            </a:r>
            <a:r>
              <a:rPr lang="en-US" altLang="ko-KR" sz="700" b="1" dirty="0">
                <a:latin typeface="+mn-ea"/>
              </a:rPr>
              <a:t>/</a:t>
            </a:r>
            <a:r>
              <a:rPr lang="ko-KR" altLang="en-US" sz="700" b="1" dirty="0">
                <a:latin typeface="+mn-ea"/>
              </a:rPr>
              <a:t>파일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이미지 파일첨부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문서 파일첨부</a:t>
            </a:r>
          </a:p>
        </p:txBody>
      </p:sp>
      <p:sp>
        <p:nvSpPr>
          <p:cNvPr id="57" name="타원 56"/>
          <p:cNvSpPr/>
          <p:nvPr/>
        </p:nvSpPr>
        <p:spPr>
          <a:xfrm>
            <a:off x="3992343" y="3908506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7055" y="4273872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카메라</a:t>
            </a:r>
            <a:endParaRPr lang="en-US" altLang="ko-KR" sz="700" b="1" dirty="0">
              <a:latin typeface="+mn-ea"/>
            </a:endParaRPr>
          </a:p>
          <a:p>
            <a:r>
              <a:rPr lang="en-US" altLang="ko-KR" sz="700" dirty="0">
                <a:latin typeface="+mn-ea"/>
              </a:rPr>
              <a:t>PC </a:t>
            </a:r>
            <a:r>
              <a:rPr lang="ko-KR" altLang="en-US" sz="700" dirty="0">
                <a:latin typeface="+mn-ea"/>
              </a:rPr>
              <a:t>로그인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촬영 파일 등록</a:t>
            </a:r>
          </a:p>
        </p:txBody>
      </p:sp>
      <p:sp>
        <p:nvSpPr>
          <p:cNvPr id="59" name="타원 58"/>
          <p:cNvSpPr/>
          <p:nvPr/>
        </p:nvSpPr>
        <p:spPr>
          <a:xfrm>
            <a:off x="3992343" y="42672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2343" y="5065278"/>
            <a:ext cx="2305144" cy="53860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선택 </a:t>
            </a:r>
            <a:r>
              <a:rPr lang="ko-KR" altLang="en-US" sz="700" dirty="0" err="1">
                <a:latin typeface="+mn-ea"/>
              </a:rPr>
              <a:t>접근권한은</a:t>
            </a:r>
            <a:r>
              <a:rPr lang="ko-KR" altLang="en-US" sz="700" dirty="0">
                <a:latin typeface="+mn-ea"/>
              </a:rPr>
              <a:t> 관련 기능 </a:t>
            </a:r>
            <a:r>
              <a:rPr lang="ko-KR" altLang="en-US" sz="700" dirty="0" err="1">
                <a:latin typeface="+mn-ea"/>
              </a:rPr>
              <a:t>이용시</a:t>
            </a:r>
            <a:r>
              <a:rPr lang="ko-KR" altLang="en-US" sz="700" dirty="0">
                <a:latin typeface="+mn-ea"/>
              </a:rPr>
              <a:t> 동의하실 수 있습니다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pPr algn="ctr"/>
            <a:r>
              <a:rPr lang="ko-KR" altLang="en-US" sz="700" dirty="0">
                <a:latin typeface="+mn-ea"/>
              </a:rPr>
              <a:t>미동의 시에도 해당 </a:t>
            </a:r>
            <a:r>
              <a:rPr lang="ko-KR" altLang="en-US" sz="700" dirty="0" err="1">
                <a:latin typeface="+mn-ea"/>
              </a:rPr>
              <a:t>기능외</a:t>
            </a:r>
            <a:r>
              <a:rPr lang="ko-KR" altLang="en-US" sz="700" dirty="0">
                <a:latin typeface="+mn-ea"/>
              </a:rPr>
              <a:t> 앱 서비스 이용이 가능합니다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pPr algn="ctr"/>
            <a:endParaRPr lang="en-US" altLang="ko-KR" sz="700" dirty="0">
              <a:latin typeface="+mn-ea"/>
            </a:endParaRPr>
          </a:p>
          <a:p>
            <a:pPr algn="ctr"/>
            <a:r>
              <a:rPr lang="ko-KR" altLang="en-US" sz="700" dirty="0">
                <a:latin typeface="+mn-ea"/>
              </a:rPr>
              <a:t>휴대폰의 보안설정에서 접근 권한을 변경하실 수 있습니다</a:t>
            </a:r>
            <a:r>
              <a:rPr lang="en-US" altLang="ko-KR" sz="700" dirty="0">
                <a:latin typeface="+mn-ea"/>
              </a:rPr>
              <a:t>.</a:t>
            </a:r>
          </a:p>
        </p:txBody>
      </p:sp>
      <p:sp>
        <p:nvSpPr>
          <p:cNvPr id="61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3939824" y="5790730"/>
            <a:ext cx="2410182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확인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5716036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알림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신청한 공고 알림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중요 알림 메시지</a:t>
            </a:r>
          </a:p>
        </p:txBody>
      </p:sp>
      <p:sp>
        <p:nvSpPr>
          <p:cNvPr id="63" name="타원 62"/>
          <p:cNvSpPr/>
          <p:nvPr/>
        </p:nvSpPr>
        <p:spPr>
          <a:xfrm>
            <a:off x="881401" y="5709458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7055" y="4614461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알림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신청한 공고 알림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중요 알림 메시지</a:t>
            </a:r>
          </a:p>
        </p:txBody>
      </p:sp>
      <p:sp>
        <p:nvSpPr>
          <p:cNvPr id="65" name="타원 64"/>
          <p:cNvSpPr/>
          <p:nvPr/>
        </p:nvSpPr>
        <p:spPr>
          <a:xfrm>
            <a:off x="3992343" y="4607883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8" name="타원 6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6509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69" name="타원 6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3484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70" name="타원 6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2836" y="586320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106127327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en-US" altLang="ko-KR" dirty="0"/>
              <a:t>[</a:t>
            </a:r>
            <a:r>
              <a:rPr lang="ko-KR" altLang="en-US" dirty="0"/>
              <a:t>공통</a:t>
            </a:r>
            <a:r>
              <a:rPr lang="en-US" altLang="ko-KR" dirty="0"/>
              <a:t>] </a:t>
            </a:r>
            <a:r>
              <a:rPr lang="ko-KR" altLang="en-US" dirty="0"/>
              <a:t>팝업이 뜰 때 배경 </a:t>
            </a:r>
            <a:r>
              <a:rPr lang="en-US" altLang="ko-KR" dirty="0"/>
              <a:t>Dim </a:t>
            </a:r>
            <a:r>
              <a:rPr lang="ko-KR" altLang="en-US" dirty="0"/>
              <a:t>처리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사용자가 미동의 한 기능 사용 요청 시 팝업 반복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배경은 접근권한 안내는 </a:t>
            </a:r>
            <a:r>
              <a:rPr lang="ko-KR" altLang="en-US" dirty="0" err="1"/>
              <a:t>참고용이며</a:t>
            </a:r>
            <a:r>
              <a:rPr lang="en-US" altLang="ko-KR" dirty="0"/>
              <a:t>, </a:t>
            </a:r>
            <a:r>
              <a:rPr lang="ko-KR" altLang="en-US" dirty="0"/>
              <a:t>각 기능 페이지에서 팝업을 표시함</a:t>
            </a:r>
            <a:r>
              <a:rPr lang="en-US" altLang="ko-KR" dirty="0"/>
              <a:t>.</a:t>
            </a:r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선택 접근권한 안내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사용하려는 접근권한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취소 시 현재 팝업 닫고 끝내기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허용 시 접근권한 시스템 허용으로 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사용하려는 기능 실행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토스트 메시지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허용 시 </a:t>
            </a:r>
            <a:r>
              <a:rPr lang="en-US" altLang="ko-KR" dirty="0"/>
              <a:t>: </a:t>
            </a:r>
            <a:r>
              <a:rPr lang="ko-KR" altLang="en-US" dirty="0"/>
              <a:t>허용 되었습니다</a:t>
            </a:r>
            <a:r>
              <a:rPr lang="en-US" altLang="ko-KR" dirty="0"/>
              <a:t>. 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취소 시 </a:t>
            </a:r>
            <a:r>
              <a:rPr lang="en-US" altLang="ko-KR" dirty="0"/>
              <a:t>: </a:t>
            </a:r>
            <a:r>
              <a:rPr lang="ko-KR" altLang="en-US" dirty="0"/>
              <a:t>취소 되었습니다</a:t>
            </a:r>
            <a:r>
              <a:rPr lang="en-US" altLang="ko-KR" dirty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앱 접근 권한 동의 팝업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앱 내에서 선택 접근권한 사용이 필요한 경우 팝업 표시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선택 접근권한 사용 시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앱 접근 권한 동의 팝업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MUI-MS-01-P03</a:t>
            </a:r>
            <a:endParaRPr lang="ko-KR" altLang="en-US" sz="1000" dirty="0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6" name="그룹 5"/>
          <p:cNvGrpSpPr/>
          <p:nvPr/>
        </p:nvGrpSpPr>
        <p:grpSpPr>
          <a:xfrm>
            <a:off x="677960" y="1493927"/>
            <a:ext cx="2712027" cy="4738372"/>
            <a:chOff x="677960" y="1493927"/>
            <a:chExt cx="2712027" cy="4738372"/>
          </a:xfrm>
        </p:grpSpPr>
        <p:sp>
          <p:nvSpPr>
            <p:cNvPr id="14" name="직사각형 1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7960" y="1493927"/>
              <a:ext cx="2712027" cy="4738372"/>
            </a:xfrm>
            <a:prstGeom prst="rect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81401" y="2003051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900" b="1" dirty="0">
                  <a:latin typeface="+mn-ea"/>
                </a:rPr>
                <a:t>앱 접근권한 안내</a:t>
              </a:r>
            </a:p>
          </p:txBody>
        </p:sp>
        <p:pic>
          <p:nvPicPr>
            <p:cNvPr id="18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-101" r="32311"/>
            <a:stretch>
              <a:fillRect/>
            </a:stretch>
          </p:blipFill>
          <p:spPr bwMode="auto">
            <a:xfrm>
              <a:off x="1403619" y="1637051"/>
              <a:ext cx="1252261" cy="2144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81401" y="2231220"/>
              <a:ext cx="230514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국방전자조달시스템에서는 다음 권한들을 사용합니다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pPr algn="ctr"/>
              <a:r>
                <a:rPr lang="ko-KR" altLang="en-US" sz="700" dirty="0">
                  <a:latin typeface="+mn-ea"/>
                </a:rPr>
                <a:t>서비스 시용을 위해 권한을 허용해 주시기 바랍니다</a:t>
              </a:r>
              <a:r>
                <a:rPr lang="en-US" altLang="ko-KR" sz="700" dirty="0">
                  <a:latin typeface="+mn-ea"/>
                </a:rPr>
                <a:t>.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81401" y="2673636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필수 접근권한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2955665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기기 및 앱 기록</a:t>
              </a:r>
              <a:endParaRPr lang="en-US" altLang="ko-KR" sz="700" b="1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앱 상태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버전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확인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앱 접근 메뉴 확인</a:t>
              </a:r>
            </a:p>
          </p:txBody>
        </p:sp>
        <p:sp>
          <p:nvSpPr>
            <p:cNvPr id="3" name="타원 2"/>
            <p:cNvSpPr/>
            <p:nvPr/>
          </p:nvSpPr>
          <p:spPr>
            <a:xfrm>
              <a:off x="881401" y="2949087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3297186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기기 </a:t>
              </a:r>
              <a:r>
                <a:rPr lang="en-US" altLang="ko-KR" sz="700" b="1" dirty="0">
                  <a:latin typeface="+mn-ea"/>
                </a:rPr>
                <a:t>ID </a:t>
              </a:r>
              <a:r>
                <a:rPr lang="ko-KR" altLang="en-US" sz="700" b="1" dirty="0">
                  <a:latin typeface="+mn-ea"/>
                </a:rPr>
                <a:t>정보</a:t>
              </a:r>
              <a:endParaRPr lang="en-US" altLang="ko-KR" sz="700" b="1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접속 기기</a:t>
              </a:r>
              <a:r>
                <a:rPr lang="en-US" altLang="ko-KR" sz="700" dirty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식별</a:t>
              </a:r>
              <a:r>
                <a:rPr lang="en-US" altLang="ko-KR" sz="700" dirty="0">
                  <a:latin typeface="+mn-ea"/>
                </a:rPr>
                <a:t>, OS </a:t>
              </a:r>
              <a:r>
                <a:rPr lang="ko-KR" altLang="en-US" sz="700" dirty="0">
                  <a:latin typeface="+mn-ea"/>
                </a:rPr>
                <a:t>식별</a:t>
              </a:r>
            </a:p>
          </p:txBody>
        </p:sp>
        <p:sp>
          <p:nvSpPr>
            <p:cNvPr id="21" name="타원 20"/>
            <p:cNvSpPr/>
            <p:nvPr/>
          </p:nvSpPr>
          <p:spPr>
            <a:xfrm>
              <a:off x="881401" y="3290608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3629610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인터넷 연결 정보</a:t>
              </a:r>
              <a:endParaRPr lang="en-US" altLang="ko-KR" sz="700" b="1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접속 </a:t>
              </a:r>
              <a:r>
                <a:rPr lang="en-US" altLang="ko-KR" sz="700" dirty="0">
                  <a:latin typeface="+mn-ea"/>
                </a:rPr>
                <a:t>IP, </a:t>
              </a:r>
              <a:r>
                <a:rPr lang="ko-KR" altLang="en-US" sz="700" dirty="0">
                  <a:latin typeface="+mn-ea"/>
                </a:rPr>
                <a:t>접속 정보 확인</a:t>
              </a:r>
            </a:p>
          </p:txBody>
        </p:sp>
        <p:sp>
          <p:nvSpPr>
            <p:cNvPr id="23" name="타원 22"/>
            <p:cNvSpPr/>
            <p:nvPr/>
          </p:nvSpPr>
          <p:spPr>
            <a:xfrm>
              <a:off x="881401" y="3623032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3955456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위치 정보</a:t>
              </a:r>
              <a:endParaRPr lang="en-US" altLang="ko-KR" sz="700" b="1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접속 위치 정보 확인</a:t>
              </a:r>
            </a:p>
          </p:txBody>
        </p:sp>
        <p:sp>
          <p:nvSpPr>
            <p:cNvPr id="25" name="타원 24"/>
            <p:cNvSpPr/>
            <p:nvPr/>
          </p:nvSpPr>
          <p:spPr>
            <a:xfrm>
              <a:off x="881401" y="3948878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81401" y="4382074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선택 접근권한</a:t>
              </a: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4664103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전화</a:t>
              </a:r>
              <a:endParaRPr lang="en-US" altLang="ko-KR" sz="700" b="1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전화 걸기 및 관리</a:t>
              </a:r>
            </a:p>
          </p:txBody>
        </p:sp>
        <p:sp>
          <p:nvSpPr>
            <p:cNvPr id="28" name="타원 27"/>
            <p:cNvSpPr/>
            <p:nvPr/>
          </p:nvSpPr>
          <p:spPr>
            <a:xfrm>
              <a:off x="881401" y="4657525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5023077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사진</a:t>
              </a:r>
              <a:r>
                <a:rPr lang="en-US" altLang="ko-KR" sz="700" b="1" dirty="0">
                  <a:latin typeface="+mn-ea"/>
                </a:rPr>
                <a:t>/</a:t>
              </a:r>
              <a:r>
                <a:rPr lang="ko-KR" altLang="en-US" sz="700" b="1" dirty="0">
                  <a:latin typeface="+mn-ea"/>
                </a:rPr>
                <a:t>미디어</a:t>
              </a:r>
              <a:r>
                <a:rPr lang="en-US" altLang="ko-KR" sz="700" b="1" dirty="0">
                  <a:latin typeface="+mn-ea"/>
                </a:rPr>
                <a:t>/</a:t>
              </a:r>
              <a:r>
                <a:rPr lang="ko-KR" altLang="en-US" sz="700" b="1" dirty="0">
                  <a:latin typeface="+mn-ea"/>
                </a:rPr>
                <a:t>파일</a:t>
              </a:r>
              <a:endParaRPr lang="en-US" altLang="ko-KR" sz="700" b="1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이미지 파일첨부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문서 파일첨부</a:t>
              </a:r>
            </a:p>
          </p:txBody>
        </p:sp>
        <p:sp>
          <p:nvSpPr>
            <p:cNvPr id="30" name="타원 29"/>
            <p:cNvSpPr/>
            <p:nvPr/>
          </p:nvSpPr>
          <p:spPr>
            <a:xfrm>
              <a:off x="881401" y="5016499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5381865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카메라</a:t>
              </a:r>
              <a:endParaRPr lang="en-US" altLang="ko-KR" sz="700" b="1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PC </a:t>
              </a:r>
              <a:r>
                <a:rPr lang="ko-KR" altLang="en-US" sz="700" dirty="0">
                  <a:latin typeface="+mn-ea"/>
                </a:rPr>
                <a:t>로그인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촬영 파일 등록</a:t>
              </a:r>
            </a:p>
          </p:txBody>
        </p:sp>
        <p:sp>
          <p:nvSpPr>
            <p:cNvPr id="33" name="타원 32"/>
            <p:cNvSpPr/>
            <p:nvPr/>
          </p:nvSpPr>
          <p:spPr>
            <a:xfrm>
              <a:off x="881401" y="5375287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5716036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알림</a:t>
              </a:r>
              <a:endParaRPr lang="en-US" altLang="ko-KR" sz="700" b="1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신청한 공고 알림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중요 알림 메시지</a:t>
              </a:r>
            </a:p>
          </p:txBody>
        </p:sp>
        <p:sp>
          <p:nvSpPr>
            <p:cNvPr id="63" name="타원 62"/>
            <p:cNvSpPr/>
            <p:nvPr/>
          </p:nvSpPr>
          <p:spPr>
            <a:xfrm>
              <a:off x="881401" y="5709458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9424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848" y="143946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" name="모서리가 둥근 직사각형 4"/>
          <p:cNvSpPr/>
          <p:nvPr/>
        </p:nvSpPr>
        <p:spPr>
          <a:xfrm>
            <a:off x="763707" y="3002600"/>
            <a:ext cx="2579992" cy="1712020"/>
          </a:xfrm>
          <a:prstGeom prst="roundRect">
            <a:avLst>
              <a:gd name="adj" fmla="val 4663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2106545" y="4282210"/>
            <a:ext cx="1080000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허용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7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881401" y="4282210"/>
            <a:ext cx="1080000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3149329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선택 접근권한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3769306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전화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전화 걸기 및 관리</a:t>
            </a:r>
          </a:p>
        </p:txBody>
      </p:sp>
      <p:sp>
        <p:nvSpPr>
          <p:cNvPr id="76" name="타원 75"/>
          <p:cNvSpPr/>
          <p:nvPr/>
        </p:nvSpPr>
        <p:spPr>
          <a:xfrm>
            <a:off x="881401" y="3762728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3381838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해당 기능을 사용하기 위해서는</a:t>
            </a:r>
            <a:endParaRPr lang="en-US" altLang="ko-KR" sz="700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다음 </a:t>
            </a:r>
            <a:r>
              <a:rPr lang="ko-KR" altLang="en-US" sz="700" dirty="0" err="1">
                <a:latin typeface="+mn-ea"/>
              </a:rPr>
              <a:t>접근권한이</a:t>
            </a:r>
            <a:r>
              <a:rPr lang="ko-KR" altLang="en-US" sz="700" dirty="0">
                <a:latin typeface="+mn-ea"/>
              </a:rPr>
              <a:t> 필요합니다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78" name="타원 7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378572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79" name="타원 7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420841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80" name="타원 7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270913" y="420841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81" name="모서리가 둥근 직사각형 80"/>
          <p:cNvSpPr/>
          <p:nvPr/>
        </p:nvSpPr>
        <p:spPr>
          <a:xfrm>
            <a:off x="1512487" y="5845175"/>
            <a:ext cx="1082432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취소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3" name="타원 8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327050" y="576611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  <p:sp>
        <p:nvSpPr>
          <p:cNvPr id="66" name="타원 6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294707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48" name="그룹 47"/>
          <p:cNvGrpSpPr/>
          <p:nvPr/>
        </p:nvGrpSpPr>
        <p:grpSpPr>
          <a:xfrm>
            <a:off x="3092535" y="3149329"/>
            <a:ext cx="94010" cy="94010"/>
            <a:chOff x="6812560" y="3297172"/>
            <a:chExt cx="94010" cy="94010"/>
          </a:xfrm>
        </p:grpSpPr>
        <p:cxnSp>
          <p:nvCxnSpPr>
            <p:cNvPr id="49" name="직선 연결선 4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0" name="직선 연결선 4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5" name="모서리가 둥근 직사각형 54"/>
          <p:cNvSpPr/>
          <p:nvPr/>
        </p:nvSpPr>
        <p:spPr>
          <a:xfrm>
            <a:off x="1512487" y="5571729"/>
            <a:ext cx="1082432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622476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허용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41103619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" name="그룹 32"/>
          <p:cNvGrpSpPr/>
          <p:nvPr/>
        </p:nvGrpSpPr>
        <p:grpSpPr>
          <a:xfrm>
            <a:off x="677960" y="1484921"/>
            <a:ext cx="2712027" cy="4738372"/>
            <a:chOff x="677960" y="1493927"/>
            <a:chExt cx="2712027" cy="4738372"/>
          </a:xfrm>
        </p:grpSpPr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7960" y="1493927"/>
              <a:ext cx="2712027" cy="4738372"/>
            </a:xfrm>
            <a:prstGeom prst="rect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16433" y="5063763"/>
              <a:ext cx="1835080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잠시만 기다려주세요</a:t>
              </a:r>
              <a:r>
                <a:rPr lang="en-US" altLang="ko-KR" sz="900" b="1" dirty="0">
                  <a:latin typeface="+mn-ea"/>
                </a:rPr>
                <a:t>. (74%)</a:t>
              </a:r>
              <a:endParaRPr lang="ko-KR" altLang="en-US" sz="900" b="1" dirty="0">
                <a:latin typeface="+mn-ea"/>
              </a:endParaRPr>
            </a:p>
          </p:txBody>
        </p:sp>
        <p:pic>
          <p:nvPicPr>
            <p:cNvPr id="36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8828" r="-453"/>
            <a:stretch/>
          </p:blipFill>
          <p:spPr bwMode="auto">
            <a:xfrm>
              <a:off x="1582903" y="2951238"/>
              <a:ext cx="902144" cy="3312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7" name="직사각형 36"/>
            <p:cNvSpPr/>
            <p:nvPr/>
          </p:nvSpPr>
          <p:spPr>
            <a:xfrm>
              <a:off x="1116432" y="4932680"/>
              <a:ext cx="1835081" cy="50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2" name="직사각형 41"/>
            <p:cNvSpPr/>
            <p:nvPr/>
          </p:nvSpPr>
          <p:spPr>
            <a:xfrm>
              <a:off x="1116432" y="4932680"/>
              <a:ext cx="1368000" cy="5080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3" name="사각형: 둥근 모서리 25">
              <a:extLst>
                <a:ext uri="{FF2B5EF4-FFF2-40B4-BE49-F238E27FC236}">
                  <a16:creationId xmlns:a16="http://schemas.microsoft.com/office/drawing/2014/main" id="{D17B50F9-89DD-C80C-4195-7E69A48DBE7F}"/>
                </a:ext>
              </a:extLst>
            </p:cNvPr>
            <p:cNvSpPr/>
            <p:nvPr/>
          </p:nvSpPr>
          <p:spPr>
            <a:xfrm>
              <a:off x="1077385" y="4696730"/>
              <a:ext cx="327084" cy="14628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900" b="1" dirty="0"/>
                <a:t>1-1</a:t>
              </a:r>
              <a:endParaRPr lang="ko-KR" altLang="en-US" sz="900" b="1" dirty="0"/>
            </a:p>
          </p:txBody>
        </p:sp>
        <p:pic>
          <p:nvPicPr>
            <p:cNvPr id="44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-101" r="32311"/>
            <a:stretch>
              <a:fillRect/>
            </a:stretch>
          </p:blipFill>
          <p:spPr bwMode="auto">
            <a:xfrm>
              <a:off x="1107986" y="2555213"/>
              <a:ext cx="1843528" cy="31574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16433" y="5806168"/>
              <a:ext cx="1835080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900" dirty="0">
                  <a:latin typeface="+mn-ea"/>
                </a:rPr>
                <a:t>@</a:t>
              </a:r>
              <a:r>
                <a:rPr lang="ko-KR" altLang="en-US" sz="900" dirty="0">
                  <a:latin typeface="+mn-ea"/>
                </a:rPr>
                <a:t>국방전자조달시스템</a:t>
              </a:r>
            </a:p>
          </p:txBody>
        </p:sp>
      </p:grp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0" indent="0">
              <a:buNone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필수 업데이트 필요 시 업데이트 안내 팝업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앱 자동 업데이트가 되지 않는 사용자를 고려하여 앱 기동 시 버전 체크 후 필수 최신 업데이트를 위한 메시지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주요 업데이트 사항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앱 종료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앱 업데이트 없이 그대로 종료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설치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앱 설치를 위해 앱스토어</a:t>
            </a:r>
            <a:r>
              <a:rPr lang="en-US" altLang="ko-KR" dirty="0"/>
              <a:t>, </a:t>
            </a:r>
            <a:r>
              <a:rPr lang="ko-KR" altLang="en-US" dirty="0"/>
              <a:t>구글 플레이 </a:t>
            </a:r>
            <a:r>
              <a:rPr lang="en-US" altLang="ko-KR" dirty="0"/>
              <a:t>(</a:t>
            </a:r>
            <a:r>
              <a:rPr lang="ko-KR" altLang="en-US" dirty="0"/>
              <a:t>앱 마켓</a:t>
            </a:r>
            <a:r>
              <a:rPr lang="en-US" altLang="ko-KR" dirty="0"/>
              <a:t>)</a:t>
            </a:r>
            <a:r>
              <a:rPr lang="ko-KR" altLang="en-US" dirty="0"/>
              <a:t> 이동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앱 업데이트 안내 팝업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앱을 실행하는 경우 앱 노출되는 로고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앱 기동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앱 업데이트 안내 팝업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MUI-MS-01-P04</a:t>
            </a:r>
            <a:endParaRPr lang="ko-KR" altLang="en-US" dirty="0"/>
          </a:p>
        </p:txBody>
      </p:sp>
      <p:sp>
        <p:nvSpPr>
          <p:cNvPr id="3" name="직사각형 2"/>
          <p:cNvSpPr/>
          <p:nvPr/>
        </p:nvSpPr>
        <p:spPr>
          <a:xfrm>
            <a:off x="7103287" y="5662958"/>
            <a:ext cx="2300284" cy="7386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ko-KR" altLang="en-US" sz="700" b="1" dirty="0">
                <a:latin typeface="+mn-ea"/>
              </a:rPr>
              <a:t>보안 프로그램 목록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- 모바일 백신 </a:t>
            </a:r>
            <a:r>
              <a:rPr lang="ko-KR" altLang="en-US" sz="700" dirty="0" err="1">
                <a:latin typeface="+mn-ea"/>
              </a:rPr>
              <a:t>TouchEn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mVacchine</a:t>
            </a:r>
            <a:r>
              <a:rPr lang="ko-KR" altLang="en-US" sz="700" dirty="0">
                <a:latin typeface="+mn-ea"/>
              </a:rPr>
              <a:t> V3.0 2.24</a:t>
            </a:r>
          </a:p>
          <a:p>
            <a:r>
              <a:rPr lang="ko-KR" altLang="en-US" sz="700" dirty="0">
                <a:latin typeface="+mn-ea"/>
              </a:rPr>
              <a:t>- 모바일키보드보안 </a:t>
            </a:r>
            <a:r>
              <a:rPr lang="ko-KR" altLang="en-US" sz="700" dirty="0" err="1">
                <a:latin typeface="+mn-ea"/>
              </a:rPr>
              <a:t>TouchEn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mTransKey</a:t>
            </a:r>
            <a:r>
              <a:rPr lang="ko-KR" altLang="en-US" sz="700" dirty="0">
                <a:latin typeface="+mn-ea"/>
              </a:rPr>
              <a:t> 2.24</a:t>
            </a:r>
          </a:p>
          <a:p>
            <a:r>
              <a:rPr lang="ko-KR" altLang="en-US" sz="700" dirty="0">
                <a:latin typeface="+mn-ea"/>
              </a:rPr>
              <a:t>- </a:t>
            </a:r>
            <a:r>
              <a:rPr lang="ko-KR" altLang="en-US" sz="700" dirty="0" err="1">
                <a:latin typeface="+mn-ea"/>
              </a:rPr>
              <a:t>모바일앱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위변조방지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TouchEn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AppIron</a:t>
            </a:r>
            <a:r>
              <a:rPr lang="ko-KR" altLang="en-US" sz="700" dirty="0">
                <a:latin typeface="+mn-ea"/>
              </a:rPr>
              <a:t> V1.0 2.24</a:t>
            </a:r>
          </a:p>
          <a:p>
            <a:r>
              <a:rPr lang="ko-KR" altLang="en-US" sz="700" dirty="0">
                <a:latin typeface="+mn-ea"/>
              </a:rPr>
              <a:t>- 모바일 전자서명 </a:t>
            </a:r>
            <a:r>
              <a:rPr lang="ko-KR" altLang="en-US" sz="700" dirty="0" err="1">
                <a:latin typeface="+mn-ea"/>
              </a:rPr>
              <a:t>smart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pki</a:t>
            </a:r>
            <a:r>
              <a:rPr lang="ko-KR" altLang="en-US" sz="700" dirty="0">
                <a:latin typeface="+mn-ea"/>
              </a:rPr>
              <a:t> v2.0(</a:t>
            </a:r>
            <a:r>
              <a:rPr lang="ko-KR" altLang="en-US" sz="700" dirty="0" err="1">
                <a:latin typeface="+mn-ea"/>
              </a:rPr>
              <a:t>Android</a:t>
            </a:r>
            <a:r>
              <a:rPr lang="ko-KR" altLang="en-US" sz="700" dirty="0">
                <a:latin typeface="+mn-ea"/>
              </a:rPr>
              <a:t>) 2.24</a:t>
            </a:r>
          </a:p>
          <a:p>
            <a:r>
              <a:rPr lang="ko-KR" altLang="en-US" sz="700" dirty="0">
                <a:latin typeface="+mn-ea"/>
              </a:rPr>
              <a:t>- 모바일 전자서명 </a:t>
            </a:r>
            <a:r>
              <a:rPr lang="ko-KR" altLang="en-US" sz="700" dirty="0" err="1">
                <a:latin typeface="+mn-ea"/>
              </a:rPr>
              <a:t>smart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pki</a:t>
            </a:r>
            <a:r>
              <a:rPr lang="ko-KR" altLang="en-US" sz="700" dirty="0">
                <a:latin typeface="+mn-ea"/>
              </a:rPr>
              <a:t> v2.0(IOS) 2.24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9" name="모서리가 둥근 직사각형 18"/>
          <p:cNvSpPr/>
          <p:nvPr/>
        </p:nvSpPr>
        <p:spPr>
          <a:xfrm>
            <a:off x="763707" y="2935744"/>
            <a:ext cx="2579992" cy="1845733"/>
          </a:xfrm>
          <a:prstGeom prst="roundRect">
            <a:avLst>
              <a:gd name="adj" fmla="val 4663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2106545" y="4365159"/>
            <a:ext cx="1080000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설치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881401" y="4365159"/>
            <a:ext cx="1080000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앱 종료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3082473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필수 업데이트 안내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33149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원활한 앱 사용을 위해 최신버전 업데이트가 필요합니다</a:t>
            </a:r>
            <a:r>
              <a:rPr lang="en-US" altLang="ko-KR" sz="700" dirty="0">
                <a:latin typeface="+mn-ea"/>
              </a:rPr>
              <a:t>.</a:t>
            </a:r>
          </a:p>
        </p:txBody>
      </p:sp>
      <p:sp>
        <p:nvSpPr>
          <p:cNvPr id="27" name="타원 2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3718867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429462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29" name="타원 2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270913" y="429462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3669977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주요 업데이트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3857591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1. </a:t>
            </a:r>
            <a:r>
              <a:rPr lang="ko-KR" altLang="en-US" sz="700" dirty="0">
                <a:latin typeface="+mn-ea"/>
              </a:rPr>
              <a:t>보안 프로그램 최신화</a:t>
            </a:r>
            <a:endParaRPr lang="en-US" altLang="ko-KR" sz="700" dirty="0">
              <a:latin typeface="+mn-ea"/>
            </a:endParaRPr>
          </a:p>
          <a:p>
            <a:r>
              <a:rPr lang="en-US" altLang="ko-KR" sz="700" dirty="0">
                <a:latin typeface="+mn-ea"/>
              </a:rPr>
              <a:t>2. </a:t>
            </a:r>
            <a:r>
              <a:rPr lang="ko-KR" altLang="en-US" sz="700" dirty="0">
                <a:latin typeface="+mn-ea"/>
              </a:rPr>
              <a:t>국방전자조달시스템 업그레이드</a:t>
            </a:r>
            <a:endParaRPr lang="en-US" altLang="ko-KR" sz="700" dirty="0"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286517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124388760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" name="그룹 32"/>
          <p:cNvGrpSpPr/>
          <p:nvPr/>
        </p:nvGrpSpPr>
        <p:grpSpPr>
          <a:xfrm>
            <a:off x="677960" y="1484921"/>
            <a:ext cx="2712027" cy="4738372"/>
            <a:chOff x="677960" y="1493927"/>
            <a:chExt cx="2712027" cy="4738372"/>
          </a:xfrm>
        </p:grpSpPr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7960" y="1493927"/>
              <a:ext cx="2712027" cy="4738372"/>
            </a:xfrm>
            <a:prstGeom prst="rect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16433" y="5063763"/>
              <a:ext cx="1835080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잠시만 기다려주세요</a:t>
              </a:r>
              <a:r>
                <a:rPr lang="en-US" altLang="ko-KR" sz="900" b="1" dirty="0">
                  <a:latin typeface="+mn-ea"/>
                </a:rPr>
                <a:t>. (74%)</a:t>
              </a:r>
              <a:endParaRPr lang="ko-KR" altLang="en-US" sz="900" b="1" dirty="0">
                <a:latin typeface="+mn-ea"/>
              </a:endParaRPr>
            </a:p>
          </p:txBody>
        </p:sp>
        <p:pic>
          <p:nvPicPr>
            <p:cNvPr id="36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8828" r="-453"/>
            <a:stretch/>
          </p:blipFill>
          <p:spPr bwMode="auto">
            <a:xfrm>
              <a:off x="1582903" y="2951238"/>
              <a:ext cx="902144" cy="3312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7" name="직사각형 36"/>
            <p:cNvSpPr/>
            <p:nvPr/>
          </p:nvSpPr>
          <p:spPr>
            <a:xfrm>
              <a:off x="1116432" y="4932680"/>
              <a:ext cx="1835081" cy="50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2" name="직사각형 41"/>
            <p:cNvSpPr/>
            <p:nvPr/>
          </p:nvSpPr>
          <p:spPr>
            <a:xfrm>
              <a:off x="1116432" y="4932680"/>
              <a:ext cx="1368000" cy="5080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3" name="사각형: 둥근 모서리 25">
              <a:extLst>
                <a:ext uri="{FF2B5EF4-FFF2-40B4-BE49-F238E27FC236}">
                  <a16:creationId xmlns:a16="http://schemas.microsoft.com/office/drawing/2014/main" id="{D17B50F9-89DD-C80C-4195-7E69A48DBE7F}"/>
                </a:ext>
              </a:extLst>
            </p:cNvPr>
            <p:cNvSpPr/>
            <p:nvPr/>
          </p:nvSpPr>
          <p:spPr>
            <a:xfrm>
              <a:off x="1077385" y="4696730"/>
              <a:ext cx="327084" cy="14628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900" b="1" dirty="0"/>
                <a:t>1-1</a:t>
              </a:r>
              <a:endParaRPr lang="ko-KR" altLang="en-US" sz="900" b="1" dirty="0"/>
            </a:p>
          </p:txBody>
        </p:sp>
        <p:pic>
          <p:nvPicPr>
            <p:cNvPr id="44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-101" r="32311"/>
            <a:stretch>
              <a:fillRect/>
            </a:stretch>
          </p:blipFill>
          <p:spPr bwMode="auto">
            <a:xfrm>
              <a:off x="1107986" y="2555213"/>
              <a:ext cx="1843528" cy="31574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16433" y="5806168"/>
              <a:ext cx="1835080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900" dirty="0">
                  <a:latin typeface="+mn-ea"/>
                </a:rPr>
                <a:t>@</a:t>
              </a:r>
              <a:r>
                <a:rPr lang="ko-KR" altLang="en-US" sz="900" dirty="0">
                  <a:latin typeface="+mn-ea"/>
                </a:rPr>
                <a:t>국방전자조달시스템</a:t>
              </a:r>
            </a:p>
          </p:txBody>
        </p:sp>
      </p:grp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0" indent="0">
              <a:buNone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앱 실행을 할 수 없는 경우 사용자에게 안내하기 위한 팝업 실행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앱 오류</a:t>
            </a:r>
            <a:r>
              <a:rPr lang="en-US" altLang="ko-KR" dirty="0"/>
              <a:t>, </a:t>
            </a:r>
            <a:r>
              <a:rPr lang="ko-KR" altLang="en-US" dirty="0"/>
              <a:t>시스템 문제</a:t>
            </a:r>
            <a:r>
              <a:rPr lang="en-US" altLang="ko-KR" dirty="0"/>
              <a:t>, </a:t>
            </a:r>
            <a:r>
              <a:rPr lang="ko-KR" altLang="en-US" dirty="0"/>
              <a:t>네트워크 연결 지연 등으로 앱 구동에 문제가 있는 경우 사용자에게 안내하기 위한 팝업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앱 실행 오류 사유 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앱 종료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앱 업데이트 없이 그대로 종료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앱 오류 안내 팝업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앱 실행 시 오류가 발생하여 앱을 실행할 수 없는 경우 노출되는 안내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앱 기동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앱 오류 안내 팝업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MUI-MS-01-P05</a:t>
            </a:r>
            <a:endParaRPr lang="ko-KR" altLang="en-US" dirty="0"/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9" name="모서리가 둥근 직사각형 18"/>
          <p:cNvSpPr/>
          <p:nvPr/>
        </p:nvSpPr>
        <p:spPr>
          <a:xfrm>
            <a:off x="763707" y="2935744"/>
            <a:ext cx="2579992" cy="1845733"/>
          </a:xfrm>
          <a:prstGeom prst="roundRect">
            <a:avLst>
              <a:gd name="adj" fmla="val 4663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881401" y="4365159"/>
            <a:ext cx="2305144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앱 종료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3082473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앱 실행 오류 안내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3314982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다음과 같은 이유로 인하여 앱을 실행할 수 없습니다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ko-KR" altLang="en-US" sz="700" dirty="0">
                <a:latin typeface="+mn-ea"/>
              </a:rPr>
              <a:t>서비스 사용에 불편을 드려 죄송합니다</a:t>
            </a:r>
            <a:r>
              <a:rPr lang="en-US" altLang="ko-KR" sz="700" dirty="0">
                <a:latin typeface="+mn-ea"/>
              </a:rPr>
              <a:t>.</a:t>
            </a:r>
          </a:p>
        </p:txBody>
      </p:sp>
      <p:sp>
        <p:nvSpPr>
          <p:cNvPr id="27" name="타원 2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3718867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429462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3669977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시스템 보안 업데이트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3857591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국방전자조달시스템 보안 업데이트를 진행하고 있습니다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ko-KR" altLang="en-US" sz="700" dirty="0">
                <a:latin typeface="+mn-ea"/>
              </a:rPr>
              <a:t>예정시간</a:t>
            </a:r>
            <a:r>
              <a:rPr lang="en-US" altLang="ko-KR" sz="700" dirty="0">
                <a:latin typeface="+mn-ea"/>
              </a:rPr>
              <a:t>: 2025</a:t>
            </a:r>
            <a:r>
              <a:rPr lang="ko-KR" altLang="en-US" sz="700" dirty="0">
                <a:latin typeface="+mn-ea"/>
              </a:rPr>
              <a:t>년 </a:t>
            </a:r>
            <a:r>
              <a:rPr lang="en-US" altLang="ko-KR" sz="700" dirty="0">
                <a:latin typeface="+mn-ea"/>
              </a:rPr>
              <a:t>03</a:t>
            </a:r>
            <a:r>
              <a:rPr lang="ko-KR" altLang="en-US" sz="700" dirty="0">
                <a:latin typeface="+mn-ea"/>
              </a:rPr>
              <a:t>월 </a:t>
            </a:r>
            <a:r>
              <a:rPr lang="en-US" altLang="ko-KR" sz="700" dirty="0">
                <a:latin typeface="+mn-ea"/>
              </a:rPr>
              <a:t>13</a:t>
            </a:r>
            <a:r>
              <a:rPr lang="ko-KR" altLang="en-US" sz="700" dirty="0">
                <a:latin typeface="+mn-ea"/>
              </a:rPr>
              <a:t>일 </a:t>
            </a:r>
            <a:r>
              <a:rPr lang="en-US" altLang="ko-KR" sz="700" dirty="0">
                <a:latin typeface="+mn-ea"/>
              </a:rPr>
              <a:t>00</a:t>
            </a:r>
            <a:r>
              <a:rPr lang="ko-KR" altLang="en-US" sz="700" dirty="0">
                <a:latin typeface="+mn-ea"/>
              </a:rPr>
              <a:t>시부터 </a:t>
            </a:r>
            <a:r>
              <a:rPr lang="en-US" altLang="ko-KR" sz="700" dirty="0">
                <a:latin typeface="+mn-ea"/>
              </a:rPr>
              <a:t>04</a:t>
            </a:r>
            <a:r>
              <a:rPr lang="ko-KR" altLang="en-US" sz="700" dirty="0">
                <a:latin typeface="+mn-ea"/>
              </a:rPr>
              <a:t>시까지 </a:t>
            </a:r>
            <a:r>
              <a:rPr lang="en-US" altLang="ko-KR" sz="700" dirty="0">
                <a:latin typeface="+mn-ea"/>
              </a:rPr>
              <a:t>(4</a:t>
            </a:r>
            <a:r>
              <a:rPr lang="ko-KR" altLang="en-US" sz="700" dirty="0">
                <a:latin typeface="+mn-ea"/>
              </a:rPr>
              <a:t>시간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286517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490085047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 smtClean="0"/>
              <a:t>앱 이용에 대한 안내 화면</a:t>
            </a:r>
            <a:endParaRPr lang="en-US" altLang="ko-KR" dirty="0" smtClean="0"/>
          </a:p>
          <a:p>
            <a:pPr marL="228600" indent="-228600"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앱 이용안내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스플래시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앱 이용안내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앱 기동 </a:t>
            </a:r>
            <a:r>
              <a:rPr lang="en-US" altLang="ko-KR" dirty="0"/>
              <a:t>&gt; </a:t>
            </a:r>
            <a:r>
              <a:rPr lang="ko-KR" altLang="en-US" dirty="0"/>
              <a:t>앱 이용안내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MUI-MS-01-P06</a:t>
            </a: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22502"/>
          <a:stretch/>
        </p:blipFill>
        <p:spPr>
          <a:xfrm>
            <a:off x="677959" y="1493927"/>
            <a:ext cx="2712027" cy="4740618"/>
          </a:xfrm>
          <a:prstGeom prst="rect">
            <a:avLst/>
          </a:prstGeom>
        </p:spPr>
      </p:pic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58919256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0" indent="0">
              <a:buNone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로고 영역</a:t>
            </a:r>
            <a:r>
              <a:rPr lang="en-US" altLang="ko-KR" dirty="0"/>
              <a:t>, </a:t>
            </a:r>
            <a:r>
              <a:rPr lang="ko-KR" altLang="en-US" dirty="0"/>
              <a:t>상단 버튼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로고 또는 </a:t>
            </a:r>
            <a:r>
              <a:rPr lang="ko-KR" altLang="en-US" dirty="0" err="1"/>
              <a:t>홈아이콘</a:t>
            </a:r>
            <a:r>
              <a:rPr lang="ko-KR" altLang="en-US" dirty="0"/>
              <a:t> 클릭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우측 아이콘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로그인 </a:t>
            </a:r>
            <a:r>
              <a:rPr lang="en-US" altLang="ko-KR" dirty="0"/>
              <a:t>(</a:t>
            </a:r>
            <a:r>
              <a:rPr lang="ko-KR" altLang="en-US" dirty="0"/>
              <a:t>로그인 후 숨김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  &gt; 2. </a:t>
            </a:r>
            <a:r>
              <a:rPr lang="ko-KR" altLang="en-US" dirty="0"/>
              <a:t>통합검색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3. </a:t>
            </a:r>
            <a:r>
              <a:rPr lang="ko-KR" altLang="en-US" dirty="0"/>
              <a:t>햄버거 메뉴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입찰 공고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공고명</a:t>
            </a:r>
            <a:r>
              <a:rPr lang="en-US" altLang="ko-KR" dirty="0"/>
              <a:t>, </a:t>
            </a:r>
            <a:r>
              <a:rPr lang="ko-KR" altLang="en-US" dirty="0" err="1"/>
              <a:t>공고번호와</a:t>
            </a:r>
            <a:r>
              <a:rPr lang="ko-KR" altLang="en-US" dirty="0"/>
              <a:t> 업무 구분으로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입찰공고 화면으로 이동하여 </a:t>
            </a:r>
            <a:r>
              <a:rPr lang="ko-KR" altLang="en-US" dirty="0" err="1"/>
              <a:t>검색필터에</a:t>
            </a:r>
            <a:r>
              <a:rPr lang="ko-KR" altLang="en-US" dirty="0"/>
              <a:t> </a:t>
            </a:r>
            <a:r>
              <a:rPr lang="ko-KR" altLang="en-US" dirty="0" err="1"/>
              <a:t>검색어</a:t>
            </a:r>
            <a:r>
              <a:rPr lang="ko-KR" altLang="en-US" dirty="0"/>
              <a:t> 적용하여 결과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바로가기</a:t>
            </a:r>
            <a:r>
              <a:rPr lang="ko-KR" altLang="en-US" dirty="0"/>
              <a:t> 버튼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사전준비</a:t>
            </a:r>
            <a:r>
              <a:rPr lang="en-US" altLang="ko-KR" dirty="0"/>
              <a:t>, </a:t>
            </a:r>
            <a:r>
              <a:rPr lang="ko-KR" altLang="en-US" dirty="0"/>
              <a:t>국내조달</a:t>
            </a:r>
            <a:r>
              <a:rPr lang="en-US" altLang="ko-KR" dirty="0"/>
              <a:t>, </a:t>
            </a:r>
            <a:r>
              <a:rPr lang="ko-KR" altLang="en-US" dirty="0" err="1"/>
              <a:t>국외조달</a:t>
            </a:r>
            <a:r>
              <a:rPr lang="ko-KR" altLang="en-US" dirty="0"/>
              <a:t> </a:t>
            </a:r>
            <a:r>
              <a:rPr lang="en-US" altLang="ko-KR" dirty="0"/>
              <a:t>3</a:t>
            </a:r>
            <a:r>
              <a:rPr lang="ko-KR" altLang="en-US" dirty="0"/>
              <a:t>가지 항목으로 제공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>
                <a:solidFill>
                  <a:srgbClr val="FF0000"/>
                </a:solidFill>
              </a:rPr>
              <a:t>모바일 앱은 </a:t>
            </a:r>
            <a:r>
              <a:rPr lang="ko-KR" altLang="en-US" dirty="0" err="1">
                <a:solidFill>
                  <a:srgbClr val="FF0000"/>
                </a:solidFill>
              </a:rPr>
              <a:t>모의입찰</a:t>
            </a:r>
            <a:r>
              <a:rPr lang="ko-KR" altLang="en-US" dirty="0">
                <a:solidFill>
                  <a:srgbClr val="FF0000"/>
                </a:solidFill>
              </a:rPr>
              <a:t> 없음</a:t>
            </a:r>
            <a:endParaRPr lang="en-US" altLang="ko-KR" dirty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탭바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주요 사용하는 메뉴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공지사항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각 공지사항 최근 </a:t>
            </a:r>
            <a:r>
              <a:rPr lang="en-US" altLang="ko-KR" dirty="0"/>
              <a:t>3</a:t>
            </a:r>
            <a:r>
              <a:rPr lang="ko-KR" altLang="en-US" dirty="0"/>
              <a:t>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배너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스크롤 시 </a:t>
            </a:r>
            <a:r>
              <a:rPr lang="ko-KR" altLang="en-US" dirty="0" err="1"/>
              <a:t>플로팅</a:t>
            </a:r>
            <a:r>
              <a:rPr lang="ko-KR" altLang="en-US" dirty="0"/>
              <a:t> </a:t>
            </a:r>
            <a:r>
              <a:rPr lang="en-US" altLang="ko-KR" dirty="0"/>
              <a:t>Top </a:t>
            </a:r>
            <a:r>
              <a:rPr lang="ko-KR" altLang="en-US" dirty="0"/>
              <a:t>이동 버튼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푸터</a:t>
            </a:r>
            <a:r>
              <a:rPr lang="ko-KR" altLang="en-US" dirty="0"/>
              <a:t> 표시</a:t>
            </a:r>
            <a:endParaRPr lang="ko-KR" altLang="en-US" dirty="0">
              <a:solidFill>
                <a:srgbClr val="FF0000"/>
              </a:solidFill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앱 메인 홈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848" y="160364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pic>
        <p:nvPicPr>
          <p:cNvPr id="18" name="Picture 2">
            <a:extLst>
              <a:ext uri="{FF2B5EF4-FFF2-40B4-BE49-F238E27FC236}">
                <a16:creationId xmlns:a16="http://schemas.microsoft.com/office/drawing/2014/main" id="{1C4B5929-C206-23D9-2234-19ADD0E7AA5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101" r="32311"/>
          <a:stretch>
            <a:fillRect/>
          </a:stretch>
        </p:blipFill>
        <p:spPr bwMode="auto">
          <a:xfrm>
            <a:off x="788121" y="1582647"/>
            <a:ext cx="1252261" cy="2144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7" name="TextBox 3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66" name="타원 6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848" y="22790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960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677960" y="5859779"/>
            <a:ext cx="2712027" cy="372519"/>
            <a:chOff x="3788901" y="5859779"/>
            <a:chExt cx="2712027" cy="372519"/>
          </a:xfrm>
        </p:grpSpPr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3788901" y="5859779"/>
              <a:ext cx="681077" cy="37251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2" name="직사각형 7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4466908" y="5859779"/>
              <a:ext cx="681077" cy="37251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5" name="직사각형 7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5144915" y="5859779"/>
              <a:ext cx="681077" cy="37251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5819851" y="5859779"/>
              <a:ext cx="681077" cy="37251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타원 69"/>
            <p:cNvSpPr/>
            <p:nvPr/>
          </p:nvSpPr>
          <p:spPr>
            <a:xfrm>
              <a:off x="4028078" y="5901000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2308" y="6119441"/>
              <a:ext cx="4995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홈</a:t>
              </a:r>
            </a:p>
          </p:txBody>
        </p:sp>
        <p:sp>
          <p:nvSpPr>
            <p:cNvPr id="73" name="타원 72"/>
            <p:cNvSpPr/>
            <p:nvPr/>
          </p:nvSpPr>
          <p:spPr>
            <a:xfrm>
              <a:off x="4716846" y="5901000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561076" y="6119441"/>
              <a:ext cx="4995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알림 현황</a:t>
              </a:r>
            </a:p>
          </p:txBody>
        </p:sp>
        <p:sp>
          <p:nvSpPr>
            <p:cNvPr id="76" name="타원 75"/>
            <p:cNvSpPr/>
            <p:nvPr/>
          </p:nvSpPr>
          <p:spPr>
            <a:xfrm>
              <a:off x="5386873" y="5901000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231103" y="6119441"/>
              <a:ext cx="4995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고객센터</a:t>
              </a:r>
            </a:p>
          </p:txBody>
        </p:sp>
        <p:sp>
          <p:nvSpPr>
            <p:cNvPr id="79" name="타원 78"/>
            <p:cNvSpPr/>
            <p:nvPr/>
          </p:nvSpPr>
          <p:spPr>
            <a:xfrm>
              <a:off x="6069480" y="5901000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913710" y="6119441"/>
              <a:ext cx="4995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마이</a:t>
              </a:r>
            </a:p>
          </p:txBody>
        </p:sp>
      </p:grpSp>
      <p:sp>
        <p:nvSpPr>
          <p:cNvPr id="81" name="타원 80"/>
          <p:cNvSpPr/>
          <p:nvPr/>
        </p:nvSpPr>
        <p:spPr>
          <a:xfrm>
            <a:off x="2446129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타원 81"/>
          <p:cNvSpPr/>
          <p:nvPr/>
        </p:nvSpPr>
        <p:spPr>
          <a:xfrm>
            <a:off x="2759886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3" name="타원 82"/>
          <p:cNvSpPr/>
          <p:nvPr/>
        </p:nvSpPr>
        <p:spPr>
          <a:xfrm>
            <a:off x="3073643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960" y="283172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2" name="타원 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848" y="315356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93" name="타원 9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848" y="430381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cxnSp>
        <p:nvCxnSpPr>
          <p:cNvPr id="43" name="직선 연결선 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960" y="410195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" name="모서리가 둥근 직사각형 2"/>
          <p:cNvSpPr/>
          <p:nvPr/>
        </p:nvSpPr>
        <p:spPr>
          <a:xfrm>
            <a:off x="891228" y="3057723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2899271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 err="1">
                <a:latin typeface="+mn-ea"/>
              </a:rPr>
              <a:t>바로가기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46" name="모서리가 둥근 직사각형 45"/>
          <p:cNvSpPr/>
          <p:nvPr/>
        </p:nvSpPr>
        <p:spPr>
          <a:xfrm>
            <a:off x="1508351" y="3057723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모서리가 둥근 직사각형 46"/>
          <p:cNvSpPr/>
          <p:nvPr/>
        </p:nvSpPr>
        <p:spPr>
          <a:xfrm>
            <a:off x="2125474" y="3057723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8" name="모서리가 둥근 직사각형 47"/>
          <p:cNvSpPr/>
          <p:nvPr/>
        </p:nvSpPr>
        <p:spPr>
          <a:xfrm>
            <a:off x="2742597" y="3057723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88902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95" name="Picture 2">
            <a:extLst>
              <a:ext uri="{FF2B5EF4-FFF2-40B4-BE49-F238E27FC236}">
                <a16:creationId xmlns:a16="http://schemas.microsoft.com/office/drawing/2014/main" id="{1C4B5929-C206-23D9-2234-19ADD0E7AA5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101" r="32311"/>
          <a:stretch>
            <a:fillRect/>
          </a:stretch>
        </p:blipFill>
        <p:spPr bwMode="auto">
          <a:xfrm>
            <a:off x="3900722" y="1582647"/>
            <a:ext cx="1252261" cy="2144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96" name="직선 연결선 9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0561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7" name="타원 96"/>
          <p:cNvSpPr/>
          <p:nvPr/>
        </p:nvSpPr>
        <p:spPr>
          <a:xfrm>
            <a:off x="5558730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8" name="타원 97"/>
          <p:cNvSpPr/>
          <p:nvPr/>
        </p:nvSpPr>
        <p:spPr>
          <a:xfrm>
            <a:off x="5872487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9" name="타원 98"/>
          <p:cNvSpPr/>
          <p:nvPr/>
        </p:nvSpPr>
        <p:spPr>
          <a:xfrm>
            <a:off x="6186244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9" name="그룹 8"/>
          <p:cNvGrpSpPr/>
          <p:nvPr/>
        </p:nvGrpSpPr>
        <p:grpSpPr>
          <a:xfrm>
            <a:off x="3796969" y="1974039"/>
            <a:ext cx="2712027" cy="2638270"/>
            <a:chOff x="3796969" y="4333445"/>
            <a:chExt cx="2712027" cy="2638270"/>
          </a:xfrm>
        </p:grpSpPr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4356946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 err="1">
                  <a:latin typeface="+mn-ea"/>
                </a:rPr>
                <a:t>방위사업청</a:t>
              </a:r>
              <a:r>
                <a:rPr lang="ko-KR" altLang="en-US" sz="900" b="1" dirty="0">
                  <a:latin typeface="+mn-ea"/>
                </a:rPr>
                <a:t> 공지</a:t>
              </a:r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4585115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2026 </a:t>
              </a:r>
              <a:r>
                <a:rPr lang="ko-KR" altLang="en-US" sz="700" dirty="0" err="1">
                  <a:latin typeface="+mn-ea"/>
                </a:rPr>
                <a:t>국외조달</a:t>
              </a:r>
              <a:r>
                <a:rPr lang="ko-KR" altLang="en-US" sz="700" dirty="0">
                  <a:latin typeface="+mn-ea"/>
                </a:rPr>
                <a:t> 집행 예정 품목 공지</a:t>
              </a:r>
            </a:p>
          </p:txBody>
        </p:sp>
        <p:sp>
          <p:nvSpPr>
            <p:cNvPr id="5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791465" y="4333445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더보기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 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+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4585115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4749883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국가계약법 시행령 한시적 특례 종료</a:t>
              </a:r>
              <a:r>
                <a:rPr lang="en-US" altLang="ko-KR" sz="700" dirty="0">
                  <a:latin typeface="+mn-ea"/>
                </a:rPr>
                <a:t>…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4749883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4914650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2026</a:t>
              </a:r>
              <a:r>
                <a:rPr lang="ko-KR" altLang="en-US" sz="700" dirty="0">
                  <a:latin typeface="+mn-ea"/>
                </a:rPr>
                <a:t>년도 사전입찰의향서 접수 안내</a:t>
              </a:r>
              <a:r>
                <a:rPr lang="en-US" altLang="ko-KR" sz="700" dirty="0">
                  <a:latin typeface="+mn-ea"/>
                </a:rPr>
                <a:t>(…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4914650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5253933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 err="1">
                  <a:latin typeface="+mn-ea"/>
                </a:rPr>
                <a:t>수요부대</a:t>
              </a:r>
              <a:r>
                <a:rPr lang="ko-KR" altLang="en-US" sz="900" b="1" dirty="0">
                  <a:latin typeface="+mn-ea"/>
                </a:rPr>
                <a:t> 공지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5482102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2026 </a:t>
              </a:r>
              <a:r>
                <a:rPr lang="ko-KR" altLang="en-US" sz="700" dirty="0" err="1">
                  <a:latin typeface="+mn-ea"/>
                </a:rPr>
                <a:t>국외조달</a:t>
              </a:r>
              <a:r>
                <a:rPr lang="ko-KR" altLang="en-US" sz="700" dirty="0">
                  <a:latin typeface="+mn-ea"/>
                </a:rPr>
                <a:t> 집행 예정 품목 공지</a:t>
              </a:r>
            </a:p>
          </p:txBody>
        </p:sp>
        <p:sp>
          <p:nvSpPr>
            <p:cNvPr id="10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791465" y="5230432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더보기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 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+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5482102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5646870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국가계약법 시행령 한시적 특례 종료</a:t>
              </a:r>
              <a:r>
                <a:rPr lang="en-US" altLang="ko-KR" sz="700" dirty="0">
                  <a:latin typeface="+mn-ea"/>
                </a:rPr>
                <a:t>…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5646870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5811637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2026</a:t>
              </a:r>
              <a:r>
                <a:rPr lang="ko-KR" altLang="en-US" sz="700" dirty="0">
                  <a:latin typeface="+mn-ea"/>
                </a:rPr>
                <a:t>년도 사전입찰의향서 접수 안내</a:t>
              </a:r>
              <a:r>
                <a:rPr lang="en-US" altLang="ko-KR" sz="700" dirty="0">
                  <a:latin typeface="+mn-ea"/>
                </a:rPr>
                <a:t>(…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5811637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6177572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일반 공지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6405741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2026 </a:t>
              </a:r>
              <a:r>
                <a:rPr lang="ko-KR" altLang="en-US" sz="700" dirty="0" err="1">
                  <a:latin typeface="+mn-ea"/>
                </a:rPr>
                <a:t>국외조달</a:t>
              </a:r>
              <a:r>
                <a:rPr lang="ko-KR" altLang="en-US" sz="700" dirty="0">
                  <a:latin typeface="+mn-ea"/>
                </a:rPr>
                <a:t> 집행 예정 품목 공지</a:t>
              </a:r>
            </a:p>
          </p:txBody>
        </p:sp>
        <p:sp>
          <p:nvSpPr>
            <p:cNvPr id="11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791465" y="6154071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더보기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 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+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6405741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6969" y="5142915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6969" y="604755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6969" y="6971715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6564181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국가계약법 시행령 한시적 특례 종료</a:t>
              </a:r>
              <a:r>
                <a:rPr lang="en-US" altLang="ko-KR" sz="700" dirty="0">
                  <a:latin typeface="+mn-ea"/>
                </a:rPr>
                <a:t>…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6564181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50" name="TextBox 14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6728948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2026</a:t>
              </a:r>
              <a:r>
                <a:rPr lang="ko-KR" altLang="en-US" sz="700" dirty="0">
                  <a:latin typeface="+mn-ea"/>
                </a:rPr>
                <a:t>년도 사전입찰의향서 접수 안내</a:t>
              </a:r>
              <a:r>
                <a:rPr lang="en-US" altLang="ko-KR" sz="700" dirty="0">
                  <a:latin typeface="+mn-ea"/>
                </a:rPr>
                <a:t>(…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6728948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47" name="모서리가 둥근 직사각형 146"/>
          <p:cNvSpPr/>
          <p:nvPr/>
        </p:nvSpPr>
        <p:spPr>
          <a:xfrm>
            <a:off x="4002170" y="4676843"/>
            <a:ext cx="2285490" cy="1277072"/>
          </a:xfrm>
          <a:prstGeom prst="roundRect">
            <a:avLst>
              <a:gd name="adj" fmla="val 6856"/>
            </a:avLst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/>
              <a:t>배너 영역</a:t>
            </a:r>
          </a:p>
        </p:txBody>
      </p:sp>
      <p:sp>
        <p:nvSpPr>
          <p:cNvPr id="117" name="모서리가 둥근 직사각형 116"/>
          <p:cNvSpPr/>
          <p:nvPr/>
        </p:nvSpPr>
        <p:spPr>
          <a:xfrm>
            <a:off x="3788901" y="6018448"/>
            <a:ext cx="2712027" cy="218999"/>
          </a:xfrm>
          <a:prstGeom prst="roundRect">
            <a:avLst>
              <a:gd name="adj" fmla="val 6856"/>
            </a:avLst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Footer</a:t>
            </a:r>
            <a:endParaRPr lang="ko-KR" altLang="en-US" dirty="0"/>
          </a:p>
        </p:txBody>
      </p:sp>
      <p:sp>
        <p:nvSpPr>
          <p:cNvPr id="118" name="타원 1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848" y="590891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119" name="타원 11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1178" y="199378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  <p:sp>
        <p:nvSpPr>
          <p:cNvPr id="120" name="타원 1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1178" y="496974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7</a:t>
            </a:r>
            <a:endParaRPr lang="ko-KR" altLang="en-US" sz="900" b="1" dirty="0"/>
          </a:p>
        </p:txBody>
      </p:sp>
      <p:sp>
        <p:nvSpPr>
          <p:cNvPr id="123" name="타원 12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1178" y="604270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9</a:t>
            </a:r>
            <a:endParaRPr lang="ko-KR" altLang="en-US" sz="900" b="1" dirty="0"/>
          </a:p>
        </p:txBody>
      </p:sp>
      <p:sp>
        <p:nvSpPr>
          <p:cNvPr id="125" name="모서리가 둥근 직사각형 124"/>
          <p:cNvSpPr/>
          <p:nvPr/>
        </p:nvSpPr>
        <p:spPr>
          <a:xfrm>
            <a:off x="891228" y="3562354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모서리가 둥근 직사각형 125"/>
          <p:cNvSpPr/>
          <p:nvPr/>
        </p:nvSpPr>
        <p:spPr>
          <a:xfrm>
            <a:off x="1508351" y="3562354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모서리가 둥근 직사각형 129"/>
          <p:cNvSpPr/>
          <p:nvPr/>
        </p:nvSpPr>
        <p:spPr>
          <a:xfrm>
            <a:off x="2125474" y="3562354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1" name="모서리가 둥근 직사각형 130"/>
          <p:cNvSpPr/>
          <p:nvPr/>
        </p:nvSpPr>
        <p:spPr>
          <a:xfrm>
            <a:off x="2742597" y="3562354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2" name="타원 131"/>
          <p:cNvSpPr/>
          <p:nvPr/>
        </p:nvSpPr>
        <p:spPr>
          <a:xfrm>
            <a:off x="6596790" y="4685201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52" name="그룹 151"/>
          <p:cNvGrpSpPr/>
          <p:nvPr/>
        </p:nvGrpSpPr>
        <p:grpSpPr>
          <a:xfrm>
            <a:off x="6726256" y="4802272"/>
            <a:ext cx="124144" cy="148935"/>
            <a:chOff x="161606" y="5392781"/>
            <a:chExt cx="97885" cy="117432"/>
          </a:xfrm>
        </p:grpSpPr>
        <p:cxnSp>
          <p:nvCxnSpPr>
            <p:cNvPr id="153" name="직선 연결선 152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4" name="직선 연결선 153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5" name="직선 연결선 15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6" name="직선 연결선 155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4" name="타원 16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88653" y="450471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8</a:t>
            </a:r>
            <a:endParaRPr lang="ko-KR" altLang="en-US" sz="900" b="1" dirty="0"/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4307902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사용 안내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4537337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>
                <a:latin typeface="+mn-ea"/>
              </a:rPr>
              <a:t>사전준비안내</a:t>
            </a:r>
            <a:endParaRPr lang="ko-KR" altLang="en-US" sz="800" dirty="0">
              <a:latin typeface="+mn-ea"/>
            </a:endParaRPr>
          </a:p>
        </p:txBody>
      </p:sp>
      <p:sp>
        <p:nvSpPr>
          <p:cNvPr id="183" name="모서리가 둥근 직사각형 182"/>
          <p:cNvSpPr/>
          <p:nvPr/>
        </p:nvSpPr>
        <p:spPr>
          <a:xfrm>
            <a:off x="891228" y="4736426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4" name="모서리가 둥근 직사각형 183"/>
          <p:cNvSpPr/>
          <p:nvPr/>
        </p:nvSpPr>
        <p:spPr>
          <a:xfrm>
            <a:off x="891227" y="4903435"/>
            <a:ext cx="2062597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5152551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국내조달안내</a:t>
            </a:r>
          </a:p>
        </p:txBody>
      </p:sp>
      <p:sp>
        <p:nvSpPr>
          <p:cNvPr id="187" name="모서리가 둥근 직사각형 186"/>
          <p:cNvSpPr/>
          <p:nvPr/>
        </p:nvSpPr>
        <p:spPr>
          <a:xfrm>
            <a:off x="891228" y="5351640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모서리가 둥근 직사각형 187"/>
          <p:cNvSpPr/>
          <p:nvPr/>
        </p:nvSpPr>
        <p:spPr>
          <a:xfrm>
            <a:off x="891227" y="5518649"/>
            <a:ext cx="2062597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9" name="그룹 128"/>
          <p:cNvGrpSpPr/>
          <p:nvPr/>
        </p:nvGrpSpPr>
        <p:grpSpPr>
          <a:xfrm rot="16200000">
            <a:off x="3143548" y="4560840"/>
            <a:ext cx="94010" cy="47005"/>
            <a:chOff x="6812560" y="3297172"/>
            <a:chExt cx="94010" cy="47005"/>
          </a:xfrm>
        </p:grpSpPr>
        <p:cxnSp>
          <p:nvCxnSpPr>
            <p:cNvPr id="133" name="직선 연결선 13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4" name="직선 연결선 13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35" name="그룹 134"/>
          <p:cNvGrpSpPr/>
          <p:nvPr/>
        </p:nvGrpSpPr>
        <p:grpSpPr>
          <a:xfrm rot="16200000">
            <a:off x="3143549" y="5181230"/>
            <a:ext cx="94010" cy="47005"/>
            <a:chOff x="6812560" y="3297172"/>
            <a:chExt cx="94010" cy="47005"/>
          </a:xfrm>
        </p:grpSpPr>
        <p:cxnSp>
          <p:nvCxnSpPr>
            <p:cNvPr id="136" name="직선 연결선 13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7" name="직선 연결선 13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27" name="그룹 126"/>
          <p:cNvGrpSpPr/>
          <p:nvPr/>
        </p:nvGrpSpPr>
        <p:grpSpPr>
          <a:xfrm>
            <a:off x="767702" y="2113949"/>
            <a:ext cx="2527420" cy="477995"/>
            <a:chOff x="786326" y="2270279"/>
            <a:chExt cx="2527420" cy="477995"/>
          </a:xfrm>
        </p:grpSpPr>
        <p:sp>
          <p:nvSpPr>
            <p:cNvPr id="138" name="모서리가 둥근 직사각형 137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9" name="타원 138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>
              <a:off x="795624" y="2274581"/>
              <a:ext cx="1299303" cy="155984"/>
              <a:chOff x="808107" y="2288229"/>
              <a:chExt cx="1189739" cy="168318"/>
            </a:xfrm>
          </p:grpSpPr>
          <p:sp>
            <p:nvSpPr>
              <p:cNvPr id="158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808107" y="2288229"/>
                <a:ext cx="563494" cy="168318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공고명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맑은 고딕"/>
                </a:endParaRPr>
              </a:p>
            </p:txBody>
          </p:sp>
          <p:sp>
            <p:nvSpPr>
              <p:cNvPr id="159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1434352" y="2288229"/>
                <a:ext cx="563494" cy="168318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>
                    <a:latin typeface="맑은 고딕"/>
                    <a:ea typeface="맑은 고딕" panose="020B0503020000020004" pitchFamily="50" charset="-127"/>
                  </a:rPr>
                  <a:t>공고번호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</p:grpSp>
        <p:sp>
          <p:nvSpPr>
            <p:cNvPr id="142" name="타원 141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/>
                <a:t>V</a:t>
              </a:r>
              <a:endParaRPr lang="ko-KR" altLang="en-US" sz="600" dirty="0"/>
            </a:p>
          </p:txBody>
        </p:sp>
        <p:sp>
          <p:nvSpPr>
            <p:cNvPr id="143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726021" y="2270279"/>
              <a:ext cx="582849" cy="15479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>
                  <a:latin typeface="맑은 고딕"/>
                  <a:ea typeface="맑은 고딕" panose="020B0503020000020004" pitchFamily="50" charset="-127"/>
                </a:rPr>
                <a:t>검색필터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44" name="타원 143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45" name="그룹 144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146" name="직선 연결선 145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7" name="직선 연결선 156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28" name="직사각형 127"/>
          <p:cNvSpPr/>
          <p:nvPr/>
        </p:nvSpPr>
        <p:spPr>
          <a:xfrm>
            <a:off x="7056784" y="6395830"/>
            <a:ext cx="2378816" cy="69149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500" dirty="0"/>
              <a:t>감리 추가 사항 </a:t>
            </a:r>
            <a:r>
              <a:rPr lang="en-US" altLang="ko-KR" sz="500" dirty="0"/>
              <a:t>2026-04-08</a:t>
            </a:r>
            <a:endParaRPr lang="ko-KR" altLang="en-US" sz="500" dirty="0"/>
          </a:p>
        </p:txBody>
      </p:sp>
    </p:spTree>
    <p:extLst>
      <p:ext uri="{BB962C8B-B14F-4D97-AF65-F5344CB8AC3E}">
        <p14:creationId xmlns:p14="http://schemas.microsoft.com/office/powerpoint/2010/main" val="766998543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21</a:t>
            </a:fld>
            <a:endParaRPr lang="ko-KR" altLang="en-US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60321" y="72319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1.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043CCF2E-4211-2C23-5344-1DCBE7D0CB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3" y="82501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22877125-CEBE-DA88-38E6-DC2C1B0A09D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1273697"/>
              </p:ext>
            </p:extLst>
          </p:nvPr>
        </p:nvGraphicFramePr>
        <p:xfrm>
          <a:off x="450088" y="1015825"/>
          <a:ext cx="8995591" cy="29145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29418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252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국방전자조달시스템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83608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국방전자조달시스템내의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공고를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en-US" altLang="ko-KR" sz="800" dirty="0">
                          <a:effectLst/>
                        </a:rPr>
                        <a:t>UI-BD-01-M01(</a:t>
                      </a:r>
                      <a:r>
                        <a:rPr lang="ko-KR" altLang="en-US" sz="800" dirty="0">
                          <a:effectLst/>
                        </a:rPr>
                        <a:t>입찰공고통합목록</a:t>
                      </a:r>
                      <a:r>
                        <a:rPr lang="en-US" altLang="ko-KR" sz="800" dirty="0">
                          <a:effectLst/>
                        </a:rPr>
                        <a:t>-</a:t>
                      </a:r>
                      <a:r>
                        <a:rPr lang="ko-KR" altLang="en-US" sz="800" dirty="0">
                          <a:effectLst/>
                        </a:rPr>
                        <a:t>입찰공고</a:t>
                      </a:r>
                      <a:r>
                        <a:rPr lang="en-US" altLang="ko-KR" sz="800" dirty="0">
                          <a:effectLst/>
                        </a:rPr>
                        <a:t>) </a:t>
                      </a:r>
                      <a:r>
                        <a:rPr lang="ko-KR" altLang="en-US" sz="800" dirty="0">
                          <a:effectLst/>
                        </a:rPr>
                        <a:t>이동</a:t>
                      </a:r>
                      <a:r>
                        <a:rPr lang="ko-KR" altLang="en-US" sz="18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/>
                      </a:r>
                      <a:br>
                        <a:rPr lang="ko-KR" altLang="en-US" sz="1800" b="0" i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사전준비안내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scwin.btn_bfhdReady_onclick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사전준비안내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033906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국내조달안내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scwin.btn_dmstPrcmGd_onclick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국내조달시스템의 이용안내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UI-CM-04-M48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437605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국외조달안내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scwin.btn_ovsPrcmGd_onclick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국외조달시스템의 이용안내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404740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/>
                        <a:t>방위사업청공지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scwin.btn_bizNotice_onclick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방위사업청공지사항의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/>
                        <a:t>UI-CM-04-M06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026155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수요부대공지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scwin.btn_sbsdNotice_onclick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수요부대별공지사항의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/>
                        <a:t>UI-CM-04-M10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873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일반공지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scwin.btn_gnrlNotice_onclick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일반공지사항의 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/>
                        <a:t>UI-CM-04-M02 </a:t>
                      </a:r>
                      <a:r>
                        <a:rPr lang="ko-KR" altLang="en-US" sz="800"/>
                        <a:t>참조</a:t>
                      </a: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40988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국방관련사이트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scwin.btn_ndSite_onclick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국방관련사이트 목록을 보여주고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클릭시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견본신청안내 사이트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URL :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</a:rPr>
                        <a:t>국방군수통합정보체계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hlinkClick r:id="rId2"/>
                        </a:rPr>
                        <a:t>http://delis.mnd.go.kr:8080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)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도 포함</a:t>
                      </a: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414399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58569904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0" indent="0">
              <a:buNone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제목</a:t>
            </a:r>
            <a:r>
              <a:rPr lang="en-US" altLang="ko-KR" dirty="0"/>
              <a:t>, </a:t>
            </a:r>
            <a:r>
              <a:rPr lang="ko-KR" altLang="en-US" dirty="0"/>
              <a:t>내용을 타이틀 하단에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닫기 </a:t>
            </a:r>
            <a:r>
              <a:rPr lang="en-US" altLang="ko-KR" dirty="0"/>
              <a:t>(X) </a:t>
            </a:r>
            <a:r>
              <a:rPr lang="ko-KR" altLang="en-US" dirty="0"/>
              <a:t>버튼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메인화면에</a:t>
            </a:r>
            <a:r>
              <a:rPr lang="ko-KR" altLang="en-US" dirty="0"/>
              <a:t> 노출되는 </a:t>
            </a:r>
            <a:r>
              <a:rPr lang="en-US" altLang="ko-KR" dirty="0"/>
              <a:t>[</a:t>
            </a:r>
            <a:r>
              <a:rPr lang="ko-KR" altLang="en-US" dirty="0"/>
              <a:t>중요 공지사항</a:t>
            </a:r>
            <a:r>
              <a:rPr lang="en-US" altLang="ko-KR" dirty="0"/>
              <a:t>], [</a:t>
            </a:r>
            <a:r>
              <a:rPr lang="ko-KR" altLang="en-US" dirty="0"/>
              <a:t>시스템 안내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각 최신 </a:t>
            </a:r>
            <a:r>
              <a:rPr lang="en-US" altLang="ko-KR" dirty="0"/>
              <a:t>1</a:t>
            </a:r>
            <a:r>
              <a:rPr lang="ko-KR" altLang="en-US" dirty="0"/>
              <a:t>종만 노출됨</a:t>
            </a:r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더 이상 안보기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현재 노출된 중요 공지사항은 더 이상 표시되지 않음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창 닫힘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더보기</a:t>
            </a:r>
            <a:r>
              <a:rPr lang="ko-KR" altLang="en-US" dirty="0"/>
              <a:t>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표시되고 있는</a:t>
            </a:r>
            <a:r>
              <a:rPr lang="en-US" altLang="ko-KR" dirty="0"/>
              <a:t> </a:t>
            </a:r>
            <a:r>
              <a:rPr lang="ko-KR" altLang="en-US" dirty="0"/>
              <a:t>공지사항의 </a:t>
            </a:r>
            <a:r>
              <a:rPr lang="ko-KR" altLang="en-US" dirty="0" err="1"/>
              <a:t>게시글</a:t>
            </a:r>
            <a:r>
              <a:rPr lang="ko-KR" altLang="en-US" dirty="0"/>
              <a:t> 상세 화면으로 이동 됨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창 닫힘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0" indent="0">
              <a:buNone/>
            </a:pPr>
            <a:endParaRPr lang="en-US" altLang="ko-KR" dirty="0"/>
          </a:p>
          <a:p>
            <a:pPr marL="0" indent="0">
              <a:buNone/>
            </a:pPr>
            <a:r>
              <a:rPr lang="ko-KR" altLang="en-US" dirty="0">
                <a:solidFill>
                  <a:srgbClr val="FF0000"/>
                </a:solidFill>
              </a:rPr>
              <a:t>중요 공지사항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>
                <a:solidFill>
                  <a:srgbClr val="FF0000"/>
                </a:solidFill>
              </a:rPr>
              <a:t>시스템 안내 팝업은 동일한 팝업에서 내용이 변경되어 표시됨</a:t>
            </a:r>
            <a:r>
              <a:rPr lang="en-US" altLang="ko-KR" dirty="0">
                <a:solidFill>
                  <a:srgbClr val="FF0000"/>
                </a:solidFill>
              </a:rPr>
              <a:t>.</a:t>
            </a:r>
          </a:p>
          <a:p>
            <a:pPr marL="0" indent="0">
              <a:buNone/>
            </a:pPr>
            <a:r>
              <a:rPr lang="ko-KR" altLang="en-US" dirty="0">
                <a:solidFill>
                  <a:srgbClr val="FF0000"/>
                </a:solidFill>
              </a:rPr>
              <a:t>레이어 </a:t>
            </a:r>
            <a:r>
              <a:rPr lang="en-US" altLang="ko-KR" dirty="0">
                <a:solidFill>
                  <a:srgbClr val="FF0000"/>
                </a:solidFill>
              </a:rPr>
              <a:t>z-index</a:t>
            </a:r>
            <a:r>
              <a:rPr lang="ko-KR" altLang="en-US" dirty="0">
                <a:solidFill>
                  <a:srgbClr val="FF0000"/>
                </a:solidFill>
              </a:rPr>
              <a:t>는 시스템 안내 팝업이 상단이 되며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>
                <a:solidFill>
                  <a:srgbClr val="FF0000"/>
                </a:solidFill>
              </a:rPr>
              <a:t>최신 등록된 중요 공지 </a:t>
            </a:r>
            <a:r>
              <a:rPr lang="en-US" altLang="ko-KR" dirty="0">
                <a:solidFill>
                  <a:srgbClr val="FF0000"/>
                </a:solidFill>
              </a:rPr>
              <a:t>1</a:t>
            </a:r>
            <a:r>
              <a:rPr lang="ko-KR" altLang="en-US" dirty="0">
                <a:solidFill>
                  <a:srgbClr val="FF0000"/>
                </a:solidFill>
              </a:rPr>
              <a:t>종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>
                <a:solidFill>
                  <a:srgbClr val="FF0000"/>
                </a:solidFill>
              </a:rPr>
              <a:t>시스템 안내 </a:t>
            </a:r>
            <a:r>
              <a:rPr lang="en-US" altLang="ko-KR" dirty="0">
                <a:solidFill>
                  <a:srgbClr val="FF0000"/>
                </a:solidFill>
              </a:rPr>
              <a:t>1</a:t>
            </a:r>
            <a:r>
              <a:rPr lang="ko-KR" altLang="en-US" dirty="0">
                <a:solidFill>
                  <a:srgbClr val="FF0000"/>
                </a:solidFill>
              </a:rPr>
              <a:t>종만을 표시함</a:t>
            </a:r>
            <a:r>
              <a:rPr lang="en-US" altLang="ko-KR" dirty="0">
                <a:solidFill>
                  <a:srgbClr val="FF0000"/>
                </a:solidFill>
              </a:rPr>
              <a:t>.</a:t>
            </a:r>
            <a:endParaRPr lang="ko-KR" altLang="en-US" dirty="0">
              <a:solidFill>
                <a:srgbClr val="FF0000"/>
              </a:solidFill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중요 공지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시스템 </a:t>
            </a:r>
            <a:r>
              <a:rPr lang="ko-KR" altLang="en-US" dirty="0" smtClean="0">
                <a:latin typeface="+mn-ea"/>
              </a:rPr>
              <a:t>안내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앱 메인 홈 화면에서 노출되는 중요 공지사항과 시스템 안내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– </a:t>
            </a:r>
            <a:r>
              <a:rPr lang="ko-KR" altLang="en-US" dirty="0"/>
              <a:t>중요 공지사항 팝업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MUI-MS-01-P08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3" name="그룹 2"/>
          <p:cNvGrpSpPr/>
          <p:nvPr/>
        </p:nvGrpSpPr>
        <p:grpSpPr>
          <a:xfrm>
            <a:off x="743977" y="2831066"/>
            <a:ext cx="2579992" cy="2064095"/>
            <a:chOff x="758359" y="2831066"/>
            <a:chExt cx="2579992" cy="2064095"/>
          </a:xfrm>
        </p:grpSpPr>
        <p:sp>
          <p:nvSpPr>
            <p:cNvPr id="94" name="모서리가 둥근 직사각형 93"/>
            <p:cNvSpPr/>
            <p:nvPr/>
          </p:nvSpPr>
          <p:spPr>
            <a:xfrm>
              <a:off x="758359" y="2831066"/>
              <a:ext cx="2579992" cy="2064095"/>
            </a:xfrm>
            <a:prstGeom prst="roundRect">
              <a:avLst>
                <a:gd name="adj" fmla="val 4663"/>
              </a:avLst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5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2101197" y="4453050"/>
              <a:ext cx="1080000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더보기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9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876053" y="4453050"/>
              <a:ext cx="108000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더 이상 안보기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76053" y="2977795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중요 공지사항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5783" y="3210304"/>
              <a:ext cx="2305144" cy="109260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제목</a:t>
              </a:r>
              <a:endParaRPr lang="en-US" altLang="ko-KR" sz="700" dirty="0">
                <a:latin typeface="+mn-ea"/>
              </a:endParaRPr>
            </a:p>
            <a:p>
              <a:r>
                <a:rPr lang="ko-KR" altLang="en-US" sz="800" b="1" dirty="0">
                  <a:latin typeface="+mn-ea"/>
                </a:rPr>
                <a:t>제목을 표시합니다</a:t>
              </a:r>
              <a:r>
                <a:rPr lang="en-US" altLang="ko-KR" sz="800" b="1" dirty="0">
                  <a:latin typeface="+mn-ea"/>
                </a:rPr>
                <a:t>. </a:t>
              </a:r>
              <a:r>
                <a:rPr lang="ko-KR" altLang="en-US" sz="800" b="1" dirty="0">
                  <a:latin typeface="+mn-ea"/>
                </a:rPr>
                <a:t>제목은 볼드로 </a:t>
              </a:r>
              <a:r>
                <a:rPr lang="ko-KR" altLang="en-US" sz="800" b="1" dirty="0" err="1">
                  <a:latin typeface="+mn-ea"/>
                </a:rPr>
                <a:t>한줄</a:t>
              </a:r>
              <a:r>
                <a:rPr lang="ko-KR" altLang="en-US" sz="800" b="1" dirty="0">
                  <a:latin typeface="+mn-ea"/>
                </a:rPr>
                <a:t> </a:t>
              </a:r>
              <a:r>
                <a:rPr lang="ko-KR" altLang="en-US" sz="800" b="1" dirty="0" err="1">
                  <a:latin typeface="+mn-ea"/>
                </a:rPr>
                <a:t>표시합</a:t>
              </a:r>
              <a:r>
                <a:rPr lang="en-US" altLang="ko-KR" sz="800" b="1" dirty="0">
                  <a:latin typeface="+mn-ea"/>
                </a:rPr>
                <a:t>…</a:t>
              </a:r>
            </a:p>
            <a:p>
              <a:endParaRPr lang="en-US" altLang="ko-KR" sz="700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내용</a:t>
              </a:r>
              <a:endParaRPr lang="en-US" altLang="ko-KR" sz="700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공지사항 중에서 중요 공지로 등록한 최신 한가지를 노출합니다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r>
                <a:rPr lang="ko-KR" altLang="en-US" sz="700" dirty="0">
                  <a:latin typeface="+mn-ea"/>
                </a:rPr>
                <a:t>중요 공지사항 </a:t>
              </a:r>
              <a:r>
                <a:rPr lang="ko-KR" altLang="en-US" sz="700" dirty="0" err="1">
                  <a:latin typeface="+mn-ea"/>
                </a:rPr>
                <a:t>메인홈에서</a:t>
              </a:r>
              <a:r>
                <a:rPr lang="ko-KR" altLang="en-US" sz="700" dirty="0">
                  <a:latin typeface="+mn-ea"/>
                </a:rPr>
                <a:t> 노출되는 것은 </a:t>
              </a: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종입니다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r>
                <a:rPr lang="ko-KR" altLang="en-US" sz="700" dirty="0">
                  <a:latin typeface="+mn-ea"/>
                </a:rPr>
                <a:t>표시되는 텍스트의 길이는 최대 </a:t>
              </a:r>
              <a:r>
                <a:rPr lang="en-US" altLang="ko-KR" sz="700" dirty="0">
                  <a:latin typeface="+mn-ea"/>
                </a:rPr>
                <a:t>5</a:t>
              </a:r>
              <a:r>
                <a:rPr lang="ko-KR" altLang="en-US" sz="700" dirty="0">
                  <a:latin typeface="+mn-ea"/>
                </a:rPr>
                <a:t>줄로 표시하고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이후 내용이 더 있는 경우는 </a:t>
              </a:r>
              <a:r>
                <a:rPr lang="en-US" altLang="ko-KR" sz="700" dirty="0">
                  <a:latin typeface="+mn-ea"/>
                </a:rPr>
                <a:t>… (</a:t>
              </a:r>
              <a:r>
                <a:rPr lang="ko-KR" altLang="en-US" sz="700" dirty="0" err="1">
                  <a:latin typeface="+mn-ea"/>
                </a:rPr>
                <a:t>말줄임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표시를 통해서 내용을 </a:t>
              </a:r>
              <a:r>
                <a:rPr lang="ko-KR" altLang="en-US" sz="700" dirty="0" err="1">
                  <a:latin typeface="+mn-ea"/>
                </a:rPr>
                <a:t>숨김처리</a:t>
              </a:r>
              <a:r>
                <a:rPr lang="ko-KR" altLang="en-US" sz="700" dirty="0">
                  <a:latin typeface="+mn-ea"/>
                </a:rPr>
                <a:t> 합니다</a:t>
              </a:r>
              <a:r>
                <a:rPr lang="en-US" altLang="ko-KR" sz="700" dirty="0">
                  <a:latin typeface="+mn-ea"/>
                </a:rPr>
                <a:t>.</a:t>
              </a:r>
            </a:p>
          </p:txBody>
        </p:sp>
        <p:grpSp>
          <p:nvGrpSpPr>
            <p:cNvPr id="8" name="그룹 7"/>
            <p:cNvGrpSpPr/>
            <p:nvPr/>
          </p:nvGrpSpPr>
          <p:grpSpPr>
            <a:xfrm>
              <a:off x="3090975" y="2966155"/>
              <a:ext cx="94010" cy="94010"/>
              <a:chOff x="6812560" y="3297172"/>
              <a:chExt cx="94010" cy="94010"/>
            </a:xfrm>
          </p:grpSpPr>
          <p:cxnSp>
            <p:nvCxnSpPr>
              <p:cNvPr id="5" name="직선 연결선 4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3" name="직선 연결선 52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66" name="타원 6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89583" y="436223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92" name="타원 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266626" y="442306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72294" y="279209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663460317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0" indent="0">
              <a:buNone/>
            </a:pPr>
            <a:r>
              <a:rPr lang="ko-KR" altLang="en-US" dirty="0"/>
              <a:t>통합 검색</a:t>
            </a:r>
            <a:r>
              <a:rPr lang="en-US" altLang="ko-KR" dirty="0"/>
              <a:t> </a:t>
            </a:r>
            <a:r>
              <a:rPr lang="ko-KR" altLang="en-US" dirty="0"/>
              <a:t>페이지로 이동하여 검색</a:t>
            </a:r>
            <a:endParaRPr lang="en-US" altLang="ko-KR" dirty="0"/>
          </a:p>
          <a:p>
            <a:pPr marL="0" indent="0">
              <a:buNone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통합 검색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통합 검색 페이지 진입 시 검색 영역으로 포커스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활성화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자주 찾는 서비스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사용자가 자주 사용하는 메뉴를 정의하여 </a:t>
            </a:r>
            <a:r>
              <a:rPr lang="en-US" altLang="ko-KR" dirty="0"/>
              <a:t>10</a:t>
            </a:r>
            <a:r>
              <a:rPr lang="ko-KR" altLang="en-US" dirty="0"/>
              <a:t>개까지 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최근 </a:t>
            </a:r>
            <a:r>
              <a:rPr lang="ko-KR" altLang="en-US" dirty="0" err="1"/>
              <a:t>검색어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사용자가 입력한 최근 </a:t>
            </a:r>
            <a:r>
              <a:rPr lang="ko-KR" altLang="en-US" dirty="0" err="1"/>
              <a:t>검색어</a:t>
            </a:r>
            <a:r>
              <a:rPr lang="ko-KR" altLang="en-US" dirty="0"/>
              <a:t> </a:t>
            </a:r>
            <a:r>
              <a:rPr lang="en-US" altLang="ko-KR" dirty="0"/>
              <a:t>10</a:t>
            </a:r>
            <a:r>
              <a:rPr lang="ko-KR" altLang="en-US" dirty="0"/>
              <a:t>개까지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검색한 이력이 없는 경우 아래 메시지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최근 검색어가 없습니다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최근 </a:t>
            </a:r>
            <a:r>
              <a:rPr lang="ko-KR" altLang="en-US" dirty="0" err="1"/>
              <a:t>검색어</a:t>
            </a:r>
            <a:r>
              <a:rPr lang="ko-KR" altLang="en-US" dirty="0"/>
              <a:t> 삭제로 검색 이력 삭제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영역</a:t>
            </a:r>
            <a:endParaRPr lang="en-US" altLang="ko-KR" dirty="0"/>
          </a:p>
          <a:p>
            <a:pPr marL="0" indent="0">
              <a:buNone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통합 검색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통합 검색 페이지 진입 및 통합 검색 페이지 노출 정보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통합검색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MUI-MS-01-M09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960" y="22652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2" name="그룹 71"/>
          <p:cNvGrpSpPr/>
          <p:nvPr/>
        </p:nvGrpSpPr>
        <p:grpSpPr>
          <a:xfrm>
            <a:off x="3140938" y="1657580"/>
            <a:ext cx="94010" cy="94010"/>
            <a:chOff x="6812560" y="3297172"/>
            <a:chExt cx="94010" cy="94010"/>
          </a:xfrm>
        </p:grpSpPr>
        <p:cxnSp>
          <p:nvCxnSpPr>
            <p:cNvPr id="73" name="직선 연결선 7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4" name="직선 연결선 7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5" name="모서리가 둥근 직사각형 74"/>
          <p:cNvSpPr/>
          <p:nvPr/>
        </p:nvSpPr>
        <p:spPr>
          <a:xfrm>
            <a:off x="772384" y="1916070"/>
            <a:ext cx="2527420" cy="285425"/>
          </a:xfrm>
          <a:prstGeom prst="roundRect">
            <a:avLst>
              <a:gd name="adj" fmla="val 50000"/>
            </a:avLst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6" name="타원 75"/>
          <p:cNvSpPr/>
          <p:nvPr/>
        </p:nvSpPr>
        <p:spPr>
          <a:xfrm>
            <a:off x="3041927" y="19643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076" y="3943907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최근 </a:t>
            </a:r>
            <a:r>
              <a:rPr lang="ko-KR" altLang="en-US" sz="700" dirty="0" err="1">
                <a:latin typeface="+mn-ea"/>
              </a:rPr>
              <a:t>검색어</a:t>
            </a:r>
            <a:endParaRPr lang="ko-KR" altLang="en-US" sz="700" dirty="0">
              <a:latin typeface="+mn-ea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0156" y="4178760"/>
            <a:ext cx="2464791" cy="53860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228600" indent="-228600">
              <a:buAutoNum type="arabicPeriod"/>
            </a:pPr>
            <a:r>
              <a:rPr lang="ko-KR" altLang="en-US" sz="700" dirty="0" err="1">
                <a:latin typeface="+mn-ea"/>
              </a:rPr>
              <a:t>방위사업청</a:t>
            </a:r>
            <a:r>
              <a:rPr lang="ko-KR" altLang="en-US" sz="700" dirty="0">
                <a:latin typeface="+mn-ea"/>
              </a:rPr>
              <a:t> 물품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>
                <a:latin typeface="+mn-ea"/>
              </a:rPr>
              <a:t>국방부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>
                <a:latin typeface="+mn-ea"/>
              </a:rPr>
              <a:t>조달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>
                <a:latin typeface="+mn-ea"/>
              </a:rPr>
              <a:t>민원서류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>
                <a:latin typeface="+mn-ea"/>
              </a:rPr>
              <a:t>인증서 가져오기</a:t>
            </a: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076" y="241301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자주 찾는 서비스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0156" y="2647865"/>
            <a:ext cx="2464791" cy="107721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228600" indent="-228600">
              <a:buAutoNum type="arabicPeriod"/>
            </a:pPr>
            <a:r>
              <a:rPr lang="ko-KR" altLang="en-US" sz="700" dirty="0">
                <a:latin typeface="+mn-ea"/>
              </a:rPr>
              <a:t>입찰 공고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 err="1">
                <a:latin typeface="+mn-ea"/>
              </a:rPr>
              <a:t>대금청구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>
                <a:latin typeface="+mn-ea"/>
              </a:rPr>
              <a:t>세금계산서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 err="1">
                <a:latin typeface="+mn-ea"/>
              </a:rPr>
              <a:t>사전의향서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>
                <a:latin typeface="+mn-ea"/>
              </a:rPr>
              <a:t>조달계획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en-US" altLang="ko-KR" sz="700" dirty="0">
                <a:latin typeface="+mn-ea"/>
              </a:rPr>
              <a:t>⁞</a:t>
            </a:r>
          </a:p>
          <a:p>
            <a:pPr marL="228600" indent="-228600">
              <a:buAutoNum type="arabicPeriod"/>
            </a:pPr>
            <a:r>
              <a:rPr lang="en-US" altLang="ko-KR" sz="700" dirty="0">
                <a:latin typeface="+mn-ea"/>
              </a:rPr>
              <a:t>⁞</a:t>
            </a:r>
          </a:p>
          <a:p>
            <a:pPr marL="228600" indent="-228600">
              <a:buAutoNum type="arabicPeriod"/>
            </a:pPr>
            <a:r>
              <a:rPr lang="en-US" altLang="ko-KR" sz="700" dirty="0">
                <a:latin typeface="+mn-ea"/>
              </a:rPr>
              <a:t>⁞</a:t>
            </a:r>
          </a:p>
          <a:p>
            <a:pPr marL="228600" indent="-228600">
              <a:buAutoNum type="arabicPeriod"/>
            </a:pPr>
            <a:r>
              <a:rPr lang="en-US" altLang="ko-KR" sz="700" dirty="0">
                <a:latin typeface="+mn-ea"/>
              </a:rPr>
              <a:t>⁞</a:t>
            </a:r>
          </a:p>
          <a:p>
            <a:pPr marL="228600" indent="-228600">
              <a:buAutoNum type="arabicPeriod"/>
            </a:pPr>
            <a:r>
              <a:rPr lang="en-US" altLang="ko-KR" sz="700" dirty="0">
                <a:latin typeface="+mn-ea"/>
              </a:rPr>
              <a:t>⁞</a:t>
            </a:r>
          </a:p>
        </p:txBody>
      </p:sp>
      <p:sp>
        <p:nvSpPr>
          <p:cNvPr id="100" name="타원 9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6" y="195918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02" name="타원 1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6" y="234314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03" name="타원 10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6" y="38761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04" name="타원 10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6" y="43647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076" y="1575292"/>
            <a:ext cx="230514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국방전자조달시스템</a:t>
            </a:r>
            <a:r>
              <a:rPr lang="en-US" altLang="ko-KR" sz="800" dirty="0">
                <a:latin typeface="+mn-ea"/>
              </a:rPr>
              <a:t>,</a:t>
            </a:r>
          </a:p>
          <a:p>
            <a:r>
              <a:rPr lang="ko-KR" altLang="en-US" sz="800" dirty="0">
                <a:latin typeface="+mn-ea"/>
              </a:rPr>
              <a:t>이제 한 곳에서 찾아보세요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108" name="타원 107"/>
          <p:cNvSpPr/>
          <p:nvPr/>
        </p:nvSpPr>
        <p:spPr>
          <a:xfrm>
            <a:off x="2832351" y="1985429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13" name="그룹 112"/>
          <p:cNvGrpSpPr/>
          <p:nvPr/>
        </p:nvGrpSpPr>
        <p:grpSpPr>
          <a:xfrm>
            <a:off x="2876256" y="2029333"/>
            <a:ext cx="58075" cy="58074"/>
            <a:chOff x="6812560" y="3297172"/>
            <a:chExt cx="94010" cy="94010"/>
          </a:xfrm>
        </p:grpSpPr>
        <p:cxnSp>
          <p:nvCxnSpPr>
            <p:cNvPr id="114" name="직선 연결선 113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5" name="직선 연결선 114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16" name="그룹 115"/>
          <p:cNvGrpSpPr/>
          <p:nvPr/>
        </p:nvGrpSpPr>
        <p:grpSpPr>
          <a:xfrm>
            <a:off x="2518401" y="3968731"/>
            <a:ext cx="58075" cy="58074"/>
            <a:chOff x="6812560" y="3297172"/>
            <a:chExt cx="94010" cy="94010"/>
          </a:xfrm>
        </p:grpSpPr>
        <p:cxnSp>
          <p:nvCxnSpPr>
            <p:cNvPr id="117" name="직선 연결선 116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8" name="직선 연결선 117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9" name="TextBox 1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621134" y="3943907"/>
            <a:ext cx="714201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최근 </a:t>
            </a:r>
            <a:r>
              <a:rPr lang="ko-KR" altLang="en-US" sz="700" dirty="0" err="1">
                <a:latin typeface="+mn-ea"/>
              </a:rPr>
              <a:t>검색어</a:t>
            </a:r>
            <a:r>
              <a:rPr lang="ko-KR" altLang="en-US" sz="700" dirty="0">
                <a:latin typeface="+mn-ea"/>
              </a:rPr>
              <a:t> 삭제</a:t>
            </a:r>
          </a:p>
        </p:txBody>
      </p:sp>
    </p:spTree>
    <p:extLst>
      <p:ext uri="{BB962C8B-B14F-4D97-AF65-F5344CB8AC3E}">
        <p14:creationId xmlns:p14="http://schemas.microsoft.com/office/powerpoint/2010/main" val="2505730743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0" indent="0">
              <a:buNone/>
            </a:pPr>
            <a:r>
              <a:rPr lang="ko-KR" altLang="en-US" dirty="0"/>
              <a:t>통합 검색</a:t>
            </a:r>
            <a:r>
              <a:rPr lang="en-US" altLang="ko-KR" dirty="0"/>
              <a:t> </a:t>
            </a:r>
            <a:r>
              <a:rPr lang="ko-KR" altLang="en-US" dirty="0"/>
              <a:t>페이지에서 </a:t>
            </a:r>
            <a:r>
              <a:rPr lang="ko-KR" altLang="en-US" dirty="0" err="1"/>
              <a:t>검색어</a:t>
            </a:r>
            <a:r>
              <a:rPr lang="ko-KR" altLang="en-US" dirty="0"/>
              <a:t> 입력</a:t>
            </a:r>
            <a:endParaRPr lang="en-US" altLang="ko-KR" dirty="0"/>
          </a:p>
          <a:p>
            <a:pPr marL="0" indent="0">
              <a:buNone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검색어</a:t>
            </a:r>
            <a:r>
              <a:rPr lang="ko-KR" altLang="en-US" dirty="0"/>
              <a:t> 입력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검색어</a:t>
            </a:r>
            <a:r>
              <a:rPr lang="ko-KR" altLang="en-US" dirty="0"/>
              <a:t> 초기화 버튼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검색어가 포함된 </a:t>
            </a:r>
            <a:r>
              <a:rPr lang="ko-KR" altLang="en-US" dirty="0" err="1"/>
              <a:t>메뉴명</a:t>
            </a:r>
            <a:r>
              <a:rPr lang="ko-KR" altLang="en-US" dirty="0"/>
              <a:t> 자동완성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- 6</a:t>
            </a:r>
            <a:r>
              <a:rPr lang="ko-KR" altLang="en-US" dirty="0"/>
              <a:t>개 항목 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검색어</a:t>
            </a:r>
            <a:r>
              <a:rPr lang="ko-KR" altLang="en-US" dirty="0"/>
              <a:t> 자동완성 기능 </a:t>
            </a:r>
            <a:r>
              <a:rPr lang="ko-KR" altLang="en-US" dirty="0" err="1"/>
              <a:t>토글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ON/OFF</a:t>
            </a:r>
            <a:r>
              <a:rPr lang="ko-KR" altLang="en-US" dirty="0"/>
              <a:t>에 따라</a:t>
            </a:r>
            <a:r>
              <a:rPr lang="en-US" altLang="ko-KR" dirty="0"/>
              <a:t> </a:t>
            </a:r>
            <a:r>
              <a:rPr lang="ko-KR" altLang="en-US" dirty="0"/>
              <a:t>자동완성 표시</a:t>
            </a:r>
            <a:r>
              <a:rPr lang="en-US" altLang="ko-KR" dirty="0"/>
              <a:t>, </a:t>
            </a:r>
            <a:r>
              <a:rPr lang="ko-KR" altLang="en-US" dirty="0"/>
              <a:t>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3-1. ON</a:t>
            </a:r>
            <a:r>
              <a:rPr lang="ko-KR" altLang="en-US" dirty="0"/>
              <a:t>상태 </a:t>
            </a:r>
            <a:r>
              <a:rPr lang="en-US" altLang="ko-KR" dirty="0"/>
              <a:t>– </a:t>
            </a:r>
            <a:r>
              <a:rPr lang="ko-KR" altLang="en-US" dirty="0"/>
              <a:t>자동완성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3-2. OFF </a:t>
            </a:r>
            <a:r>
              <a:rPr lang="ko-KR" altLang="en-US" dirty="0"/>
              <a:t>상태 </a:t>
            </a:r>
            <a:r>
              <a:rPr lang="en-US" altLang="ko-KR" dirty="0"/>
              <a:t>– </a:t>
            </a:r>
            <a:r>
              <a:rPr lang="ko-KR" altLang="en-US" dirty="0"/>
              <a:t>안내 메시지 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검색어에</a:t>
            </a:r>
            <a:r>
              <a:rPr lang="ko-KR" altLang="en-US" dirty="0"/>
              <a:t> 따라 현재 앱 서비스에서 관련된 서비스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통합 검색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통합 검색 </a:t>
            </a:r>
            <a:r>
              <a:rPr lang="ko-KR" altLang="en-US" dirty="0" err="1"/>
              <a:t>검색어</a:t>
            </a:r>
            <a:r>
              <a:rPr lang="ko-KR" altLang="en-US" dirty="0"/>
              <a:t> 입력 및 자동완성 기능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통합검색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MUI-MS-01-M09</a:t>
            </a:r>
            <a:endParaRPr lang="ko-KR" altLang="en-US" dirty="0"/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70" name="직선 연결선 6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960" y="22652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1" name="그룹 70"/>
          <p:cNvGrpSpPr/>
          <p:nvPr/>
        </p:nvGrpSpPr>
        <p:grpSpPr>
          <a:xfrm>
            <a:off x="3140938" y="1657580"/>
            <a:ext cx="94010" cy="94010"/>
            <a:chOff x="6812560" y="3297172"/>
            <a:chExt cx="94010" cy="94010"/>
          </a:xfrm>
        </p:grpSpPr>
        <p:cxnSp>
          <p:nvCxnSpPr>
            <p:cNvPr id="92" name="직선 연결선 9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4" name="직선 연결선 9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5" name="모서리가 둥근 직사각형 94"/>
          <p:cNvSpPr/>
          <p:nvPr/>
        </p:nvSpPr>
        <p:spPr>
          <a:xfrm>
            <a:off x="772384" y="1916070"/>
            <a:ext cx="2527420" cy="285425"/>
          </a:xfrm>
          <a:prstGeom prst="roundRect">
            <a:avLst>
              <a:gd name="adj" fmla="val 50000"/>
            </a:avLst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타원 95"/>
          <p:cNvSpPr/>
          <p:nvPr/>
        </p:nvSpPr>
        <p:spPr>
          <a:xfrm>
            <a:off x="3041927" y="19643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08236" y="2362612"/>
            <a:ext cx="2226711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입찰</a:t>
            </a:r>
            <a:r>
              <a:rPr lang="ko-KR" altLang="en-US" sz="700" dirty="0">
                <a:latin typeface="+mn-ea"/>
              </a:rPr>
              <a:t>공고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입찰</a:t>
            </a:r>
            <a:r>
              <a:rPr lang="ko-KR" altLang="en-US" sz="700" dirty="0">
                <a:latin typeface="+mn-ea"/>
              </a:rPr>
              <a:t>참가신청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입찰</a:t>
            </a:r>
            <a:r>
              <a:rPr lang="ko-KR" altLang="en-US" sz="700" dirty="0" err="1">
                <a:latin typeface="+mn-ea"/>
              </a:rPr>
              <a:t>진행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입찰</a:t>
            </a:r>
            <a:r>
              <a:rPr lang="ko-KR" altLang="en-US" sz="700" dirty="0" err="1">
                <a:latin typeface="+mn-ea"/>
              </a:rPr>
              <a:t>서제출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관심</a:t>
            </a:r>
            <a:r>
              <a:rPr lang="ko-KR" altLang="en-US" sz="700" b="1" dirty="0">
                <a:latin typeface="+mn-ea"/>
              </a:rPr>
              <a:t>입찰</a:t>
            </a:r>
            <a:r>
              <a:rPr lang="ko-KR" altLang="en-US" sz="700" dirty="0">
                <a:latin typeface="+mn-ea"/>
              </a:rPr>
              <a:t>공고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입찰</a:t>
            </a:r>
            <a:r>
              <a:rPr lang="ko-KR" altLang="en-US" sz="700" dirty="0" err="1">
                <a:latin typeface="+mn-ea"/>
              </a:rPr>
              <a:t>참가등록반려신청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076" y="1575292"/>
            <a:ext cx="230514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국방전자조달시스템</a:t>
            </a:r>
            <a:r>
              <a:rPr lang="en-US" altLang="ko-KR" sz="800" dirty="0">
                <a:latin typeface="+mn-ea"/>
              </a:rPr>
              <a:t>,</a:t>
            </a:r>
          </a:p>
          <a:p>
            <a:r>
              <a:rPr lang="ko-KR" altLang="en-US" sz="800" dirty="0">
                <a:latin typeface="+mn-ea"/>
              </a:rPr>
              <a:t>이제 한 곳에서 찾아보세요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111" name="타원 110"/>
          <p:cNvSpPr/>
          <p:nvPr/>
        </p:nvSpPr>
        <p:spPr>
          <a:xfrm>
            <a:off x="2832351" y="1985429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12" name="그룹 111"/>
          <p:cNvGrpSpPr/>
          <p:nvPr/>
        </p:nvGrpSpPr>
        <p:grpSpPr>
          <a:xfrm>
            <a:off x="2876256" y="2029333"/>
            <a:ext cx="58075" cy="58074"/>
            <a:chOff x="6812560" y="3297172"/>
            <a:chExt cx="94010" cy="94010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9629" y="2004921"/>
            <a:ext cx="1848531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입찰</a:t>
            </a:r>
          </a:p>
        </p:txBody>
      </p:sp>
      <p:sp>
        <p:nvSpPr>
          <p:cNvPr id="120" name="타원 119"/>
          <p:cNvSpPr/>
          <p:nvPr/>
        </p:nvSpPr>
        <p:spPr>
          <a:xfrm>
            <a:off x="770156" y="2418578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타원 123"/>
          <p:cNvSpPr/>
          <p:nvPr/>
        </p:nvSpPr>
        <p:spPr>
          <a:xfrm>
            <a:off x="770156" y="2623638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타원 124"/>
          <p:cNvSpPr/>
          <p:nvPr/>
        </p:nvSpPr>
        <p:spPr>
          <a:xfrm>
            <a:off x="770156" y="2832411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타원 125"/>
          <p:cNvSpPr/>
          <p:nvPr/>
        </p:nvSpPr>
        <p:spPr>
          <a:xfrm>
            <a:off x="770156" y="305391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타원 126"/>
          <p:cNvSpPr/>
          <p:nvPr/>
        </p:nvSpPr>
        <p:spPr>
          <a:xfrm>
            <a:off x="770156" y="3264527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타원 127"/>
          <p:cNvSpPr/>
          <p:nvPr/>
        </p:nvSpPr>
        <p:spPr>
          <a:xfrm>
            <a:off x="770156" y="3473788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910622" y="3858484"/>
            <a:ext cx="454826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자동 완성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9" name="그룹 8"/>
          <p:cNvGrpSpPr/>
          <p:nvPr/>
        </p:nvGrpSpPr>
        <p:grpSpPr>
          <a:xfrm>
            <a:off x="2557484" y="3898193"/>
            <a:ext cx="299722" cy="167734"/>
            <a:chOff x="1358901" y="4039836"/>
            <a:chExt cx="299722" cy="167734"/>
          </a:xfrm>
        </p:grpSpPr>
        <p:sp>
          <p:nvSpPr>
            <p:cNvPr id="130" name="모서리가 둥근 직사각형 129"/>
            <p:cNvSpPr/>
            <p:nvPr/>
          </p:nvSpPr>
          <p:spPr>
            <a:xfrm>
              <a:off x="1358901" y="4039836"/>
              <a:ext cx="299722" cy="167734"/>
            </a:xfrm>
            <a:prstGeom prst="roundRect">
              <a:avLst>
                <a:gd name="adj" fmla="val 50000"/>
              </a:avLst>
            </a:prstGeom>
            <a:solidFill>
              <a:schemeClr val="accent1">
                <a:lumMod val="7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1" name="타원 130"/>
            <p:cNvSpPr/>
            <p:nvPr/>
          </p:nvSpPr>
          <p:spPr>
            <a:xfrm>
              <a:off x="1500757" y="4050762"/>
              <a:ext cx="145884" cy="145882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32" name="TextBox 1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076" y="411514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>
                <a:latin typeface="+mn-ea"/>
              </a:rPr>
              <a:t>관련 서비스</a:t>
            </a:r>
            <a:endParaRPr lang="ko-KR" altLang="en-US" sz="800" dirty="0">
              <a:latin typeface="+mn-ea"/>
            </a:endParaRP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076" y="4306868"/>
            <a:ext cx="245387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입찰</a:t>
            </a:r>
            <a:r>
              <a:rPr lang="ko-KR" altLang="en-US" sz="700" dirty="0">
                <a:latin typeface="+mn-ea"/>
              </a:rPr>
              <a:t>참가 신청 </a:t>
            </a:r>
            <a:r>
              <a:rPr lang="en-US" altLang="ko-KR" sz="700" dirty="0">
                <a:latin typeface="+mn-ea"/>
              </a:rPr>
              <a:t>&gt;</a:t>
            </a: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3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3" y="22652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2" name="그룹 171"/>
          <p:cNvGrpSpPr/>
          <p:nvPr/>
        </p:nvGrpSpPr>
        <p:grpSpPr>
          <a:xfrm>
            <a:off x="6258711" y="1657580"/>
            <a:ext cx="94010" cy="94010"/>
            <a:chOff x="6812560" y="3297172"/>
            <a:chExt cx="94010" cy="94010"/>
          </a:xfrm>
        </p:grpSpPr>
        <p:cxnSp>
          <p:nvCxnSpPr>
            <p:cNvPr id="196" name="직선 연결선 19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7" name="직선 연결선 19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3" name="모서리가 둥근 직사각형 172"/>
          <p:cNvSpPr/>
          <p:nvPr/>
        </p:nvSpPr>
        <p:spPr>
          <a:xfrm>
            <a:off x="3890157" y="1916070"/>
            <a:ext cx="2527420" cy="285425"/>
          </a:xfrm>
          <a:prstGeom prst="roundRect">
            <a:avLst>
              <a:gd name="adj" fmla="val 50000"/>
            </a:avLst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4" name="타원 173"/>
          <p:cNvSpPr/>
          <p:nvPr/>
        </p:nvSpPr>
        <p:spPr>
          <a:xfrm>
            <a:off x="6159700" y="19643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0157" y="2832411"/>
            <a:ext cx="2527420" cy="3231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자동완성 기능이 꺼져 있습니다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보다 빠른 검색을 위해 자동완성 기능을 켜주세요</a:t>
            </a:r>
            <a:endParaRPr lang="en-US" altLang="ko-KR" sz="700" dirty="0">
              <a:latin typeface="+mn-ea"/>
            </a:endParaRPr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49" y="1575292"/>
            <a:ext cx="230514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국방전자조달시스템</a:t>
            </a:r>
            <a:r>
              <a:rPr lang="en-US" altLang="ko-KR" sz="800" dirty="0">
                <a:latin typeface="+mn-ea"/>
              </a:rPr>
              <a:t>,</a:t>
            </a:r>
          </a:p>
          <a:p>
            <a:r>
              <a:rPr lang="ko-KR" altLang="en-US" sz="800" dirty="0">
                <a:latin typeface="+mn-ea"/>
              </a:rPr>
              <a:t>이제 한 곳에서 찾아보세요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177" name="타원 176"/>
          <p:cNvSpPr/>
          <p:nvPr/>
        </p:nvSpPr>
        <p:spPr>
          <a:xfrm>
            <a:off x="5950124" y="1985429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78" name="그룹 177"/>
          <p:cNvGrpSpPr/>
          <p:nvPr/>
        </p:nvGrpSpPr>
        <p:grpSpPr>
          <a:xfrm>
            <a:off x="5994029" y="2029333"/>
            <a:ext cx="58075" cy="58074"/>
            <a:chOff x="6812560" y="3297172"/>
            <a:chExt cx="94010" cy="94010"/>
          </a:xfrm>
        </p:grpSpPr>
        <p:cxnSp>
          <p:nvCxnSpPr>
            <p:cNvPr id="194" name="직선 연결선 193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5" name="직선 연결선 194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9" name="TextBox 1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7402" y="2004921"/>
            <a:ext cx="1848531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입찰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028395" y="3858484"/>
            <a:ext cx="454826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자동 완성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87" name="그룹 186"/>
          <p:cNvGrpSpPr/>
          <p:nvPr/>
        </p:nvGrpSpPr>
        <p:grpSpPr>
          <a:xfrm>
            <a:off x="5675257" y="3898193"/>
            <a:ext cx="299722" cy="167734"/>
            <a:chOff x="1358901" y="4039836"/>
            <a:chExt cx="299722" cy="167734"/>
          </a:xfrm>
        </p:grpSpPr>
        <p:sp>
          <p:nvSpPr>
            <p:cNvPr id="192" name="모서리가 둥근 직사각형 191"/>
            <p:cNvSpPr/>
            <p:nvPr/>
          </p:nvSpPr>
          <p:spPr>
            <a:xfrm>
              <a:off x="1358901" y="4039836"/>
              <a:ext cx="299722" cy="167734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3" name="타원 192"/>
            <p:cNvSpPr/>
            <p:nvPr/>
          </p:nvSpPr>
          <p:spPr>
            <a:xfrm>
              <a:off x="1380107" y="4050762"/>
              <a:ext cx="145884" cy="145882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88" name="TextBox 1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49" y="411514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>
                <a:latin typeface="+mn-ea"/>
              </a:rPr>
              <a:t>관련 서비스</a:t>
            </a:r>
            <a:endParaRPr lang="ko-KR" altLang="en-US" sz="800" dirty="0">
              <a:latin typeface="+mn-ea"/>
            </a:endParaRPr>
          </a:p>
        </p:txBody>
      </p:sp>
      <p:sp>
        <p:nvSpPr>
          <p:cNvPr id="189" name="TextBox 1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49" y="4306868"/>
            <a:ext cx="245387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입찰</a:t>
            </a:r>
            <a:r>
              <a:rPr lang="ko-KR" altLang="en-US" sz="700" dirty="0">
                <a:latin typeface="+mn-ea"/>
              </a:rPr>
              <a:t>참가 신청 </a:t>
            </a:r>
            <a:r>
              <a:rPr lang="en-US" altLang="ko-KR" sz="700" dirty="0">
                <a:latin typeface="+mn-ea"/>
              </a:rPr>
              <a:t>&gt;</a:t>
            </a: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3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285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34" name="타원 1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55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35" name="타원 1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360623" y="365645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36" name="타원 13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07906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198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2621807" y="3672408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3-1</a:t>
            </a:r>
            <a:endParaRPr lang="ko-KR" altLang="en-US" sz="900" b="1" dirty="0"/>
          </a:p>
        </p:txBody>
      </p:sp>
      <p:sp>
        <p:nvSpPr>
          <p:cNvPr id="199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5702555" y="3672408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3-2</a:t>
            </a:r>
            <a:endParaRPr lang="ko-KR" altLang="en-US" sz="900" b="1" dirty="0"/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</p:spTree>
    <p:extLst>
      <p:ext uri="{BB962C8B-B14F-4D97-AF65-F5344CB8AC3E}">
        <p14:creationId xmlns:p14="http://schemas.microsoft.com/office/powerpoint/2010/main" val="2438078729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6" name="그룹 105"/>
          <p:cNvGrpSpPr/>
          <p:nvPr/>
        </p:nvGrpSpPr>
        <p:grpSpPr>
          <a:xfrm>
            <a:off x="781461" y="3588685"/>
            <a:ext cx="2473257" cy="1073394"/>
            <a:chOff x="781461" y="1974079"/>
            <a:chExt cx="2473257" cy="1073394"/>
          </a:xfrm>
        </p:grpSpPr>
        <p:sp>
          <p:nvSpPr>
            <p:cNvPr id="107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158410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긴급공고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LDG0097-1</a:t>
              </a:r>
            </a:p>
            <a:p>
              <a:r>
                <a:rPr lang="ko-KR" altLang="en-US" sz="900" b="1" dirty="0" err="1"/>
                <a:t>특수작전용대물타격무인향</a:t>
              </a:r>
              <a:endParaRPr lang="ko-KR" altLang="en-US" sz="900" b="1" dirty="0"/>
            </a:p>
          </p:txBody>
        </p:sp>
        <p:sp>
          <p:nvSpPr>
            <p:cNvPr id="10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2493475"/>
              <a:ext cx="796693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공고일자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입찰참가신청 </a:t>
              </a:r>
              <a:r>
                <a:rPr lang="ko-KR" altLang="en-US" sz="600" dirty="0" err="1">
                  <a:latin typeface="+mn-ea"/>
                </a:rPr>
                <a:t>마감일시</a:t>
              </a:r>
              <a:endParaRPr lang="ko-KR" altLang="en-US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일참서제출</a:t>
              </a:r>
              <a:r>
                <a:rPr lang="ko-KR" altLang="en-US" sz="600" dirty="0">
                  <a:latin typeface="+mn-ea"/>
                </a:rPr>
                <a:t> </a:t>
              </a:r>
              <a:r>
                <a:rPr lang="ko-KR" altLang="en-US" sz="600" dirty="0" err="1">
                  <a:latin typeface="+mn-ea"/>
                </a:rPr>
                <a:t>마감일시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개찰일시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11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303" y="2478086"/>
              <a:ext cx="609141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2025-12-22</a:t>
              </a:r>
            </a:p>
            <a:p>
              <a:pPr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2025-12-23 17:00</a:t>
              </a:r>
            </a:p>
            <a:p>
              <a:pPr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2025-12-24 10:00</a:t>
              </a:r>
            </a:p>
            <a:p>
              <a:pPr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2025-12-24 10:30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111" name="모서리가 둥근 직사각형 110"/>
            <p:cNvSpPr/>
            <p:nvPr/>
          </p:nvSpPr>
          <p:spPr>
            <a:xfrm>
              <a:off x="781461" y="19740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112" name="모서리가 둥근 직사각형 111"/>
            <p:cNvSpPr/>
            <p:nvPr/>
          </p:nvSpPr>
          <p:spPr>
            <a:xfrm>
              <a:off x="1075655" y="19740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경쟁입찰</a:t>
              </a:r>
            </a:p>
          </p:txBody>
        </p:sp>
      </p:grp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검색한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필터</a:t>
            </a:r>
            <a:r>
              <a:rPr lang="en-US" altLang="ko-KR" dirty="0"/>
              <a:t>, </a:t>
            </a:r>
            <a:r>
              <a:rPr lang="ko-KR" altLang="en-US" dirty="0"/>
              <a:t>정렬 기준 설정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필터 설정 우측 </a:t>
            </a:r>
            <a:r>
              <a:rPr lang="en-US" altLang="ko-KR" dirty="0"/>
              <a:t>5</a:t>
            </a:r>
            <a:r>
              <a:rPr lang="ko-KR" altLang="en-US" dirty="0"/>
              <a:t>번 화면 참조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정렬 기준 기본값</a:t>
            </a:r>
            <a:r>
              <a:rPr lang="en-US" altLang="ko-KR" dirty="0"/>
              <a:t>: </a:t>
            </a:r>
            <a:r>
              <a:rPr lang="ko-KR" altLang="en-US" dirty="0" err="1"/>
              <a:t>관련도순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탭 메뉴 </a:t>
            </a:r>
            <a:r>
              <a:rPr lang="ko-KR" altLang="en-US" dirty="0" err="1"/>
              <a:t>구분자를</a:t>
            </a:r>
            <a:r>
              <a:rPr lang="ko-KR" altLang="en-US" dirty="0"/>
              <a:t> 통한 컨텐츠 분리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검색된 내역 중 </a:t>
            </a:r>
            <a:r>
              <a:rPr lang="ko-KR" altLang="en-US" dirty="0" err="1"/>
              <a:t>검색어와</a:t>
            </a:r>
            <a:r>
              <a:rPr lang="ko-KR" altLang="en-US" dirty="0"/>
              <a:t> 일치되는 결과 하이라이트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통합 검색에서는 </a:t>
            </a:r>
            <a:r>
              <a:rPr lang="ko-KR" altLang="en-US" dirty="0" err="1"/>
              <a:t>검색대상별</a:t>
            </a:r>
            <a:r>
              <a:rPr lang="ko-KR" altLang="en-US" dirty="0"/>
              <a:t> </a:t>
            </a:r>
            <a:r>
              <a:rPr lang="en-US" altLang="ko-KR" dirty="0"/>
              <a:t>3</a:t>
            </a:r>
            <a:r>
              <a:rPr lang="ko-KR" altLang="en-US" dirty="0"/>
              <a:t>개씩의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정보 표시 하단 </a:t>
            </a:r>
            <a:r>
              <a:rPr lang="ko-KR" altLang="en-US" dirty="0" err="1"/>
              <a:t>더보기</a:t>
            </a:r>
            <a:r>
              <a:rPr lang="ko-KR" altLang="en-US" dirty="0"/>
              <a:t> 버튼으로 검색 대상만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검색필터</a:t>
            </a:r>
            <a:r>
              <a:rPr lang="ko-KR" altLang="en-US" dirty="0"/>
              <a:t> 설정 화면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 대상 체크박스로 필터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체크</a:t>
            </a:r>
            <a:r>
              <a:rPr lang="en-US" altLang="ko-KR" dirty="0"/>
              <a:t>, </a:t>
            </a:r>
            <a:r>
              <a:rPr lang="ko-KR" altLang="en-US" dirty="0"/>
              <a:t>체크해제 시 </a:t>
            </a:r>
            <a:r>
              <a:rPr lang="en-US" altLang="ko-KR" dirty="0"/>
              <a:t>4</a:t>
            </a:r>
            <a:r>
              <a:rPr lang="ko-KR" altLang="en-US" dirty="0"/>
              <a:t>번 영역에 즉시 반영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내 </a:t>
            </a:r>
            <a:r>
              <a:rPr lang="ko-KR" altLang="en-US" dirty="0" err="1"/>
              <a:t>재검색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현재 </a:t>
            </a:r>
            <a:r>
              <a:rPr lang="ko-KR" altLang="en-US" dirty="0" err="1"/>
              <a:t>검색어</a:t>
            </a:r>
            <a:r>
              <a:rPr lang="ko-KR" altLang="en-US" dirty="0"/>
              <a:t> 포함 </a:t>
            </a:r>
            <a:r>
              <a:rPr lang="en-US" altLang="ko-KR" dirty="0"/>
              <a:t>+ </a:t>
            </a:r>
            <a:r>
              <a:rPr lang="ko-KR" altLang="en-US" dirty="0"/>
              <a:t>추가 </a:t>
            </a:r>
            <a:r>
              <a:rPr lang="ko-KR" altLang="en-US" dirty="0" err="1"/>
              <a:t>검색어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현재 </a:t>
            </a:r>
            <a:r>
              <a:rPr lang="ko-KR" altLang="en-US" dirty="0" err="1"/>
              <a:t>검색어</a:t>
            </a:r>
            <a:r>
              <a:rPr lang="ko-KR" altLang="en-US" dirty="0"/>
              <a:t> 제외 </a:t>
            </a:r>
            <a:r>
              <a:rPr lang="en-US" altLang="ko-KR" dirty="0"/>
              <a:t>/ </a:t>
            </a:r>
            <a:r>
              <a:rPr lang="ko-KR" altLang="en-US" dirty="0"/>
              <a:t>입력 </a:t>
            </a:r>
            <a:r>
              <a:rPr lang="ko-KR" altLang="en-US" dirty="0" err="1"/>
              <a:t>검색어</a:t>
            </a:r>
            <a:r>
              <a:rPr lang="ko-KR" altLang="en-US" dirty="0"/>
              <a:t> 검색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통합 검색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결과 목록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통합 검색 결과 목록 표시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통합검색 </a:t>
            </a:r>
            <a:r>
              <a:rPr lang="en-US" altLang="ko-KR" dirty="0"/>
              <a:t>– </a:t>
            </a:r>
            <a:r>
              <a:rPr lang="ko-KR" altLang="en-US" dirty="0"/>
              <a:t>결과 목록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MUI-MS-01-M10</a:t>
            </a:r>
            <a:endParaRPr lang="ko-KR" altLang="en-US" sz="1000" dirty="0"/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2" name="그룹 71"/>
          <p:cNvGrpSpPr/>
          <p:nvPr/>
        </p:nvGrpSpPr>
        <p:grpSpPr>
          <a:xfrm>
            <a:off x="6258712" y="1650089"/>
            <a:ext cx="94010" cy="94010"/>
            <a:chOff x="6812560" y="3297172"/>
            <a:chExt cx="94010" cy="94010"/>
          </a:xfrm>
        </p:grpSpPr>
        <p:cxnSp>
          <p:nvCxnSpPr>
            <p:cNvPr id="73" name="직선 연결선 7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4" name="직선 연결선 7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6" name="타원 75"/>
          <p:cNvSpPr/>
          <p:nvPr/>
        </p:nvSpPr>
        <p:spPr>
          <a:xfrm>
            <a:off x="5893434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50" y="2054660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검색대상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50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312278"/>
            <a:ext cx="2305144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적용된 </a:t>
            </a:r>
            <a:r>
              <a:rPr lang="ko-KR" altLang="en-US" sz="700" dirty="0" err="1">
                <a:latin typeface="+mn-ea"/>
              </a:rPr>
              <a:t>검색어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‘</a:t>
            </a:r>
            <a:r>
              <a:rPr lang="ko-KR" altLang="en-US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’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검색 결과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2,010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22652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1" name="모서리가 둥근 직사각형 50"/>
          <p:cNvSpPr/>
          <p:nvPr/>
        </p:nvSpPr>
        <p:spPr>
          <a:xfrm>
            <a:off x="774994" y="1916070"/>
            <a:ext cx="2527420" cy="285425"/>
          </a:xfrm>
          <a:prstGeom prst="roundRect">
            <a:avLst>
              <a:gd name="adj" fmla="val 50000"/>
            </a:avLst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3" name="타원 52"/>
          <p:cNvSpPr/>
          <p:nvPr/>
        </p:nvSpPr>
        <p:spPr>
          <a:xfrm>
            <a:off x="3044537" y="19643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통합검색</a:t>
            </a:r>
          </a:p>
        </p:txBody>
      </p:sp>
      <p:sp>
        <p:nvSpPr>
          <p:cNvPr id="55" name="타원 54"/>
          <p:cNvSpPr/>
          <p:nvPr/>
        </p:nvSpPr>
        <p:spPr>
          <a:xfrm>
            <a:off x="2834961" y="1985429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56" name="그룹 55"/>
          <p:cNvGrpSpPr/>
          <p:nvPr/>
        </p:nvGrpSpPr>
        <p:grpSpPr>
          <a:xfrm>
            <a:off x="2878866" y="2029333"/>
            <a:ext cx="58075" cy="58074"/>
            <a:chOff x="6812560" y="3297172"/>
            <a:chExt cx="94010" cy="94010"/>
          </a:xfrm>
        </p:grpSpPr>
        <p:cxnSp>
          <p:nvCxnSpPr>
            <p:cNvPr id="57" name="직선 연결선 56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8" name="직선 연결선 57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92239" y="2004921"/>
            <a:ext cx="1848531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물품</a:t>
            </a:r>
          </a:p>
        </p:txBody>
      </p: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83241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61" name="직선 연결선 6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9673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2" name="TextBox 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5" y="2889245"/>
            <a:ext cx="36739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검색필터</a:t>
            </a:r>
            <a:endParaRPr lang="ko-KR" altLang="en-US" sz="700" dirty="0">
              <a:latin typeface="+mn-ea"/>
            </a:endParaRPr>
          </a:p>
        </p:txBody>
      </p:sp>
      <p:sp>
        <p:nvSpPr>
          <p:cNvPr id="63" name="타원 62"/>
          <p:cNvSpPr/>
          <p:nvPr/>
        </p:nvSpPr>
        <p:spPr>
          <a:xfrm>
            <a:off x="783686" y="2920590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8206" y="2889245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정렬 기준</a:t>
            </a: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89245"/>
            <a:ext cx="50571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관련도순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43548" y="2991068"/>
            <a:ext cx="94010" cy="47005"/>
            <a:chOff x="6812560" y="3297172"/>
            <a:chExt cx="94010" cy="47005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7" name="직선 연결선 7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3224755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입찰공고 </a:t>
            </a:r>
            <a:r>
              <a:rPr lang="en-US" altLang="ko-KR" sz="700" b="1" dirty="0">
                <a:latin typeface="+mn-ea"/>
              </a:rPr>
              <a:t>- 533</a:t>
            </a:r>
            <a:r>
              <a:rPr lang="ko-KR" altLang="en-US" sz="700" b="1" dirty="0">
                <a:latin typeface="+mn-ea"/>
              </a:rPr>
              <a:t>건</a:t>
            </a: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5840113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개찰결과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latin typeface="+mn-ea"/>
              </a:rPr>
              <a:t>- 27</a:t>
            </a:r>
            <a:r>
              <a:rPr lang="ko-KR" altLang="en-US" sz="700" b="1" dirty="0">
                <a:latin typeface="+mn-ea"/>
              </a:rPr>
              <a:t>건</a:t>
            </a: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7792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61955" y="2284818"/>
            <a:ext cx="2305144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입찰공고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개찰결과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낙찰자 안내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계약정보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조달계획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사전규격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전자서고</a:t>
            </a:r>
            <a:endParaRPr lang="en-US" altLang="ko-KR" sz="700" dirty="0">
              <a:latin typeface="+mn-ea"/>
            </a:endParaRPr>
          </a:p>
        </p:txBody>
      </p:sp>
      <p:sp>
        <p:nvSpPr>
          <p:cNvPr id="7" name="직사각형 6"/>
          <p:cNvSpPr/>
          <p:nvPr/>
        </p:nvSpPr>
        <p:spPr>
          <a:xfrm>
            <a:off x="3892504" y="2351130"/>
            <a:ext cx="107950" cy="107950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/>
          <p:cNvSpPr/>
          <p:nvPr/>
        </p:nvSpPr>
        <p:spPr>
          <a:xfrm>
            <a:off x="3892504" y="2568356"/>
            <a:ext cx="107950" cy="107950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2" name="그룹 121"/>
          <p:cNvGrpSpPr/>
          <p:nvPr/>
        </p:nvGrpSpPr>
        <p:grpSpPr>
          <a:xfrm>
            <a:off x="6261284" y="2152350"/>
            <a:ext cx="91438" cy="45719"/>
            <a:chOff x="6812560" y="3297172"/>
            <a:chExt cx="94010" cy="47005"/>
          </a:xfrm>
        </p:grpSpPr>
        <p:cxnSp>
          <p:nvCxnSpPr>
            <p:cNvPr id="123" name="직선 연결선 12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7" name="직선 연결선 13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8" name="직사각형 137"/>
          <p:cNvSpPr/>
          <p:nvPr/>
        </p:nvSpPr>
        <p:spPr>
          <a:xfrm>
            <a:off x="3892504" y="2765446"/>
            <a:ext cx="107950" cy="107950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/>
          <p:cNvSpPr/>
          <p:nvPr/>
        </p:nvSpPr>
        <p:spPr>
          <a:xfrm>
            <a:off x="3892504" y="2980107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0" name="직사각형 139"/>
          <p:cNvSpPr/>
          <p:nvPr/>
        </p:nvSpPr>
        <p:spPr>
          <a:xfrm>
            <a:off x="3892504" y="3192073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TextBox 7"/>
          <p:cNvSpPr txBox="1"/>
          <p:nvPr/>
        </p:nvSpPr>
        <p:spPr>
          <a:xfrm>
            <a:off x="3833106" y="2301265"/>
            <a:ext cx="221536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solidFill>
                  <a:schemeClr val="bg1"/>
                </a:solidFill>
              </a:rPr>
              <a:t>v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141" name="TextBox 140"/>
          <p:cNvSpPr txBox="1"/>
          <p:nvPr/>
        </p:nvSpPr>
        <p:spPr>
          <a:xfrm>
            <a:off x="3833106" y="2523371"/>
            <a:ext cx="221536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solidFill>
                  <a:schemeClr val="bg1"/>
                </a:solidFill>
              </a:rPr>
              <a:t>v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142" name="TextBox 141"/>
          <p:cNvSpPr txBox="1"/>
          <p:nvPr/>
        </p:nvSpPr>
        <p:spPr>
          <a:xfrm>
            <a:off x="3833106" y="2727088"/>
            <a:ext cx="221536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solidFill>
                  <a:schemeClr val="bg1"/>
                </a:solidFill>
              </a:rPr>
              <a:t>v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32185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3" name="TextBox 15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50" y="4469580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결과 내 </a:t>
            </a:r>
            <a:r>
              <a:rPr lang="ko-KR" altLang="en-US" sz="700" b="1" dirty="0" err="1">
                <a:latin typeface="+mn-ea"/>
              </a:rPr>
              <a:t>재검색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154" name="그룹 153"/>
          <p:cNvGrpSpPr/>
          <p:nvPr/>
        </p:nvGrpSpPr>
        <p:grpSpPr>
          <a:xfrm>
            <a:off x="6261284" y="4567270"/>
            <a:ext cx="91438" cy="45719"/>
            <a:chOff x="6812560" y="3297172"/>
            <a:chExt cx="94010" cy="47005"/>
          </a:xfrm>
        </p:grpSpPr>
        <p:cxnSp>
          <p:nvCxnSpPr>
            <p:cNvPr id="155" name="직선 연결선 15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6" name="직선 연결선 15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61955" y="4720611"/>
            <a:ext cx="2305144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검색어</a:t>
            </a:r>
            <a:r>
              <a:rPr lang="ko-KR" altLang="en-US" sz="700" dirty="0">
                <a:latin typeface="+mn-ea"/>
              </a:rPr>
              <a:t> 포함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검색어</a:t>
            </a:r>
            <a:r>
              <a:rPr lang="ko-KR" altLang="en-US" sz="700" dirty="0">
                <a:latin typeface="+mn-ea"/>
              </a:rPr>
              <a:t> 제외</a:t>
            </a:r>
          </a:p>
        </p:txBody>
      </p:sp>
      <p:sp>
        <p:nvSpPr>
          <p:cNvPr id="158" name="타원 157"/>
          <p:cNvSpPr/>
          <p:nvPr/>
        </p:nvSpPr>
        <p:spPr>
          <a:xfrm>
            <a:off x="3892504" y="4777247"/>
            <a:ext cx="107950" cy="107950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9" name="타원 158"/>
          <p:cNvSpPr/>
          <p:nvPr/>
        </p:nvSpPr>
        <p:spPr>
          <a:xfrm>
            <a:off x="3892504" y="4997807"/>
            <a:ext cx="107950" cy="107950"/>
          </a:xfrm>
          <a:prstGeom prst="ellipse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0" name="모서리가 둥근 직사각형 159"/>
          <p:cNvSpPr/>
          <p:nvPr/>
        </p:nvSpPr>
        <p:spPr>
          <a:xfrm>
            <a:off x="3888037" y="5340590"/>
            <a:ext cx="2527420" cy="285425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800" dirty="0" err="1">
                <a:solidFill>
                  <a:schemeClr val="bg1">
                    <a:lumMod val="65000"/>
                  </a:schemeClr>
                </a:solidFill>
              </a:rPr>
              <a:t>검색어를</a:t>
            </a:r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</a:rPr>
              <a:t> 입력하세요</a:t>
            </a:r>
            <a:r>
              <a:rPr lang="en-US" altLang="ko-KR" sz="800" dirty="0">
                <a:solidFill>
                  <a:schemeClr val="bg1">
                    <a:lumMod val="65000"/>
                  </a:schemeClr>
                </a:solidFill>
              </a:rPr>
              <a:t>.</a:t>
            </a:r>
            <a:endParaRPr lang="ko-KR" altLang="en-US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6923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3" name="타원 16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700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27467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66" name="타원 16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141857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167" name="타원 1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204919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168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440505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endParaRPr kumimoji="1" lang="en-US" sz="1000" b="0" i="0" u="none" strike="noStrike" kern="0" cap="none" spc="0" normalizeH="0" baseline="0" noProof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177" name="그룹 176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918902"/>
            <a:ext cx="76863" cy="292489"/>
            <a:chOff x="3750067" y="4683795"/>
            <a:chExt cx="76863" cy="292489"/>
          </a:xfrm>
        </p:grpSpPr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0" name="타원 179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81" name="직사각형 180"/>
          <p:cNvSpPr/>
          <p:nvPr/>
        </p:nvSpPr>
        <p:spPr>
          <a:xfrm>
            <a:off x="3892504" y="3406857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2" name="직사각형 181"/>
          <p:cNvSpPr/>
          <p:nvPr/>
        </p:nvSpPr>
        <p:spPr>
          <a:xfrm>
            <a:off x="3892504" y="3618823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3" name="타원 18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448120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  <p:cxnSp>
        <p:nvCxnSpPr>
          <p:cNvPr id="98" name="직선 연결선 9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483146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1" name="직선 연결선 10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82796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2" name="직선 연결선 1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611438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3004764" y="3104689"/>
            <a:ext cx="776938" cy="1131139"/>
            <a:chOff x="3206014" y="3104689"/>
            <a:chExt cx="776938" cy="1131139"/>
          </a:xfrm>
        </p:grpSpPr>
        <p:sp>
          <p:nvSpPr>
            <p:cNvPr id="97" name="사각형: 둥근 모서리 222">
              <a:extLst>
                <a:ext uri="{FF2B5EF4-FFF2-40B4-BE49-F238E27FC236}">
                  <a16:creationId xmlns:a16="http://schemas.microsoft.com/office/drawing/2014/main" id="{8AF9D577-0373-21E1-F7E1-B17AE839E882}"/>
                </a:ext>
              </a:extLst>
            </p:cNvPr>
            <p:cNvSpPr/>
            <p:nvPr/>
          </p:nvSpPr>
          <p:spPr>
            <a:xfrm>
              <a:off x="3206014" y="3448043"/>
              <a:ext cx="776938" cy="787785"/>
            </a:xfrm>
            <a:prstGeom prst="roundRect">
              <a:avLst>
                <a:gd name="adj" fmla="val 389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ko-KR" sz="9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4" name="사각형: 둥근 모서리 224">
              <a:extLst>
                <a:ext uri="{FF2B5EF4-FFF2-40B4-BE49-F238E27FC236}">
                  <a16:creationId xmlns:a16="http://schemas.microsoft.com/office/drawing/2014/main" id="{3EFB2C27-9C6F-8886-4247-7900976F7BD2}"/>
                </a:ext>
              </a:extLst>
            </p:cNvPr>
            <p:cNvSpPr/>
            <p:nvPr/>
          </p:nvSpPr>
          <p:spPr>
            <a:xfrm>
              <a:off x="3206014" y="3104689"/>
              <a:ext cx="775390" cy="343356"/>
            </a:xfrm>
            <a:prstGeom prst="roundRect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관련도순</a:t>
              </a:r>
              <a:endParaRPr kumimoji="0" lang="en-US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99" name="TextBox 226">
              <a:extLst>
                <a:ext uri="{FF2B5EF4-FFF2-40B4-BE49-F238E27FC236}">
                  <a16:creationId xmlns:a16="http://schemas.microsoft.com/office/drawing/2014/main" id="{2D0EB093-7669-C055-4901-B28C987E9EF9}"/>
                </a:ext>
              </a:extLst>
            </p:cNvPr>
            <p:cNvSpPr txBox="1"/>
            <p:nvPr/>
          </p:nvSpPr>
          <p:spPr>
            <a:xfrm>
              <a:off x="3264401" y="3448043"/>
              <a:ext cx="641770" cy="2862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관련도순</a:t>
              </a:r>
              <a:endParaRPr kumimoji="0" lang="en-US" altLang="ko-KR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00" name="TextBox 227">
              <a:extLst>
                <a:ext uri="{FF2B5EF4-FFF2-40B4-BE49-F238E27FC236}">
                  <a16:creationId xmlns:a16="http://schemas.microsoft.com/office/drawing/2014/main" id="{16FE1925-95A9-0AB2-6154-E506938CFD04}"/>
                </a:ext>
              </a:extLst>
            </p:cNvPr>
            <p:cNvSpPr txBox="1"/>
            <p:nvPr/>
          </p:nvSpPr>
          <p:spPr>
            <a:xfrm>
              <a:off x="3264401" y="3939461"/>
              <a:ext cx="641770" cy="2862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latinLnBrk="0">
                <a:lnSpc>
                  <a:spcPct val="180000"/>
                </a:lnSpc>
                <a:defRPr/>
              </a:pPr>
              <a:r>
                <a:rPr lang="ko-KR" altLang="en-US" sz="700" kern="0" dirty="0">
                  <a:solidFill>
                    <a:prstClr val="black"/>
                  </a:solidFill>
                </a:rPr>
                <a:t>인기순</a:t>
              </a:r>
              <a:endParaRPr lang="en-US" altLang="ko-KR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103" name="TextBox 230">
              <a:extLst>
                <a:ext uri="{FF2B5EF4-FFF2-40B4-BE49-F238E27FC236}">
                  <a16:creationId xmlns:a16="http://schemas.microsoft.com/office/drawing/2014/main" id="{DC4EA8A9-095A-0AC6-FEBF-364DA2336F3D}"/>
                </a:ext>
              </a:extLst>
            </p:cNvPr>
            <p:cNvSpPr txBox="1"/>
            <p:nvPr/>
          </p:nvSpPr>
          <p:spPr>
            <a:xfrm>
              <a:off x="3264401" y="3693752"/>
              <a:ext cx="641770" cy="2862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latinLnBrk="0">
                <a:lnSpc>
                  <a:spcPct val="180000"/>
                </a:lnSpc>
                <a:defRPr/>
              </a:pPr>
              <a:r>
                <a:rPr lang="ko-KR" altLang="en-US" sz="700" kern="0" dirty="0" err="1">
                  <a:solidFill>
                    <a:prstClr val="black"/>
                  </a:solidFill>
                </a:rPr>
                <a:t>최신순</a:t>
              </a:r>
              <a:endParaRPr lang="en-US" altLang="ko-KR" sz="700" kern="0" dirty="0">
                <a:solidFill>
                  <a:prstClr val="black"/>
                </a:solidFill>
              </a:endParaRPr>
            </a:p>
          </p:txBody>
        </p:sp>
        <p:grpSp>
          <p:nvGrpSpPr>
            <p:cNvPr id="108" name="그룹 107"/>
            <p:cNvGrpSpPr/>
            <p:nvPr/>
          </p:nvGrpSpPr>
          <p:grpSpPr>
            <a:xfrm>
              <a:off x="3786101" y="3252864"/>
              <a:ext cx="94010" cy="47005"/>
              <a:chOff x="6615710" y="3297172"/>
              <a:chExt cx="94010" cy="47005"/>
            </a:xfrm>
          </p:grpSpPr>
          <p:cxnSp>
            <p:nvCxnSpPr>
              <p:cNvPr id="115" name="직선 연결선 114"/>
              <p:cNvCxnSpPr/>
              <p:nvPr/>
            </p:nvCxnSpPr>
            <p:spPr>
              <a:xfrm>
                <a:off x="661571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17" name="직선 연결선 116"/>
              <p:cNvCxnSpPr/>
              <p:nvPr/>
            </p:nvCxnSpPr>
            <p:spPr>
              <a:xfrm flipH="1">
                <a:off x="666271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13" name="그룹 112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114" name="직사각형 11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1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8946213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" name="모서리가 둥근 직사각형 110"/>
          <p:cNvSpPr/>
          <p:nvPr/>
        </p:nvSpPr>
        <p:spPr>
          <a:xfrm>
            <a:off x="1064111" y="2307300"/>
            <a:ext cx="1934603" cy="23148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112" name="모서리가 둥근 직사각형 111"/>
          <p:cNvSpPr/>
          <p:nvPr/>
        </p:nvSpPr>
        <p:spPr>
          <a:xfrm>
            <a:off x="1064111" y="2656028"/>
            <a:ext cx="1934603" cy="468907"/>
          </a:xfrm>
          <a:prstGeom prst="roundRect">
            <a:avLst>
              <a:gd name="adj" fmla="val 12796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r>
              <a:rPr lang="ko-KR" altLang="en-US" sz="600" dirty="0"/>
              <a:t>경쟁입찰</a:t>
            </a:r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채팅 메시지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사용자 입력 영역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챗봇</a:t>
            </a:r>
            <a:r>
              <a:rPr lang="ko-KR" altLang="en-US" dirty="0">
                <a:latin typeface="+mn-ea"/>
              </a:rPr>
              <a:t> 문의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모바일 </a:t>
            </a:r>
            <a:r>
              <a:rPr lang="ko-KR" altLang="en-US" dirty="0" err="1">
                <a:latin typeface="+mn-ea"/>
              </a:rPr>
              <a:t>챗봇</a:t>
            </a:r>
            <a:r>
              <a:rPr lang="ko-KR" altLang="en-US" dirty="0">
                <a:latin typeface="+mn-ea"/>
              </a:rPr>
              <a:t>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챗봇</a:t>
            </a:r>
            <a:r>
              <a:rPr lang="ko-KR" altLang="en-US" dirty="0">
                <a:latin typeface="+mn-ea"/>
              </a:rPr>
              <a:t> 문의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 lIns="72000" tIns="36000" rIns="72000" bIns="36000"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MUI-MS-01-M11</a:t>
            </a:r>
            <a:endParaRPr lang="ko-KR" altLang="en-US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3" name="타원 52"/>
          <p:cNvSpPr/>
          <p:nvPr/>
        </p:nvSpPr>
        <p:spPr>
          <a:xfrm>
            <a:off x="774994" y="2332783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 </a:t>
            </a:r>
            <a:r>
              <a:rPr lang="ko-KR" altLang="en-US" sz="800" dirty="0" err="1">
                <a:latin typeface="+mn-ea"/>
              </a:rPr>
              <a:t>챗봇</a:t>
            </a:r>
            <a:r>
              <a:rPr lang="ko-KR" altLang="en-US" sz="800" dirty="0">
                <a:latin typeface="+mn-ea"/>
              </a:rPr>
              <a:t> 문의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0427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27467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13" name="타원 112"/>
          <p:cNvSpPr/>
          <p:nvPr/>
        </p:nvSpPr>
        <p:spPr>
          <a:xfrm>
            <a:off x="3099089" y="265585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모서리가 둥근 직사각형 113"/>
          <p:cNvSpPr/>
          <p:nvPr/>
        </p:nvSpPr>
        <p:spPr>
          <a:xfrm>
            <a:off x="1064111" y="3234118"/>
            <a:ext cx="1934603" cy="23148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116" name="모서리가 둥근 직사각형 115"/>
          <p:cNvSpPr/>
          <p:nvPr/>
        </p:nvSpPr>
        <p:spPr>
          <a:xfrm>
            <a:off x="1064111" y="3582846"/>
            <a:ext cx="1934603" cy="468907"/>
          </a:xfrm>
          <a:prstGeom prst="roundRect">
            <a:avLst>
              <a:gd name="adj" fmla="val 12796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r>
              <a:rPr lang="ko-KR" altLang="en-US" sz="600" dirty="0"/>
              <a:t>경쟁입찰</a:t>
            </a:r>
          </a:p>
        </p:txBody>
      </p:sp>
      <p:sp>
        <p:nvSpPr>
          <p:cNvPr id="119" name="타원 118"/>
          <p:cNvSpPr/>
          <p:nvPr/>
        </p:nvSpPr>
        <p:spPr>
          <a:xfrm>
            <a:off x="774994" y="325960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타원 119"/>
          <p:cNvSpPr/>
          <p:nvPr/>
        </p:nvSpPr>
        <p:spPr>
          <a:xfrm>
            <a:off x="3099089" y="35826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16089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6" name="모서리가 둥근 직사각형 125"/>
          <p:cNvSpPr/>
          <p:nvPr/>
        </p:nvSpPr>
        <p:spPr>
          <a:xfrm>
            <a:off x="774994" y="4219387"/>
            <a:ext cx="2179423" cy="23148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128" name="모서리가 둥근 직사각형 127"/>
          <p:cNvSpPr/>
          <p:nvPr/>
        </p:nvSpPr>
        <p:spPr>
          <a:xfrm>
            <a:off x="2842727" y="4219387"/>
            <a:ext cx="398489" cy="231480"/>
          </a:xfrm>
          <a:prstGeom prst="roundRect">
            <a:avLst>
              <a:gd name="adj" fmla="val 23409"/>
            </a:avLst>
          </a:prstGeom>
          <a:solidFill>
            <a:srgbClr val="0070C0"/>
          </a:solidFill>
          <a:ln>
            <a:solidFill>
              <a:srgbClr val="0070C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보내기</a:t>
            </a:r>
          </a:p>
        </p:txBody>
      </p:sp>
      <p:grpSp>
        <p:nvGrpSpPr>
          <p:cNvPr id="130" name="그룹 129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1930479"/>
            <a:ext cx="76863" cy="292489"/>
            <a:chOff x="3750067" y="4683795"/>
            <a:chExt cx="76863" cy="292489"/>
          </a:xfrm>
        </p:grpSpPr>
        <p:sp>
          <p:nvSpPr>
            <p:cNvPr id="131" name="타원 130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32" name="타원 131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33" name="타원 132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527076806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햄버거 메뉴 닫기</a:t>
            </a:r>
            <a:r>
              <a:rPr lang="en-US" altLang="ko-KR" dirty="0"/>
              <a:t>, </a:t>
            </a:r>
            <a:r>
              <a:rPr lang="ko-KR" altLang="en-US" dirty="0"/>
              <a:t>설정 등 버튼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로그인 정보 표시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로그인 전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로그인 메시지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로그인 후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사용자 정보</a:t>
            </a:r>
            <a:r>
              <a:rPr lang="en-US" altLang="ko-KR" dirty="0"/>
              <a:t>, </a:t>
            </a:r>
            <a:r>
              <a:rPr lang="ko-KR" altLang="en-US" dirty="0"/>
              <a:t>최근 로그인 시간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전체 메뉴 목록 표시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햄버거 메뉴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모바일 메뉴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햄버거 메뉴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 lIns="72000" tIns="36000" rIns="72000" bIns="36000"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MUI-MS-01-M12</a:t>
            </a:r>
            <a:endParaRPr lang="ko-KR" altLang="en-US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2065266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로그인 하기 </a:t>
            </a:r>
            <a:r>
              <a:rPr lang="en-US" altLang="ko-KR" sz="900" b="1" dirty="0">
                <a:latin typeface="+mn-ea"/>
              </a:rPr>
              <a:t>&gt;</a:t>
            </a:r>
            <a:endParaRPr lang="ko-KR" altLang="en-US" sz="900" b="1" dirty="0">
              <a:latin typeface="+mn-ea"/>
            </a:endParaRPr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960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1" name="타원 80"/>
          <p:cNvSpPr/>
          <p:nvPr/>
        </p:nvSpPr>
        <p:spPr>
          <a:xfrm>
            <a:off x="873369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타원 81"/>
          <p:cNvSpPr/>
          <p:nvPr/>
        </p:nvSpPr>
        <p:spPr>
          <a:xfrm>
            <a:off x="2759886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3" name="타원 82"/>
          <p:cNvSpPr/>
          <p:nvPr/>
        </p:nvSpPr>
        <p:spPr>
          <a:xfrm>
            <a:off x="3073643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960" y="321276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43" name="직선 연결선 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3484334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" name="모서리가 둥근 직사각형 2"/>
          <p:cNvSpPr/>
          <p:nvPr/>
        </p:nvSpPr>
        <p:spPr>
          <a:xfrm>
            <a:off x="891228" y="2364250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6" name="모서리가 둥근 직사각형 45"/>
          <p:cNvSpPr/>
          <p:nvPr/>
        </p:nvSpPr>
        <p:spPr>
          <a:xfrm>
            <a:off x="1508351" y="2364250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모서리가 둥근 직사각형 46"/>
          <p:cNvSpPr/>
          <p:nvPr/>
        </p:nvSpPr>
        <p:spPr>
          <a:xfrm>
            <a:off x="2125474" y="2364250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8" name="모서리가 둥근 직사각형 47"/>
          <p:cNvSpPr/>
          <p:nvPr/>
        </p:nvSpPr>
        <p:spPr>
          <a:xfrm>
            <a:off x="2742597" y="2364250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313189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메뉴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542624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조달계획</a:t>
            </a:r>
          </a:p>
        </p:txBody>
      </p:sp>
      <p:sp>
        <p:nvSpPr>
          <p:cNvPr id="183" name="모서리가 둥근 직사각형 182"/>
          <p:cNvSpPr/>
          <p:nvPr/>
        </p:nvSpPr>
        <p:spPr>
          <a:xfrm>
            <a:off x="891228" y="3741713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4" name="모서리가 둥근 직사각형 183"/>
          <p:cNvSpPr/>
          <p:nvPr/>
        </p:nvSpPr>
        <p:spPr>
          <a:xfrm>
            <a:off x="891227" y="3908722"/>
            <a:ext cx="2062597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4157838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입찰</a:t>
            </a:r>
          </a:p>
        </p:txBody>
      </p:sp>
      <p:sp>
        <p:nvSpPr>
          <p:cNvPr id="187" name="모서리가 둥근 직사각형 186"/>
          <p:cNvSpPr/>
          <p:nvPr/>
        </p:nvSpPr>
        <p:spPr>
          <a:xfrm>
            <a:off x="891228" y="4356927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모서리가 둥근 직사각형 187"/>
          <p:cNvSpPr/>
          <p:nvPr/>
        </p:nvSpPr>
        <p:spPr>
          <a:xfrm>
            <a:off x="891227" y="4523936"/>
            <a:ext cx="2062597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1117" y="2669561"/>
            <a:ext cx="214311" cy="123111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r>
              <a:rPr lang="ko-KR" altLang="en-US" sz="800" dirty="0">
                <a:latin typeface="+mn-ea"/>
              </a:rPr>
              <a:t>입찰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4828123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계약</a:t>
            </a:r>
          </a:p>
        </p:txBody>
      </p:sp>
      <p:sp>
        <p:nvSpPr>
          <p:cNvPr id="129" name="모서리가 둥근 직사각형 128"/>
          <p:cNvSpPr/>
          <p:nvPr/>
        </p:nvSpPr>
        <p:spPr>
          <a:xfrm>
            <a:off x="891228" y="5027212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3" name="모서리가 둥근 직사각형 132"/>
          <p:cNvSpPr/>
          <p:nvPr/>
        </p:nvSpPr>
        <p:spPr>
          <a:xfrm>
            <a:off x="891227" y="5194221"/>
            <a:ext cx="2062597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36" name="직선 연결선 1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4103404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7" name="직선 연결선 1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4740330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38" name="그룹 137"/>
          <p:cNvGrpSpPr/>
          <p:nvPr/>
        </p:nvGrpSpPr>
        <p:grpSpPr>
          <a:xfrm flipV="1">
            <a:off x="3124233" y="3580677"/>
            <a:ext cx="94010" cy="47005"/>
            <a:chOff x="6812560" y="3297172"/>
            <a:chExt cx="94010" cy="47005"/>
          </a:xfrm>
        </p:grpSpPr>
        <p:cxnSp>
          <p:nvCxnSpPr>
            <p:cNvPr id="139" name="직선 연결선 13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0" name="직선 연결선 13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41" name="그룹 140"/>
          <p:cNvGrpSpPr/>
          <p:nvPr/>
        </p:nvGrpSpPr>
        <p:grpSpPr>
          <a:xfrm flipV="1">
            <a:off x="3124233" y="4195891"/>
            <a:ext cx="94010" cy="47005"/>
            <a:chOff x="6812560" y="3297172"/>
            <a:chExt cx="94010" cy="47005"/>
          </a:xfrm>
        </p:grpSpPr>
        <p:cxnSp>
          <p:nvCxnSpPr>
            <p:cNvPr id="142" name="직선 연결선 14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7" name="직선 연결선 15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58" name="그룹 157"/>
          <p:cNvGrpSpPr/>
          <p:nvPr/>
        </p:nvGrpSpPr>
        <p:grpSpPr>
          <a:xfrm flipV="1">
            <a:off x="3124233" y="4866176"/>
            <a:ext cx="94010" cy="47005"/>
            <a:chOff x="6812560" y="3297172"/>
            <a:chExt cx="94010" cy="47005"/>
          </a:xfrm>
        </p:grpSpPr>
        <p:cxnSp>
          <p:nvCxnSpPr>
            <p:cNvPr id="159" name="직선 연결선 15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0" name="직선 연결선 15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1" name="TextBox 1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5501652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대금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사후</a:t>
            </a:r>
          </a:p>
        </p:txBody>
      </p:sp>
      <p:sp>
        <p:nvSpPr>
          <p:cNvPr id="162" name="모서리가 둥근 직사각형 161"/>
          <p:cNvSpPr/>
          <p:nvPr/>
        </p:nvSpPr>
        <p:spPr>
          <a:xfrm>
            <a:off x="891228" y="5700741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3" name="모서리가 둥근 직사각형 162"/>
          <p:cNvSpPr/>
          <p:nvPr/>
        </p:nvSpPr>
        <p:spPr>
          <a:xfrm>
            <a:off x="891227" y="5867750"/>
            <a:ext cx="2062597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66" name="직선 연결선 16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5413859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68" name="그룹 167"/>
          <p:cNvGrpSpPr/>
          <p:nvPr/>
        </p:nvGrpSpPr>
        <p:grpSpPr>
          <a:xfrm flipV="1">
            <a:off x="3124233" y="5539705"/>
            <a:ext cx="94010" cy="47005"/>
            <a:chOff x="6812560" y="3297172"/>
            <a:chExt cx="94010" cy="47005"/>
          </a:xfrm>
        </p:grpSpPr>
        <p:cxnSp>
          <p:nvCxnSpPr>
            <p:cNvPr id="169" name="직선 연결선 16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70" name="직선 연결선 16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89" name="그룹 18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6070647"/>
            <a:ext cx="76863" cy="292489"/>
            <a:chOff x="3750067" y="4683795"/>
            <a:chExt cx="76863" cy="292489"/>
          </a:xfrm>
        </p:grpSpPr>
        <p:sp>
          <p:nvSpPr>
            <p:cNvPr id="190" name="타원 18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91" name="타원 19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92" name="타원 19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94" name="타원 19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159227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95" name="타원 1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04919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96" name="타원 19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0831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57" name="직사각형 56"/>
          <p:cNvSpPr/>
          <p:nvPr/>
        </p:nvSpPr>
        <p:spPr>
          <a:xfrm>
            <a:off x="7061636" y="6372000"/>
            <a:ext cx="2373964" cy="103444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/>
              <a:t>감리 추가 사항 </a:t>
            </a:r>
            <a:r>
              <a:rPr lang="en-US" altLang="ko-KR" sz="800" dirty="0"/>
              <a:t>2026-04-08</a:t>
            </a:r>
            <a:endParaRPr lang="ko-KR" altLang="en-US" sz="800" dirty="0"/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61" name="직선 연결선 6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3338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2" name="타원 61"/>
          <p:cNvSpPr/>
          <p:nvPr/>
        </p:nvSpPr>
        <p:spPr>
          <a:xfrm>
            <a:off x="3998747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타원 62"/>
          <p:cNvSpPr/>
          <p:nvPr/>
        </p:nvSpPr>
        <p:spPr>
          <a:xfrm>
            <a:off x="5885264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타원 63"/>
          <p:cNvSpPr/>
          <p:nvPr/>
        </p:nvSpPr>
        <p:spPr>
          <a:xfrm>
            <a:off x="6199021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3338" y="321276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66" name="직선 연결선 6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47210" y="3484334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7" name="모서리가 둥근 직사각형 66"/>
          <p:cNvSpPr/>
          <p:nvPr/>
        </p:nvSpPr>
        <p:spPr>
          <a:xfrm>
            <a:off x="4016606" y="2364250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9" name="모서리가 둥근 직사각형 68"/>
          <p:cNvSpPr/>
          <p:nvPr/>
        </p:nvSpPr>
        <p:spPr>
          <a:xfrm>
            <a:off x="4633729" y="2364250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0" name="모서리가 둥근 직사각형 69"/>
          <p:cNvSpPr/>
          <p:nvPr/>
        </p:nvSpPr>
        <p:spPr>
          <a:xfrm>
            <a:off x="5250852" y="2364250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모서리가 둥근 직사각형 70"/>
          <p:cNvSpPr/>
          <p:nvPr/>
        </p:nvSpPr>
        <p:spPr>
          <a:xfrm>
            <a:off x="5867975" y="2364250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4270" y="3313189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메뉴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4270" y="3542624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입찰</a:t>
            </a:r>
          </a:p>
        </p:txBody>
      </p:sp>
      <p:sp>
        <p:nvSpPr>
          <p:cNvPr id="74" name="모서리가 둥근 직사각형 73"/>
          <p:cNvSpPr/>
          <p:nvPr/>
        </p:nvSpPr>
        <p:spPr>
          <a:xfrm>
            <a:off x="4016606" y="3741713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5" name="모서리가 둥근 직사각형 74"/>
          <p:cNvSpPr/>
          <p:nvPr/>
        </p:nvSpPr>
        <p:spPr>
          <a:xfrm>
            <a:off x="4016605" y="3908722"/>
            <a:ext cx="2062597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36495" y="2669561"/>
            <a:ext cx="214311" cy="123111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r>
              <a:rPr lang="ko-KR" altLang="en-US" sz="800" dirty="0">
                <a:latin typeface="+mn-ea"/>
              </a:rPr>
              <a:t>입찰</a:t>
            </a:r>
          </a:p>
        </p:txBody>
      </p:sp>
      <p:grpSp>
        <p:nvGrpSpPr>
          <p:cNvPr id="89" name="그룹 88"/>
          <p:cNvGrpSpPr/>
          <p:nvPr/>
        </p:nvGrpSpPr>
        <p:grpSpPr>
          <a:xfrm flipV="1">
            <a:off x="6249611" y="3580677"/>
            <a:ext cx="94010" cy="47005"/>
            <a:chOff x="6812560" y="3297172"/>
            <a:chExt cx="94010" cy="47005"/>
          </a:xfrm>
        </p:grpSpPr>
        <p:cxnSp>
          <p:nvCxnSpPr>
            <p:cNvPr id="90" name="직선 연결선 8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1" name="직선 연결선 9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05" name="그룹 104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8359" y="4766936"/>
            <a:ext cx="76863" cy="292489"/>
            <a:chOff x="3750067" y="4683795"/>
            <a:chExt cx="76863" cy="292489"/>
          </a:xfrm>
        </p:grpSpPr>
        <p:sp>
          <p:nvSpPr>
            <p:cNvPr id="106" name="타원 105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07" name="타원 106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08" name="타원 10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6779" y="2178505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최근 로그인</a:t>
            </a:r>
            <a:r>
              <a:rPr lang="en-US" altLang="ko-KR" sz="700" dirty="0">
                <a:latin typeface="+mn-ea"/>
              </a:rPr>
              <a:t> 2025-10-30 13:42:22</a:t>
            </a:r>
            <a:endParaRPr lang="ko-KR" altLang="en-US" sz="700" dirty="0">
              <a:latin typeface="+mn-ea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6779" y="2010033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900" b="1" dirty="0">
                <a:latin typeface="+mn-ea"/>
              </a:rPr>
              <a:t>[</a:t>
            </a:r>
            <a:r>
              <a:rPr lang="ko-KR" altLang="en-US" sz="900" b="1" dirty="0" err="1">
                <a:latin typeface="+mn-ea"/>
              </a:rPr>
              <a:t>업체명</a:t>
            </a:r>
            <a:r>
              <a:rPr lang="en-US" altLang="ko-KR" sz="900" b="1" dirty="0">
                <a:latin typeface="+mn-ea"/>
              </a:rPr>
              <a:t>]</a:t>
            </a:r>
            <a:r>
              <a:rPr lang="ko-KR" altLang="en-US" sz="900" b="1" dirty="0">
                <a:latin typeface="+mn-ea"/>
              </a:rPr>
              <a:t> </a:t>
            </a:r>
            <a:r>
              <a:rPr lang="en-US" altLang="ko-KR" sz="900" b="1" dirty="0">
                <a:latin typeface="+mn-ea"/>
              </a:rPr>
              <a:t>[</a:t>
            </a:r>
            <a:r>
              <a:rPr lang="ko-KR" altLang="en-US" sz="900" b="1" dirty="0">
                <a:latin typeface="+mn-ea"/>
              </a:rPr>
              <a:t>사용자명</a:t>
            </a:r>
            <a:r>
              <a:rPr lang="en-US" altLang="ko-KR" sz="900" b="1" dirty="0">
                <a:latin typeface="+mn-ea"/>
              </a:rPr>
              <a:t>]</a:t>
            </a:r>
            <a:r>
              <a:rPr lang="ko-KR" altLang="en-US" sz="900" b="1" dirty="0">
                <a:latin typeface="+mn-ea"/>
              </a:rPr>
              <a:t>님 환영합니다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grpSp>
        <p:nvGrpSpPr>
          <p:cNvPr id="112" name="그룹 111"/>
          <p:cNvGrpSpPr/>
          <p:nvPr/>
        </p:nvGrpSpPr>
        <p:grpSpPr>
          <a:xfrm>
            <a:off x="4023916" y="2861354"/>
            <a:ext cx="2255663" cy="306146"/>
            <a:chOff x="3982951" y="3679873"/>
            <a:chExt cx="2255663" cy="306146"/>
          </a:xfrm>
        </p:grpSpPr>
        <p:sp>
          <p:nvSpPr>
            <p:cNvPr id="113" name="모서리가 둥근 직사각형 112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입찰</a:t>
              </a:r>
            </a:p>
          </p:txBody>
        </p:sp>
      </p:grpSp>
      <p:grpSp>
        <p:nvGrpSpPr>
          <p:cNvPr id="116" name="그룹 115"/>
          <p:cNvGrpSpPr/>
          <p:nvPr/>
        </p:nvGrpSpPr>
        <p:grpSpPr>
          <a:xfrm>
            <a:off x="906142" y="2861354"/>
            <a:ext cx="2255663" cy="306146"/>
            <a:chOff x="3982951" y="3679873"/>
            <a:chExt cx="2255663" cy="306146"/>
          </a:xfrm>
        </p:grpSpPr>
        <p:sp>
          <p:nvSpPr>
            <p:cNvPr id="117" name="모서리가 둥근 직사각형 116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 err="1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메뉴명</a:t>
              </a:r>
              <a:r>
                <a:rPr lang="ko-KR" altLang="en-US" sz="700" b="1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 검색</a:t>
              </a:r>
            </a:p>
          </p:txBody>
        </p:sp>
      </p:grpSp>
      <p:sp>
        <p:nvSpPr>
          <p:cNvPr id="120" name="타원 119"/>
          <p:cNvSpPr/>
          <p:nvPr/>
        </p:nvSpPr>
        <p:spPr>
          <a:xfrm>
            <a:off x="2932305" y="2941887"/>
            <a:ext cx="145081" cy="14508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타원 120"/>
          <p:cNvSpPr/>
          <p:nvPr/>
        </p:nvSpPr>
        <p:spPr>
          <a:xfrm>
            <a:off x="6053940" y="2941887"/>
            <a:ext cx="145081" cy="14508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타원 121"/>
          <p:cNvSpPr/>
          <p:nvPr/>
        </p:nvSpPr>
        <p:spPr>
          <a:xfrm>
            <a:off x="5853385" y="2970561"/>
            <a:ext cx="87736" cy="87734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TextBox 4"/>
          <p:cNvSpPr txBox="1"/>
          <p:nvPr/>
        </p:nvSpPr>
        <p:spPr>
          <a:xfrm>
            <a:off x="5784406" y="2923152"/>
            <a:ext cx="231154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/>
              <a:t>X</a:t>
            </a:r>
            <a:endParaRPr lang="ko-KR" altLang="en-US" sz="600" dirty="0"/>
          </a:p>
        </p:txBody>
      </p:sp>
    </p:spTree>
    <p:extLst>
      <p:ext uri="{BB962C8B-B14F-4D97-AF65-F5344CB8AC3E}">
        <p14:creationId xmlns:p14="http://schemas.microsoft.com/office/powerpoint/2010/main" val="250194225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알림 표시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</a:t>
            </a:r>
            <a:r>
              <a:rPr lang="ko-KR" altLang="en-US" dirty="0" err="1"/>
              <a:t>딥링크를</a:t>
            </a:r>
            <a:r>
              <a:rPr lang="ko-KR" altLang="en-US" dirty="0"/>
              <a:t> 통해 해당 내역으로 이동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알림 현황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모바일 푸시 알림 현황 </a:t>
            </a:r>
            <a:r>
              <a:rPr lang="ko-KR" altLang="en-US" dirty="0" smtClean="0">
                <a:latin typeface="+mn-ea"/>
              </a:rPr>
              <a:t>화면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알림현황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MUI-MS-01-M13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알림현황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196993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조달계획이</a:t>
            </a:r>
            <a:r>
              <a:rPr lang="ko-KR" altLang="en-US" sz="800" dirty="0">
                <a:latin typeface="+mn-ea"/>
              </a:rPr>
              <a:t> 등록되었습니다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30" name="모서리가 둥근 직사각형 29"/>
          <p:cNvSpPr/>
          <p:nvPr/>
        </p:nvSpPr>
        <p:spPr>
          <a:xfrm>
            <a:off x="891228" y="2169025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585150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입찰참가 신청 결과가 등록되었습니다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32" name="모서리가 둥근 직사각형 31"/>
          <p:cNvSpPr/>
          <p:nvPr/>
        </p:nvSpPr>
        <p:spPr>
          <a:xfrm>
            <a:off x="891228" y="2784239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255435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계약이 완료되었습니다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34" name="모서리가 둥근 직사각형 33"/>
          <p:cNvSpPr/>
          <p:nvPr/>
        </p:nvSpPr>
        <p:spPr>
          <a:xfrm>
            <a:off x="891228" y="3454524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35" name="직선 연결선 3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2530716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3167642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7" name="TextBox 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928964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대금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사후 수정 내역이 처리되었습니다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38" name="모서리가 둥근 직사각형 37"/>
          <p:cNvSpPr/>
          <p:nvPr/>
        </p:nvSpPr>
        <p:spPr>
          <a:xfrm>
            <a:off x="891228" y="4128053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3841171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950686"/>
            <a:ext cx="76863" cy="292489"/>
            <a:chOff x="3750067" y="4683795"/>
            <a:chExt cx="76863" cy="292489"/>
          </a:xfrm>
        </p:grpSpPr>
        <p:sp>
          <p:nvSpPr>
            <p:cNvPr id="41" name="타원 40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42" name="타원 41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43" name="타원 42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335073"/>
            <a:ext cx="99198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2025-10-30 13:42:22</a:t>
            </a:r>
            <a:endParaRPr lang="ko-KR" altLang="en-US" sz="700" dirty="0">
              <a:latin typeface="+mn-ea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998031"/>
            <a:ext cx="99198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2025-10-30 13:42:22</a:t>
            </a:r>
            <a:endParaRPr lang="ko-KR" altLang="en-US" sz="700" dirty="0">
              <a:latin typeface="+mn-ea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634956"/>
            <a:ext cx="99198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2025-10-30 13:42:22</a:t>
            </a:r>
            <a:endParaRPr lang="ko-KR" altLang="en-US" sz="700" dirty="0">
              <a:latin typeface="+mn-ea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4331596"/>
            <a:ext cx="99198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2025-10-30 13:42:22</a:t>
            </a:r>
            <a:endParaRPr lang="ko-KR" altLang="en-US" sz="700" dirty="0">
              <a:latin typeface="+mn-ea"/>
            </a:endParaRPr>
          </a:p>
        </p:txBody>
      </p:sp>
      <p:sp>
        <p:nvSpPr>
          <p:cNvPr id="49" name="직사각형 48"/>
          <p:cNvSpPr/>
          <p:nvPr/>
        </p:nvSpPr>
        <p:spPr>
          <a:xfrm>
            <a:off x="7056784" y="6395830"/>
            <a:ext cx="2378816" cy="69149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500" dirty="0"/>
              <a:t>감리 추가 사항 </a:t>
            </a:r>
            <a:r>
              <a:rPr lang="en-US" altLang="ko-KR" sz="500" dirty="0"/>
              <a:t>2026-04-08</a:t>
            </a:r>
            <a:endParaRPr lang="ko-KR" altLang="en-US" sz="500" dirty="0"/>
          </a:p>
        </p:txBody>
      </p:sp>
    </p:spTree>
    <p:extLst>
      <p:ext uri="{BB962C8B-B14F-4D97-AF65-F5344CB8AC3E}">
        <p14:creationId xmlns:p14="http://schemas.microsoft.com/office/powerpoint/2010/main" val="2559066581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62490"/>
            <a:ext cx="219507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알림현황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687263"/>
            <a:ext cx="232652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알림현황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dl_notiPrstList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73693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trsmBgngYmd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trsmEndYmd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748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rcvrEntlno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notiSeCd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유형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알림구분코드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:GTSC0018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2185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trsmRsltVl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송신상태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3832226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exmnCn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5186544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971017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알림현황</a:t>
                      </a:r>
                      <a:r>
                        <a:rPr lang="ko-KR" altLang="en-US" sz="800" dirty="0">
                          <a:latin typeface="+mn-ea"/>
                        </a:rPr>
                        <a:t> 순번 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rcptDt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접수일시 </a:t>
                      </a:r>
                      <a:r>
                        <a:rPr lang="ko-KR" altLang="en-US" sz="800" dirty="0">
                          <a:latin typeface="+mn-ea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35635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trsmDt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송신일시 </a:t>
                      </a:r>
                      <a:r>
                        <a:rPr lang="ko-KR" altLang="en-US" sz="800" dirty="0">
                          <a:latin typeface="+mn-ea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353138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notiSeCd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유형 </a:t>
                      </a:r>
                      <a:r>
                        <a:rPr lang="ko-KR" altLang="en-US" sz="800" dirty="0">
                          <a:latin typeface="+mn-ea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알림구분코드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:GTSC0018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rcvrEntlno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수신번호 </a:t>
                      </a:r>
                      <a:r>
                        <a:rPr lang="ko-KR" altLang="en-US" sz="800" dirty="0">
                          <a:latin typeface="+mn-ea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trsmrTelno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발송번호 </a:t>
                      </a:r>
                      <a:r>
                        <a:rPr lang="ko-KR" altLang="en-US" sz="800" dirty="0">
                          <a:latin typeface="+mn-ea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trsmRsltVl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송신상태 </a:t>
                      </a:r>
                      <a:r>
                        <a:rPr lang="ko-KR" altLang="en-US" sz="800" dirty="0">
                          <a:latin typeface="+mn-ea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exmnCn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</a:t>
                      </a:r>
                      <a:r>
                        <a:rPr lang="ko-KR" altLang="en-US" sz="800" dirty="0">
                          <a:latin typeface="+mn-ea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5707676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2999" y="498176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5217275"/>
          <a:ext cx="8995591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4816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5134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7218538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C7455B0C-C2EF-1A1B-A18C-7249DC06C1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5100633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C0FCB8FA-BCFF-84BA-1962-4E7A7E23CC67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538614CC-8BAB-700E-CBE4-C125849D2AB3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12C71723-0E82-1006-498A-95EEC49091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74181435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업체 선택 </a:t>
            </a:r>
            <a:r>
              <a:rPr lang="ko-KR" altLang="en-US" dirty="0" smtClean="0"/>
              <a:t>팝업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소속된 업체가 하나인 경우는 팝업을 띄우지 않고 업체를 설정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업체가 </a:t>
            </a:r>
            <a:r>
              <a:rPr lang="en-US" altLang="ko-KR" dirty="0" smtClean="0"/>
              <a:t>2</a:t>
            </a:r>
            <a:r>
              <a:rPr lang="ko-KR" altLang="en-US" dirty="0" smtClean="0"/>
              <a:t>개 이상인 경우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업체명</a:t>
            </a:r>
            <a:r>
              <a:rPr lang="ko-KR" altLang="en-US" dirty="0"/>
              <a:t> 및 정보 표시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업체선택</a:t>
            </a:r>
            <a:r>
              <a:rPr lang="ko-KR" altLang="en-US" dirty="0">
                <a:latin typeface="+mn-ea"/>
              </a:rPr>
              <a:t> 팝업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소속된 업체가 많은 경우 로그인 이후 팝업에서 업체를 설정하는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– </a:t>
            </a:r>
            <a:r>
              <a:rPr lang="ko-KR" altLang="en-US" dirty="0" err="1"/>
              <a:t>업체선택</a:t>
            </a:r>
            <a:r>
              <a:rPr lang="ko-KR" altLang="en-US" dirty="0"/>
              <a:t> 팝업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MUI-MS-01-P14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2" name="양쪽 모서리가 둥근 사각형 21"/>
          <p:cNvSpPr/>
          <p:nvPr/>
        </p:nvSpPr>
        <p:spPr>
          <a:xfrm>
            <a:off x="679854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3" name="모서리가 둥근 직사각형 22"/>
          <p:cNvSpPr/>
          <p:nvPr/>
        </p:nvSpPr>
        <p:spPr>
          <a:xfrm>
            <a:off x="1765867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4" name="그룹 23"/>
          <p:cNvGrpSpPr/>
          <p:nvPr/>
        </p:nvGrpSpPr>
        <p:grpSpPr>
          <a:xfrm>
            <a:off x="3168793" y="3182696"/>
            <a:ext cx="94010" cy="94010"/>
            <a:chOff x="6812560" y="3297172"/>
            <a:chExt cx="94010" cy="94010"/>
          </a:xfrm>
        </p:grpSpPr>
        <p:cxnSp>
          <p:nvCxnSpPr>
            <p:cNvPr id="25" name="직선 연결선 24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6" name="직선 연결선 25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900" dirty="0">
                <a:latin typeface="+mn-ea"/>
              </a:rPr>
              <a:t> </a:t>
            </a:r>
            <a:r>
              <a:rPr lang="ko-KR" altLang="en-US" sz="900" dirty="0">
                <a:latin typeface="+mn-ea"/>
              </a:rPr>
              <a:t>업체 설정</a:t>
            </a:r>
          </a:p>
        </p:txBody>
      </p: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2016743" y="5153262"/>
            <a:ext cx="76863" cy="292489"/>
            <a:chOff x="3750067" y="4683795"/>
            <a:chExt cx="76863" cy="292489"/>
          </a:xfrm>
        </p:grpSpPr>
        <p:sp>
          <p:nvSpPr>
            <p:cNvPr id="36" name="타원 35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7" name="타원 36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8" name="타원 3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3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72157" y="3960054"/>
            <a:ext cx="2522014" cy="321879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72000" tIns="0" rIns="0" bIns="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800" b="1" kern="0" dirty="0">
                <a:solidFill>
                  <a:srgbClr val="0070C0"/>
                </a:solidFill>
              </a:rPr>
              <a:t>A </a:t>
            </a:r>
            <a:r>
              <a:rPr kumimoji="1" lang="ko-KR" altLang="en-US" sz="800" b="1" kern="0" dirty="0" err="1">
                <a:solidFill>
                  <a:srgbClr val="0070C0"/>
                </a:solidFill>
              </a:rPr>
              <a:t>업체명</a:t>
            </a:r>
            <a:endParaRPr kumimoji="1" lang="en-US" sz="800" b="1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4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72157" y="4371590"/>
            <a:ext cx="2522014" cy="321879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72000" tIns="0" rIns="0" bIns="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B </a:t>
            </a:r>
            <a:r>
              <a:rPr kumimoji="1" lang="ko-KR" alt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업체</a:t>
            </a:r>
            <a:r>
              <a:rPr kumimoji="1" lang="ko-KR" altLang="en-US" sz="800" kern="0" dirty="0"/>
              <a:t>명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4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72157" y="4781562"/>
            <a:ext cx="2522014" cy="321879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72000" tIns="0" rIns="0" bIns="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C </a:t>
            </a:r>
            <a:r>
              <a:rPr kumimoji="1" lang="ko-KR" alt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업체</a:t>
            </a:r>
            <a:r>
              <a:rPr kumimoji="1" lang="ko-KR" altLang="en-US" sz="800" kern="0" dirty="0"/>
              <a:t>명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9597" y="3566337"/>
            <a:ext cx="249254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선택하신 업체 정보로 국방전자조달시스템을 사용합니다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ko-KR" altLang="en-US" sz="700" dirty="0">
                <a:latin typeface="+mn-ea"/>
              </a:rPr>
              <a:t>업체를 변경하려면 </a:t>
            </a:r>
            <a:r>
              <a:rPr lang="ko-KR" altLang="en-US" sz="700" dirty="0" err="1">
                <a:latin typeface="+mn-ea"/>
              </a:rPr>
              <a:t>재로그인이</a:t>
            </a:r>
            <a:r>
              <a:rPr lang="ko-KR" altLang="en-US" sz="700" dirty="0">
                <a:latin typeface="+mn-ea"/>
              </a:rPr>
              <a:t> 필요합니다</a:t>
            </a:r>
            <a:r>
              <a:rPr lang="en-US" altLang="ko-KR" sz="700" dirty="0">
                <a:latin typeface="+mn-ea"/>
              </a:rPr>
              <a:t>.</a:t>
            </a: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63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3523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305867" y="4059438"/>
            <a:ext cx="86098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>
                <a:latin typeface="+mn-ea"/>
              </a:rPr>
              <a:t>123-45-67890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305867" y="4470974"/>
            <a:ext cx="86098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>
                <a:latin typeface="+mn-ea"/>
              </a:rPr>
              <a:t>147-02-58369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305867" y="4880946"/>
            <a:ext cx="86098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>
                <a:latin typeface="+mn-ea"/>
              </a:rPr>
              <a:t>258-01-47369</a:t>
            </a:r>
          </a:p>
        </p:txBody>
      </p:sp>
      <p:grpSp>
        <p:nvGrpSpPr>
          <p:cNvPr id="49" name="그룹 48"/>
          <p:cNvGrpSpPr/>
          <p:nvPr/>
        </p:nvGrpSpPr>
        <p:grpSpPr>
          <a:xfrm>
            <a:off x="679854" y="5614711"/>
            <a:ext cx="2712027" cy="617588"/>
            <a:chOff x="675399" y="5614711"/>
            <a:chExt cx="2712027" cy="617588"/>
          </a:xfrm>
        </p:grpSpPr>
        <p:sp>
          <p:nvSpPr>
            <p:cNvPr id="50" name="직사각형 49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588237" y="5745391"/>
              <a:ext cx="1706884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noProof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선택 로그인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5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728232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로그아웃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65986577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31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5204" y="205846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4178684"/>
              </p:ext>
            </p:extLst>
          </p:nvPr>
        </p:nvGraphicFramePr>
        <p:xfrm>
          <a:off x="455204" y="2285057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latin typeface="+mn-ea"/>
                          <a:ea typeface="+mn-ea"/>
                        </a:rPr>
                        <a:t>scwin.btn_idnty_onclick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선택한 업체로 로그인 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6314079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45AF0B74-5439-276E-1EBE-5BE9A7D07B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2177335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E0636EA-A13F-3B5E-1BFE-F3CF0D27B18E}"/>
              </a:ext>
            </a:extLst>
          </p:cNvPr>
          <p:cNvSpPr txBox="1"/>
          <p:nvPr/>
        </p:nvSpPr>
        <p:spPr>
          <a:xfrm>
            <a:off x="459967" y="623130"/>
            <a:ext cx="827718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EA6F7E5-53EA-4FC7-47B4-662E836107B1}"/>
              </a:ext>
            </a:extLst>
          </p:cNvPr>
          <p:cNvSpPr txBox="1"/>
          <p:nvPr/>
        </p:nvSpPr>
        <p:spPr>
          <a:xfrm>
            <a:off x="454850" y="890760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업체정보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5813496-B86A-7D40-BACB-575A273C049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47180"/>
              </p:ext>
            </p:extLst>
          </p:nvPr>
        </p:nvGraphicFramePr>
        <p:xfrm>
          <a:off x="454850" y="1104443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 smtClean="0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 사업자등록번호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41808400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BAB8A5C6-99F0-0CA8-9F1E-DF6F1A5546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8335" y="744479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710911974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로그인 방식 선택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방식 선택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로그인 방식 선택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MUI-CM-03-M01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로그인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1969936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국방전자조달시스템</a:t>
            </a:r>
            <a:r>
              <a:rPr lang="ko-KR" altLang="en-US" sz="900" b="1" dirty="0">
                <a:latin typeface="+mn-ea"/>
              </a:rPr>
              <a:t>에 </a:t>
            </a:r>
            <a:r>
              <a:rPr lang="ko-KR" altLang="en-US" sz="900" b="1" dirty="0" err="1">
                <a:latin typeface="+mn-ea"/>
              </a:rPr>
              <a:t>오신것을</a:t>
            </a:r>
            <a:r>
              <a:rPr lang="ko-KR" altLang="en-US" sz="900" b="1" dirty="0">
                <a:latin typeface="+mn-ea"/>
              </a:rPr>
              <a:t> 환영합니다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5" name="모서리가 둥근 직사각형 4"/>
          <p:cNvSpPr/>
          <p:nvPr/>
        </p:nvSpPr>
        <p:spPr>
          <a:xfrm>
            <a:off x="936072" y="2480410"/>
            <a:ext cx="1041953" cy="788276"/>
          </a:xfrm>
          <a:prstGeom prst="roundRect">
            <a:avLst>
              <a:gd name="adj" fmla="val 6267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110938" y="3044203"/>
            <a:ext cx="69222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간편 인증</a:t>
            </a:r>
          </a:p>
        </p:txBody>
      </p:sp>
      <p:sp>
        <p:nvSpPr>
          <p:cNvPr id="25" name="타원 24"/>
          <p:cNvSpPr/>
          <p:nvPr/>
        </p:nvSpPr>
        <p:spPr>
          <a:xfrm>
            <a:off x="1272622" y="2587635"/>
            <a:ext cx="368854" cy="36885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213461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로그인 방식을 선택해 주세요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로그인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2" name="그룹 31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33" name="직선 연결선 3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4" name="직선 연결선 3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5" name="타원 34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2166676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처음</a:t>
            </a:r>
            <a:r>
              <a:rPr lang="ko-KR" altLang="en-US" sz="900" b="1" dirty="0">
                <a:latin typeface="+mn-ea"/>
              </a:rPr>
              <a:t> </a:t>
            </a:r>
            <a:r>
              <a:rPr lang="ko-KR" altLang="en-US" sz="900" b="1" dirty="0" err="1">
                <a:latin typeface="+mn-ea"/>
              </a:rPr>
              <a:t>방문하셨나요</a:t>
            </a:r>
            <a:r>
              <a:rPr lang="en-US" altLang="ko-KR" sz="900" b="1" dirty="0">
                <a:latin typeface="+mn-ea"/>
              </a:rPr>
              <a:t>?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2410201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사용자 등록 방법을 자세하게 </a:t>
            </a:r>
            <a:r>
              <a:rPr lang="ko-KR" altLang="en-US" sz="700" dirty="0" err="1">
                <a:latin typeface="+mn-ea"/>
              </a:rPr>
              <a:t>안내드립니다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ko-KR" altLang="en-US" sz="700" dirty="0">
                <a:latin typeface="+mn-ea"/>
              </a:rPr>
              <a:t>모바일에서는 </a:t>
            </a:r>
            <a:r>
              <a:rPr lang="ko-KR" altLang="en-US" sz="700" dirty="0" err="1">
                <a:latin typeface="+mn-ea"/>
              </a:rPr>
              <a:t>업체등록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사용자등록을 지원하지 않습니다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00964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4023916" y="2773036"/>
            <a:ext cx="2255663" cy="306146"/>
            <a:chOff x="3982951" y="3679873"/>
            <a:chExt cx="2255663" cy="306146"/>
          </a:xfrm>
        </p:grpSpPr>
        <p:sp>
          <p:nvSpPr>
            <p:cNvPr id="39" name="모서리가 둥근 직사각형 3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사용자 등록 안내 </a:t>
              </a:r>
              <a:r>
                <a:rPr lang="ko-KR" altLang="en-US" sz="700" b="1" dirty="0" err="1">
                  <a:latin typeface="+mn-ea"/>
                </a:rPr>
                <a:t>바로가기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5916119" y="3732918"/>
              <a:ext cx="272832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700" dirty="0">
                  <a:sym typeface="Wingdings" panose="05000000000000000000" pitchFamily="2" charset="2"/>
                </a:rPr>
                <a:t></a:t>
              </a:r>
              <a:endParaRPr lang="ko-KR" altLang="en-US" sz="700" dirty="0"/>
            </a:p>
          </p:txBody>
        </p:sp>
      </p:grp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25827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4" name="모서리가 둥근 직사각형 43"/>
          <p:cNvSpPr/>
          <p:nvPr/>
        </p:nvSpPr>
        <p:spPr>
          <a:xfrm>
            <a:off x="3826691" y="3389358"/>
            <a:ext cx="2652743" cy="943331"/>
          </a:xfrm>
          <a:prstGeom prst="roundRect">
            <a:avLst>
              <a:gd name="adj" fmla="val 9062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15461" y="3487642"/>
            <a:ext cx="2475203" cy="7540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    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로그인에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어려움이 있으신가요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?</a:t>
            </a:r>
          </a:p>
          <a:p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비밀번호 자동완성기능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(ex. 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알패스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등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)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은 사용할 수 없습니다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1577-1118 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대표전화로 전화주세요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 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서비스에 로그인할 수 있도록 도와드리겠습니다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</a:p>
        </p:txBody>
      </p:sp>
      <p:sp>
        <p:nvSpPr>
          <p:cNvPr id="46" name="타원 45"/>
          <p:cNvSpPr/>
          <p:nvPr/>
        </p:nvSpPr>
        <p:spPr>
          <a:xfrm>
            <a:off x="3911503" y="3477991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7" name="그룹 46"/>
          <p:cNvGrpSpPr/>
          <p:nvPr/>
        </p:nvGrpSpPr>
        <p:grpSpPr>
          <a:xfrm flipV="1">
            <a:off x="6260324" y="3526489"/>
            <a:ext cx="94010" cy="47005"/>
            <a:chOff x="6812560" y="3297172"/>
            <a:chExt cx="94010" cy="47005"/>
          </a:xfrm>
        </p:grpSpPr>
        <p:cxnSp>
          <p:nvCxnSpPr>
            <p:cNvPr id="50" name="직선 연결선 4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1" name="직선 연결선 5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2" name="TextBox 5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53" name="모서리가 둥근 직사각형 52"/>
          <p:cNvSpPr/>
          <p:nvPr/>
        </p:nvSpPr>
        <p:spPr>
          <a:xfrm>
            <a:off x="2123386" y="2480410"/>
            <a:ext cx="1041953" cy="788276"/>
          </a:xfrm>
          <a:prstGeom prst="roundRect">
            <a:avLst>
              <a:gd name="adj" fmla="val 6267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98252" y="3044203"/>
            <a:ext cx="69222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모바일 신분증</a:t>
            </a:r>
          </a:p>
        </p:txBody>
      </p:sp>
      <p:sp>
        <p:nvSpPr>
          <p:cNvPr id="56" name="타원 55"/>
          <p:cNvSpPr/>
          <p:nvPr/>
        </p:nvSpPr>
        <p:spPr>
          <a:xfrm>
            <a:off x="2459936" y="2587635"/>
            <a:ext cx="368854" cy="36885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모서리가 둥근 직사각형 56"/>
          <p:cNvSpPr/>
          <p:nvPr/>
        </p:nvSpPr>
        <p:spPr>
          <a:xfrm>
            <a:off x="936072" y="3384947"/>
            <a:ext cx="1041953" cy="788276"/>
          </a:xfrm>
          <a:prstGeom prst="roundRect">
            <a:avLst>
              <a:gd name="adj" fmla="val 6267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110938" y="3948740"/>
            <a:ext cx="69222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공동인증서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59" name="타원 58"/>
          <p:cNvSpPr/>
          <p:nvPr/>
        </p:nvSpPr>
        <p:spPr>
          <a:xfrm>
            <a:off x="1272622" y="3492172"/>
            <a:ext cx="368854" cy="36885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모서리가 둥근 직사각형 59"/>
          <p:cNvSpPr/>
          <p:nvPr/>
        </p:nvSpPr>
        <p:spPr>
          <a:xfrm>
            <a:off x="2123386" y="3384947"/>
            <a:ext cx="1041953" cy="788276"/>
          </a:xfrm>
          <a:prstGeom prst="roundRect">
            <a:avLst>
              <a:gd name="adj" fmla="val 6267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98252" y="3948740"/>
            <a:ext cx="69222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금융인증서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62" name="타원 61"/>
          <p:cNvSpPr/>
          <p:nvPr/>
        </p:nvSpPr>
        <p:spPr>
          <a:xfrm>
            <a:off x="2459936" y="3492172"/>
            <a:ext cx="368854" cy="36885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모서리가 둥근 직사각형 62"/>
          <p:cNvSpPr/>
          <p:nvPr/>
        </p:nvSpPr>
        <p:spPr>
          <a:xfrm>
            <a:off x="936072" y="4298084"/>
            <a:ext cx="1041953" cy="788276"/>
          </a:xfrm>
          <a:prstGeom prst="roundRect">
            <a:avLst>
              <a:gd name="adj" fmla="val 6267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110938" y="4861877"/>
            <a:ext cx="69222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생체인증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65" name="타원 64"/>
          <p:cNvSpPr/>
          <p:nvPr/>
        </p:nvSpPr>
        <p:spPr>
          <a:xfrm>
            <a:off x="1272622" y="4405309"/>
            <a:ext cx="368854" cy="36885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모서리가 둥근 직사각형 65"/>
          <p:cNvSpPr/>
          <p:nvPr/>
        </p:nvSpPr>
        <p:spPr>
          <a:xfrm>
            <a:off x="2123386" y="4298084"/>
            <a:ext cx="1041953" cy="788276"/>
          </a:xfrm>
          <a:prstGeom prst="roundRect">
            <a:avLst>
              <a:gd name="adj" fmla="val 6267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98252" y="4861877"/>
            <a:ext cx="69222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b="1" dirty="0">
                <a:latin typeface="+mn-ea"/>
              </a:rPr>
              <a:t>ID/PW </a:t>
            </a:r>
            <a:r>
              <a:rPr lang="ko-KR" altLang="en-US" sz="700" b="1" dirty="0">
                <a:latin typeface="+mn-ea"/>
              </a:rPr>
              <a:t>로그인</a:t>
            </a:r>
          </a:p>
        </p:txBody>
      </p:sp>
      <p:sp>
        <p:nvSpPr>
          <p:cNvPr id="68" name="타원 67"/>
          <p:cNvSpPr/>
          <p:nvPr/>
        </p:nvSpPr>
        <p:spPr>
          <a:xfrm>
            <a:off x="2459936" y="4405309"/>
            <a:ext cx="368854" cy="36885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15540124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33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5204" y="73040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1.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4071412"/>
              </p:ext>
            </p:extLst>
          </p:nvPr>
        </p:nvGraphicFramePr>
        <p:xfrm>
          <a:off x="455204" y="971284"/>
          <a:ext cx="8995591" cy="24048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간편인증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scwin.btn_privtCrtfLogin_onclick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간편인증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0302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공동인증서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scwin.btn_jntCrtfLogin_onclick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공동인증서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63140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금융인증서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scwin.btn_fnncCrtfLogin_onclick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금융인증서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79013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scwin.btn_idPswdLogin_onclick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63345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모바일신분증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scwin.btn_moblCrtfLogin_onclick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모바일신분증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41762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QR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scwin.btn_QrLogin_onclick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QR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인증으로 로그인한다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95564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사용자등록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안내 클릭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latin typeface="+mn-ea"/>
                          <a:ea typeface="+mn-ea"/>
                        </a:rPr>
                        <a:t>scwin.btn_userRegGuide_onclick</a:t>
                      </a:r>
                      <a:endParaRPr lang="ko-KR" altLang="en-US" sz="800" dirty="0" smtClean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사용자등록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안내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35355626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FB89B8A1-DF0A-933E-6384-FF117D512D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83499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61463590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비밀번호 </a:t>
            </a:r>
            <a:r>
              <a:rPr lang="ko-KR" altLang="en-US" dirty="0" err="1"/>
              <a:t>마스킹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비밀번호 입력 시 </a:t>
            </a:r>
            <a:r>
              <a:rPr lang="ko-KR" altLang="en-US" dirty="0" err="1"/>
              <a:t>마스킹</a:t>
            </a:r>
            <a:r>
              <a:rPr lang="ko-KR" altLang="en-US" dirty="0"/>
              <a:t> 보기 아이콘 표시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ID/PW </a:t>
            </a:r>
            <a:r>
              <a:rPr lang="ko-KR" altLang="en-US" dirty="0">
                <a:latin typeface="+mn-ea"/>
              </a:rPr>
              <a:t>로그인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ID/PW </a:t>
            </a:r>
            <a:r>
              <a:rPr lang="ko-KR" altLang="en-US" dirty="0">
                <a:latin typeface="+mn-ea"/>
              </a:rPr>
              <a:t>로그인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ID/PW </a:t>
            </a:r>
            <a:r>
              <a:rPr lang="ko-KR" altLang="en-US" dirty="0">
                <a:latin typeface="+mn-ea"/>
              </a:rPr>
              <a:t>로그인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MUI-CM-03-M02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ID/PW </a:t>
            </a:r>
            <a:r>
              <a:rPr lang="ko-KR" altLang="en-US" sz="800" dirty="0">
                <a:latin typeface="+mn-ea"/>
              </a:rPr>
              <a:t>로그인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104900" y="1969936"/>
            <a:ext cx="2079136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아이디</a:t>
            </a:r>
            <a:r>
              <a:rPr lang="en-US" altLang="ko-KR" sz="900" b="1" dirty="0">
                <a:solidFill>
                  <a:srgbClr val="0070C0"/>
                </a:solidFill>
                <a:latin typeface="+mn-ea"/>
              </a:rPr>
              <a:t>/</a:t>
            </a:r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비밀번호</a:t>
            </a:r>
            <a:r>
              <a:rPr lang="en-US" altLang="ko-KR" sz="900" b="1" dirty="0">
                <a:latin typeface="+mn-ea"/>
              </a:rPr>
              <a:t> </a:t>
            </a:r>
            <a:r>
              <a:rPr lang="ko-KR" altLang="en-US" sz="900" b="1" dirty="0">
                <a:latin typeface="+mn-ea"/>
              </a:rPr>
              <a:t>로그인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69426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아이디</a:t>
            </a:r>
          </a:p>
        </p:txBody>
      </p:sp>
      <p:sp>
        <p:nvSpPr>
          <p:cNvPr id="25" name="타원 24"/>
          <p:cNvSpPr/>
          <p:nvPr/>
        </p:nvSpPr>
        <p:spPr>
          <a:xfrm>
            <a:off x="854156" y="194900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213461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회원가입시</a:t>
            </a:r>
            <a:r>
              <a:rPr lang="ko-KR" altLang="en-US" sz="700" dirty="0">
                <a:latin typeface="+mn-ea"/>
              </a:rPr>
              <a:t> 등록한 아이디와 비밀번호를 이용하여 로그인합니다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ID/PW </a:t>
            </a:r>
            <a:r>
              <a:rPr lang="ko-KR" altLang="en-US" sz="800" dirty="0">
                <a:latin typeface="+mn-ea"/>
              </a:rPr>
              <a:t>로그인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2" name="그룹 31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33" name="직선 연결선 3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4" name="직선 연결선 3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5" name="타원 34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2226294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아이디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또는 비밀번호를 </a:t>
            </a:r>
            <a:r>
              <a:rPr lang="ko-KR" altLang="en-US" sz="700" dirty="0" err="1">
                <a:latin typeface="+mn-ea"/>
              </a:rPr>
              <a:t>잊어버렸나요</a:t>
            </a:r>
            <a:r>
              <a:rPr lang="en-US" altLang="ko-KR" sz="700" dirty="0">
                <a:latin typeface="+mn-ea"/>
              </a:rPr>
              <a:t>?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09858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4023916" y="2461729"/>
            <a:ext cx="2255663" cy="306146"/>
            <a:chOff x="3982951" y="3679873"/>
            <a:chExt cx="2255663" cy="306146"/>
          </a:xfrm>
        </p:grpSpPr>
        <p:sp>
          <p:nvSpPr>
            <p:cNvPr id="39" name="모서리가 둥근 직사각형 3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아이디 찾기</a:t>
              </a:r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5916119" y="3732918"/>
              <a:ext cx="272832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700" dirty="0">
                  <a:sym typeface="Wingdings" panose="05000000000000000000" pitchFamily="2" charset="2"/>
                </a:rPr>
                <a:t></a:t>
              </a:r>
              <a:endParaRPr lang="ko-KR" altLang="en-US" sz="700" dirty="0"/>
            </a:p>
          </p:txBody>
        </p:sp>
      </p:grp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51067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" name="그룹 2"/>
          <p:cNvGrpSpPr/>
          <p:nvPr/>
        </p:nvGrpSpPr>
        <p:grpSpPr>
          <a:xfrm>
            <a:off x="705041" y="4769160"/>
            <a:ext cx="2652743" cy="1097816"/>
            <a:chOff x="734683" y="4769160"/>
            <a:chExt cx="2652743" cy="1097816"/>
          </a:xfrm>
        </p:grpSpPr>
        <p:sp>
          <p:nvSpPr>
            <p:cNvPr id="44" name="모서리가 둥근 직사각형 43"/>
            <p:cNvSpPr/>
            <p:nvPr/>
          </p:nvSpPr>
          <p:spPr>
            <a:xfrm>
              <a:off x="734683" y="4769160"/>
              <a:ext cx="2652743" cy="1097816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비밀번호를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5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회 이상 잘못 입력할 경우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3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분간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로그인이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제한됩니다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비밀번호찾기를 통해 비밀번호를 변경할 경우 로그인 제한이 해제됩니다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비밀번호 자동완성기능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(ex.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알패스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등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)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은 사용할 수 없습니다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46" name="타원 45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47" name="그룹 46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50" name="직선 연결선 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1" name="직선 연결선 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52" name="그룹 51"/>
          <p:cNvGrpSpPr/>
          <p:nvPr/>
        </p:nvGrpSpPr>
        <p:grpSpPr>
          <a:xfrm>
            <a:off x="4023916" y="2828026"/>
            <a:ext cx="2255663" cy="306146"/>
            <a:chOff x="3982951" y="3679873"/>
            <a:chExt cx="2255663" cy="306146"/>
          </a:xfrm>
        </p:grpSpPr>
        <p:sp>
          <p:nvSpPr>
            <p:cNvPr id="53" name="모서리가 둥근 직사각형 52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비밀번호 찾기</a:t>
              </a:r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5916119" y="3732918"/>
              <a:ext cx="272832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700" dirty="0">
                  <a:sym typeface="Wingdings" panose="05000000000000000000" pitchFamily="2" charset="2"/>
                </a:rPr>
                <a:t></a:t>
              </a:r>
              <a:endParaRPr lang="ko-KR" altLang="en-US" sz="700" dirty="0"/>
            </a:p>
          </p:txBody>
        </p:sp>
      </p:grp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438803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처음</a:t>
            </a:r>
            <a:r>
              <a:rPr lang="ko-KR" altLang="en-US" sz="900" b="1" dirty="0">
                <a:latin typeface="+mn-ea"/>
              </a:rPr>
              <a:t> </a:t>
            </a:r>
            <a:r>
              <a:rPr lang="ko-KR" altLang="en-US" sz="900" b="1" dirty="0" err="1">
                <a:latin typeface="+mn-ea"/>
              </a:rPr>
              <a:t>방문하셨나요</a:t>
            </a:r>
            <a:r>
              <a:rPr lang="en-US" altLang="ko-KR" sz="900" b="1" dirty="0">
                <a:latin typeface="+mn-ea"/>
              </a:rPr>
              <a:t>?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682328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사용자 등록 방법을 자세하게 </a:t>
            </a:r>
            <a:r>
              <a:rPr lang="ko-KR" altLang="en-US" sz="700" dirty="0" err="1">
                <a:latin typeface="+mn-ea"/>
              </a:rPr>
              <a:t>안내드립니다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ko-KR" altLang="en-US" sz="700" dirty="0">
                <a:latin typeface="+mn-ea"/>
              </a:rPr>
              <a:t>모바일에서는 </a:t>
            </a:r>
            <a:r>
              <a:rPr lang="ko-KR" altLang="en-US" sz="700" dirty="0" err="1">
                <a:latin typeface="+mn-ea"/>
              </a:rPr>
              <a:t>업체등록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사용자등록을 지원하지 않습니다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59" name="직선 연결선 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28176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0" name="그룹 59"/>
          <p:cNvGrpSpPr/>
          <p:nvPr/>
        </p:nvGrpSpPr>
        <p:grpSpPr>
          <a:xfrm>
            <a:off x="4023916" y="4045163"/>
            <a:ext cx="2255663" cy="306146"/>
            <a:chOff x="3982951" y="3679873"/>
            <a:chExt cx="2255663" cy="306146"/>
          </a:xfrm>
        </p:grpSpPr>
        <p:sp>
          <p:nvSpPr>
            <p:cNvPr id="61" name="모서리가 둥근 직사각형 60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사용자 등록 안내 </a:t>
              </a:r>
              <a:r>
                <a:rPr lang="ko-KR" altLang="en-US" sz="700" b="1" dirty="0" err="1">
                  <a:latin typeface="+mn-ea"/>
                </a:rPr>
                <a:t>바로가기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63" name="TextBox 62"/>
            <p:cNvSpPr txBox="1"/>
            <p:nvPr/>
          </p:nvSpPr>
          <p:spPr>
            <a:xfrm>
              <a:off x="5916119" y="3732918"/>
              <a:ext cx="272832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700" dirty="0">
                  <a:sym typeface="Wingdings" panose="05000000000000000000" pitchFamily="2" charset="2"/>
                </a:rPr>
                <a:t></a:t>
              </a:r>
              <a:endParaRPr lang="ko-KR" altLang="en-US" sz="700" dirty="0"/>
            </a:p>
          </p:txBody>
        </p:sp>
      </p:grpSp>
      <p:grpSp>
        <p:nvGrpSpPr>
          <p:cNvPr id="64" name="그룹 63"/>
          <p:cNvGrpSpPr/>
          <p:nvPr/>
        </p:nvGrpSpPr>
        <p:grpSpPr>
          <a:xfrm>
            <a:off x="903581" y="2841401"/>
            <a:ext cx="2255663" cy="306146"/>
            <a:chOff x="3982951" y="3679873"/>
            <a:chExt cx="2255663" cy="306146"/>
          </a:xfrm>
        </p:grpSpPr>
        <p:sp>
          <p:nvSpPr>
            <p:cNvPr id="65" name="모서리가 둥근 직사각형 6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아이디를 입력해주세요</a:t>
              </a:r>
            </a:p>
          </p:txBody>
        </p:sp>
      </p:grpSp>
      <p:grpSp>
        <p:nvGrpSpPr>
          <p:cNvPr id="68" name="그룹 67"/>
          <p:cNvGrpSpPr/>
          <p:nvPr/>
        </p:nvGrpSpPr>
        <p:grpSpPr>
          <a:xfrm>
            <a:off x="903581" y="3528470"/>
            <a:ext cx="2255663" cy="306146"/>
            <a:chOff x="3982951" y="3679873"/>
            <a:chExt cx="2255663" cy="306146"/>
          </a:xfrm>
        </p:grpSpPr>
        <p:sp>
          <p:nvSpPr>
            <p:cNvPr id="69" name="모서리가 둥근 직사각형 6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비밀번호를 입력해주세요</a:t>
              </a:r>
            </a:p>
          </p:txBody>
        </p:sp>
      </p:grp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389535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비밀번호</a:t>
            </a:r>
          </a:p>
        </p:txBody>
      </p:sp>
      <p:grpSp>
        <p:nvGrpSpPr>
          <p:cNvPr id="73" name="그룹 72"/>
          <p:cNvGrpSpPr/>
          <p:nvPr/>
        </p:nvGrpSpPr>
        <p:grpSpPr>
          <a:xfrm>
            <a:off x="903580" y="4152648"/>
            <a:ext cx="2255663" cy="306146"/>
            <a:chOff x="3982951" y="3679873"/>
            <a:chExt cx="2255663" cy="306146"/>
          </a:xfrm>
        </p:grpSpPr>
        <p:sp>
          <p:nvSpPr>
            <p:cNvPr id="74" name="모서리가 둥근 직사각형 7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로그인</a:t>
              </a:r>
            </a:p>
          </p:txBody>
        </p:sp>
      </p:grp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179209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874475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</p:spTree>
    <p:extLst>
      <p:ext uri="{BB962C8B-B14F-4D97-AF65-F5344CB8AC3E}">
        <p14:creationId xmlns:p14="http://schemas.microsoft.com/office/powerpoint/2010/main" val="10597684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35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5204" y="70589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1.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6244848"/>
              </p:ext>
            </p:extLst>
          </p:nvPr>
        </p:nvGraphicFramePr>
        <p:xfrm>
          <a:off x="455204" y="935766"/>
          <a:ext cx="8995591" cy="1944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scwin.btn_login_onclick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비밀번호가 일치하면 로그인한다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같은 아이디로 등록한 업체가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있을때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업체 선택창이 나온다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(UI-CM-02-P12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퇴사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탈퇴한 회원은 로그인이 불가능하다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ID/PW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비밀번호 변경일이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90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일이 경과되면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Alert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표시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 - 60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이상 장기 미사용자도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Alert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표시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0302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아이디찾기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scwin.btn_idFndng_onclick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 찾기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UI-CM-02-P</a:t>
                      </a:r>
                      <a:r>
                        <a:rPr lang="en-US" altLang="ko-KR" sz="800" dirty="0">
                          <a:latin typeface="+mn-ea"/>
                        </a:rPr>
                        <a:t>09 </a:t>
                      </a:r>
                      <a:r>
                        <a:rPr lang="ko-KR" altLang="en-US" sz="800" dirty="0">
                          <a:latin typeface="+mn-ea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63140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비밀번호찾기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scwin.btn_pswdFndng_onclick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 찾기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UI-CM-02-P10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79013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사용자등록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안내 클릭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latin typeface="+mn-ea"/>
                          <a:ea typeface="+mn-ea"/>
                        </a:rPr>
                        <a:t>scwin.btn_userRegGuide_onclick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사용자등록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UI-CM-02-M01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35355626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17DF8D80-32E8-5CA9-48DC-8E274B9F1A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82476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33386863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인증 방식 선택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ID </a:t>
            </a:r>
            <a:r>
              <a:rPr lang="ko-KR" altLang="en-US" dirty="0">
                <a:latin typeface="+mn-ea"/>
              </a:rPr>
              <a:t>찾기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ID </a:t>
            </a:r>
            <a:r>
              <a:rPr lang="ko-KR" altLang="en-US" dirty="0">
                <a:latin typeface="+mn-ea"/>
              </a:rPr>
              <a:t>찾기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아이디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찾기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MUI-CM-03-M03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아이디</a:t>
            </a:r>
            <a:r>
              <a:rPr lang="en-US" altLang="ko-KR" sz="800" dirty="0">
                <a:latin typeface="+mn-ea"/>
              </a:rPr>
              <a:t> </a:t>
            </a:r>
            <a:r>
              <a:rPr lang="ko-KR" altLang="en-US" sz="800" dirty="0">
                <a:latin typeface="+mn-ea"/>
              </a:rPr>
              <a:t>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1969936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인증을 통해 아이디를 찾을 수 있습니다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213461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인증 방식을 선택해 주세요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70" name="모서리가 둥근 직사각형 69"/>
          <p:cNvSpPr/>
          <p:nvPr/>
        </p:nvSpPr>
        <p:spPr>
          <a:xfrm>
            <a:off x="936072" y="2480410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2579622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간편인증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72" name="TextBox 71"/>
          <p:cNvSpPr txBox="1"/>
          <p:nvPr/>
        </p:nvSpPr>
        <p:spPr>
          <a:xfrm>
            <a:off x="2869240" y="2533455"/>
            <a:ext cx="27283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ym typeface="Wingdings" panose="05000000000000000000" pitchFamily="2" charset="2"/>
              </a:rPr>
              <a:t></a:t>
            </a:r>
            <a:endParaRPr lang="ko-KR" altLang="en-US" sz="700" dirty="0"/>
          </a:p>
        </p:txBody>
      </p:sp>
      <p:sp>
        <p:nvSpPr>
          <p:cNvPr id="74" name="모서리가 둥근 직사각형 73"/>
          <p:cNvSpPr/>
          <p:nvPr/>
        </p:nvSpPr>
        <p:spPr>
          <a:xfrm>
            <a:off x="936072" y="2865468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2964680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모바일 신분증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2869240" y="2918513"/>
            <a:ext cx="27283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ym typeface="Wingdings" panose="05000000000000000000" pitchFamily="2" charset="2"/>
              </a:rPr>
              <a:t></a:t>
            </a:r>
            <a:endParaRPr lang="ko-KR" altLang="en-US" sz="700" dirty="0"/>
          </a:p>
        </p:txBody>
      </p:sp>
      <p:sp>
        <p:nvSpPr>
          <p:cNvPr id="80" name="모서리가 둥근 직사각형 79"/>
          <p:cNvSpPr/>
          <p:nvPr/>
        </p:nvSpPr>
        <p:spPr>
          <a:xfrm>
            <a:off x="936072" y="3246462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3345674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공동인증서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85" name="TextBox 84"/>
          <p:cNvSpPr txBox="1"/>
          <p:nvPr/>
        </p:nvSpPr>
        <p:spPr>
          <a:xfrm>
            <a:off x="2869240" y="3299507"/>
            <a:ext cx="27283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ym typeface="Wingdings" panose="05000000000000000000" pitchFamily="2" charset="2"/>
              </a:rPr>
              <a:t></a:t>
            </a:r>
            <a:endParaRPr lang="ko-KR" altLang="en-US" sz="700" dirty="0"/>
          </a:p>
        </p:txBody>
      </p:sp>
      <p:sp>
        <p:nvSpPr>
          <p:cNvPr id="87" name="모서리가 둥근 직사각형 86"/>
          <p:cNvSpPr/>
          <p:nvPr/>
        </p:nvSpPr>
        <p:spPr>
          <a:xfrm>
            <a:off x="936072" y="3631520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3730732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금융인증서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89" name="TextBox 88"/>
          <p:cNvSpPr txBox="1"/>
          <p:nvPr/>
        </p:nvSpPr>
        <p:spPr>
          <a:xfrm>
            <a:off x="2869240" y="3684565"/>
            <a:ext cx="27283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ym typeface="Wingdings" panose="05000000000000000000" pitchFamily="2" charset="2"/>
              </a:rPr>
              <a:t></a:t>
            </a:r>
            <a:endParaRPr lang="ko-KR" altLang="en-US" sz="700" dirty="0"/>
          </a:p>
        </p:txBody>
      </p:sp>
      <p:sp>
        <p:nvSpPr>
          <p:cNvPr id="91" name="모서리가 둥근 직사각형 90"/>
          <p:cNvSpPr/>
          <p:nvPr/>
        </p:nvSpPr>
        <p:spPr>
          <a:xfrm>
            <a:off x="936072" y="3997681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4096893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등록정보로</a:t>
            </a:r>
            <a:r>
              <a:rPr lang="ko-KR" altLang="en-US" sz="700" b="1" dirty="0">
                <a:latin typeface="+mn-ea"/>
              </a:rPr>
              <a:t> 찾기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2869240" y="4050726"/>
            <a:ext cx="27283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ym typeface="Wingdings" panose="05000000000000000000" pitchFamily="2" charset="2"/>
              </a:rPr>
              <a:t></a:t>
            </a:r>
            <a:endParaRPr lang="ko-KR" altLang="en-US" sz="700" dirty="0"/>
          </a:p>
        </p:txBody>
      </p:sp>
      <p:sp>
        <p:nvSpPr>
          <p:cNvPr id="25" name="타원 24"/>
          <p:cNvSpPr/>
          <p:nvPr/>
        </p:nvSpPr>
        <p:spPr>
          <a:xfrm>
            <a:off x="1062376" y="4036878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4" name="타원 93"/>
          <p:cNvSpPr/>
          <p:nvPr/>
        </p:nvSpPr>
        <p:spPr>
          <a:xfrm>
            <a:off x="1062376" y="3667405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5" name="타원 94"/>
          <p:cNvSpPr/>
          <p:nvPr/>
        </p:nvSpPr>
        <p:spPr>
          <a:xfrm>
            <a:off x="1062376" y="3276370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타원 95"/>
          <p:cNvSpPr/>
          <p:nvPr/>
        </p:nvSpPr>
        <p:spPr>
          <a:xfrm>
            <a:off x="1062376" y="2904536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7" name="타원 96"/>
          <p:cNvSpPr/>
          <p:nvPr/>
        </p:nvSpPr>
        <p:spPr>
          <a:xfrm>
            <a:off x="1062376" y="2517850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17285838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정보 입력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ID </a:t>
            </a:r>
            <a:r>
              <a:rPr lang="ko-KR" altLang="en-US" dirty="0" err="1">
                <a:latin typeface="+mn-ea"/>
              </a:rPr>
              <a:t>등록정보로</a:t>
            </a:r>
            <a:r>
              <a:rPr lang="ko-KR" altLang="en-US" dirty="0">
                <a:latin typeface="+mn-ea"/>
              </a:rPr>
              <a:t> 찾기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ID </a:t>
            </a:r>
            <a:r>
              <a:rPr lang="ko-KR" altLang="en-US" dirty="0" err="1">
                <a:latin typeface="+mn-ea"/>
              </a:rPr>
              <a:t>등록정보로</a:t>
            </a:r>
            <a:r>
              <a:rPr lang="ko-KR" altLang="en-US" dirty="0">
                <a:latin typeface="+mn-ea"/>
              </a:rPr>
              <a:t> 찾기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ID/PW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ID </a:t>
            </a:r>
            <a:r>
              <a:rPr lang="ko-KR" altLang="en-US" dirty="0" err="1">
                <a:latin typeface="+mn-ea"/>
              </a:rPr>
              <a:t>등록정보로</a:t>
            </a:r>
            <a:r>
              <a:rPr lang="ko-KR" altLang="en-US" dirty="0">
                <a:latin typeface="+mn-ea"/>
              </a:rPr>
              <a:t> 찾기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ID </a:t>
            </a:r>
            <a:r>
              <a:rPr lang="ko-KR" altLang="en-US" sz="800" dirty="0" err="1">
                <a:latin typeface="+mn-ea"/>
              </a:rPr>
              <a:t>등록정보로</a:t>
            </a:r>
            <a:r>
              <a:rPr lang="ko-KR" altLang="en-US" sz="800" dirty="0">
                <a:latin typeface="+mn-ea"/>
              </a:rPr>
              <a:t> 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69426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사용자 구분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213461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회원가입시</a:t>
            </a:r>
            <a:r>
              <a:rPr lang="ko-KR" altLang="en-US" sz="700" dirty="0">
                <a:latin typeface="+mn-ea"/>
              </a:rPr>
              <a:t> 등록한 정보를 정확히 입력해주세요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64" name="그룹 63"/>
          <p:cNvGrpSpPr/>
          <p:nvPr/>
        </p:nvGrpSpPr>
        <p:grpSpPr>
          <a:xfrm>
            <a:off x="903581" y="2841401"/>
            <a:ext cx="2255663" cy="306146"/>
            <a:chOff x="3982951" y="3679873"/>
            <a:chExt cx="2255663" cy="306146"/>
          </a:xfrm>
        </p:grpSpPr>
        <p:sp>
          <p:nvSpPr>
            <p:cNvPr id="65" name="모서리가 둥근 직사각형 6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조달업체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68" name="그룹 67"/>
          <p:cNvGrpSpPr/>
          <p:nvPr/>
        </p:nvGrpSpPr>
        <p:grpSpPr>
          <a:xfrm>
            <a:off x="903581" y="3528470"/>
            <a:ext cx="2255663" cy="306146"/>
            <a:chOff x="3982951" y="3679873"/>
            <a:chExt cx="2255663" cy="306146"/>
          </a:xfrm>
        </p:grpSpPr>
        <p:sp>
          <p:nvSpPr>
            <p:cNvPr id="69" name="모서리가 둥근 직사각형 6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‘-’ </a:t>
              </a:r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없이 입력해주세요</a:t>
              </a:r>
            </a:p>
          </p:txBody>
        </p:sp>
      </p:grp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389535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사업자등록번호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903580" y="5683445"/>
            <a:ext cx="2255663" cy="306146"/>
            <a:chOff x="3982951" y="3679873"/>
            <a:chExt cx="2255663" cy="306146"/>
          </a:xfrm>
        </p:grpSpPr>
        <p:sp>
          <p:nvSpPr>
            <p:cNvPr id="74" name="모서리가 둥근 직사각형 7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아이디 찾기</a:t>
              </a:r>
            </a:p>
          </p:txBody>
        </p:sp>
      </p:grp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874475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1969936"/>
            <a:ext cx="2079136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아이디</a:t>
            </a:r>
            <a:r>
              <a:rPr lang="en-US" altLang="ko-KR" sz="900" b="1" dirty="0">
                <a:latin typeface="+mn-ea"/>
              </a:rPr>
              <a:t> </a:t>
            </a:r>
            <a:r>
              <a:rPr lang="ko-KR" altLang="en-US" sz="900" b="1" dirty="0" err="1">
                <a:latin typeface="+mn-ea"/>
              </a:rPr>
              <a:t>등록정보로</a:t>
            </a:r>
            <a:r>
              <a:rPr lang="ko-KR" altLang="en-US" sz="900" b="1" dirty="0">
                <a:latin typeface="+mn-ea"/>
              </a:rPr>
              <a:t> 찾기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057130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사용자명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76" name="그룹 75"/>
          <p:cNvGrpSpPr/>
          <p:nvPr/>
        </p:nvGrpSpPr>
        <p:grpSpPr>
          <a:xfrm>
            <a:off x="903581" y="4204262"/>
            <a:ext cx="2255663" cy="306146"/>
            <a:chOff x="3982951" y="3679873"/>
            <a:chExt cx="2255663" cy="306146"/>
          </a:xfrm>
        </p:grpSpPr>
        <p:sp>
          <p:nvSpPr>
            <p:cNvPr id="85" name="모서리가 둥근 직사각형 8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공백없이 입력해주세요</a:t>
              </a:r>
            </a:p>
          </p:txBody>
        </p:sp>
      </p:grpSp>
      <p:grpSp>
        <p:nvGrpSpPr>
          <p:cNvPr id="87" name="그룹 86"/>
          <p:cNvGrpSpPr/>
          <p:nvPr/>
        </p:nvGrpSpPr>
        <p:grpSpPr>
          <a:xfrm>
            <a:off x="903581" y="4891331"/>
            <a:ext cx="2255663" cy="306146"/>
            <a:chOff x="3982951" y="3679873"/>
            <a:chExt cx="2255663" cy="306146"/>
          </a:xfrm>
        </p:grpSpPr>
        <p:sp>
          <p:nvSpPr>
            <p:cNvPr id="88" name="모서리가 둥근 직사각형 87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생년월일 </a:t>
              </a:r>
              <a:r>
                <a:rPr lang="en-US" altLang="ko-KR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6</a:t>
              </a:r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자리를 입력해주세요</a:t>
              </a:r>
            </a:p>
          </p:txBody>
        </p:sp>
      </p:grp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75239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사용자 주민등록번호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542070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5237336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389535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4057130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4752396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708058655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38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4142" y="232628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1.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4142" y="2552876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scwin.btn_idnty_onclick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필수 항목 입력 후 일치하면 아이디를 확인한다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6314079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E5FCD92D-2655-D6F2-574A-C004CB79A8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1717" y="244515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CF284BC-5254-CB73-5F71-6703F57988DF}"/>
              </a:ext>
            </a:extLst>
          </p:cNvPr>
          <p:cNvSpPr txBox="1"/>
          <p:nvPr/>
        </p:nvSpPr>
        <p:spPr>
          <a:xfrm>
            <a:off x="459967" y="623130"/>
            <a:ext cx="827718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8964600-67B3-5988-06BA-C9372916B372}"/>
              </a:ext>
            </a:extLst>
          </p:cNvPr>
          <p:cNvSpPr txBox="1"/>
          <p:nvPr/>
        </p:nvSpPr>
        <p:spPr>
          <a:xfrm>
            <a:off x="454850" y="890760"/>
            <a:ext cx="234736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사용자정보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424C8D3F-8A4B-6219-B502-22D57934FB4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4850" y="1104443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userTkcgTaskCd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64318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 주민등록번호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userEnrrno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 주민등록번호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0789042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CD2842F3-6D38-6940-E1ED-871F450208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8335" y="744479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8470705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화면 </a:t>
            </a:r>
            <a:r>
              <a:rPr lang="en-US" altLang="ko-KR" dirty="0"/>
              <a:t>– </a:t>
            </a:r>
            <a:r>
              <a:rPr lang="ko-KR" altLang="en-US" dirty="0"/>
              <a:t>성공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화면 </a:t>
            </a:r>
            <a:r>
              <a:rPr lang="en-US" altLang="ko-KR" dirty="0"/>
              <a:t>– </a:t>
            </a:r>
            <a:r>
              <a:rPr lang="ko-KR" altLang="en-US" dirty="0"/>
              <a:t>실패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ID </a:t>
            </a:r>
            <a:r>
              <a:rPr lang="ko-KR" altLang="en-US" dirty="0">
                <a:latin typeface="+mn-ea"/>
              </a:rPr>
              <a:t>찾기 결과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ID </a:t>
            </a:r>
            <a:r>
              <a:rPr lang="ko-KR" altLang="en-US" dirty="0">
                <a:latin typeface="+mn-ea"/>
              </a:rPr>
              <a:t>찾기 결과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ID </a:t>
            </a:r>
            <a:r>
              <a:rPr lang="ko-KR" altLang="en-US" dirty="0">
                <a:latin typeface="+mn-ea"/>
              </a:rPr>
              <a:t>찾기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MUI-CM-03-M05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아이디</a:t>
            </a:r>
            <a:r>
              <a:rPr lang="en-US" altLang="ko-KR" sz="800" dirty="0">
                <a:latin typeface="+mn-ea"/>
              </a:rPr>
              <a:t> </a:t>
            </a:r>
            <a:r>
              <a:rPr lang="ko-KR" altLang="en-US" sz="800" dirty="0">
                <a:latin typeface="+mn-ea"/>
              </a:rPr>
              <a:t>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346145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사용자 </a:t>
            </a:r>
            <a:r>
              <a:rPr lang="en-US" altLang="ko-KR" sz="900" b="1" dirty="0">
                <a:latin typeface="+mn-ea"/>
              </a:rPr>
              <a:t>ID</a:t>
            </a:r>
            <a:r>
              <a:rPr lang="ko-KR" altLang="en-US" sz="900" b="1" dirty="0">
                <a:latin typeface="+mn-ea"/>
              </a:rPr>
              <a:t>를 확인해주세요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651557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b="1" dirty="0" err="1">
                <a:latin typeface="+mn-ea"/>
              </a:rPr>
              <a:t>소속업체명</a:t>
            </a:r>
            <a:endParaRPr lang="ko-KR" altLang="en-US" sz="800" b="1" dirty="0">
              <a:latin typeface="+mn-ea"/>
            </a:endParaRP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5182845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3" name="그룹 62"/>
          <p:cNvGrpSpPr/>
          <p:nvPr/>
        </p:nvGrpSpPr>
        <p:grpSpPr>
          <a:xfrm>
            <a:off x="903580" y="5313484"/>
            <a:ext cx="2255663" cy="306146"/>
            <a:chOff x="3982951" y="3679873"/>
            <a:chExt cx="2255663" cy="306146"/>
          </a:xfrm>
        </p:grpSpPr>
        <p:sp>
          <p:nvSpPr>
            <p:cNvPr id="64" name="모서리가 둥근 직사각형 6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b="1" dirty="0">
                  <a:solidFill>
                    <a:schemeClr val="bg1"/>
                  </a:solidFill>
                  <a:latin typeface="+mn-ea"/>
                </a:rPr>
                <a:t>ID/PW </a:t>
              </a:r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로그인 </a:t>
              </a:r>
              <a:r>
                <a:rPr lang="ko-KR" altLang="en-US" sz="700" b="1" dirty="0" err="1">
                  <a:solidFill>
                    <a:schemeClr val="bg1"/>
                  </a:solidFill>
                  <a:latin typeface="+mn-ea"/>
                </a:rPr>
                <a:t>바로가기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grpSp>
        <p:nvGrpSpPr>
          <p:cNvPr id="66" name="그룹 65"/>
          <p:cNvGrpSpPr/>
          <p:nvPr/>
        </p:nvGrpSpPr>
        <p:grpSpPr>
          <a:xfrm>
            <a:off x="903580" y="5694905"/>
            <a:ext cx="2255663" cy="306146"/>
            <a:chOff x="3982951" y="3679873"/>
            <a:chExt cx="2255663" cy="306146"/>
          </a:xfrm>
        </p:grpSpPr>
        <p:sp>
          <p:nvSpPr>
            <p:cNvPr id="67" name="모서리가 둥근 직사각형 66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rgbClr val="0070C0"/>
                  </a:solidFill>
                  <a:latin typeface="+mn-ea"/>
                </a:rPr>
                <a:t>비밀번호 찾기</a:t>
              </a:r>
            </a:p>
          </p:txBody>
        </p:sp>
      </p:grp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831683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dirty="0">
                <a:latin typeface="+mn-ea"/>
              </a:rPr>
              <a:t>㈜</a:t>
            </a:r>
            <a:r>
              <a:rPr lang="en-US" altLang="ko-KR" sz="800" dirty="0">
                <a:latin typeface="+mn-ea"/>
              </a:rPr>
              <a:t>ABC </a:t>
            </a:r>
            <a:r>
              <a:rPr lang="ko-KR" altLang="en-US" sz="800" dirty="0">
                <a:latin typeface="+mn-ea"/>
              </a:rPr>
              <a:t>업체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4145009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b="1" dirty="0">
                <a:latin typeface="+mn-ea"/>
              </a:rPr>
              <a:t>아이디</a:t>
            </a:r>
          </a:p>
        </p:txBody>
      </p:sp>
      <p:sp>
        <p:nvSpPr>
          <p:cNvPr id="71" name="타원 70"/>
          <p:cNvSpPr/>
          <p:nvPr/>
        </p:nvSpPr>
        <p:spPr>
          <a:xfrm>
            <a:off x="1702201" y="2419419"/>
            <a:ext cx="658422" cy="658418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4337202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abcdef1234</a:t>
            </a:r>
            <a:endParaRPr lang="ko-KR" altLang="en-US" sz="800" dirty="0">
              <a:latin typeface="+mn-ea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아이디</a:t>
            </a:r>
            <a:r>
              <a:rPr lang="en-US" altLang="ko-KR" sz="800" dirty="0">
                <a:latin typeface="+mn-ea"/>
              </a:rPr>
              <a:t> </a:t>
            </a:r>
            <a:r>
              <a:rPr lang="ko-KR" altLang="en-US" sz="800" dirty="0">
                <a:latin typeface="+mn-ea"/>
              </a:rPr>
              <a:t>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6" name="그룹 75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77" name="직선 연결선 7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0" name="직선 연결선 7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4" name="타원 83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346145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사용자 </a:t>
            </a:r>
            <a:r>
              <a:rPr lang="en-US" altLang="ko-KR" sz="900" b="1" dirty="0">
                <a:latin typeface="+mn-ea"/>
              </a:rPr>
              <a:t>ID</a:t>
            </a:r>
            <a:r>
              <a:rPr lang="ko-KR" altLang="en-US" sz="900" b="1" dirty="0">
                <a:latin typeface="+mn-ea"/>
              </a:rPr>
              <a:t>를 확인할 수 없습니다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651557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b="1" dirty="0">
                <a:latin typeface="+mn-ea"/>
              </a:rPr>
              <a:t>가입된 </a:t>
            </a:r>
            <a:r>
              <a:rPr lang="ko-KR" altLang="en-US" sz="800" b="1" dirty="0" err="1">
                <a:latin typeface="+mn-ea"/>
              </a:rPr>
              <a:t>인증정보가</a:t>
            </a:r>
            <a:r>
              <a:rPr lang="ko-KR" altLang="en-US" sz="800" b="1" dirty="0">
                <a:latin typeface="+mn-ea"/>
              </a:rPr>
              <a:t> 없습니다</a:t>
            </a:r>
            <a:r>
              <a:rPr lang="en-US" altLang="ko-KR" sz="800" b="1" dirty="0">
                <a:latin typeface="+mn-ea"/>
              </a:rPr>
              <a:t>.</a:t>
            </a:r>
          </a:p>
        </p:txBody>
      </p:sp>
      <p:sp>
        <p:nvSpPr>
          <p:cNvPr id="87" name="타원 86"/>
          <p:cNvSpPr/>
          <p:nvPr/>
        </p:nvSpPr>
        <p:spPr>
          <a:xfrm>
            <a:off x="4822536" y="2419419"/>
            <a:ext cx="658422" cy="658418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9606" y="5564266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9" name="그룹 88"/>
          <p:cNvGrpSpPr/>
          <p:nvPr/>
        </p:nvGrpSpPr>
        <p:grpSpPr>
          <a:xfrm>
            <a:off x="4023916" y="5694905"/>
            <a:ext cx="2255663" cy="306146"/>
            <a:chOff x="3982951" y="3679873"/>
            <a:chExt cx="2255663" cy="306146"/>
          </a:xfrm>
        </p:grpSpPr>
        <p:sp>
          <p:nvSpPr>
            <p:cNvPr id="90" name="모서리가 둥근 직사각형 89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사용자 등록 안내 </a:t>
              </a:r>
              <a:r>
                <a:rPr lang="ko-KR" altLang="en-US" sz="700" b="1" dirty="0" err="1">
                  <a:solidFill>
                    <a:schemeClr val="bg1"/>
                  </a:solidFill>
                  <a:latin typeface="+mn-ea"/>
                </a:rPr>
                <a:t>바로가기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95" name="타원 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7064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104932122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아이디 입력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인증 방식 선택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아이디 미 입력</a:t>
            </a:r>
            <a:r>
              <a:rPr lang="en-US" altLang="ko-KR" dirty="0"/>
              <a:t>, </a:t>
            </a:r>
            <a:r>
              <a:rPr lang="ko-KR" altLang="en-US" dirty="0"/>
              <a:t>없는 아이디로</a:t>
            </a:r>
            <a:r>
              <a:rPr lang="en-US" altLang="ko-KR" dirty="0"/>
              <a:t> </a:t>
            </a:r>
            <a:r>
              <a:rPr lang="ko-KR" altLang="en-US" dirty="0"/>
              <a:t>인증 방식 클릭 시 유효성 메시지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아이디를 정확히 입력해주세요</a:t>
            </a:r>
            <a:r>
              <a:rPr lang="en-US" altLang="ko-KR" dirty="0">
                <a:sym typeface="Wingdings" panose="05000000000000000000" pitchFamily="2" charset="2"/>
              </a:rPr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PW </a:t>
            </a:r>
            <a:r>
              <a:rPr lang="ko-KR" altLang="en-US" dirty="0">
                <a:latin typeface="+mn-ea"/>
              </a:rPr>
              <a:t>찾기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비밀번호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찾기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비밀번호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찾기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MUI-CM-03-M06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비밀번호</a:t>
            </a:r>
            <a:r>
              <a:rPr lang="en-US" altLang="ko-KR" sz="800" dirty="0">
                <a:latin typeface="+mn-ea"/>
              </a:rPr>
              <a:t> </a:t>
            </a:r>
            <a:r>
              <a:rPr lang="ko-KR" altLang="en-US" sz="800" dirty="0">
                <a:latin typeface="+mn-ea"/>
              </a:rPr>
              <a:t>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788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1969936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인증을 통해 비밀번호를 변경할 수 있습니다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213461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아이디를 입력해 주세요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70" name="모서리가 둥근 직사각형 69"/>
          <p:cNvSpPr/>
          <p:nvPr/>
        </p:nvSpPr>
        <p:spPr>
          <a:xfrm>
            <a:off x="936072" y="3289063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3388275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간편인증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72" name="TextBox 71"/>
          <p:cNvSpPr txBox="1"/>
          <p:nvPr/>
        </p:nvSpPr>
        <p:spPr>
          <a:xfrm>
            <a:off x="2869240" y="3342108"/>
            <a:ext cx="27283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ym typeface="Wingdings" panose="05000000000000000000" pitchFamily="2" charset="2"/>
              </a:rPr>
              <a:t></a:t>
            </a:r>
            <a:endParaRPr lang="ko-KR" altLang="en-US" sz="700" dirty="0"/>
          </a:p>
        </p:txBody>
      </p:sp>
      <p:sp>
        <p:nvSpPr>
          <p:cNvPr id="74" name="모서리가 둥근 직사각형 73"/>
          <p:cNvSpPr/>
          <p:nvPr/>
        </p:nvSpPr>
        <p:spPr>
          <a:xfrm>
            <a:off x="936072" y="3674121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3773333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모바일 신분증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2869240" y="3727166"/>
            <a:ext cx="27283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ym typeface="Wingdings" panose="05000000000000000000" pitchFamily="2" charset="2"/>
              </a:rPr>
              <a:t></a:t>
            </a:r>
            <a:endParaRPr lang="ko-KR" altLang="en-US" sz="700" dirty="0"/>
          </a:p>
        </p:txBody>
      </p:sp>
      <p:sp>
        <p:nvSpPr>
          <p:cNvPr id="80" name="모서리가 둥근 직사각형 79"/>
          <p:cNvSpPr/>
          <p:nvPr/>
        </p:nvSpPr>
        <p:spPr>
          <a:xfrm>
            <a:off x="936072" y="4055115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4154327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공동인증서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85" name="TextBox 84"/>
          <p:cNvSpPr txBox="1"/>
          <p:nvPr/>
        </p:nvSpPr>
        <p:spPr>
          <a:xfrm>
            <a:off x="2869240" y="4108160"/>
            <a:ext cx="27283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ym typeface="Wingdings" panose="05000000000000000000" pitchFamily="2" charset="2"/>
              </a:rPr>
              <a:t></a:t>
            </a:r>
            <a:endParaRPr lang="ko-KR" altLang="en-US" sz="700" dirty="0"/>
          </a:p>
        </p:txBody>
      </p:sp>
      <p:sp>
        <p:nvSpPr>
          <p:cNvPr id="87" name="모서리가 둥근 직사각형 86"/>
          <p:cNvSpPr/>
          <p:nvPr/>
        </p:nvSpPr>
        <p:spPr>
          <a:xfrm>
            <a:off x="936072" y="4440173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4539385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금융인증서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89" name="TextBox 88"/>
          <p:cNvSpPr txBox="1"/>
          <p:nvPr/>
        </p:nvSpPr>
        <p:spPr>
          <a:xfrm>
            <a:off x="2869240" y="4493218"/>
            <a:ext cx="27283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ym typeface="Wingdings" panose="05000000000000000000" pitchFamily="2" charset="2"/>
              </a:rPr>
              <a:t></a:t>
            </a:r>
            <a:endParaRPr lang="ko-KR" altLang="en-US" sz="700" dirty="0"/>
          </a:p>
        </p:txBody>
      </p:sp>
      <p:sp>
        <p:nvSpPr>
          <p:cNvPr id="91" name="모서리가 둥근 직사각형 90"/>
          <p:cNvSpPr/>
          <p:nvPr/>
        </p:nvSpPr>
        <p:spPr>
          <a:xfrm>
            <a:off x="936072" y="4806334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4905546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등록정보로</a:t>
            </a:r>
            <a:r>
              <a:rPr lang="ko-KR" altLang="en-US" sz="700" b="1" dirty="0">
                <a:latin typeface="+mn-ea"/>
              </a:rPr>
              <a:t> 찾기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2869240" y="4859379"/>
            <a:ext cx="27283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ym typeface="Wingdings" panose="05000000000000000000" pitchFamily="2" charset="2"/>
              </a:rPr>
              <a:t></a:t>
            </a:r>
            <a:endParaRPr lang="ko-KR" altLang="en-US" sz="700" dirty="0"/>
          </a:p>
        </p:txBody>
      </p:sp>
      <p:sp>
        <p:nvSpPr>
          <p:cNvPr id="25" name="타원 24"/>
          <p:cNvSpPr/>
          <p:nvPr/>
        </p:nvSpPr>
        <p:spPr>
          <a:xfrm>
            <a:off x="1062376" y="4845531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4" name="타원 93"/>
          <p:cNvSpPr/>
          <p:nvPr/>
        </p:nvSpPr>
        <p:spPr>
          <a:xfrm>
            <a:off x="1062376" y="4476058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5" name="타원 94"/>
          <p:cNvSpPr/>
          <p:nvPr/>
        </p:nvSpPr>
        <p:spPr>
          <a:xfrm>
            <a:off x="1062376" y="4085023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타원 95"/>
          <p:cNvSpPr/>
          <p:nvPr/>
        </p:nvSpPr>
        <p:spPr>
          <a:xfrm>
            <a:off x="1062376" y="3713189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7" name="타원 96"/>
          <p:cNvSpPr/>
          <p:nvPr/>
        </p:nvSpPr>
        <p:spPr>
          <a:xfrm>
            <a:off x="1062376" y="3326503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034600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인증 방식을 선택해 주세요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44" name="그룹 43"/>
          <p:cNvGrpSpPr/>
          <p:nvPr/>
        </p:nvGrpSpPr>
        <p:grpSpPr>
          <a:xfrm>
            <a:off x="903581" y="2480410"/>
            <a:ext cx="2255663" cy="306146"/>
            <a:chOff x="3982951" y="3679873"/>
            <a:chExt cx="2255663" cy="306146"/>
          </a:xfrm>
        </p:grpSpPr>
        <p:sp>
          <p:nvSpPr>
            <p:cNvPr id="45" name="모서리가 둥근 직사각형 4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아이디를 입력해주세요</a:t>
              </a:r>
            </a:p>
          </p:txBody>
        </p:sp>
      </p:grpSp>
      <p:sp>
        <p:nvSpPr>
          <p:cNvPr id="47" name="타원 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51521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812742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</p:spTree>
    <p:extLst>
      <p:ext uri="{BB962C8B-B14F-4D97-AF65-F5344CB8AC3E}">
        <p14:creationId xmlns:p14="http://schemas.microsoft.com/office/powerpoint/2010/main" val="994007192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정보 입력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PW </a:t>
            </a:r>
            <a:r>
              <a:rPr lang="ko-KR" altLang="en-US" dirty="0" err="1">
                <a:latin typeface="+mn-ea"/>
              </a:rPr>
              <a:t>등록정보로</a:t>
            </a:r>
            <a:r>
              <a:rPr lang="ko-KR" altLang="en-US" dirty="0">
                <a:latin typeface="+mn-ea"/>
              </a:rPr>
              <a:t> 찾기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비밀번호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 err="1">
                <a:latin typeface="+mn-ea"/>
              </a:rPr>
              <a:t>등록정보로</a:t>
            </a:r>
            <a:r>
              <a:rPr lang="ko-KR" altLang="en-US" dirty="0">
                <a:latin typeface="+mn-ea"/>
              </a:rPr>
              <a:t> 찾기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ID/PW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PW </a:t>
            </a:r>
            <a:r>
              <a:rPr lang="ko-KR" altLang="en-US" dirty="0" err="1">
                <a:latin typeface="+mn-ea"/>
              </a:rPr>
              <a:t>등록정보로</a:t>
            </a:r>
            <a:r>
              <a:rPr lang="ko-KR" altLang="en-US" dirty="0">
                <a:latin typeface="+mn-ea"/>
              </a:rPr>
              <a:t> 찾기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MUI-CM-03-M07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ID </a:t>
            </a:r>
            <a:r>
              <a:rPr lang="ko-KR" altLang="en-US" sz="800" dirty="0" err="1">
                <a:latin typeface="+mn-ea"/>
              </a:rPr>
              <a:t>등록정보로</a:t>
            </a:r>
            <a:r>
              <a:rPr lang="ko-KR" altLang="en-US" sz="800" dirty="0">
                <a:latin typeface="+mn-ea"/>
              </a:rPr>
              <a:t> 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493678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사용자 구분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213461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회원가입시</a:t>
            </a:r>
            <a:r>
              <a:rPr lang="ko-KR" altLang="en-US" sz="700" dirty="0">
                <a:latin typeface="+mn-ea"/>
              </a:rPr>
              <a:t> 등록한 정보를 정확히 입력해주세요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64" name="그룹 63"/>
          <p:cNvGrpSpPr/>
          <p:nvPr/>
        </p:nvGrpSpPr>
        <p:grpSpPr>
          <a:xfrm>
            <a:off x="903581" y="2640810"/>
            <a:ext cx="2255663" cy="306146"/>
            <a:chOff x="3982951" y="3679873"/>
            <a:chExt cx="2255663" cy="306146"/>
          </a:xfrm>
        </p:grpSpPr>
        <p:sp>
          <p:nvSpPr>
            <p:cNvPr id="65" name="모서리가 둥근 직사각형 6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조달업체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68" name="그룹 67"/>
          <p:cNvGrpSpPr/>
          <p:nvPr/>
        </p:nvGrpSpPr>
        <p:grpSpPr>
          <a:xfrm>
            <a:off x="903581" y="3327879"/>
            <a:ext cx="2255663" cy="306146"/>
            <a:chOff x="3982951" y="3679873"/>
            <a:chExt cx="2255663" cy="306146"/>
          </a:xfrm>
        </p:grpSpPr>
        <p:sp>
          <p:nvSpPr>
            <p:cNvPr id="69" name="모서리가 둥근 직사각형 6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‘-’ </a:t>
              </a:r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없이 입력해주세요</a:t>
              </a:r>
            </a:p>
          </p:txBody>
        </p:sp>
      </p:grp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188944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사업자 아이디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903580" y="5898062"/>
            <a:ext cx="2255663" cy="306146"/>
            <a:chOff x="3982951" y="3679873"/>
            <a:chExt cx="2255663" cy="306146"/>
          </a:xfrm>
        </p:grpSpPr>
        <p:sp>
          <p:nvSpPr>
            <p:cNvPr id="74" name="모서리가 둥근 직사각형 7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비밀번호 찾기</a:t>
              </a:r>
            </a:p>
          </p:txBody>
        </p:sp>
      </p:grp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673884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1969936"/>
            <a:ext cx="2079136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아이디</a:t>
            </a:r>
            <a:r>
              <a:rPr lang="en-US" altLang="ko-KR" sz="900" b="1" dirty="0">
                <a:latin typeface="+mn-ea"/>
              </a:rPr>
              <a:t> </a:t>
            </a:r>
            <a:r>
              <a:rPr lang="ko-KR" altLang="en-US" sz="900" b="1" dirty="0" err="1">
                <a:latin typeface="+mn-ea"/>
              </a:rPr>
              <a:t>등록정보로</a:t>
            </a:r>
            <a:r>
              <a:rPr lang="ko-KR" altLang="en-US" sz="900" b="1" dirty="0">
                <a:latin typeface="+mn-ea"/>
              </a:rPr>
              <a:t> 찾기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85653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사업자등록번호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76" name="그룹 75"/>
          <p:cNvGrpSpPr/>
          <p:nvPr/>
        </p:nvGrpSpPr>
        <p:grpSpPr>
          <a:xfrm>
            <a:off x="903581" y="4003671"/>
            <a:ext cx="2255663" cy="306146"/>
            <a:chOff x="3982951" y="3679873"/>
            <a:chExt cx="2255663" cy="306146"/>
          </a:xfrm>
        </p:grpSpPr>
        <p:sp>
          <p:nvSpPr>
            <p:cNvPr id="85" name="모서리가 둥근 직사각형 8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공백없이 입력해주세요</a:t>
              </a:r>
            </a:p>
          </p:txBody>
        </p:sp>
      </p:grpSp>
      <p:grpSp>
        <p:nvGrpSpPr>
          <p:cNvPr id="87" name="그룹 86"/>
          <p:cNvGrpSpPr/>
          <p:nvPr/>
        </p:nvGrpSpPr>
        <p:grpSpPr>
          <a:xfrm>
            <a:off x="903581" y="4690740"/>
            <a:ext cx="2255663" cy="306146"/>
            <a:chOff x="3982951" y="3679873"/>
            <a:chExt cx="2255663" cy="306146"/>
          </a:xfrm>
        </p:grpSpPr>
        <p:sp>
          <p:nvSpPr>
            <p:cNvPr id="88" name="모서리가 둥근 직사각형 87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생년월일 </a:t>
              </a:r>
              <a:r>
                <a:rPr lang="en-US" altLang="ko-KR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6</a:t>
              </a:r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자리를 입력해주세요</a:t>
              </a:r>
            </a:p>
          </p:txBody>
        </p:sp>
      </p:grp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551805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사용자명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341479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5036745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188944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856539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4551805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44" name="그룹 43"/>
          <p:cNvGrpSpPr/>
          <p:nvPr/>
        </p:nvGrpSpPr>
        <p:grpSpPr>
          <a:xfrm>
            <a:off x="903581" y="5384653"/>
            <a:ext cx="2255663" cy="306146"/>
            <a:chOff x="3982951" y="3679873"/>
            <a:chExt cx="2255663" cy="306146"/>
          </a:xfrm>
        </p:grpSpPr>
        <p:sp>
          <p:nvSpPr>
            <p:cNvPr id="45" name="모서리가 둥근 직사각형 4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생년월일 </a:t>
              </a:r>
              <a:r>
                <a:rPr lang="en-US" altLang="ko-KR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6</a:t>
              </a:r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자리를 입력해주세요</a:t>
              </a:r>
            </a:p>
          </p:txBody>
        </p:sp>
      </p:grpSp>
      <p:sp>
        <p:nvSpPr>
          <p:cNvPr id="47" name="TextBox 4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5245718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사용자 주민등록번호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5730658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5245718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32544697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42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4142" y="232628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1.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4142" y="2552876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scwin.btn_idnty_onclick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필수 항목 입력 후 일치하면 아이디를 확인한다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6314079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E5FCD92D-2655-D6F2-574A-C004CB79A8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1717" y="244515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CF284BC-5254-CB73-5F71-6703F57988DF}"/>
              </a:ext>
            </a:extLst>
          </p:cNvPr>
          <p:cNvSpPr txBox="1"/>
          <p:nvPr/>
        </p:nvSpPr>
        <p:spPr>
          <a:xfrm>
            <a:off x="459967" y="623130"/>
            <a:ext cx="827718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8964600-67B3-5988-06BA-C9372916B372}"/>
              </a:ext>
            </a:extLst>
          </p:cNvPr>
          <p:cNvSpPr txBox="1"/>
          <p:nvPr/>
        </p:nvSpPr>
        <p:spPr>
          <a:xfrm>
            <a:off x="454850" y="890760"/>
            <a:ext cx="234736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사용자정보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424C8D3F-8A4B-6219-B502-22D57934FB4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4850" y="1104443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userTkcgTaskCd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64318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 주민등록번호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userEnrrno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 주민등록번호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0789042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CD2842F3-6D38-6940-E1ED-871F450208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8335" y="744479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48369353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화면 </a:t>
            </a:r>
            <a:r>
              <a:rPr lang="en-US" altLang="ko-KR" dirty="0"/>
              <a:t>– </a:t>
            </a:r>
            <a:r>
              <a:rPr lang="ko-KR" altLang="en-US" dirty="0"/>
              <a:t>성공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화면 </a:t>
            </a:r>
            <a:r>
              <a:rPr lang="en-US" altLang="ko-KR" dirty="0"/>
              <a:t>– </a:t>
            </a:r>
            <a:r>
              <a:rPr lang="ko-KR" altLang="en-US" dirty="0"/>
              <a:t>실패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PW </a:t>
            </a:r>
            <a:r>
              <a:rPr lang="ko-KR" altLang="en-US" dirty="0">
                <a:latin typeface="+mn-ea"/>
              </a:rPr>
              <a:t>찾기 결과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비밀번호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찾기 결과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PW </a:t>
            </a:r>
            <a:r>
              <a:rPr lang="ko-KR" altLang="en-US" dirty="0">
                <a:latin typeface="+mn-ea"/>
              </a:rPr>
              <a:t>찾기 결과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MUI-CM-03-M08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비밀번호</a:t>
            </a:r>
            <a:r>
              <a:rPr lang="en-US" altLang="ko-KR" sz="800" dirty="0">
                <a:latin typeface="+mn-ea"/>
              </a:rPr>
              <a:t> </a:t>
            </a:r>
            <a:r>
              <a:rPr lang="ko-KR" altLang="en-US" sz="800" dirty="0">
                <a:latin typeface="+mn-ea"/>
              </a:rPr>
              <a:t>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2392156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사용자 비밀번호를 새롭게 변경해주세요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5641885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3" name="그룹 62"/>
          <p:cNvGrpSpPr/>
          <p:nvPr/>
        </p:nvGrpSpPr>
        <p:grpSpPr>
          <a:xfrm>
            <a:off x="903580" y="5772524"/>
            <a:ext cx="2255663" cy="306146"/>
            <a:chOff x="3982951" y="3679873"/>
            <a:chExt cx="2255663" cy="306146"/>
          </a:xfrm>
        </p:grpSpPr>
        <p:sp>
          <p:nvSpPr>
            <p:cNvPr id="64" name="모서리가 둥근 직사각형 6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비밀번호 변경하기</a:t>
              </a:r>
            </a:p>
          </p:txBody>
        </p:sp>
      </p:grpSp>
      <p:sp>
        <p:nvSpPr>
          <p:cNvPr id="71" name="타원 70"/>
          <p:cNvSpPr/>
          <p:nvPr/>
        </p:nvSpPr>
        <p:spPr>
          <a:xfrm>
            <a:off x="1848359" y="1941981"/>
            <a:ext cx="366106" cy="366104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비밀번호</a:t>
            </a:r>
            <a:r>
              <a:rPr lang="en-US" altLang="ko-KR" sz="800" dirty="0">
                <a:latin typeface="+mn-ea"/>
              </a:rPr>
              <a:t> </a:t>
            </a:r>
            <a:r>
              <a:rPr lang="ko-KR" altLang="en-US" sz="800" dirty="0">
                <a:latin typeface="+mn-ea"/>
              </a:rPr>
              <a:t>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6" name="그룹 75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77" name="직선 연결선 7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0" name="직선 연결선 7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4" name="타원 83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346145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사용자를 확인할 수 없습니다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651557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dirty="0">
                <a:latin typeface="+mn-ea"/>
              </a:rPr>
              <a:t>가입된 회원정보가 없습니다</a:t>
            </a:r>
            <a:r>
              <a:rPr lang="en-US" altLang="ko-KR" sz="800" dirty="0">
                <a:latin typeface="+mn-ea"/>
              </a:rPr>
              <a:t>.</a:t>
            </a:r>
          </a:p>
        </p:txBody>
      </p:sp>
      <p:sp>
        <p:nvSpPr>
          <p:cNvPr id="87" name="타원 86"/>
          <p:cNvSpPr/>
          <p:nvPr/>
        </p:nvSpPr>
        <p:spPr>
          <a:xfrm>
            <a:off x="4822536" y="2419419"/>
            <a:ext cx="658422" cy="658418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9606" y="5580951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9" name="그룹 88"/>
          <p:cNvGrpSpPr/>
          <p:nvPr/>
        </p:nvGrpSpPr>
        <p:grpSpPr>
          <a:xfrm>
            <a:off x="4023916" y="5711590"/>
            <a:ext cx="2255663" cy="306146"/>
            <a:chOff x="3982951" y="3679873"/>
            <a:chExt cx="2255663" cy="306146"/>
          </a:xfrm>
        </p:grpSpPr>
        <p:sp>
          <p:nvSpPr>
            <p:cNvPr id="90" name="모서리가 둥근 직사각형 89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사용자 등록 안내 </a:t>
              </a:r>
              <a:r>
                <a:rPr lang="ko-KR" altLang="en-US" sz="700" b="1" dirty="0" err="1">
                  <a:solidFill>
                    <a:schemeClr val="bg1"/>
                  </a:solidFill>
                  <a:latin typeface="+mn-ea"/>
                </a:rPr>
                <a:t>바로가기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95" name="타원 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7064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47" name="그룹 46"/>
          <p:cNvGrpSpPr/>
          <p:nvPr/>
        </p:nvGrpSpPr>
        <p:grpSpPr>
          <a:xfrm>
            <a:off x="903581" y="3502504"/>
            <a:ext cx="2255663" cy="306146"/>
            <a:chOff x="3982951" y="3679873"/>
            <a:chExt cx="2255663" cy="306146"/>
          </a:xfrm>
        </p:grpSpPr>
        <p:sp>
          <p:nvSpPr>
            <p:cNvPr id="49" name="모서리가 둥근 직사각형 4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새 비밀번호를 입력해주세요</a:t>
              </a:r>
            </a:p>
          </p:txBody>
        </p:sp>
      </p:grpSp>
      <p:sp>
        <p:nvSpPr>
          <p:cNvPr id="52" name="TextBox 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36356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비밀번호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363569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57" name="그룹 56"/>
          <p:cNvGrpSpPr/>
          <p:nvPr/>
        </p:nvGrpSpPr>
        <p:grpSpPr>
          <a:xfrm>
            <a:off x="903581" y="4134175"/>
            <a:ext cx="2255663" cy="306146"/>
            <a:chOff x="3982951" y="3679873"/>
            <a:chExt cx="2255663" cy="306146"/>
          </a:xfrm>
        </p:grpSpPr>
        <p:sp>
          <p:nvSpPr>
            <p:cNvPr id="58" name="모서리가 둥근 직사각형 57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새 비밀번호를 한번 더 입력해주세요</a:t>
              </a:r>
            </a:p>
          </p:txBody>
        </p:sp>
      </p:grp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995240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비밀번호 확인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480180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995240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71765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아이디</a:t>
            </a:r>
          </a:p>
        </p:txBody>
      </p:sp>
      <p:grpSp>
        <p:nvGrpSpPr>
          <p:cNvPr id="93" name="그룹 92"/>
          <p:cNvGrpSpPr/>
          <p:nvPr/>
        </p:nvGrpSpPr>
        <p:grpSpPr>
          <a:xfrm>
            <a:off x="903581" y="2864788"/>
            <a:ext cx="2255663" cy="306146"/>
            <a:chOff x="3982951" y="3679873"/>
            <a:chExt cx="2255663" cy="306146"/>
          </a:xfrm>
        </p:grpSpPr>
        <p:sp>
          <p:nvSpPr>
            <p:cNvPr id="94" name="모서리가 둥근 직사각형 9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abcdef99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97" name="그룹 96"/>
          <p:cNvGrpSpPr/>
          <p:nvPr/>
        </p:nvGrpSpPr>
        <p:grpSpPr>
          <a:xfrm>
            <a:off x="705041" y="4757244"/>
            <a:ext cx="2652743" cy="769170"/>
            <a:chOff x="734683" y="4769160"/>
            <a:chExt cx="2652743" cy="769170"/>
          </a:xfrm>
        </p:grpSpPr>
        <p:sp>
          <p:nvSpPr>
            <p:cNvPr id="98" name="모서리가 둥근 직사각형 97"/>
            <p:cNvSpPr/>
            <p:nvPr/>
          </p:nvSpPr>
          <p:spPr>
            <a:xfrm>
              <a:off x="734683" y="4769160"/>
              <a:ext cx="2652743" cy="769170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53860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비밀번호는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9~16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자 숫자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영문 소문자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특수문자 조합으로 입력하세요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입력 불가한 특수문자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: `~&amp;()_{}[]|\:;"',.&amp;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lt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;&amp;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gt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;?/</a:t>
              </a:r>
            </a:p>
          </p:txBody>
        </p:sp>
        <p:sp>
          <p:nvSpPr>
            <p:cNvPr id="100" name="타원 99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01" name="그룹 100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102" name="직선 연결선 10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3" name="직선 연결선 10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3605943414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44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4850" y="243854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1.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4431" y="2665136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scwin.btn_idnty_onclick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 변경 후 팝업창을 닫는다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6314079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45AF0B74-5439-276E-1EBE-5BE9A7D07B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82006" y="254645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00AF6C9-C709-F6C4-EBB7-941260BA2671}"/>
              </a:ext>
            </a:extLst>
          </p:cNvPr>
          <p:cNvSpPr txBox="1"/>
          <p:nvPr/>
        </p:nvSpPr>
        <p:spPr>
          <a:xfrm>
            <a:off x="459967" y="623130"/>
            <a:ext cx="827718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3740078-1B99-5D65-4402-EA876D5A9371}"/>
              </a:ext>
            </a:extLst>
          </p:cNvPr>
          <p:cNvSpPr txBox="1"/>
          <p:nvPr/>
        </p:nvSpPr>
        <p:spPr>
          <a:xfrm>
            <a:off x="454850" y="890760"/>
            <a:ext cx="234736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사용자정보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F33C64EE-8936-FE7A-54C5-A4C0C59C2C5D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4850" y="1104443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userTkcgTaskCd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userId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 아이디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418084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newUserEnpswd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 확인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newUserEnpswdIdnty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 확인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6431878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FDDEEA3E-F413-E306-6738-F0835981E5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8335" y="744479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331050008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사용자 등록 안내 내용 화면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모바일 사용자 등록 기능 없음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모바일에서 지원하지 않음을 추가 표시함</a:t>
            </a:r>
            <a:r>
              <a:rPr lang="en-US" altLang="ko-KR" dirty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사용자 등록 안내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사용자 등록 안내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 등록 안내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MUI-CM-03-M09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사용자 등록 안내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1969936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 err="1">
                <a:latin typeface="+mn-ea"/>
              </a:rPr>
              <a:t>조달업체</a:t>
            </a:r>
            <a:r>
              <a:rPr lang="ko-KR" altLang="en-US" sz="900" b="1" dirty="0">
                <a:latin typeface="+mn-ea"/>
              </a:rPr>
              <a:t> 사용자 등록</a:t>
            </a:r>
          </a:p>
        </p:txBody>
      </p:sp>
      <p:cxnSp>
        <p:nvCxnSpPr>
          <p:cNvPr id="35" name="직선 연결선 3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3731251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596324"/>
            <a:ext cx="2305144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국방전자조달 입찰 참여 및 기타 업무를 처리하고자 하는 모든 업체는 공인인증기관에서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공인인증서</a:t>
            </a:r>
            <a:r>
              <a:rPr lang="en-US" altLang="ko-KR" sz="700" dirty="0">
                <a:latin typeface="+mn-ea"/>
              </a:rPr>
              <a:t>]</a:t>
            </a:r>
            <a:r>
              <a:rPr lang="ko-KR" altLang="en-US" sz="700" dirty="0">
                <a:latin typeface="+mn-ea"/>
              </a:rPr>
              <a:t>를 발급받은 후 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나라장터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조달청 </a:t>
            </a:r>
            <a:r>
              <a:rPr lang="en-US" altLang="ko-KR" sz="700" dirty="0">
                <a:latin typeface="+mn-ea"/>
              </a:rPr>
              <a:t>G2B)</a:t>
            </a:r>
            <a:r>
              <a:rPr lang="ko-KR" altLang="en-US" sz="700" dirty="0">
                <a:latin typeface="+mn-ea"/>
              </a:rPr>
              <a:t>에 </a:t>
            </a:r>
            <a:r>
              <a:rPr lang="ko-KR" altLang="en-US" sz="700" dirty="0" err="1">
                <a:latin typeface="+mn-ea"/>
              </a:rPr>
              <a:t>업체등록을</a:t>
            </a:r>
            <a:r>
              <a:rPr lang="ko-KR" altLang="en-US" sz="700" dirty="0">
                <a:latin typeface="+mn-ea"/>
              </a:rPr>
              <a:t> 한 다음 국방전자조달에서 사용자 등록을 하여야 합니다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pic>
        <p:nvPicPr>
          <p:cNvPr id="49" name="그림 48">
            <a:extLst>
              <a:ext uri="{FF2B5EF4-FFF2-40B4-BE49-F238E27FC236}">
                <a16:creationId xmlns:a16="http://schemas.microsoft.com/office/drawing/2014/main" id="{5C7585BD-E4E5-B25B-BCA1-A3526AA5E599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131" b="12877"/>
          <a:stretch/>
        </p:blipFill>
        <p:spPr>
          <a:xfrm>
            <a:off x="3433859" y="2144043"/>
            <a:ext cx="3618456" cy="2345894"/>
          </a:xfrm>
          <a:prstGeom prst="rect">
            <a:avLst/>
          </a:prstGeom>
        </p:spPr>
      </p:pic>
      <p:sp>
        <p:nvSpPr>
          <p:cNvPr id="50" name="TextBox 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232379"/>
            <a:ext cx="230514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조달업체</a:t>
            </a:r>
            <a:r>
              <a:rPr lang="ko-KR" altLang="en-US" sz="800" dirty="0">
                <a:latin typeface="+mn-ea"/>
              </a:rPr>
              <a:t> 사용자 등록하기 전 안내사항을 꼭 확인하신 후 등록하여 주시기 바랍니다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132644"/>
            <a:ext cx="2305144" cy="53860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나라장터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조달청</a:t>
            </a:r>
            <a:r>
              <a:rPr lang="en-US" altLang="ko-KR" sz="700" dirty="0">
                <a:latin typeface="+mn-ea"/>
              </a:rPr>
              <a:t>G2B)</a:t>
            </a:r>
            <a:r>
              <a:rPr lang="ko-KR" altLang="en-US" sz="700" dirty="0">
                <a:latin typeface="+mn-ea"/>
              </a:rPr>
              <a:t>에서 </a:t>
            </a:r>
            <a:r>
              <a:rPr lang="ko-KR" altLang="en-US" sz="700" dirty="0" err="1">
                <a:latin typeface="+mn-ea"/>
              </a:rPr>
              <a:t>업체등록을</a:t>
            </a:r>
            <a:r>
              <a:rPr lang="ko-KR" altLang="en-US" sz="700" dirty="0">
                <a:latin typeface="+mn-ea"/>
              </a:rPr>
              <a:t> 하고 승인을 받으신 후 </a:t>
            </a:r>
            <a:r>
              <a:rPr lang="en-US" altLang="ko-KR" sz="700" dirty="0">
                <a:latin typeface="+mn-ea"/>
              </a:rPr>
              <a:t>1</a:t>
            </a:r>
            <a:r>
              <a:rPr lang="ko-KR" altLang="en-US" sz="700" dirty="0">
                <a:latin typeface="+mn-ea"/>
              </a:rPr>
              <a:t>일이 경과하여야 국방전자조달에서 사용자 등록을 하실 수 있습니다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- </a:t>
            </a:r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업체 등록</a:t>
            </a:r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사용자 등록은 </a:t>
            </a:r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PC</a:t>
            </a:r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버전에서 가능하며</a:t>
            </a:r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모바일에서는 지원하지 않습니다</a:t>
            </a:r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.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811346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등록대상자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977559"/>
            <a:ext cx="2305144" cy="53860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700" dirty="0">
                <a:latin typeface="+mn-ea"/>
              </a:rPr>
              <a:t>나라장터에서 업체 등록과 공인인증서를 발급 받은 업체로 전자입찰 참여 및 기타 업무를 처리하고자 하는 업체 사용자</a:t>
            </a:r>
            <a:endParaRPr lang="en-US" altLang="ko-KR" sz="700" dirty="0">
              <a:latin typeface="+mn-ea"/>
            </a:endParaRPr>
          </a:p>
          <a:p>
            <a:pPr marL="171450" indent="-171450">
              <a:buFontTx/>
              <a:buChar char="-"/>
            </a:pPr>
            <a:r>
              <a:rPr lang="ko-KR" altLang="en-US" sz="700" dirty="0">
                <a:latin typeface="+mn-ea"/>
              </a:rPr>
              <a:t>업체 사용자 유형 </a:t>
            </a:r>
            <a:r>
              <a:rPr lang="en-US" altLang="ko-KR" sz="700" dirty="0">
                <a:latin typeface="+mn-ea"/>
              </a:rPr>
              <a:t>: </a:t>
            </a:r>
            <a:r>
              <a:rPr lang="ko-KR" altLang="en-US" sz="700" dirty="0" err="1">
                <a:latin typeface="+mn-ea"/>
              </a:rPr>
              <a:t>업체대표자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업체 </a:t>
            </a:r>
            <a:r>
              <a:rPr lang="ko-KR" altLang="en-US" sz="700" dirty="0" err="1">
                <a:latin typeface="+mn-ea"/>
              </a:rPr>
              <a:t>입찰대리인</a:t>
            </a:r>
            <a:r>
              <a:rPr lang="ko-KR" altLang="en-US" sz="700" dirty="0">
                <a:latin typeface="+mn-ea"/>
              </a:rPr>
              <a:t> 및 일반사용자</a:t>
            </a: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4595887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6" name="TextBox 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4675981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등록방법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4842194"/>
            <a:ext cx="2305144" cy="86177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700" dirty="0">
                <a:latin typeface="+mn-ea"/>
              </a:rPr>
              <a:t>최초 등록 사용자는 업체대표자로 등록되며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 err="1">
                <a:latin typeface="+mn-ea"/>
              </a:rPr>
              <a:t>입찰대리인</a:t>
            </a:r>
            <a:r>
              <a:rPr lang="ko-KR" altLang="en-US" sz="700" dirty="0">
                <a:latin typeface="+mn-ea"/>
              </a:rPr>
              <a:t> 및 일반사용자는 </a:t>
            </a:r>
            <a:r>
              <a:rPr lang="ko-KR" altLang="en-US" sz="700" dirty="0" err="1">
                <a:latin typeface="+mn-ea"/>
              </a:rPr>
              <a:t>업체대표자</a:t>
            </a:r>
            <a:r>
              <a:rPr lang="ko-KR" altLang="en-US" sz="700" dirty="0">
                <a:latin typeface="+mn-ea"/>
              </a:rPr>
              <a:t> 등록 완료 후 사용자 등록이 가능합니다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pPr marL="171450" indent="-171450">
              <a:buFontTx/>
              <a:buChar char="-"/>
            </a:pPr>
            <a:r>
              <a:rPr lang="ko-KR" altLang="en-US" sz="700" dirty="0" err="1">
                <a:latin typeface="+mn-ea"/>
              </a:rPr>
              <a:t>업체대표자</a:t>
            </a:r>
            <a:r>
              <a:rPr lang="ko-KR" altLang="en-US" sz="700" dirty="0">
                <a:latin typeface="+mn-ea"/>
              </a:rPr>
              <a:t> 외 </a:t>
            </a:r>
            <a:r>
              <a:rPr lang="ko-KR" altLang="en-US" sz="700" dirty="0" err="1">
                <a:latin typeface="+mn-ea"/>
              </a:rPr>
              <a:t>입찰대리인</a:t>
            </a:r>
            <a:r>
              <a:rPr lang="ko-KR" altLang="en-US" sz="700" dirty="0">
                <a:latin typeface="+mn-ea"/>
              </a:rPr>
              <a:t> 및 일반사용자는 업체대표자의 승인 후 </a:t>
            </a:r>
            <a:r>
              <a:rPr lang="ko-KR" altLang="en-US" sz="700" dirty="0" err="1">
                <a:latin typeface="+mn-ea"/>
              </a:rPr>
              <a:t>로그인이</a:t>
            </a:r>
            <a:r>
              <a:rPr lang="ko-KR" altLang="en-US" sz="700" dirty="0">
                <a:latin typeface="+mn-ea"/>
              </a:rPr>
              <a:t> 가능합니다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pPr marL="171450" indent="-171450">
              <a:buFontTx/>
              <a:buChar char="-"/>
            </a:pPr>
            <a:r>
              <a:rPr lang="ko-KR" altLang="en-US" sz="700" dirty="0">
                <a:latin typeface="+mn-ea"/>
              </a:rPr>
              <a:t>입찰대리인은 먼저 나라장터에 등록하여야 하며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익일 국방전자조달에 </a:t>
            </a:r>
            <a:r>
              <a:rPr lang="ko-KR" altLang="en-US" sz="700" dirty="0" err="1">
                <a:latin typeface="+mn-ea"/>
              </a:rPr>
              <a:t>해당정보가</a:t>
            </a:r>
            <a:r>
              <a:rPr lang="ko-KR" altLang="en-US" sz="700" dirty="0">
                <a:latin typeface="+mn-ea"/>
              </a:rPr>
              <a:t> 연계된 후 </a:t>
            </a:r>
            <a:r>
              <a:rPr lang="ko-KR" altLang="en-US" sz="700" dirty="0" err="1">
                <a:latin typeface="+mn-ea"/>
              </a:rPr>
              <a:t>입찰대리인</a:t>
            </a:r>
            <a:r>
              <a:rPr lang="ko-KR" altLang="en-US" sz="700" dirty="0">
                <a:latin typeface="+mn-ea"/>
              </a:rPr>
              <a:t> 사용자등록이 가능합니다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5772388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5850262"/>
            <a:ext cx="2305144" cy="3231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* </a:t>
            </a:r>
            <a:r>
              <a:rPr lang="ko-KR" altLang="en-US" sz="700" dirty="0" err="1">
                <a:latin typeface="+mn-ea"/>
              </a:rPr>
              <a:t>조달업체</a:t>
            </a:r>
            <a:r>
              <a:rPr lang="ko-KR" altLang="en-US" sz="700" dirty="0">
                <a:latin typeface="+mn-ea"/>
              </a:rPr>
              <a:t> 대표사용자는 </a:t>
            </a:r>
            <a:r>
              <a:rPr lang="ko-KR" altLang="en-US" sz="700" dirty="0" err="1">
                <a:latin typeface="+mn-ea"/>
              </a:rPr>
              <a:t>입찰대리인</a:t>
            </a:r>
            <a:r>
              <a:rPr lang="en-US" altLang="ko-KR" sz="700" dirty="0">
                <a:latin typeface="+mn-ea"/>
              </a:rPr>
              <a:t>/</a:t>
            </a:r>
            <a:r>
              <a:rPr lang="ko-KR" altLang="en-US" sz="700" dirty="0">
                <a:latin typeface="+mn-ea"/>
              </a:rPr>
              <a:t>일반사용자의 승인 및 </a:t>
            </a:r>
            <a:r>
              <a:rPr lang="ko-KR" altLang="en-US" sz="700" dirty="0" err="1">
                <a:latin typeface="+mn-ea"/>
              </a:rPr>
              <a:t>사용중단</a:t>
            </a:r>
            <a:r>
              <a:rPr lang="ko-KR" altLang="en-US" sz="700" dirty="0">
                <a:latin typeface="+mn-ea"/>
              </a:rPr>
              <a:t> 관리 권한이 부여 됨으로 관리자급에서 등록을 하시기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6213639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입찰서 제출은 업체대표자와 </a:t>
            </a:r>
            <a:r>
              <a:rPr lang="ko-KR" altLang="en-US" sz="700" dirty="0" err="1">
                <a:latin typeface="+mn-ea"/>
              </a:rPr>
              <a:t>입찰대리인</a:t>
            </a:r>
            <a:r>
              <a:rPr lang="ko-KR" altLang="en-US" sz="700" dirty="0">
                <a:latin typeface="+mn-ea"/>
              </a:rPr>
              <a:t> 및 예외처리자만 가능합니다</a:t>
            </a:r>
            <a:r>
              <a:rPr lang="en-US" altLang="ko-KR" sz="700" dirty="0">
                <a:latin typeface="+mn-ea"/>
              </a:rPr>
              <a:t>. (</a:t>
            </a:r>
            <a:r>
              <a:rPr lang="ko-KR" altLang="en-US" sz="700" dirty="0">
                <a:latin typeface="+mn-ea"/>
              </a:rPr>
              <a:t>외국인대표자 제외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491698" y="1768338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PC</a:t>
            </a:r>
            <a:r>
              <a:rPr lang="ko-KR" altLang="en-US" sz="800" dirty="0">
                <a:latin typeface="+mn-ea"/>
              </a:rPr>
              <a:t>버전 콘텐츠</a:t>
            </a:r>
          </a:p>
        </p:txBody>
      </p:sp>
      <p:cxnSp>
        <p:nvCxnSpPr>
          <p:cNvPr id="62" name="직선 연결선 6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2527367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" name="타원 3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676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371949834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솔루션 화면에 따름</a:t>
            </a:r>
          </a:p>
          <a:p>
            <a:pPr marL="228600" indent="-228600">
              <a:buFont typeface="+mj-lt"/>
              <a:buAutoNum type="arabicPeriod"/>
            </a:pP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 smtClean="0">
                <a:latin typeface="+mn-ea"/>
              </a:rPr>
              <a:t>간편인증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/>
              <a:t>간편인증</a:t>
            </a:r>
            <a:r>
              <a:rPr lang="ko-KR" altLang="en-US" dirty="0"/>
              <a:t> 선택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간편인증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MUI-CM-03-P10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2" name="양쪽 모서리가 둥근 사각형 21"/>
          <p:cNvSpPr/>
          <p:nvPr/>
        </p:nvSpPr>
        <p:spPr>
          <a:xfrm>
            <a:off x="679854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3" name="모서리가 둥근 직사각형 22"/>
          <p:cNvSpPr/>
          <p:nvPr/>
        </p:nvSpPr>
        <p:spPr>
          <a:xfrm>
            <a:off x="1765867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4" name="그룹 23"/>
          <p:cNvGrpSpPr/>
          <p:nvPr/>
        </p:nvGrpSpPr>
        <p:grpSpPr>
          <a:xfrm>
            <a:off x="3168793" y="3182696"/>
            <a:ext cx="94010" cy="94010"/>
            <a:chOff x="6812560" y="3297172"/>
            <a:chExt cx="94010" cy="94010"/>
          </a:xfrm>
        </p:grpSpPr>
        <p:cxnSp>
          <p:nvCxnSpPr>
            <p:cNvPr id="25" name="직선 연결선 24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6" name="직선 연결선 25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간편인증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4" name="타원 4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63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3523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775628" y="3518717"/>
            <a:ext cx="1190153" cy="533671"/>
            <a:chOff x="808931" y="3518717"/>
            <a:chExt cx="1190153" cy="533671"/>
          </a:xfrm>
        </p:grpSpPr>
        <p:sp>
          <p:nvSpPr>
            <p:cNvPr id="31" name="모서리가 둥근 직사각형 30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국민인증서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34" name="모서리가 둥근 직사각형 33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latin typeface="+mn-ea"/>
                </a:rPr>
                <a:t>통신사</a:t>
              </a:r>
              <a:r>
                <a:rPr lang="en-US" altLang="ko-KR" sz="600" dirty="0">
                  <a:latin typeface="+mn-ea"/>
                </a:rPr>
                <a:t>PASS</a:t>
              </a:r>
              <a:endParaRPr lang="ko-KR" altLang="en-US" sz="600" dirty="0">
                <a:latin typeface="+mn-ea"/>
              </a:endParaRPr>
            </a:p>
          </p:txBody>
        </p:sp>
      </p:grpSp>
      <p:grpSp>
        <p:nvGrpSpPr>
          <p:cNvPr id="42" name="그룹 41"/>
          <p:cNvGrpSpPr/>
          <p:nvPr/>
        </p:nvGrpSpPr>
        <p:grpSpPr>
          <a:xfrm>
            <a:off x="2105953" y="3518717"/>
            <a:ext cx="1190153" cy="533671"/>
            <a:chOff x="808931" y="3518717"/>
            <a:chExt cx="1190153" cy="533671"/>
          </a:xfrm>
        </p:grpSpPr>
        <p:sp>
          <p:nvSpPr>
            <p:cNvPr id="49" name="모서리가 둥근 직사각형 48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latin typeface="+mn-ea"/>
                </a:rPr>
                <a:t>토스</a:t>
              </a:r>
            </a:p>
          </p:txBody>
        </p:sp>
        <p:sp>
          <p:nvSpPr>
            <p:cNvPr id="51" name="모서리가 둥근 직사각형 50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카카오뱅크</a:t>
              </a:r>
              <a:endParaRPr lang="ko-KR" altLang="en-US" sz="600" dirty="0">
                <a:latin typeface="+mn-ea"/>
              </a:endParaRPr>
            </a:p>
          </p:txBody>
        </p:sp>
      </p:grpSp>
      <p:grpSp>
        <p:nvGrpSpPr>
          <p:cNvPr id="53" name="그룹 52"/>
          <p:cNvGrpSpPr/>
          <p:nvPr/>
        </p:nvGrpSpPr>
        <p:grpSpPr>
          <a:xfrm>
            <a:off x="775628" y="4290048"/>
            <a:ext cx="1190153" cy="533671"/>
            <a:chOff x="808931" y="3518717"/>
            <a:chExt cx="1190153" cy="533671"/>
          </a:xfrm>
        </p:grpSpPr>
        <p:sp>
          <p:nvSpPr>
            <p:cNvPr id="55" name="모서리가 둥근 직사각형 54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latin typeface="+mn-ea"/>
                </a:rPr>
                <a:t>네이버</a:t>
              </a:r>
            </a:p>
          </p:txBody>
        </p:sp>
        <p:sp>
          <p:nvSpPr>
            <p:cNvPr id="57" name="모서리가 둥근 직사각형 56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하나인증서</a:t>
              </a:r>
              <a:endParaRPr lang="ko-KR" altLang="en-US" sz="600" dirty="0">
                <a:latin typeface="+mn-ea"/>
              </a:endParaRPr>
            </a:p>
          </p:txBody>
        </p:sp>
      </p:grpSp>
      <p:grpSp>
        <p:nvGrpSpPr>
          <p:cNvPr id="59" name="그룹 58"/>
          <p:cNvGrpSpPr/>
          <p:nvPr/>
        </p:nvGrpSpPr>
        <p:grpSpPr>
          <a:xfrm>
            <a:off x="2105953" y="4290048"/>
            <a:ext cx="1190153" cy="533671"/>
            <a:chOff x="808931" y="3518717"/>
            <a:chExt cx="1190153" cy="533671"/>
          </a:xfrm>
        </p:grpSpPr>
        <p:sp>
          <p:nvSpPr>
            <p:cNvPr id="60" name="모서리가 둥근 직사각형 59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뱅크샐러드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62" name="모서리가 둥근 직사각형 61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우리인증서</a:t>
              </a:r>
              <a:endParaRPr lang="ko-KR" altLang="en-US" sz="600" dirty="0">
                <a:latin typeface="+mn-ea"/>
              </a:endParaRPr>
            </a:p>
          </p:txBody>
        </p:sp>
      </p:grpSp>
      <p:grpSp>
        <p:nvGrpSpPr>
          <p:cNvPr id="64" name="그룹 63"/>
          <p:cNvGrpSpPr/>
          <p:nvPr/>
        </p:nvGrpSpPr>
        <p:grpSpPr>
          <a:xfrm>
            <a:off x="775628" y="5061379"/>
            <a:ext cx="1190153" cy="533671"/>
            <a:chOff x="808931" y="3518717"/>
            <a:chExt cx="1190153" cy="533671"/>
          </a:xfrm>
        </p:grpSpPr>
        <p:sp>
          <p:nvSpPr>
            <p:cNvPr id="65" name="모서리가 둥근 직사각형 64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신한인증서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67" name="모서리가 둥근 직사각형 66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600" dirty="0">
                  <a:latin typeface="+mn-ea"/>
                </a:rPr>
                <a:t>NH</a:t>
              </a:r>
              <a:r>
                <a:rPr lang="ko-KR" altLang="en-US" sz="600" dirty="0">
                  <a:latin typeface="+mn-ea"/>
                </a:rPr>
                <a:t>인증서</a:t>
              </a:r>
            </a:p>
          </p:txBody>
        </p:sp>
      </p:grpSp>
      <p:grpSp>
        <p:nvGrpSpPr>
          <p:cNvPr id="69" name="그룹 68"/>
          <p:cNvGrpSpPr/>
          <p:nvPr/>
        </p:nvGrpSpPr>
        <p:grpSpPr>
          <a:xfrm>
            <a:off x="2105953" y="5061379"/>
            <a:ext cx="530538" cy="533671"/>
            <a:chOff x="808931" y="3518717"/>
            <a:chExt cx="530538" cy="533671"/>
          </a:xfrm>
        </p:grpSpPr>
        <p:sp>
          <p:nvSpPr>
            <p:cNvPr id="70" name="모서리가 둥근 직사각형 69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카카오톡</a:t>
              </a:r>
              <a:endParaRPr lang="ko-KR" altLang="en-US" sz="600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57172987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솔루션 화면에 따름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금융인증서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금융인증서</a:t>
            </a:r>
            <a:r>
              <a:rPr lang="ko-KR" altLang="en-US" dirty="0">
                <a:latin typeface="+mn-ea"/>
              </a:rPr>
              <a:t> 솔루션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금융인증서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MUI-CM-03-P11</a:t>
            </a:r>
            <a:endParaRPr lang="ko-KR" altLang="en-US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금융인증서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213461"/>
            <a:ext cx="2305144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금융인증서를 이용하기 위해 </a:t>
            </a:r>
            <a:r>
              <a:rPr lang="ko-KR" altLang="en-US" sz="900" b="1" dirty="0" err="1">
                <a:latin typeface="+mn-ea"/>
              </a:rPr>
              <a:t>클라우드</a:t>
            </a:r>
            <a:endParaRPr lang="en-US" altLang="ko-KR" sz="900" b="1" dirty="0">
              <a:latin typeface="+mn-ea"/>
            </a:endParaRPr>
          </a:p>
          <a:p>
            <a:pPr algn="ctr"/>
            <a:r>
              <a:rPr lang="ko-KR" altLang="en-US" sz="900" b="1" dirty="0">
                <a:latin typeface="+mn-ea"/>
              </a:rPr>
              <a:t>저장소에 연결합니다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65" name="모서리가 둥근 직사각형 64"/>
          <p:cNvSpPr/>
          <p:nvPr/>
        </p:nvSpPr>
        <p:spPr>
          <a:xfrm>
            <a:off x="903581" y="2841401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37281" y="2940613"/>
            <a:ext cx="150725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예</a:t>
            </a:r>
            <a:r>
              <a:rPr lang="en-US" altLang="ko-KR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) </a:t>
            </a:r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홍길동</a:t>
            </a:r>
          </a:p>
        </p:txBody>
      </p:sp>
      <p:sp>
        <p:nvSpPr>
          <p:cNvPr id="69" name="모서리가 둥근 직사각형 68"/>
          <p:cNvSpPr/>
          <p:nvPr/>
        </p:nvSpPr>
        <p:spPr>
          <a:xfrm>
            <a:off x="903581" y="3228342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37281" y="3327554"/>
            <a:ext cx="150725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예</a:t>
            </a:r>
            <a:r>
              <a:rPr lang="en-US" altLang="ko-KR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) 010-1234-5678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903580" y="4152648"/>
            <a:ext cx="2255663" cy="306146"/>
            <a:chOff x="3982951" y="3679873"/>
            <a:chExt cx="2255663" cy="306146"/>
          </a:xfrm>
        </p:grpSpPr>
        <p:sp>
          <p:nvSpPr>
            <p:cNvPr id="74" name="모서리가 둥근 직사각형 7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휴대폰 </a:t>
              </a:r>
              <a:r>
                <a:rPr lang="ko-KR" altLang="en-US" sz="700" b="1" dirty="0" err="1">
                  <a:solidFill>
                    <a:schemeClr val="bg1"/>
                  </a:solidFill>
                  <a:latin typeface="+mn-ea"/>
                </a:rPr>
                <a:t>문자인증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2940613"/>
            <a:ext cx="45719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아이디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3327554"/>
            <a:ext cx="45719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휴대폰번호</a:t>
            </a:r>
          </a:p>
        </p:txBody>
      </p:sp>
      <p:sp>
        <p:nvSpPr>
          <p:cNvPr id="67" name="모서리가 둥근 직사각형 66"/>
          <p:cNvSpPr/>
          <p:nvPr/>
        </p:nvSpPr>
        <p:spPr>
          <a:xfrm>
            <a:off x="903581" y="3612634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37281" y="3711846"/>
            <a:ext cx="150725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예</a:t>
            </a:r>
            <a:r>
              <a:rPr lang="en-US" altLang="ko-KR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) 1900/01/31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+mn-ea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3711846"/>
            <a:ext cx="45719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생년월일</a:t>
            </a:r>
          </a:p>
        </p:txBody>
      </p:sp>
    </p:spTree>
    <p:extLst>
      <p:ext uri="{BB962C8B-B14F-4D97-AF65-F5344CB8AC3E}">
        <p14:creationId xmlns:p14="http://schemas.microsoft.com/office/powerpoint/2010/main" val="2618962630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솔루션 화면에 따름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인증서 유무에 따라 표출 화면이 달라짐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 smtClean="0">
                <a:latin typeface="+mn-ea"/>
              </a:rPr>
              <a:t>공동인증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공동인증</a:t>
            </a:r>
            <a:r>
              <a:rPr lang="ko-KR" altLang="en-US" dirty="0"/>
              <a:t> 솔루션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공동인증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MUI-CM-03-P12</a:t>
            </a:r>
            <a:endParaRPr lang="ko-KR" altLang="en-US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공동인증서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957306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 err="1">
                <a:latin typeface="+mn-ea"/>
              </a:rPr>
              <a:t>공동인증서</a:t>
            </a:r>
            <a:endParaRPr lang="ko-KR" altLang="en-US" sz="900" b="1" dirty="0">
              <a:latin typeface="+mn-ea"/>
            </a:endParaRPr>
          </a:p>
        </p:txBody>
      </p:sp>
      <p:grpSp>
        <p:nvGrpSpPr>
          <p:cNvPr id="31" name="그룹 30"/>
          <p:cNvGrpSpPr/>
          <p:nvPr/>
        </p:nvGrpSpPr>
        <p:grpSpPr>
          <a:xfrm>
            <a:off x="903580" y="4358983"/>
            <a:ext cx="2255663" cy="306146"/>
            <a:chOff x="3982951" y="3679873"/>
            <a:chExt cx="2255663" cy="306146"/>
          </a:xfrm>
        </p:grpSpPr>
        <p:sp>
          <p:nvSpPr>
            <p:cNvPr id="32" name="모서리가 둥근 직사각형 31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인증서 가져오기</a:t>
              </a:r>
            </a:p>
          </p:txBody>
        </p:sp>
      </p:grpSp>
      <p:sp>
        <p:nvSpPr>
          <p:cNvPr id="34" name="TextBox 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276685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dirty="0">
                <a:latin typeface="+mn-ea"/>
              </a:rPr>
              <a:t>인증서가 없습니다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662262835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솔루션 화면에 따름</a:t>
            </a:r>
          </a:p>
          <a:p>
            <a:pPr marL="228600" indent="-228600">
              <a:buFont typeface="+mj-lt"/>
              <a:buAutoNum type="arabicPeriod"/>
            </a:pP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모바일 </a:t>
            </a:r>
            <a:r>
              <a:rPr lang="ko-KR" altLang="en-US" dirty="0" smtClean="0">
                <a:latin typeface="+mn-ea"/>
              </a:rPr>
              <a:t>신분증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모바일 신분증</a:t>
            </a:r>
            <a:r>
              <a:rPr lang="ko-KR" altLang="en-US" dirty="0"/>
              <a:t> 선택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모바일 신분증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MUI-CM-03-P13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2" name="양쪽 모서리가 둥근 사각형 21"/>
          <p:cNvSpPr/>
          <p:nvPr/>
        </p:nvSpPr>
        <p:spPr>
          <a:xfrm>
            <a:off x="679854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3" name="모서리가 둥근 직사각형 22"/>
          <p:cNvSpPr/>
          <p:nvPr/>
        </p:nvSpPr>
        <p:spPr>
          <a:xfrm>
            <a:off x="1765867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4" name="그룹 23"/>
          <p:cNvGrpSpPr/>
          <p:nvPr/>
        </p:nvGrpSpPr>
        <p:grpSpPr>
          <a:xfrm>
            <a:off x="3168793" y="3182696"/>
            <a:ext cx="94010" cy="94010"/>
            <a:chOff x="6812560" y="3297172"/>
            <a:chExt cx="94010" cy="94010"/>
          </a:xfrm>
        </p:grpSpPr>
        <p:cxnSp>
          <p:nvCxnSpPr>
            <p:cNvPr id="25" name="직선 연결선 24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6" name="직선 연결선 25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모바일 신분증</a:t>
            </a:r>
          </a:p>
        </p:txBody>
      </p: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4" name="타원 4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63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3523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775628" y="3518717"/>
            <a:ext cx="1190153" cy="533671"/>
            <a:chOff x="808931" y="3518717"/>
            <a:chExt cx="1190153" cy="533671"/>
          </a:xfrm>
        </p:grpSpPr>
        <p:sp>
          <p:nvSpPr>
            <p:cNvPr id="31" name="모서리가 둥근 직사각형 30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카카오뱅크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34" name="모서리가 둥근 직사각형 33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latin typeface="+mn-ea"/>
                </a:rPr>
                <a:t>토스</a:t>
              </a:r>
            </a:p>
          </p:txBody>
        </p:sp>
      </p:grpSp>
      <p:grpSp>
        <p:nvGrpSpPr>
          <p:cNvPr id="42" name="그룹 41"/>
          <p:cNvGrpSpPr/>
          <p:nvPr/>
        </p:nvGrpSpPr>
        <p:grpSpPr>
          <a:xfrm>
            <a:off x="2105953" y="3518717"/>
            <a:ext cx="1190153" cy="533671"/>
            <a:chOff x="808931" y="3518717"/>
            <a:chExt cx="1190153" cy="533671"/>
          </a:xfrm>
        </p:grpSpPr>
        <p:sp>
          <p:nvSpPr>
            <p:cNvPr id="49" name="모서리가 둥근 직사각형 48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정부앱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51" name="모서리가 둥근 직사각형 50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latin typeface="+mn-ea"/>
                </a:rPr>
                <a:t>네이버</a:t>
              </a:r>
            </a:p>
          </p:txBody>
        </p:sp>
      </p:grpSp>
      <p:grpSp>
        <p:nvGrpSpPr>
          <p:cNvPr id="53" name="그룹 52"/>
          <p:cNvGrpSpPr/>
          <p:nvPr/>
        </p:nvGrpSpPr>
        <p:grpSpPr>
          <a:xfrm>
            <a:off x="775628" y="4290048"/>
            <a:ext cx="1190153" cy="533671"/>
            <a:chOff x="808931" y="3518717"/>
            <a:chExt cx="1190153" cy="533671"/>
          </a:xfrm>
        </p:grpSpPr>
        <p:sp>
          <p:nvSpPr>
            <p:cNvPr id="55" name="모서리가 둥근 직사각형 54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600" dirty="0">
                  <a:latin typeface="+mn-ea"/>
                </a:rPr>
                <a:t>NH</a:t>
              </a:r>
              <a:r>
                <a:rPr lang="ko-KR" altLang="en-US" sz="600" dirty="0" err="1">
                  <a:latin typeface="+mn-ea"/>
                </a:rPr>
                <a:t>올원뱅크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57" name="모서리가 둥근 직사각형 56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600" dirty="0">
                  <a:latin typeface="+mn-ea"/>
                </a:rPr>
                <a:t>KB</a:t>
              </a:r>
              <a:r>
                <a:rPr lang="ko-KR" altLang="en-US" sz="600" dirty="0" err="1">
                  <a:latin typeface="+mn-ea"/>
                </a:rPr>
                <a:t>스타뱅크</a:t>
              </a:r>
              <a:endParaRPr lang="ko-KR" altLang="en-US" sz="600" dirty="0">
                <a:latin typeface="+mn-ea"/>
              </a:endParaRPr>
            </a:p>
          </p:txBody>
        </p:sp>
      </p:grp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46430" y="5502717"/>
            <a:ext cx="2378875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600" dirty="0">
                <a:latin typeface="+mn-ea"/>
              </a:rPr>
              <a:t>※ </a:t>
            </a:r>
            <a:r>
              <a:rPr lang="ko-KR" altLang="en-US" sz="600" dirty="0">
                <a:latin typeface="+mn-ea"/>
              </a:rPr>
              <a:t>모바일 신분증을 발급받을 앱을 선택해주세요</a:t>
            </a:r>
            <a:r>
              <a:rPr lang="en-US" altLang="ko-KR" sz="600" dirty="0">
                <a:latin typeface="+mn-ea"/>
              </a:rPr>
              <a:t>.</a:t>
            </a:r>
            <a:endParaRPr lang="ko-KR" altLang="en-US" sz="600" dirty="0">
              <a:latin typeface="+mn-ea"/>
            </a:endParaRPr>
          </a:p>
        </p:txBody>
      </p:sp>
      <p:cxnSp>
        <p:nvCxnSpPr>
          <p:cNvPr id="48" name="직선 연결선 4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586939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46430" y="5978328"/>
            <a:ext cx="2378875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600" dirty="0">
                <a:latin typeface="+mn-ea"/>
              </a:rPr>
              <a:t>사용 가이드</a:t>
            </a:r>
          </a:p>
        </p:txBody>
      </p:sp>
      <p:sp>
        <p:nvSpPr>
          <p:cNvPr id="73" name="타원 72"/>
          <p:cNvSpPr/>
          <p:nvPr/>
        </p:nvSpPr>
        <p:spPr>
          <a:xfrm>
            <a:off x="2542510" y="5930513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82525847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진입 전 등록된 </a:t>
            </a:r>
            <a:r>
              <a:rPr lang="ko-KR" altLang="en-US" dirty="0" err="1"/>
              <a:t>생체인증이</a:t>
            </a:r>
            <a:r>
              <a:rPr lang="ko-KR" altLang="en-US" dirty="0"/>
              <a:t> 있는 경우 </a:t>
            </a:r>
            <a:r>
              <a:rPr lang="ko-KR" altLang="en-US" dirty="0" err="1"/>
              <a:t>생체인증</a:t>
            </a:r>
            <a:r>
              <a:rPr lang="ko-KR" altLang="en-US" dirty="0"/>
              <a:t> </a:t>
            </a:r>
            <a:r>
              <a:rPr lang="ko-KR" altLang="en-US" dirty="0" err="1"/>
              <a:t>로그인을</a:t>
            </a:r>
            <a:r>
              <a:rPr lang="ko-KR" altLang="en-US" dirty="0"/>
              <a:t> 진행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성공 시 즉시 로그인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생체인증</a:t>
            </a:r>
            <a:r>
              <a:rPr lang="ko-KR" altLang="en-US" dirty="0"/>
              <a:t> </a:t>
            </a:r>
            <a:r>
              <a:rPr lang="ko-KR" altLang="en-US" dirty="0" err="1"/>
              <a:t>대기화면은</a:t>
            </a:r>
            <a:r>
              <a:rPr lang="ko-KR" altLang="en-US" dirty="0"/>
              <a:t> 시스템에 따름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등록 </a:t>
            </a:r>
            <a:r>
              <a:rPr lang="ko-KR" altLang="en-US" dirty="0"/>
              <a:t>하기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등록 페이지 이동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ko-KR" altLang="en-US" dirty="0">
                <a:sym typeface="Wingdings" panose="05000000000000000000" pitchFamily="2" charset="2"/>
              </a:rPr>
              <a:t>취소 버튼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이전 로그인 선택 화면 이동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생체인증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생체인증</a:t>
            </a:r>
            <a:r>
              <a:rPr lang="ko-KR" altLang="en-US" dirty="0">
                <a:latin typeface="+mn-ea"/>
              </a:rPr>
              <a:t>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생체인증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MUI-CM-03-M14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95" name="타원 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8869" y="58533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0901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생체인증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6" name="그룹 55"/>
          <p:cNvGrpSpPr/>
          <p:nvPr/>
        </p:nvGrpSpPr>
        <p:grpSpPr>
          <a:xfrm rot="5400000">
            <a:off x="749842" y="1640499"/>
            <a:ext cx="94010" cy="47005"/>
            <a:chOff x="6812560" y="3297172"/>
            <a:chExt cx="94010" cy="47005"/>
          </a:xfrm>
        </p:grpSpPr>
        <p:cxnSp>
          <p:nvCxnSpPr>
            <p:cNvPr id="57" name="직선 연결선 5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8" name="직선 연결선 5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9" name="타원 58"/>
          <p:cNvSpPr/>
          <p:nvPr/>
        </p:nvSpPr>
        <p:spPr>
          <a:xfrm>
            <a:off x="3039366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346145"/>
            <a:ext cx="2305144" cy="3323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900" b="1" dirty="0">
                <a:latin typeface="+mn-ea"/>
              </a:rPr>
              <a:t>편리한 </a:t>
            </a:r>
            <a:r>
              <a:rPr lang="ko-KR" altLang="en-US" sz="900" b="1" dirty="0" err="1">
                <a:latin typeface="+mn-ea"/>
              </a:rPr>
              <a:t>로그인을</a:t>
            </a:r>
            <a:r>
              <a:rPr lang="ko-KR" altLang="en-US" sz="900" b="1" dirty="0">
                <a:latin typeface="+mn-ea"/>
              </a:rPr>
              <a:t> 위해</a:t>
            </a:r>
            <a:endParaRPr lang="en-US" altLang="ko-KR" sz="900" b="1" dirty="0"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ko-KR" altLang="en-US" sz="900" b="1" dirty="0">
                <a:latin typeface="+mn-ea"/>
              </a:rPr>
              <a:t>생체정보를 등록할 수 있습니다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62" name="타원 61"/>
          <p:cNvSpPr/>
          <p:nvPr/>
        </p:nvSpPr>
        <p:spPr>
          <a:xfrm>
            <a:off x="1702201" y="2419419"/>
            <a:ext cx="658422" cy="658418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70" name="직선 연결선 6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5667830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2" name="그룹 71"/>
          <p:cNvGrpSpPr/>
          <p:nvPr/>
        </p:nvGrpSpPr>
        <p:grpSpPr>
          <a:xfrm>
            <a:off x="1549317" y="5786374"/>
            <a:ext cx="1667454" cy="306146"/>
            <a:chOff x="3982951" y="3679873"/>
            <a:chExt cx="2255663" cy="306146"/>
          </a:xfrm>
        </p:grpSpPr>
        <p:sp>
          <p:nvSpPr>
            <p:cNvPr id="88" name="모서리가 둥근 직사각형 87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등록하기</a:t>
              </a:r>
            </a:p>
          </p:txBody>
        </p:sp>
      </p:grpSp>
      <p:grpSp>
        <p:nvGrpSpPr>
          <p:cNvPr id="90" name="그룹 89"/>
          <p:cNvGrpSpPr/>
          <p:nvPr/>
        </p:nvGrpSpPr>
        <p:grpSpPr>
          <a:xfrm>
            <a:off x="846055" y="5786374"/>
            <a:ext cx="626335" cy="306146"/>
            <a:chOff x="3982951" y="3679873"/>
            <a:chExt cx="2255663" cy="306146"/>
          </a:xfrm>
        </p:grpSpPr>
        <p:sp>
          <p:nvSpPr>
            <p:cNvPr id="91" name="모서리가 둥근 직사각형 90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latin typeface="+mn-ea"/>
                </a:rPr>
                <a:t>취소</a:t>
              </a:r>
            </a:p>
          </p:txBody>
        </p:sp>
      </p:grpSp>
      <p:grpSp>
        <p:nvGrpSpPr>
          <p:cNvPr id="93" name="그룹 92"/>
          <p:cNvGrpSpPr/>
          <p:nvPr/>
        </p:nvGrpSpPr>
        <p:grpSpPr>
          <a:xfrm>
            <a:off x="705041" y="4962893"/>
            <a:ext cx="2652743" cy="612161"/>
            <a:chOff x="734683" y="4769159"/>
            <a:chExt cx="2652743" cy="612161"/>
          </a:xfrm>
        </p:grpSpPr>
        <p:sp>
          <p:nvSpPr>
            <p:cNvPr id="94" name="모서리가 둥근 직사각형 93"/>
            <p:cNvSpPr/>
            <p:nvPr/>
          </p:nvSpPr>
          <p:spPr>
            <a:xfrm>
              <a:off x="734683" y="4769159"/>
              <a:ext cx="2652743" cy="612161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생체인증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로그인은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생체인증이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가능한 디바이스에서 등록 후 이용 가능합니다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97" name="타원 96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315493011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회원</a:t>
            </a:r>
            <a:r>
              <a:rPr lang="en-US" altLang="ko-KR" dirty="0"/>
              <a:t> </a:t>
            </a:r>
            <a:r>
              <a:rPr lang="ko-KR" altLang="en-US" dirty="0"/>
              <a:t>정보 입력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en-US" altLang="ko-KR" dirty="0"/>
              <a:t>Any-ID </a:t>
            </a:r>
            <a:r>
              <a:rPr lang="ko-KR" altLang="en-US" dirty="0"/>
              <a:t>본인 인증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본인 인증 성공 메시지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실패 메시지는 좌측 화면으로 복귀하여 토스트 메시지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>
                <a:sym typeface="Wingdings" panose="05000000000000000000" pitchFamily="2" charset="2"/>
              </a:rPr>
              <a:t> “</a:t>
            </a:r>
            <a:r>
              <a:rPr lang="ko-KR" altLang="en-US" dirty="0">
                <a:sym typeface="Wingdings" panose="05000000000000000000" pitchFamily="2" charset="2"/>
              </a:rPr>
              <a:t>회원정보가 없습니다</a:t>
            </a:r>
            <a:r>
              <a:rPr lang="en-US" altLang="ko-KR" dirty="0">
                <a:sym typeface="Wingdings" panose="05000000000000000000" pitchFamily="2" charset="2"/>
              </a:rPr>
              <a:t>.” </a:t>
            </a:r>
            <a:r>
              <a:rPr lang="ko-KR" altLang="en-US" dirty="0">
                <a:sym typeface="Wingdings" panose="05000000000000000000" pitchFamily="2" charset="2"/>
              </a:rPr>
              <a:t>등</a:t>
            </a:r>
            <a:endParaRPr lang="en-US" altLang="ko-KR" dirty="0">
              <a:sym typeface="Wingdings" panose="05000000000000000000" pitchFamily="2" charset="2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>
                <a:sym typeface="Wingdings" panose="05000000000000000000" pitchFamily="2" charset="2"/>
              </a:rPr>
              <a:t>생체인증</a:t>
            </a:r>
            <a:r>
              <a:rPr lang="ko-KR" altLang="en-US" dirty="0">
                <a:sym typeface="Wingdings" panose="05000000000000000000" pitchFamily="2" charset="2"/>
              </a:rPr>
              <a:t> 로그인 버튼 표시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- </a:t>
            </a:r>
            <a:r>
              <a:rPr lang="ko-KR" altLang="en-US" dirty="0" err="1">
                <a:sym typeface="Wingdings" panose="05000000000000000000" pitchFamily="2" charset="2"/>
              </a:rPr>
              <a:t>생체인증</a:t>
            </a:r>
            <a:r>
              <a:rPr lang="ko-KR" altLang="en-US" dirty="0">
                <a:sym typeface="Wingdings" panose="05000000000000000000" pitchFamily="2" charset="2"/>
              </a:rPr>
              <a:t> 로그인 진행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로그인 성공 시 메인 화면 이동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생체인증</a:t>
            </a:r>
            <a:r>
              <a:rPr lang="ko-KR" altLang="en-US" dirty="0">
                <a:latin typeface="+mn-ea"/>
              </a:rPr>
              <a:t> 등록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생체인증</a:t>
            </a:r>
            <a:r>
              <a:rPr lang="ko-KR" altLang="en-US" dirty="0">
                <a:latin typeface="+mn-ea"/>
              </a:rPr>
              <a:t> 등록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생체인증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MUI-CM-03-M15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생체인증</a:t>
            </a:r>
            <a:r>
              <a:rPr lang="ko-KR" altLang="en-US" sz="800" dirty="0">
                <a:latin typeface="+mn-ea"/>
              </a:rPr>
              <a:t> 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95" name="타원 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863" y="582892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49" name="직선 연결선 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5667830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3" name="그룹 52"/>
          <p:cNvGrpSpPr/>
          <p:nvPr/>
        </p:nvGrpSpPr>
        <p:grpSpPr>
          <a:xfrm>
            <a:off x="903581" y="2835354"/>
            <a:ext cx="2255663" cy="306146"/>
            <a:chOff x="3982951" y="3679873"/>
            <a:chExt cx="2255663" cy="306146"/>
          </a:xfrm>
        </p:grpSpPr>
        <p:sp>
          <p:nvSpPr>
            <p:cNvPr id="56" name="모서리가 둥근 직사각형 55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성명을 입력해주세요</a:t>
              </a:r>
            </a:p>
          </p:txBody>
        </p:sp>
      </p:grpSp>
      <p:sp>
        <p:nvSpPr>
          <p:cNvPr id="58" name="TextBox 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69641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성명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2696419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180347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05050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아이디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96" name="모서리가 둥근 직사각형 95"/>
          <p:cNvSpPr/>
          <p:nvPr/>
        </p:nvSpPr>
        <p:spPr>
          <a:xfrm>
            <a:off x="903581" y="2197638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2296850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아이디를 입력해주세요</a:t>
            </a:r>
          </a:p>
        </p:txBody>
      </p:sp>
      <p:grpSp>
        <p:nvGrpSpPr>
          <p:cNvPr id="98" name="그룹 97"/>
          <p:cNvGrpSpPr/>
          <p:nvPr/>
        </p:nvGrpSpPr>
        <p:grpSpPr>
          <a:xfrm>
            <a:off x="705041" y="4959509"/>
            <a:ext cx="2652743" cy="638164"/>
            <a:chOff x="734683" y="4769160"/>
            <a:chExt cx="2652743" cy="638164"/>
          </a:xfrm>
        </p:grpSpPr>
        <p:sp>
          <p:nvSpPr>
            <p:cNvPr id="99" name="모서리가 둥근 직사각형 98"/>
            <p:cNvSpPr/>
            <p:nvPr/>
          </p:nvSpPr>
          <p:spPr>
            <a:xfrm>
              <a:off x="734683" y="4769160"/>
              <a:ext cx="2652743" cy="638164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사용자 정보를 입력한 후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간편인증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또는 본인인증을 진행하면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디바이스에 저장된 생체정보를 사용할 수 있습니다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101" name="타원 100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02" name="그룹 101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103" name="직선 연결선 10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4" name="직선 연결선 10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12" name="TextBox 11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2055553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539390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grpSp>
        <p:nvGrpSpPr>
          <p:cNvPr id="106" name="그룹 105"/>
          <p:cNvGrpSpPr/>
          <p:nvPr/>
        </p:nvGrpSpPr>
        <p:grpSpPr>
          <a:xfrm>
            <a:off x="2067915" y="5786374"/>
            <a:ext cx="1148855" cy="306146"/>
            <a:chOff x="3982951" y="3679873"/>
            <a:chExt cx="2255663" cy="306146"/>
          </a:xfrm>
        </p:grpSpPr>
        <p:sp>
          <p:nvSpPr>
            <p:cNvPr id="107" name="모서리가 둥근 직사각형 106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본인인증</a:t>
              </a:r>
            </a:p>
          </p:txBody>
        </p:sp>
      </p:grpSp>
      <p:grpSp>
        <p:nvGrpSpPr>
          <p:cNvPr id="114" name="그룹 113"/>
          <p:cNvGrpSpPr/>
          <p:nvPr/>
        </p:nvGrpSpPr>
        <p:grpSpPr>
          <a:xfrm>
            <a:off x="846055" y="5786374"/>
            <a:ext cx="1148855" cy="306146"/>
            <a:chOff x="3982951" y="3679873"/>
            <a:chExt cx="2255663" cy="306146"/>
          </a:xfrm>
        </p:grpSpPr>
        <p:sp>
          <p:nvSpPr>
            <p:cNvPr id="115" name="모서리가 둥근 직사각형 11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err="1">
                  <a:solidFill>
                    <a:schemeClr val="bg1"/>
                  </a:solidFill>
                  <a:latin typeface="+mn-ea"/>
                </a:rPr>
                <a:t>간편인증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생체인증</a:t>
            </a:r>
            <a:r>
              <a:rPr lang="ko-KR" altLang="en-US" sz="800" dirty="0">
                <a:latin typeface="+mn-ea"/>
              </a:rPr>
              <a:t> 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19" name="직선 연결선 1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20" name="그룹 119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121" name="직선 연결선 12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2" name="직선 연결선 12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3" name="타원 122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346145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본인 인증이 완료되었습니다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651557"/>
            <a:ext cx="2305144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dirty="0">
                <a:latin typeface="+mn-ea"/>
              </a:rPr>
              <a:t>디바이스에 등록된</a:t>
            </a:r>
            <a:endParaRPr lang="en-US" altLang="ko-KR" sz="800" dirty="0">
              <a:latin typeface="+mn-ea"/>
            </a:endParaRPr>
          </a:p>
          <a:p>
            <a:pPr algn="ctr"/>
            <a:r>
              <a:rPr lang="ko-KR" altLang="en-US" sz="800" dirty="0">
                <a:latin typeface="+mn-ea"/>
              </a:rPr>
              <a:t>모든 </a:t>
            </a:r>
            <a:r>
              <a:rPr lang="ko-KR" altLang="en-US" sz="800" dirty="0" err="1">
                <a:latin typeface="+mn-ea"/>
              </a:rPr>
              <a:t>얼굴정보</a:t>
            </a:r>
            <a:r>
              <a:rPr lang="en-US" altLang="ko-KR" sz="800" dirty="0">
                <a:latin typeface="+mn-ea"/>
              </a:rPr>
              <a:t>, </a:t>
            </a:r>
            <a:r>
              <a:rPr lang="ko-KR" altLang="en-US" sz="800" dirty="0">
                <a:latin typeface="+mn-ea"/>
              </a:rPr>
              <a:t>지문정보를</a:t>
            </a:r>
            <a:r>
              <a:rPr lang="en-US" altLang="ko-KR" sz="800" dirty="0">
                <a:latin typeface="+mn-ea"/>
              </a:rPr>
              <a:t> </a:t>
            </a:r>
            <a:r>
              <a:rPr lang="ko-KR" altLang="en-US" sz="800" dirty="0">
                <a:latin typeface="+mn-ea"/>
              </a:rPr>
              <a:t>이용하여</a:t>
            </a:r>
            <a:endParaRPr lang="en-US" altLang="ko-KR" sz="800" dirty="0">
              <a:latin typeface="+mn-ea"/>
            </a:endParaRPr>
          </a:p>
          <a:p>
            <a:pPr algn="ctr"/>
            <a:r>
              <a:rPr lang="ko-KR" altLang="en-US" sz="800" dirty="0" err="1">
                <a:latin typeface="+mn-ea"/>
              </a:rPr>
              <a:t>로그인을</a:t>
            </a:r>
            <a:r>
              <a:rPr lang="ko-KR" altLang="en-US" sz="800" dirty="0">
                <a:latin typeface="+mn-ea"/>
              </a:rPr>
              <a:t> 진행합니다</a:t>
            </a:r>
            <a:r>
              <a:rPr lang="en-US" altLang="ko-KR" sz="800" dirty="0">
                <a:latin typeface="+mn-ea"/>
              </a:rPr>
              <a:t>.</a:t>
            </a:r>
          </a:p>
        </p:txBody>
      </p:sp>
      <p:sp>
        <p:nvSpPr>
          <p:cNvPr id="126" name="타원 125"/>
          <p:cNvSpPr/>
          <p:nvPr/>
        </p:nvSpPr>
        <p:spPr>
          <a:xfrm>
            <a:off x="4822536" y="2419419"/>
            <a:ext cx="658422" cy="658418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31" name="직선 연결선 1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9606" y="5667830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32" name="그룹 131"/>
          <p:cNvGrpSpPr/>
          <p:nvPr/>
        </p:nvGrpSpPr>
        <p:grpSpPr>
          <a:xfrm>
            <a:off x="3963829" y="5786374"/>
            <a:ext cx="2370716" cy="306146"/>
            <a:chOff x="3982951" y="3679873"/>
            <a:chExt cx="2255663" cy="306146"/>
          </a:xfrm>
        </p:grpSpPr>
        <p:sp>
          <p:nvSpPr>
            <p:cNvPr id="133" name="모서리가 둥근 직사각형 132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err="1">
                  <a:solidFill>
                    <a:schemeClr val="bg1"/>
                  </a:solidFill>
                  <a:latin typeface="+mn-ea"/>
                </a:rPr>
                <a:t>생체인증</a:t>
              </a:r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 로그인</a:t>
              </a:r>
            </a:p>
          </p:txBody>
        </p:sp>
      </p:grpSp>
      <p:sp>
        <p:nvSpPr>
          <p:cNvPr id="139" name="타원 1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2403" y="33870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40" name="타원 1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5139" y="582892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662660110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실패한 경우 로그인 선택 화면</a:t>
            </a:r>
            <a:r>
              <a:rPr lang="en-US" altLang="ko-KR" dirty="0"/>
              <a:t> </a:t>
            </a:r>
            <a:r>
              <a:rPr lang="ko-KR" altLang="en-US" dirty="0"/>
              <a:t>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토스트 메시지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성공한 경우 메인 홈으로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토스트 메시지 표시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 성공 </a:t>
            </a:r>
            <a:r>
              <a:rPr lang="en-US" altLang="ko-KR" dirty="0">
                <a:latin typeface="+mn-ea"/>
              </a:rPr>
              <a:t>/ </a:t>
            </a:r>
            <a:r>
              <a:rPr lang="ko-KR" altLang="en-US" dirty="0">
                <a:latin typeface="+mn-ea"/>
              </a:rPr>
              <a:t>실패 안내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 성공 </a:t>
            </a:r>
            <a:r>
              <a:rPr lang="en-US" altLang="ko-KR" dirty="0">
                <a:latin typeface="+mn-ea"/>
              </a:rPr>
              <a:t>/ </a:t>
            </a:r>
            <a:r>
              <a:rPr lang="ko-KR" altLang="en-US" dirty="0">
                <a:latin typeface="+mn-ea"/>
              </a:rPr>
              <a:t>실패 안내 토스트 메시지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 성공 </a:t>
            </a:r>
            <a:r>
              <a:rPr lang="en-US" altLang="ko-KR" dirty="0">
                <a:latin typeface="+mn-ea"/>
              </a:rPr>
              <a:t>/ </a:t>
            </a:r>
            <a:r>
              <a:rPr lang="ko-KR" altLang="en-US" dirty="0">
                <a:latin typeface="+mn-ea"/>
              </a:rPr>
              <a:t>실패 안내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MUI-CM-03-P16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518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5" name="모서리가 둥근 직사각형 34"/>
          <p:cNvSpPr/>
          <p:nvPr/>
        </p:nvSpPr>
        <p:spPr>
          <a:xfrm>
            <a:off x="1337508" y="5845175"/>
            <a:ext cx="143239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모서리가 둥근 직사각형 36"/>
          <p:cNvSpPr/>
          <p:nvPr/>
        </p:nvSpPr>
        <p:spPr>
          <a:xfrm>
            <a:off x="1384229" y="5491535"/>
            <a:ext cx="1338948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인증에 실패 하였습니다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6371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886402291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직사각형 2"/>
          <p:cNvSpPr/>
          <p:nvPr/>
        </p:nvSpPr>
        <p:spPr>
          <a:xfrm>
            <a:off x="675398" y="1854537"/>
            <a:ext cx="2712028" cy="4377762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카메라 활성화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QR </a:t>
            </a:r>
            <a:r>
              <a:rPr lang="ko-KR" altLang="en-US" dirty="0"/>
              <a:t>스캔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PC </a:t>
            </a:r>
            <a:r>
              <a:rPr lang="ko-KR" altLang="en-US" dirty="0"/>
              <a:t>로그인 성공</a:t>
            </a:r>
            <a:r>
              <a:rPr lang="en-US" altLang="ko-KR" dirty="0"/>
              <a:t>, </a:t>
            </a:r>
            <a:r>
              <a:rPr lang="ko-KR" altLang="en-US" dirty="0"/>
              <a:t>실패 시 토스트 메시지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PC QR </a:t>
            </a:r>
            <a:r>
              <a:rPr lang="ko-KR" altLang="en-US" dirty="0">
                <a:latin typeface="+mn-ea"/>
              </a:rPr>
              <a:t>로그인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PC</a:t>
            </a:r>
            <a:r>
              <a:rPr lang="ko-KR" altLang="en-US" dirty="0">
                <a:latin typeface="+mn-ea"/>
              </a:rPr>
              <a:t>화면의 </a:t>
            </a:r>
            <a:r>
              <a:rPr lang="en-US" altLang="ko-KR" dirty="0">
                <a:latin typeface="+mn-ea"/>
              </a:rPr>
              <a:t>QR</a:t>
            </a:r>
            <a:r>
              <a:rPr lang="ko-KR" altLang="en-US" dirty="0">
                <a:latin typeface="+mn-ea"/>
              </a:rPr>
              <a:t>코드를 앱에서 읽어 </a:t>
            </a:r>
            <a:r>
              <a:rPr lang="en-US" altLang="ko-KR" dirty="0">
                <a:latin typeface="+mn-ea"/>
              </a:rPr>
              <a:t>PC </a:t>
            </a:r>
            <a:r>
              <a:rPr lang="ko-KR" altLang="en-US" dirty="0">
                <a:latin typeface="+mn-ea"/>
              </a:rPr>
              <a:t>로그인 시키는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PC QR </a:t>
            </a:r>
            <a:r>
              <a:rPr lang="ko-KR" altLang="en-US" dirty="0">
                <a:latin typeface="+mn-ea"/>
              </a:rPr>
              <a:t>로그인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MUI-CM-03-M17</a:t>
            </a:r>
            <a:endParaRPr lang="ko-KR" altLang="en-US" sz="1000" dirty="0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0901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PC QR </a:t>
            </a:r>
            <a:r>
              <a:rPr lang="ko-KR" altLang="en-US" sz="800" dirty="0">
                <a:latin typeface="+mn-ea"/>
              </a:rPr>
              <a:t>로그인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6" name="그룹 55"/>
          <p:cNvGrpSpPr/>
          <p:nvPr/>
        </p:nvGrpSpPr>
        <p:grpSpPr>
          <a:xfrm rot="5400000">
            <a:off x="749842" y="1640499"/>
            <a:ext cx="94010" cy="47005"/>
            <a:chOff x="6812560" y="3297172"/>
            <a:chExt cx="94010" cy="47005"/>
          </a:xfrm>
        </p:grpSpPr>
        <p:cxnSp>
          <p:nvCxnSpPr>
            <p:cNvPr id="57" name="직선 연결선 5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8" name="직선 연결선 5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9" name="타원 58"/>
          <p:cNvSpPr/>
          <p:nvPr/>
        </p:nvSpPr>
        <p:spPr>
          <a:xfrm>
            <a:off x="3039366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534732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dirty="0">
                <a:latin typeface="+mn-ea"/>
              </a:rPr>
              <a:t>카메라에 </a:t>
            </a:r>
            <a:r>
              <a:rPr lang="en-US" altLang="ko-KR" sz="800" dirty="0">
                <a:latin typeface="+mn-ea"/>
              </a:rPr>
              <a:t>PC </a:t>
            </a:r>
            <a:r>
              <a:rPr lang="ko-KR" altLang="en-US" sz="800" dirty="0">
                <a:latin typeface="+mn-ea"/>
              </a:rPr>
              <a:t>화면</a:t>
            </a:r>
            <a:r>
              <a:rPr lang="en-US" altLang="ko-KR" sz="800" dirty="0">
                <a:latin typeface="+mn-ea"/>
              </a:rPr>
              <a:t> QR </a:t>
            </a:r>
            <a:r>
              <a:rPr lang="ko-KR" altLang="en-US" sz="800" dirty="0">
                <a:latin typeface="+mn-ea"/>
              </a:rPr>
              <a:t>코드를 스캔해주세요</a:t>
            </a:r>
            <a:r>
              <a:rPr lang="en-US" altLang="ko-KR" sz="800" dirty="0">
                <a:latin typeface="+mn-ea"/>
              </a:rPr>
              <a:t>.</a:t>
            </a:r>
          </a:p>
        </p:txBody>
      </p:sp>
      <p:sp>
        <p:nvSpPr>
          <p:cNvPr id="5" name="직사각형 4"/>
          <p:cNvSpPr/>
          <p:nvPr/>
        </p:nvSpPr>
        <p:spPr>
          <a:xfrm>
            <a:off x="1193342" y="2824417"/>
            <a:ext cx="1676140" cy="167614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30657896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en-US" altLang="ko-KR" dirty="0"/>
              <a:t>background</a:t>
            </a:r>
            <a:r>
              <a:rPr lang="ko-KR" altLang="en-US" dirty="0"/>
              <a:t>에서 복귀 시 안내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(</a:t>
            </a:r>
            <a:r>
              <a:rPr lang="ko-KR" altLang="en-US" dirty="0"/>
              <a:t>모바일은 타임아웃 불필요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백그라운드 앱 상태에서 오래 머물러 연결이 끊어진 경우</a:t>
            </a:r>
            <a:r>
              <a:rPr lang="en-US" altLang="ko-KR" dirty="0"/>
              <a:t>, </a:t>
            </a:r>
            <a:r>
              <a:rPr lang="ko-KR" altLang="en-US" dirty="0" err="1"/>
              <a:t>재로그인</a:t>
            </a:r>
            <a:r>
              <a:rPr lang="ko-KR" altLang="en-US" dirty="0"/>
              <a:t> 필요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햄버거 메뉴에서 로그아웃 버튼을 클릭한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메인 페이지로 이동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로그아웃 안내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로그아웃 안내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MUI-CM-03-P18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518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7" name="모서리가 둥근 직사각형 36"/>
          <p:cNvSpPr/>
          <p:nvPr/>
        </p:nvSpPr>
        <p:spPr>
          <a:xfrm>
            <a:off x="1384229" y="5491535"/>
            <a:ext cx="1338948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모서리가 둥근 직사각형 13"/>
          <p:cNvSpPr/>
          <p:nvPr/>
        </p:nvSpPr>
        <p:spPr>
          <a:xfrm>
            <a:off x="1384229" y="5845175"/>
            <a:ext cx="1338948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649981617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직사각형 3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로그인이</a:t>
            </a:r>
            <a:r>
              <a:rPr lang="ko-KR" altLang="en-US" dirty="0"/>
              <a:t> 필요한 서비스 메뉴에 접근하는 경우 노출되는 팝업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로그인 하기 버튼 클릭 시 로그인 선택 화면으로 이동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로그인 필요 서비스 안내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/>
              <a:t>비로그인</a:t>
            </a:r>
            <a:r>
              <a:rPr lang="ko-KR" altLang="en-US" dirty="0"/>
              <a:t> 상태에서 로그인 서비스 사용 </a:t>
            </a:r>
            <a:r>
              <a:rPr lang="ko-KR" altLang="en-US" dirty="0" err="1"/>
              <a:t>시도시</a:t>
            </a:r>
            <a:r>
              <a:rPr lang="ko-KR" altLang="en-US" dirty="0"/>
              <a:t> 노출되는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altLang="ko-KR" dirty="0"/>
              <a:t>-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MUI-CM-03-P19</a:t>
            </a:r>
            <a:endParaRPr lang="ko-KR" altLang="en-US" sz="1000" dirty="0"/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286517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5" name="그룹 4"/>
          <p:cNvGrpSpPr/>
          <p:nvPr/>
        </p:nvGrpSpPr>
        <p:grpSpPr>
          <a:xfrm>
            <a:off x="743977" y="3253736"/>
            <a:ext cx="2579992" cy="1200743"/>
            <a:chOff x="3859820" y="2317399"/>
            <a:chExt cx="2579992" cy="1200743"/>
          </a:xfrm>
        </p:grpSpPr>
        <p:sp>
          <p:nvSpPr>
            <p:cNvPr id="32" name="모서리가 둥근 직사각형 31"/>
            <p:cNvSpPr/>
            <p:nvPr/>
          </p:nvSpPr>
          <p:spPr>
            <a:xfrm>
              <a:off x="3859820" y="2317399"/>
              <a:ext cx="2579992" cy="1200743"/>
            </a:xfrm>
            <a:prstGeom prst="roundRect">
              <a:avLst>
                <a:gd name="adj" fmla="val 4663"/>
              </a:avLst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8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5202658" y="3076561"/>
              <a:ext cx="1080000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prstClr val="white"/>
                  </a:solidFill>
                </a:rPr>
                <a:t>로그인 하기</a:t>
              </a:r>
              <a:endParaRPr kumimoji="1" lang="en-US" altLang="ko-KR" sz="1000" kern="0" dirty="0">
                <a:solidFill>
                  <a:prstClr val="white"/>
                </a:solidFill>
              </a:endParaRPr>
            </a:p>
          </p:txBody>
        </p:sp>
        <p:sp>
          <p:nvSpPr>
            <p:cNvPr id="3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3977514" y="3076561"/>
              <a:ext cx="108000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77514" y="2464129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로그인 안내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7244" y="2696638"/>
              <a:ext cx="230514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해당 서비스를 사용하기 위해서는 </a:t>
              </a:r>
              <a:r>
                <a:rPr lang="ko-KR" altLang="en-US" sz="700" dirty="0" err="1">
                  <a:latin typeface="+mn-ea"/>
                </a:rPr>
                <a:t>로그인이</a:t>
              </a:r>
              <a:r>
                <a:rPr lang="ko-KR" altLang="en-US" sz="700" dirty="0">
                  <a:latin typeface="+mn-ea"/>
                </a:rPr>
                <a:t> 필요합니다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r>
                <a:rPr lang="ko-KR" altLang="en-US" sz="700" dirty="0">
                  <a:latin typeface="+mn-ea"/>
                </a:rPr>
                <a:t>지금 바로 로그인 하시겠습니까</a:t>
              </a:r>
              <a:r>
                <a:rPr lang="en-US" altLang="ko-KR" sz="700" dirty="0">
                  <a:latin typeface="+mn-ea"/>
                </a:rPr>
                <a:t>?</a:t>
              </a:r>
            </a:p>
          </p:txBody>
        </p:sp>
        <p:grpSp>
          <p:nvGrpSpPr>
            <p:cNvPr id="46" name="그룹 45"/>
            <p:cNvGrpSpPr/>
            <p:nvPr/>
          </p:nvGrpSpPr>
          <p:grpSpPr>
            <a:xfrm>
              <a:off x="6188648" y="2464129"/>
              <a:ext cx="94010" cy="94010"/>
              <a:chOff x="6812560" y="3297172"/>
              <a:chExt cx="94010" cy="94010"/>
            </a:xfrm>
          </p:grpSpPr>
          <p:cxnSp>
            <p:nvCxnSpPr>
              <p:cNvPr id="47" name="직선 연결선 46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48" name="직선 연결선 47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703378427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56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2. </a:t>
            </a:r>
            <a:r>
              <a:rPr lang="ko-KR" altLang="en-US" dirty="0" err="1"/>
              <a:t>마이페이지</a:t>
            </a:r>
            <a:r>
              <a:rPr lang="ko-KR" altLang="en-US" dirty="0"/>
              <a:t> 메뉴</a:t>
            </a:r>
            <a:endParaRPr lang="en-US" altLang="ko-KR" dirty="0"/>
          </a:p>
          <a:p>
            <a:r>
              <a:rPr lang="en-US" altLang="ko-KR" dirty="0"/>
              <a:t>2.1 </a:t>
            </a:r>
            <a:r>
              <a:rPr lang="ko-KR" altLang="en-US" dirty="0"/>
              <a:t>화면 목록 </a:t>
            </a:r>
            <a:r>
              <a:rPr lang="en-US" altLang="ko-KR" dirty="0"/>
              <a:t>(</a:t>
            </a:r>
            <a:r>
              <a:rPr lang="en-US" altLang="ko-KR" dirty="0" smtClean="0"/>
              <a:t>1/4)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2986218"/>
              </p:ext>
            </p:extLst>
          </p:nvPr>
        </p:nvGraphicFramePr>
        <p:xfrm>
          <a:off x="635474" y="1413419"/>
          <a:ext cx="8701200" cy="461758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t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MUI-CM-06-M01</a:t>
                      </a:r>
                      <a:endParaRPr lang="ko-KR" altLang="en-US" sz="75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마이페이지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MyPagePage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마이페이지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목록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서브 메인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myPage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MyPagePage.tsx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UC-ZZ-11-10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MUI-CM-06-M02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나의진행업무현황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MyPrgrsHstryPage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진행중인 이력 정보 목록 표시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myPrgrsHstry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MyPrgrsHstryPage.tsx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MUI-CM-06-P03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세부 스텝 팝업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MyPrgrsHstryDtl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진행중인 이력 정보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스탭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표시 팝업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myPrgrsHstryDtl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MyPrgrsHstryDtl.tsx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57821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t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MUI-CM-06-M04</a:t>
                      </a:r>
                      <a:endParaRPr lang="ko-KR" altLang="en-US" sz="75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나의업무이력현황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MyTaskHstryPage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종료된 이력정보 목록 표시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myTaskHstry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MyPrgrsHstryDtl.tsx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869652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MUI-CM-06-M05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관심입찰공고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ItrstBidPbancPage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즐겨찾기한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입찰공고 목록 표시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itrstBidPbanc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ItrstBidPbancPage.tsx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UC-ZZ-11-04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7373192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MUI-CM-06-M06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업무캘린더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즐겨찾기한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공고 표시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입찰서 제출일 등 조달업무 관련 캘린더 표시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개인이 개별 등록한 일정 표시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TaskCldrPage.tsx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UC-ZZ-11-05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057218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t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MUI-CM-06-M07</a:t>
                      </a:r>
                      <a:endParaRPr lang="ko-KR" altLang="en-US" sz="75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업무캘린더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일정 상세 정보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TaskCldrDtlPage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즐겨찾기한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공고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업무 일정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는 해당 공고로 이동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개인이 등록한 일정은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바텀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시트로 추가 표시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taskCldrDtl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TaskCldrDtlPage.tsx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88000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MUI-CM-06-M08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업무 캘린더 등록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TaskCldrRegPage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개인이 개별 등록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 팝업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taskCldrRegPage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TaskCldrReg.tsx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277346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MUI-CM-06-M09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업무 캘린더 삭제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TaskCldrDelPage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즐겨찾기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개인이 등록한 일정 삭제 확인 팝업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taskCldrDelPage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TaskCldrDelPage.tsx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7765702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t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MUI-CM-06-M10</a:t>
                      </a:r>
                      <a:endParaRPr lang="ko-KR" altLang="en-US" sz="75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문서함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DocBoxPage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보낸 문서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받은 문서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반려 문서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docBox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DocBoxPage.tsx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8823180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MUI-CM-06-M11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문서함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DocBoxDtl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 상세 내용 표시 화면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첨언상세보기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반려사유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발생건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탭으로 표시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docBoxDtl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DocBoxDtl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471371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MUI-CM-06-M12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개인별수신처 관리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IndvRcofcMng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개인별 수신처 내역 표시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indvRcofcMng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IndvRcofcMng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UC-ZZ-11-06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8717066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MUI-CM-06-M13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관심법령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ItrstSttPage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법령 중 사용자가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찜한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법령 목록 표시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itrstStt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ItrstSttPage.tsx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UC-ZZ-11-08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698132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나의 게시물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내가 작성한 게시물을 모아볼 수 있는 메뉴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MyPstPage.tsx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0019575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82686806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57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2. </a:t>
            </a:r>
            <a:r>
              <a:rPr lang="ko-KR" altLang="en-US" dirty="0" err="1"/>
              <a:t>마이페이지</a:t>
            </a:r>
            <a:r>
              <a:rPr lang="ko-KR" altLang="en-US" dirty="0"/>
              <a:t> 메뉴</a:t>
            </a:r>
            <a:endParaRPr lang="en-US" altLang="ko-KR" dirty="0"/>
          </a:p>
          <a:p>
            <a:r>
              <a:rPr lang="en-US" altLang="ko-KR" dirty="0"/>
              <a:t>2.1 </a:t>
            </a:r>
            <a:r>
              <a:rPr lang="ko-KR" altLang="en-US" dirty="0"/>
              <a:t>화면 목록 </a:t>
            </a:r>
            <a:r>
              <a:rPr lang="en-US" altLang="ko-KR" dirty="0" smtClean="0"/>
              <a:t>(2/4)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1807487"/>
              </p:ext>
            </p:extLst>
          </p:nvPr>
        </p:nvGraphicFramePr>
        <p:xfrm>
          <a:off x="635474" y="1413419"/>
          <a:ext cx="8701200" cy="501118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디지털캐비닛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디지털 캐비닛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사용자가 등록한 자료 폴더 목록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DigitalCabinetPage.tsx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UC-ZZ-17-01</a:t>
                      </a:r>
                    </a:p>
                    <a:p>
                      <a:pPr algn="ctr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UC-ZZ-17-02</a:t>
                      </a:r>
                    </a:p>
                    <a:p>
                      <a:pPr algn="ctr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UC-ZZ-17-03</a:t>
                      </a:r>
                    </a:p>
                    <a:p>
                      <a:pPr algn="ctr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UC-ZZ-17-04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209189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MUI-CM-06-P15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폴더 설정 권한 관리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DigitalCabinetMng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폴더 설정 권한 관리 팝업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digitalCabinetMng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MdigitalCabinetMng.tsx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UC-ZZ-17-02</a:t>
                      </a: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UC-ZZ-17-03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04479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폴더 내 파일 목록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DigitalCabinetFileListPage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폴더 내 파일 목록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digitalCabinetFileList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DigitalCabinetFileListPage.tsx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UC-ZZ-17-01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443466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MUI-CM-01-M01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업체정보관리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BzentyGnrlInfoMngPage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 정보 진입 버튼 목록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bzentyGnrlInfoMng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BzentyGnrlInfoMngPage.tsx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5141068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MUI-CM-01-M02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업체정보 상세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bzentyGnrlInfoDtlPage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자신이 속한 업체 정보 표시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탭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]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일반정보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물품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내자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시설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국내소재상사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bzentyGnrlInfoDtl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BzentyGnrlInfoDtlPage.tsx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UC-ZZ-09-01</a:t>
                      </a: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9062725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추가정보 신청 목록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AddRegInfoAplyList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추가정보신청 목록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addRegInfoAplyList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AddRegInfoAplyList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745458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신청 내역 상세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AddRegInfoAplyDtl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추가정보신청 상세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addRegInfoAplyDtl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AddRegInfoAplyDtl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5104385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업체정보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추가등록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내자정보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등록품목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국내소재상사정보 등 추가정보 등록 신청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3511448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품류선택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KnditmChc</a:t>
                      </a:r>
                      <a:endParaRPr lang="en-US" sz="8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품류선택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팝업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KnditmChc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1001885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조합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단체 선택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AsctGrpChc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조합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단체 선택 팝업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AsctGrpChc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1292025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등록대상 품목 선택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RegTrgtItemChc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등록대상 품목 선택 팝업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RegTrgtItemChc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3770659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649441079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58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endParaRPr lang="en-US" altLang="ko-KR" dirty="0"/>
          </a:p>
          <a:p>
            <a:r>
              <a:rPr lang="en-US" altLang="ko-KR" dirty="0"/>
              <a:t>2.1 </a:t>
            </a:r>
            <a:r>
              <a:rPr lang="ko-KR" altLang="en-US" dirty="0"/>
              <a:t>화면 목록 </a:t>
            </a:r>
            <a:r>
              <a:rPr lang="en-US" altLang="ko-KR" dirty="0" smtClean="0"/>
              <a:t>(3/4)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92350346"/>
              </p:ext>
            </p:extLst>
          </p:nvPr>
        </p:nvGraphicFramePr>
        <p:xfrm>
          <a:off x="635474" y="1413419"/>
          <a:ext cx="8701200" cy="496126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품목 조회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ItemInq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품목 조회 팝업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ItemInq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475290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보안측정인원등록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ScrtyMsrmtPrsnlReg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진행중인 이력 정보 표시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ItemInq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44524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FSC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선택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FSCChc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FSC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선택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FSCChc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125158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주거래은행 선택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BankChc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주거래은행 선택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BankChc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4744303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행정정보공동이용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사전동의서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PbamdsInfoJntUtztnBfhdWtcs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행정정보공동이용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사전동의서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PbamdsInfoJntUtztnBfhdWtcs</a:t>
                      </a:r>
                      <a:endParaRPr lang="en-US" altLang="ko-KR" sz="8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latinLnBrk="1">
                        <a:defRPr/>
                      </a:pP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97619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Confirm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Confirm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066396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군수품무역대리업 신청 및 발급 목록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DfEqpmntTradeAgncAplyListPage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군수품무역대리업 신청 및 발급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dfEqpmntTradeAgncAplyList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DfEqpmntTradeAgncAplyListPage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150648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7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MUI-CM-01-M16</a:t>
                      </a:r>
                      <a:endParaRPr kumimoji="0" 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신청 내역 상세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DfEqpmntTradeAgncAplyDtlPage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군수품무역대리업 신청 내역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상세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dfEqpmntTradeAgncAplyDtl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DfEqpmntTradeAgncAplyDtlPage.tsx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7533541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MUI-CM-01-M17</a:t>
                      </a:r>
                      <a:endParaRPr kumimoji="0" 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신규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갱신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DfEqpmntTradeAgncAplyPage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군수품무역대리업 신청 및 발급 신규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갱신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작성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dfEqpmntTradeAgncAply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DfEqpmntTradeAgncAplyPage.tsx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832937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MUI-CM-01-M18</a:t>
                      </a:r>
                      <a:endParaRPr kumimoji="0" 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변경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DfEqpmntTradeAgncChgPage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군수품무역대리업 신청 및 발급 변경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작성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dfEqpmntTradeAgncChg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DfEqpmntTradeAgncChgPage.tsx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8625375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MUI-CM-01-M19</a:t>
                      </a:r>
                      <a:endParaRPr kumimoji="0" 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조달원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확인서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DmstSosCnfdocListPage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조달원 확인서 신청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dmstSosCnfdocList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DmstSosCnfdocListPage.tsx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UC-ZZ-07-01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UC-ZZ-07-02</a:t>
                      </a:r>
                      <a:endParaRPr lang="ko-KR" altLang="en-US" sz="8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596341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MUI-CM-01-P20</a:t>
                      </a:r>
                      <a:endParaRPr kumimoji="0" 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조달원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확인서 신청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DmstSosCnfdocAply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조달원 확인서 신청서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dmstSosCnfdocList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DmstSosCnfdocAply.tsx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UC-ZZ-07-01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UC-ZZ-07-02</a:t>
                      </a:r>
                      <a:endParaRPr lang="ko-KR" altLang="en-US" sz="8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43807993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74870256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59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endParaRPr lang="en-US" altLang="ko-KR" dirty="0"/>
          </a:p>
          <a:p>
            <a:r>
              <a:rPr lang="en-US" altLang="ko-KR" dirty="0"/>
              <a:t>2.1 </a:t>
            </a:r>
            <a:r>
              <a:rPr lang="ko-KR" altLang="en-US" dirty="0"/>
              <a:t>화면 목록 </a:t>
            </a:r>
            <a:r>
              <a:rPr lang="en-US" altLang="ko-KR" dirty="0" smtClean="0"/>
              <a:t>(4/4)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25469468"/>
              </p:ext>
            </p:extLst>
          </p:nvPr>
        </p:nvGraphicFramePr>
        <p:xfrm>
          <a:off x="635474" y="1413419"/>
          <a:ext cx="8701200" cy="403582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MUI-CM-01-P21</a:t>
                      </a:r>
                      <a:endParaRPr kumimoji="0" 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국외조달원등록증신청안내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OvsdmstSosCnfdoc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국외 조달원 등록증 신청 안내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dmstSosCnfdocList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OvsdmstSosCnfdoc.tsx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UC-ZZ-09-01</a:t>
                      </a:r>
                      <a:endParaRPr lang="ko-KR" altLang="en-US" sz="8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2495861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MUI-CM-02-M01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사용자정보관리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IndvInfoMngPage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사용자 정보관리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indvInfoMng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IndvInfoMngPage.tsx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UC-ZZ-01-03</a:t>
                      </a:r>
                    </a:p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UC-ZZ-10-01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4970439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MUI-CM-02-M02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생체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비밀번호 인증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IndvCertPage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생체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비밀번호 인증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indvCert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IndvCertPage.tsx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UC-ZZ-01-03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8849108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MUI-CM-02-M03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개인정보 상세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IndvInfoDtlPage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개인정보 상세 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indvInfoDtl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IndvInfoDtlPage.tsx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UC-ZZ-10-01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062344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MUI-CM-02-M04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개인정보수정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IndvInfoMdfcnPage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개인정보수정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indvInfoMdfcn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IndvInfoMdfcnPage.tsx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UC-ZZ-10-02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773182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MUI-CM-02-M05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비밀번호 변경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PswdChgPage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비밀번호 변경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pswdChg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PswdChgPage.tsx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UC-ZZ-10-02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252546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MUI-CM-02-M06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개인신원확인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IndvIdntIdntyPage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개인신원확인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indvIdntIdnty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IndvIdntIdntyPage.tsx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UC-ZZ-10-04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1268897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MUI-CM-02-M07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 소속 사용자 목록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PrcmBzentyUserMngPage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 소속 사용자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prcmBzentyUserMng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PrcmBzentyUserMngPage.tsx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UC-ZZ-01-03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475290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MUI-CM-02-P08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 변경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PrcmBzentyUserSttsChg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 소속 사용자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 변경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prcmBzentyUserMng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PrcmBzentyUserSttsChg.tsx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UC-ZZ-01-03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44524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MUI-CM-02-M09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알림서비스신청및해지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NotiSrvcAplyPage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알림서비스신청및해지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설정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notiSrvcAply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NotiSrvcAplyPage.tsx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UC-ZZ-10-03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4744303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MUI-CM-02-P10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회원탈퇴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MbWithdrawal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회원 탈퇴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notiSrvcAply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MbWithdrawal.tsx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700" dirty="0" smtClean="0">
                          <a:latin typeface="+mn-ea"/>
                          <a:ea typeface="+mn-ea"/>
                        </a:rPr>
                        <a:t>Native App </a:t>
                      </a:r>
                      <a:r>
                        <a:rPr lang="ko-KR" altLang="en-US" sz="700" dirty="0" smtClean="0">
                          <a:latin typeface="+mn-ea"/>
                          <a:ea typeface="+mn-ea"/>
                        </a:rPr>
                        <a:t>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66755654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18357086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60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595193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마이페이지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457199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664059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14129" y="1543298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>
                <a:solidFill>
                  <a:schemeClr val="tx1"/>
                </a:solidFill>
              </a:rPr>
              <a:t>사용자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나의진행업무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현황 목록</a:t>
            </a:r>
          </a:p>
        </p:txBody>
      </p:sp>
      <p:sp>
        <p:nvSpPr>
          <p:cNvPr id="2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207863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나의업무이력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현황 목록</a:t>
            </a: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22" idx="1"/>
          </p:cNvCxnSpPr>
          <p:nvPr/>
        </p:nvCxnSpPr>
        <p:spPr>
          <a:xfrm>
            <a:off x="2495193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스탭</a:t>
            </a:r>
            <a:r>
              <a:rPr lang="ko-KR" altLang="en-US" sz="800" dirty="0">
                <a:solidFill>
                  <a:schemeClr val="tx1"/>
                </a:solidFill>
              </a:rPr>
              <a:t> 팝업</a:t>
            </a:r>
          </a:p>
        </p:txBody>
      </p:sp>
      <p:sp>
        <p:nvSpPr>
          <p:cNvPr id="8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1277" y="252831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관심 입찰공고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목록</a:t>
            </a:r>
          </a:p>
        </p:txBody>
      </p:sp>
      <p:cxnSp>
        <p:nvCxnSpPr>
          <p:cNvPr id="8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24" idx="1"/>
          </p:cNvCxnSpPr>
          <p:nvPr/>
        </p:nvCxnSpPr>
        <p:spPr>
          <a:xfrm>
            <a:off x="2495193" y="1772964"/>
            <a:ext cx="931134" cy="44967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297798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업무 캘린더</a:t>
            </a:r>
          </a:p>
        </p:txBody>
      </p:sp>
      <p:sp>
        <p:nvSpPr>
          <p:cNvPr id="9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342574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문서함 목록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600" dirty="0">
                <a:solidFill>
                  <a:schemeClr val="tx1"/>
                </a:solidFill>
              </a:rPr>
              <a:t>(</a:t>
            </a:r>
            <a:r>
              <a:rPr lang="ko-KR" altLang="en-US" sz="600" dirty="0">
                <a:solidFill>
                  <a:schemeClr val="tx1"/>
                </a:solidFill>
              </a:rPr>
              <a:t>보낸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받은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임시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반려</a:t>
            </a:r>
            <a:r>
              <a:rPr lang="en-US" altLang="ko-KR" sz="6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8358283" y="3676006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8387280" y="3479748"/>
            <a:ext cx="180000" cy="180000"/>
            <a:chOff x="5058274" y="2498299"/>
            <a:chExt cx="180000" cy="180000"/>
          </a:xfrm>
        </p:grpSpPr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5" name="타원 104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4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5676039"/>
            <a:ext cx="900000" cy="2880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(</a:t>
            </a:r>
            <a:r>
              <a:rPr lang="ko-KR" altLang="en-US" sz="800" dirty="0">
                <a:solidFill>
                  <a:schemeClr val="tx1"/>
                </a:solidFill>
              </a:rPr>
              <a:t>외부 링크 </a:t>
            </a:r>
            <a:r>
              <a:rPr lang="ko-KR" altLang="en-US" sz="800" dirty="0" err="1">
                <a:solidFill>
                  <a:schemeClr val="tx1"/>
                </a:solidFill>
              </a:rPr>
              <a:t>웹뷰</a:t>
            </a:r>
            <a:r>
              <a:rPr lang="en-US" altLang="ko-KR" sz="8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5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432100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관심법령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목록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>
                <a:solidFill>
                  <a:schemeClr val="tx1"/>
                </a:solidFill>
              </a:rPr>
              <a:t>(1/4)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sp>
        <p:nvSpPr>
          <p:cNvPr id="5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477067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업체정보관리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목록</a:t>
            </a:r>
          </a:p>
        </p:txBody>
      </p:sp>
      <p:sp>
        <p:nvSpPr>
          <p:cNvPr id="5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522035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사용자정보관리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목록</a:t>
            </a:r>
          </a:p>
        </p:txBody>
      </p:sp>
      <p:sp>
        <p:nvSpPr>
          <p:cNvPr id="5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567002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디지털캐비닛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(</a:t>
            </a:r>
            <a:r>
              <a:rPr lang="ko-KR" altLang="en-US" sz="800" dirty="0">
                <a:solidFill>
                  <a:schemeClr val="tx1"/>
                </a:solidFill>
              </a:rPr>
              <a:t>폴더 목록</a:t>
            </a:r>
            <a:r>
              <a:rPr lang="en-US" altLang="ko-KR" sz="8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6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611970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알림서비스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신청 및 해지</a:t>
            </a:r>
          </a:p>
        </p:txBody>
      </p:sp>
      <p:sp>
        <p:nvSpPr>
          <p:cNvPr id="6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2073540"/>
            <a:ext cx="900000" cy="2880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상세내역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페이지 이동</a:t>
            </a:r>
          </a:p>
        </p:txBody>
      </p:sp>
      <p:sp>
        <p:nvSpPr>
          <p:cNvPr id="6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2528988"/>
            <a:ext cx="900000" cy="2880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상세내역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페이지 이동</a:t>
            </a:r>
          </a:p>
        </p:txBody>
      </p:sp>
      <p:sp>
        <p:nvSpPr>
          <p:cNvPr id="6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297798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일정 상세 정보</a:t>
            </a:r>
          </a:p>
        </p:txBody>
      </p:sp>
      <p:sp>
        <p:nvSpPr>
          <p:cNvPr id="6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88595" y="1628964"/>
            <a:ext cx="900000" cy="2880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상세내역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페이지 이동</a:t>
            </a:r>
          </a:p>
        </p:txBody>
      </p:sp>
      <p:cxnSp>
        <p:nvCxnSpPr>
          <p:cNvPr id="6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83" idx="1"/>
          </p:cNvCxnSpPr>
          <p:nvPr/>
        </p:nvCxnSpPr>
        <p:spPr>
          <a:xfrm>
            <a:off x="2495193" y="1772964"/>
            <a:ext cx="926084" cy="89935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91" idx="1"/>
          </p:cNvCxnSpPr>
          <p:nvPr/>
        </p:nvCxnSpPr>
        <p:spPr>
          <a:xfrm>
            <a:off x="2495193" y="1772964"/>
            <a:ext cx="931134" cy="134902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98" idx="1"/>
          </p:cNvCxnSpPr>
          <p:nvPr/>
        </p:nvCxnSpPr>
        <p:spPr>
          <a:xfrm>
            <a:off x="2495193" y="1772964"/>
            <a:ext cx="931134" cy="179678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151" idx="1"/>
          </p:cNvCxnSpPr>
          <p:nvPr/>
        </p:nvCxnSpPr>
        <p:spPr>
          <a:xfrm>
            <a:off x="2495193" y="1772964"/>
            <a:ext cx="931134" cy="269203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55" idx="1"/>
          </p:cNvCxnSpPr>
          <p:nvPr/>
        </p:nvCxnSpPr>
        <p:spPr>
          <a:xfrm>
            <a:off x="2495193" y="1772964"/>
            <a:ext cx="931134" cy="314171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57" idx="1"/>
          </p:cNvCxnSpPr>
          <p:nvPr/>
        </p:nvCxnSpPr>
        <p:spPr>
          <a:xfrm>
            <a:off x="2495193" y="1772964"/>
            <a:ext cx="931134" cy="359138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58" idx="1"/>
          </p:cNvCxnSpPr>
          <p:nvPr/>
        </p:nvCxnSpPr>
        <p:spPr>
          <a:xfrm>
            <a:off x="2495193" y="1772964"/>
            <a:ext cx="931134" cy="404106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60" idx="1"/>
          </p:cNvCxnSpPr>
          <p:nvPr/>
        </p:nvCxnSpPr>
        <p:spPr>
          <a:xfrm>
            <a:off x="2495193" y="1772964"/>
            <a:ext cx="931134" cy="449073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342574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등록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수정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삭제</a:t>
            </a:r>
          </a:p>
        </p:txBody>
      </p:sp>
      <p:cxnSp>
        <p:nvCxnSpPr>
          <p:cNvPr id="101" name="직선 화살표 연결선 10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2" idx="3"/>
            <a:endCxn id="34" idx="1"/>
          </p:cNvCxnSpPr>
          <p:nvPr/>
        </p:nvCxnSpPr>
        <p:spPr>
          <a:xfrm>
            <a:off x="4326327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직선 화살표 연결선 106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4" idx="3"/>
            <a:endCxn id="63" idx="1"/>
          </p:cNvCxnSpPr>
          <p:nvPr/>
        </p:nvCxnSpPr>
        <p:spPr>
          <a:xfrm flipV="1">
            <a:off x="4326327" y="2217540"/>
            <a:ext cx="931134" cy="5099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직선 화살표 연결선 10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83" idx="3"/>
            <a:endCxn id="64" idx="1"/>
          </p:cNvCxnSpPr>
          <p:nvPr/>
        </p:nvCxnSpPr>
        <p:spPr>
          <a:xfrm>
            <a:off x="4321277" y="2672314"/>
            <a:ext cx="936184" cy="674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직선 화살표 연결선 108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1" idx="3"/>
            <a:endCxn id="65" idx="1"/>
          </p:cNvCxnSpPr>
          <p:nvPr/>
        </p:nvCxnSpPr>
        <p:spPr>
          <a:xfrm>
            <a:off x="4326327" y="3121989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직선 화살표 연결선 11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51" idx="3"/>
            <a:endCxn id="140" idx="1"/>
          </p:cNvCxnSpPr>
          <p:nvPr/>
        </p:nvCxnSpPr>
        <p:spPr>
          <a:xfrm>
            <a:off x="4326327" y="4465003"/>
            <a:ext cx="931134" cy="1355036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6" name="직선 화살표 연결선 13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34" idx="3"/>
            <a:endCxn id="66" idx="1"/>
          </p:cNvCxnSpPr>
          <p:nvPr/>
        </p:nvCxnSpPr>
        <p:spPr>
          <a:xfrm>
            <a:off x="6157461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6" idx="3"/>
            <a:endCxn id="104" idx="0"/>
          </p:cNvCxnSpPr>
          <p:nvPr/>
        </p:nvCxnSpPr>
        <p:spPr>
          <a:xfrm>
            <a:off x="7988595" y="1772964"/>
            <a:ext cx="488685" cy="1706784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3" idx="3"/>
            <a:endCxn id="104" idx="2"/>
          </p:cNvCxnSpPr>
          <p:nvPr/>
        </p:nvCxnSpPr>
        <p:spPr>
          <a:xfrm>
            <a:off x="6157461" y="2217540"/>
            <a:ext cx="2229819" cy="135220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4" idx="3"/>
            <a:endCxn id="104" idx="2"/>
          </p:cNvCxnSpPr>
          <p:nvPr/>
        </p:nvCxnSpPr>
        <p:spPr>
          <a:xfrm>
            <a:off x="6157461" y="2672988"/>
            <a:ext cx="2229819" cy="89676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5" idx="3"/>
            <a:endCxn id="104" idx="2"/>
          </p:cNvCxnSpPr>
          <p:nvPr/>
        </p:nvCxnSpPr>
        <p:spPr>
          <a:xfrm>
            <a:off x="6157461" y="3121989"/>
            <a:ext cx="2229819" cy="44775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40" idx="3"/>
            <a:endCxn id="104" idx="2"/>
          </p:cNvCxnSpPr>
          <p:nvPr/>
        </p:nvCxnSpPr>
        <p:spPr>
          <a:xfrm flipV="1">
            <a:off x="6157461" y="3569748"/>
            <a:ext cx="2229819" cy="2250291"/>
          </a:xfrm>
          <a:prstGeom prst="bentConnector3">
            <a:avLst>
              <a:gd name="adj1" fmla="val 91007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9" name="직사각형 178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538963" y="6367551"/>
            <a:ext cx="327013" cy="923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후술</a:t>
            </a:r>
          </a:p>
        </p:txBody>
      </p:sp>
      <p:sp>
        <p:nvSpPr>
          <p:cNvPr id="18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322949" y="4696574"/>
            <a:ext cx="1112636" cy="1814585"/>
          </a:xfrm>
          <a:prstGeom prst="roundRect">
            <a:avLst>
              <a:gd name="adj" fmla="val 4682"/>
            </a:avLst>
          </a:prstGeom>
          <a:noFill/>
          <a:ln>
            <a:solidFill>
              <a:schemeClr val="bg1">
                <a:lumMod val="85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8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387733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cxnSp>
        <p:nvCxnSpPr>
          <p:cNvPr id="18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8" idx="3"/>
            <a:endCxn id="188" idx="1"/>
          </p:cNvCxnSpPr>
          <p:nvPr/>
        </p:nvCxnSpPr>
        <p:spPr>
          <a:xfrm>
            <a:off x="4326327" y="3569748"/>
            <a:ext cx="931134" cy="45159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1" idx="3"/>
            <a:endCxn id="94" idx="1"/>
          </p:cNvCxnSpPr>
          <p:nvPr/>
        </p:nvCxnSpPr>
        <p:spPr>
          <a:xfrm>
            <a:off x="4326327" y="3121989"/>
            <a:ext cx="931134" cy="447759"/>
          </a:xfrm>
          <a:prstGeom prst="bentConnector3">
            <a:avLst>
              <a:gd name="adj1" fmla="val 66367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432100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개인별수신처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관리</a:t>
            </a:r>
          </a:p>
        </p:txBody>
      </p:sp>
      <p:cxnSp>
        <p:nvCxnSpPr>
          <p:cNvPr id="19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8" idx="3"/>
            <a:endCxn id="198" idx="1"/>
          </p:cNvCxnSpPr>
          <p:nvPr/>
        </p:nvCxnSpPr>
        <p:spPr>
          <a:xfrm>
            <a:off x="4326327" y="3569748"/>
            <a:ext cx="931134" cy="89525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18" idx="3"/>
            <a:endCxn id="104" idx="2"/>
          </p:cNvCxnSpPr>
          <p:nvPr/>
        </p:nvCxnSpPr>
        <p:spPr>
          <a:xfrm flipV="1">
            <a:off x="7988595" y="3569748"/>
            <a:ext cx="398685" cy="45159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98" idx="3"/>
            <a:endCxn id="104" idx="2"/>
          </p:cNvCxnSpPr>
          <p:nvPr/>
        </p:nvCxnSpPr>
        <p:spPr>
          <a:xfrm flipV="1">
            <a:off x="6157461" y="3569748"/>
            <a:ext cx="2229819" cy="895255"/>
          </a:xfrm>
          <a:prstGeom prst="bentConnector3">
            <a:avLst>
              <a:gd name="adj1" fmla="val 91007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88595" y="387733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팝업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700" dirty="0">
                <a:solidFill>
                  <a:schemeClr val="tx1"/>
                </a:solidFill>
              </a:rPr>
              <a:t>(</a:t>
            </a:r>
            <a:r>
              <a:rPr lang="ko-KR" altLang="en-US" sz="700" dirty="0" err="1">
                <a:solidFill>
                  <a:schemeClr val="tx1"/>
                </a:solidFill>
              </a:rPr>
              <a:t>첨언상세</a:t>
            </a:r>
            <a:r>
              <a:rPr lang="en-US" altLang="ko-KR" sz="700" dirty="0">
                <a:solidFill>
                  <a:schemeClr val="tx1"/>
                </a:solidFill>
              </a:rPr>
              <a:t>, </a:t>
            </a:r>
            <a:r>
              <a:rPr lang="ko-KR" altLang="en-US" sz="700" dirty="0" err="1">
                <a:solidFill>
                  <a:schemeClr val="tx1"/>
                </a:solidFill>
              </a:rPr>
              <a:t>반려사유</a:t>
            </a:r>
            <a:r>
              <a:rPr lang="en-US" altLang="ko-KR" sz="700" dirty="0">
                <a:solidFill>
                  <a:schemeClr val="tx1"/>
                </a:solidFill>
              </a:rPr>
              <a:t>)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cxnSp>
        <p:nvCxnSpPr>
          <p:cNvPr id="224" name="직선 화살표 연결선 22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88" idx="3"/>
            <a:endCxn id="218" idx="1"/>
          </p:cNvCxnSpPr>
          <p:nvPr/>
        </p:nvCxnSpPr>
        <p:spPr>
          <a:xfrm>
            <a:off x="6157461" y="4021338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28" name="그룹 227"/>
          <p:cNvGrpSpPr/>
          <p:nvPr/>
        </p:nvGrpSpPr>
        <p:grpSpPr>
          <a:xfrm>
            <a:off x="5656661" y="3262025"/>
            <a:ext cx="101600" cy="167686"/>
            <a:chOff x="5631261" y="4609003"/>
            <a:chExt cx="101600" cy="167686"/>
          </a:xfrm>
        </p:grpSpPr>
        <p:cxnSp>
          <p:nvCxnSpPr>
            <p:cNvPr id="229" name="직선 화살표 연결선 228">
              <a:extLst>
                <a:ext uri="{FF2B5EF4-FFF2-40B4-BE49-F238E27FC236}">
                  <a16:creationId xmlns:a16="http://schemas.microsoft.com/office/drawing/2014/main" id="{9A519F08-B829-E35F-09D8-DFCD1F68B911}"/>
                </a:ext>
              </a:extLst>
            </p:cNvPr>
            <p:cNvCxnSpPr>
              <a:cxnSpLocks/>
            </p:cNvCxnSpPr>
            <p:nvPr/>
          </p:nvCxnSpPr>
          <p:spPr>
            <a:xfrm>
              <a:off x="5631261" y="4609003"/>
              <a:ext cx="0" cy="167686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직선 화살표 연결선 229">
              <a:extLst>
                <a:ext uri="{FF2B5EF4-FFF2-40B4-BE49-F238E27FC236}">
                  <a16:creationId xmlns:a16="http://schemas.microsoft.com/office/drawing/2014/main" id="{9A519F08-B829-E35F-09D8-DFCD1F68B91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32861" y="4609003"/>
              <a:ext cx="0" cy="167686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257461" y="6033380"/>
            <a:ext cx="1205458" cy="923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외부 브라우저 사용될 수 있음</a:t>
            </a: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543140" y="6326480"/>
            <a:ext cx="847989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다음페이지 계속</a:t>
            </a:r>
          </a:p>
        </p:txBody>
      </p:sp>
      <p:sp>
        <p:nvSpPr>
          <p:cNvPr id="7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387733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나의 게시물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8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79" idx="1"/>
          </p:cNvCxnSpPr>
          <p:nvPr/>
        </p:nvCxnSpPr>
        <p:spPr>
          <a:xfrm>
            <a:off x="2495193" y="1772964"/>
            <a:ext cx="931134" cy="224837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9895923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61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595193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마이페이지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457199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664059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나의진행업무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현황 목록</a:t>
            </a:r>
          </a:p>
        </p:txBody>
      </p:sp>
      <p:sp>
        <p:nvSpPr>
          <p:cNvPr id="2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207863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나의업무이력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현황 목록</a:t>
            </a: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22" idx="1"/>
          </p:cNvCxnSpPr>
          <p:nvPr/>
        </p:nvCxnSpPr>
        <p:spPr>
          <a:xfrm>
            <a:off x="2495193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1277" y="252831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관심 입찰공고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목록</a:t>
            </a:r>
          </a:p>
        </p:txBody>
      </p:sp>
      <p:cxnSp>
        <p:nvCxnSpPr>
          <p:cNvPr id="8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24" idx="1"/>
          </p:cNvCxnSpPr>
          <p:nvPr/>
        </p:nvCxnSpPr>
        <p:spPr>
          <a:xfrm>
            <a:off x="2495193" y="1772964"/>
            <a:ext cx="931134" cy="44967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297798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업무 캘린더</a:t>
            </a:r>
          </a:p>
        </p:txBody>
      </p:sp>
      <p:sp>
        <p:nvSpPr>
          <p:cNvPr id="9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342574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문서함 목록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600" dirty="0">
                <a:solidFill>
                  <a:schemeClr val="tx1"/>
                </a:solidFill>
              </a:rPr>
              <a:t>(</a:t>
            </a:r>
            <a:r>
              <a:rPr lang="ko-KR" altLang="en-US" sz="600" dirty="0">
                <a:solidFill>
                  <a:schemeClr val="tx1"/>
                </a:solidFill>
              </a:rPr>
              <a:t>보낸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받은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임시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반려</a:t>
            </a:r>
            <a:r>
              <a:rPr lang="en-US" altLang="ko-KR" sz="6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8689286" y="3676006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8718283" y="3479748"/>
            <a:ext cx="180000" cy="180000"/>
            <a:chOff x="5058274" y="2498299"/>
            <a:chExt cx="180000" cy="180000"/>
          </a:xfrm>
        </p:grpSpPr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5" name="타원 104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1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162726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업체정보 상세</a:t>
            </a:r>
          </a:p>
        </p:txBody>
      </p:sp>
      <p:sp>
        <p:nvSpPr>
          <p:cNvPr id="15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387733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나의 게시물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>
                <a:solidFill>
                  <a:schemeClr val="tx1"/>
                </a:solidFill>
              </a:rPr>
              <a:t>(2/4)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sp>
        <p:nvSpPr>
          <p:cNvPr id="5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478183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업체정보관리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목록</a:t>
            </a:r>
          </a:p>
        </p:txBody>
      </p:sp>
      <p:sp>
        <p:nvSpPr>
          <p:cNvPr id="5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523150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사용자정보관리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목록</a:t>
            </a:r>
          </a:p>
        </p:txBody>
      </p:sp>
      <p:sp>
        <p:nvSpPr>
          <p:cNvPr id="5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568118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디지털캐비닛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(</a:t>
            </a:r>
            <a:r>
              <a:rPr lang="ko-KR" altLang="en-US" sz="800" dirty="0">
                <a:solidFill>
                  <a:schemeClr val="tx1"/>
                </a:solidFill>
              </a:rPr>
              <a:t>폴더 목록</a:t>
            </a:r>
            <a:r>
              <a:rPr lang="en-US" altLang="ko-KR" sz="8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6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613085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알림서비스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신청 및 해지</a:t>
            </a:r>
          </a:p>
        </p:txBody>
      </p:sp>
      <p:cxnSp>
        <p:nvCxnSpPr>
          <p:cNvPr id="6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83" idx="1"/>
          </p:cNvCxnSpPr>
          <p:nvPr/>
        </p:nvCxnSpPr>
        <p:spPr>
          <a:xfrm>
            <a:off x="2495193" y="1772964"/>
            <a:ext cx="926084" cy="89935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91" idx="1"/>
          </p:cNvCxnSpPr>
          <p:nvPr/>
        </p:nvCxnSpPr>
        <p:spPr>
          <a:xfrm>
            <a:off x="2495193" y="1772964"/>
            <a:ext cx="931134" cy="134902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98" idx="1"/>
          </p:cNvCxnSpPr>
          <p:nvPr/>
        </p:nvCxnSpPr>
        <p:spPr>
          <a:xfrm>
            <a:off x="2495193" y="1772964"/>
            <a:ext cx="931134" cy="179678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151" idx="1"/>
          </p:cNvCxnSpPr>
          <p:nvPr/>
        </p:nvCxnSpPr>
        <p:spPr>
          <a:xfrm>
            <a:off x="2495193" y="1772964"/>
            <a:ext cx="931134" cy="224837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55" idx="1"/>
          </p:cNvCxnSpPr>
          <p:nvPr/>
        </p:nvCxnSpPr>
        <p:spPr>
          <a:xfrm>
            <a:off x="2495193" y="1772964"/>
            <a:ext cx="931134" cy="315287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57" idx="1"/>
          </p:cNvCxnSpPr>
          <p:nvPr/>
        </p:nvCxnSpPr>
        <p:spPr>
          <a:xfrm>
            <a:off x="2495193" y="1772964"/>
            <a:ext cx="931134" cy="360254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58" idx="1"/>
          </p:cNvCxnSpPr>
          <p:nvPr/>
        </p:nvCxnSpPr>
        <p:spPr>
          <a:xfrm>
            <a:off x="2495193" y="1772964"/>
            <a:ext cx="931134" cy="405222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60" idx="1"/>
          </p:cNvCxnSpPr>
          <p:nvPr/>
        </p:nvCxnSpPr>
        <p:spPr>
          <a:xfrm>
            <a:off x="2495193" y="1772964"/>
            <a:ext cx="931134" cy="450189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252831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추가정보</a:t>
            </a:r>
            <a:endParaRPr lang="en-US" altLang="ko-KR" sz="800" dirty="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신청 </a:t>
            </a:r>
            <a:r>
              <a:rPr lang="ko-KR" altLang="en-US" sz="800" dirty="0">
                <a:solidFill>
                  <a:schemeClr val="tx1"/>
                </a:solidFill>
              </a:rPr>
              <a:t>목록</a:t>
            </a:r>
          </a:p>
        </p:txBody>
      </p:sp>
      <p:sp>
        <p:nvSpPr>
          <p:cNvPr id="9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432701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</a:rPr>
              <a:t>군수품무역대리업 신청 및 발급 목록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cxnSp>
        <p:nvCxnSpPr>
          <p:cNvPr id="12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55" idx="3"/>
            <a:endCxn id="97" idx="1"/>
          </p:cNvCxnSpPr>
          <p:nvPr/>
        </p:nvCxnSpPr>
        <p:spPr>
          <a:xfrm flipV="1">
            <a:off x="4326327" y="2672314"/>
            <a:ext cx="931134" cy="225352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55" idx="3"/>
            <a:endCxn id="118" idx="1"/>
          </p:cNvCxnSpPr>
          <p:nvPr/>
        </p:nvCxnSpPr>
        <p:spPr>
          <a:xfrm flipV="1">
            <a:off x="4326327" y="1771268"/>
            <a:ext cx="931134" cy="315456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88595" y="432701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신규</a:t>
            </a:r>
            <a:r>
              <a:rPr lang="en-US" altLang="ko-KR" sz="800" dirty="0">
                <a:solidFill>
                  <a:schemeClr val="tx1"/>
                </a:solidFill>
              </a:rPr>
              <a:t>(</a:t>
            </a:r>
            <a:r>
              <a:rPr lang="ko-KR" altLang="en-US" sz="800" dirty="0">
                <a:solidFill>
                  <a:schemeClr val="tx1"/>
                </a:solidFill>
              </a:rPr>
              <a:t>갱신</a:t>
            </a:r>
            <a:r>
              <a:rPr lang="en-US" altLang="ko-KR" sz="800" dirty="0">
                <a:solidFill>
                  <a:schemeClr val="tx1"/>
                </a:solidFill>
              </a:rPr>
              <a:t>)</a:t>
            </a:r>
          </a:p>
        </p:txBody>
      </p:sp>
      <p:cxnSp>
        <p:nvCxnSpPr>
          <p:cNvPr id="145" name="직선 화살표 연결선 14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9" idx="3"/>
            <a:endCxn id="141" idx="1"/>
          </p:cNvCxnSpPr>
          <p:nvPr/>
        </p:nvCxnSpPr>
        <p:spPr>
          <a:xfrm>
            <a:off x="6157461" y="447101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88595" y="297798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업체정보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추가등록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53" name="직선 화살표 연결선 152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7" idx="3"/>
            <a:endCxn id="107" idx="1"/>
          </p:cNvCxnSpPr>
          <p:nvPr/>
        </p:nvCxnSpPr>
        <p:spPr>
          <a:xfrm>
            <a:off x="6157461" y="267231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322949" y="1559961"/>
            <a:ext cx="1112636" cy="3139375"/>
          </a:xfrm>
          <a:prstGeom prst="roundRect">
            <a:avLst>
              <a:gd name="adj" fmla="val 4682"/>
            </a:avLst>
          </a:prstGeom>
          <a:noFill/>
          <a:ln>
            <a:solidFill>
              <a:schemeClr val="bg1">
                <a:lumMod val="85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538963" y="1559961"/>
            <a:ext cx="327013" cy="923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이전</a:t>
            </a:r>
          </a:p>
        </p:txBody>
      </p:sp>
      <p:grpSp>
        <p:nvGrpSpPr>
          <p:cNvPr id="15" name="그룹 14"/>
          <p:cNvGrpSpPr/>
          <p:nvPr/>
        </p:nvGrpSpPr>
        <p:grpSpPr>
          <a:xfrm>
            <a:off x="5262416" y="3562674"/>
            <a:ext cx="2226642" cy="603901"/>
            <a:chOff x="7012608" y="2367957"/>
            <a:chExt cx="2226642" cy="603901"/>
          </a:xfrm>
        </p:grpSpPr>
        <p:sp>
          <p:nvSpPr>
            <p:cNvPr id="88" name="사각형: 둥근 모서리 5">
              <a:extLst>
                <a:ext uri="{FF2B5EF4-FFF2-40B4-BE49-F238E27FC236}">
                  <a16:creationId xmlns:a16="http://schemas.microsoft.com/office/drawing/2014/main" id="{410E5459-200D-7630-863C-88E5109259DF}"/>
                </a:ext>
              </a:extLst>
            </p:cNvPr>
            <p:cNvSpPr/>
            <p:nvPr/>
          </p:nvSpPr>
          <p:spPr>
            <a:xfrm>
              <a:off x="7012608" y="2367957"/>
              <a:ext cx="2226642" cy="603901"/>
            </a:xfrm>
            <a:prstGeom prst="roundRect">
              <a:avLst>
                <a:gd name="adj" fmla="val 4682"/>
              </a:avLst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156" name="직사각형 155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7074008" y="2439075"/>
              <a:ext cx="1200650" cy="46166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pPr marL="171450" indent="-171450">
                <a:buFontTx/>
                <a:buChar char="-"/>
              </a:pPr>
              <a:r>
                <a:rPr lang="ko-KR" altLang="en-US" sz="600" dirty="0" err="1">
                  <a:solidFill>
                    <a:schemeClr val="tx1"/>
                  </a:solidFill>
                </a:rPr>
                <a:t>품류선택</a:t>
              </a:r>
              <a:endParaRPr lang="en-US" altLang="ko-KR" sz="600" dirty="0">
                <a:solidFill>
                  <a:schemeClr val="tx1"/>
                </a:solidFill>
              </a:endParaRPr>
            </a:p>
            <a:p>
              <a:pPr marL="171450" indent="-171450">
                <a:buFontTx/>
                <a:buChar char="-"/>
              </a:pPr>
              <a:r>
                <a:rPr lang="ko-KR" altLang="en-US" sz="600" dirty="0">
                  <a:solidFill>
                    <a:schemeClr val="tx1"/>
                  </a:solidFill>
                </a:rPr>
                <a:t>조합</a:t>
              </a:r>
              <a:r>
                <a:rPr lang="en-US" altLang="ko-KR" sz="600" dirty="0">
                  <a:solidFill>
                    <a:schemeClr val="tx1"/>
                  </a:solidFill>
                </a:rPr>
                <a:t>/</a:t>
              </a:r>
              <a:r>
                <a:rPr lang="ko-KR" altLang="en-US" sz="600" dirty="0">
                  <a:solidFill>
                    <a:schemeClr val="tx1"/>
                  </a:solidFill>
                </a:rPr>
                <a:t>단체 선택</a:t>
              </a:r>
              <a:endParaRPr lang="en-US" altLang="ko-KR" sz="600" dirty="0">
                <a:solidFill>
                  <a:schemeClr val="tx1"/>
                </a:solidFill>
              </a:endParaRPr>
            </a:p>
            <a:p>
              <a:pPr marL="171450" indent="-171450">
                <a:buFontTx/>
                <a:buChar char="-"/>
              </a:pPr>
              <a:r>
                <a:rPr lang="ko-KR" altLang="en-US" sz="600" dirty="0">
                  <a:solidFill>
                    <a:schemeClr val="tx1"/>
                  </a:solidFill>
                </a:rPr>
                <a:t>등록대상 품목 선택</a:t>
              </a:r>
              <a:endParaRPr lang="en-US" altLang="ko-KR" sz="600" dirty="0">
                <a:solidFill>
                  <a:schemeClr val="tx1"/>
                </a:solidFill>
              </a:endParaRPr>
            </a:p>
            <a:p>
              <a:pPr marL="171450" indent="-171450">
                <a:buFontTx/>
                <a:buChar char="-"/>
              </a:pPr>
              <a:r>
                <a:rPr lang="ko-KR" altLang="en-US" sz="600" dirty="0">
                  <a:solidFill>
                    <a:schemeClr val="tx1"/>
                  </a:solidFill>
                </a:rPr>
                <a:t>품목 조회</a:t>
              </a:r>
              <a:endParaRPr lang="en-US" altLang="ko-KR" sz="600" dirty="0">
                <a:solidFill>
                  <a:schemeClr val="tx1"/>
                </a:solidFill>
              </a:endParaRPr>
            </a:p>
            <a:p>
              <a:pPr marL="171450" indent="-171450">
                <a:buFontTx/>
                <a:buChar char="-"/>
              </a:pPr>
              <a:r>
                <a:rPr lang="ko-KR" altLang="en-US" sz="600" dirty="0">
                  <a:solidFill>
                    <a:schemeClr val="tx1"/>
                  </a:solidFill>
                </a:rPr>
                <a:t>행정정보공동이용 </a:t>
              </a:r>
              <a:r>
                <a:rPr lang="ko-KR" altLang="en-US" sz="600" dirty="0" err="1">
                  <a:solidFill>
                    <a:schemeClr val="tx1"/>
                  </a:solidFill>
                </a:rPr>
                <a:t>사전동의서</a:t>
              </a:r>
              <a:endParaRPr lang="ko-KR" altLang="en-US" sz="600" dirty="0">
                <a:solidFill>
                  <a:schemeClr val="tx1"/>
                </a:solidFill>
              </a:endParaRPr>
            </a:p>
          </p:txBody>
        </p:sp>
        <p:sp>
          <p:nvSpPr>
            <p:cNvPr id="157" name="직사각형 156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365671" y="2531408"/>
              <a:ext cx="788677" cy="2769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pPr marL="171450" indent="-171450">
                <a:buFontTx/>
                <a:buChar char="-"/>
              </a:pPr>
              <a:r>
                <a:rPr lang="ko-KR" altLang="en-US" sz="600" dirty="0">
                  <a:solidFill>
                    <a:schemeClr val="tx1"/>
                  </a:solidFill>
                </a:rPr>
                <a:t>보안측정인원등록</a:t>
              </a:r>
              <a:endParaRPr lang="en-US" altLang="ko-KR" sz="600" dirty="0">
                <a:solidFill>
                  <a:schemeClr val="tx1"/>
                </a:solidFill>
              </a:endParaRPr>
            </a:p>
            <a:p>
              <a:pPr marL="171450" indent="-171450">
                <a:buFontTx/>
                <a:buChar char="-"/>
              </a:pPr>
              <a:r>
                <a:rPr lang="en-US" altLang="ko-KR" sz="600" dirty="0">
                  <a:solidFill>
                    <a:schemeClr val="tx1"/>
                  </a:solidFill>
                </a:rPr>
                <a:t>FSC </a:t>
              </a:r>
              <a:r>
                <a:rPr lang="ko-KR" altLang="en-US" sz="600" dirty="0">
                  <a:solidFill>
                    <a:schemeClr val="tx1"/>
                  </a:solidFill>
                </a:rPr>
                <a:t>선택</a:t>
              </a:r>
              <a:endParaRPr lang="en-US" altLang="ko-KR" sz="600" dirty="0">
                <a:solidFill>
                  <a:schemeClr val="tx1"/>
                </a:solidFill>
              </a:endParaRPr>
            </a:p>
            <a:p>
              <a:pPr marL="171450" indent="-171450">
                <a:buFontTx/>
                <a:buChar char="-"/>
              </a:pPr>
              <a:r>
                <a:rPr lang="ko-KR" altLang="en-US" sz="600" dirty="0">
                  <a:solidFill>
                    <a:schemeClr val="tx1"/>
                  </a:solidFill>
                </a:rPr>
                <a:t>주거래은행 선택</a:t>
              </a:r>
              <a:endParaRPr lang="en-US" altLang="ko-KR" sz="600" dirty="0">
                <a:solidFill>
                  <a:schemeClr val="tx1"/>
                </a:solidFill>
              </a:endParaRPr>
            </a:p>
          </p:txBody>
        </p:sp>
      </p:grp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262416" y="3438681"/>
            <a:ext cx="689291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등록 개별 팝업</a:t>
            </a:r>
          </a:p>
        </p:txBody>
      </p:sp>
      <p:sp>
        <p:nvSpPr>
          <p:cNvPr id="9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88595" y="478415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변경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10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9" idx="3"/>
            <a:endCxn id="93" idx="1"/>
          </p:cNvCxnSpPr>
          <p:nvPr/>
        </p:nvCxnSpPr>
        <p:spPr>
          <a:xfrm>
            <a:off x="6157461" y="4471014"/>
            <a:ext cx="931134" cy="457141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267969" y="1917064"/>
            <a:ext cx="634789" cy="36933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일반정보</a:t>
            </a:r>
            <a:endParaRPr lang="en-US" altLang="ko-KR" sz="600" dirty="0">
              <a:solidFill>
                <a:schemeClr val="tx1"/>
              </a:solidFill>
            </a:endParaRPr>
          </a:p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물품</a:t>
            </a:r>
            <a:r>
              <a:rPr lang="en-US" altLang="ko-KR" sz="600" dirty="0">
                <a:solidFill>
                  <a:schemeClr val="tx1"/>
                </a:solidFill>
              </a:rPr>
              <a:t>(</a:t>
            </a:r>
            <a:r>
              <a:rPr lang="ko-KR" altLang="en-US" sz="600" dirty="0">
                <a:solidFill>
                  <a:schemeClr val="tx1"/>
                </a:solidFill>
              </a:rPr>
              <a:t>내자</a:t>
            </a:r>
            <a:r>
              <a:rPr lang="en-US" altLang="ko-KR" sz="600" dirty="0">
                <a:solidFill>
                  <a:schemeClr val="tx1"/>
                </a:solidFill>
              </a:rPr>
              <a:t>)</a:t>
            </a:r>
          </a:p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시설</a:t>
            </a:r>
            <a:endParaRPr lang="en-US" altLang="ko-KR" sz="600" dirty="0">
              <a:solidFill>
                <a:schemeClr val="tx1"/>
              </a:solidFill>
            </a:endParaRPr>
          </a:p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국내소재상사</a:t>
            </a: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7599653" y="3331082"/>
            <a:ext cx="634789" cy="36933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일반정보</a:t>
            </a:r>
            <a:endParaRPr lang="en-US" altLang="ko-KR" sz="600" dirty="0">
              <a:solidFill>
                <a:schemeClr val="tx1"/>
              </a:solidFill>
            </a:endParaRPr>
          </a:p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물품</a:t>
            </a:r>
            <a:r>
              <a:rPr lang="en-US" altLang="ko-KR" sz="600" dirty="0">
                <a:solidFill>
                  <a:schemeClr val="tx1"/>
                </a:solidFill>
              </a:rPr>
              <a:t>(</a:t>
            </a:r>
            <a:r>
              <a:rPr lang="ko-KR" altLang="en-US" sz="600" dirty="0">
                <a:solidFill>
                  <a:schemeClr val="tx1"/>
                </a:solidFill>
              </a:rPr>
              <a:t>내자</a:t>
            </a:r>
            <a:r>
              <a:rPr lang="en-US" altLang="ko-KR" sz="600" dirty="0">
                <a:solidFill>
                  <a:schemeClr val="tx1"/>
                </a:solidFill>
              </a:rPr>
              <a:t>)</a:t>
            </a:r>
          </a:p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시설</a:t>
            </a:r>
            <a:endParaRPr lang="en-US" altLang="ko-KR" sz="600" dirty="0">
              <a:solidFill>
                <a:schemeClr val="tx1"/>
              </a:solidFill>
            </a:endParaRPr>
          </a:p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국내소재상사</a:t>
            </a:r>
          </a:p>
        </p:txBody>
      </p:sp>
      <p:sp>
        <p:nvSpPr>
          <p:cNvPr id="11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88595" y="525118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등록증 발급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1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8358283" y="478415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첨부파일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1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478415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신청 내역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120" name="직선 화살표 연결선 1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9" idx="2"/>
            <a:endCxn id="119" idx="0"/>
          </p:cNvCxnSpPr>
          <p:nvPr/>
        </p:nvCxnSpPr>
        <p:spPr>
          <a:xfrm>
            <a:off x="5707461" y="4615014"/>
            <a:ext cx="0" cy="16914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9" idx="3"/>
            <a:endCxn id="113" idx="1"/>
          </p:cNvCxnSpPr>
          <p:nvPr/>
        </p:nvCxnSpPr>
        <p:spPr>
          <a:xfrm>
            <a:off x="6157461" y="4471014"/>
            <a:ext cx="931134" cy="92416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화살표 연결선 122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3" idx="3"/>
            <a:endCxn id="115" idx="1"/>
          </p:cNvCxnSpPr>
          <p:nvPr/>
        </p:nvCxnSpPr>
        <p:spPr>
          <a:xfrm>
            <a:off x="7988595" y="4928155"/>
            <a:ext cx="369688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41" idx="3"/>
            <a:endCxn id="115" idx="1"/>
          </p:cNvCxnSpPr>
          <p:nvPr/>
        </p:nvCxnSpPr>
        <p:spPr>
          <a:xfrm>
            <a:off x="7988595" y="4471014"/>
            <a:ext cx="369688" cy="457141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14129" y="1543298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cxnSp>
        <p:nvCxnSpPr>
          <p:cNvPr id="13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5" idx="3"/>
            <a:endCxn id="104" idx="6"/>
          </p:cNvCxnSpPr>
          <p:nvPr/>
        </p:nvCxnSpPr>
        <p:spPr>
          <a:xfrm flipH="1" flipV="1">
            <a:off x="8898283" y="3569748"/>
            <a:ext cx="360000" cy="1358407"/>
          </a:xfrm>
          <a:prstGeom prst="bentConnector3">
            <a:avLst>
              <a:gd name="adj1" fmla="val -635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3" idx="3"/>
            <a:endCxn id="104" idx="6"/>
          </p:cNvCxnSpPr>
          <p:nvPr/>
        </p:nvCxnSpPr>
        <p:spPr>
          <a:xfrm flipV="1">
            <a:off x="7988595" y="3569748"/>
            <a:ext cx="909688" cy="1825433"/>
          </a:xfrm>
          <a:prstGeom prst="bentConnector3">
            <a:avLst>
              <a:gd name="adj1" fmla="val 164379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538963" y="6367551"/>
            <a:ext cx="327013" cy="923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후술</a:t>
            </a:r>
          </a:p>
        </p:txBody>
      </p:sp>
      <p:sp>
        <p:nvSpPr>
          <p:cNvPr id="16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322949" y="5152332"/>
            <a:ext cx="1112636" cy="1307551"/>
          </a:xfrm>
          <a:prstGeom prst="roundRect">
            <a:avLst>
              <a:gd name="adj" fmla="val 4682"/>
            </a:avLst>
          </a:prstGeom>
          <a:noFill/>
          <a:ln>
            <a:solidFill>
              <a:schemeClr val="bg1">
                <a:lumMod val="85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543140" y="6326480"/>
            <a:ext cx="847989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다음페이지 계속</a:t>
            </a:r>
          </a:p>
        </p:txBody>
      </p:sp>
      <p:sp>
        <p:nvSpPr>
          <p:cNvPr id="8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567808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조달원 </a:t>
            </a:r>
            <a:r>
              <a:rPr lang="ko-KR" altLang="en-US" sz="800" dirty="0" smtClean="0">
                <a:solidFill>
                  <a:schemeClr val="tx1"/>
                </a:solidFill>
              </a:rPr>
              <a:t>확인서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88595" y="567808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조달원 확인서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신청</a:t>
            </a:r>
          </a:p>
        </p:txBody>
      </p:sp>
      <p:cxnSp>
        <p:nvCxnSpPr>
          <p:cNvPr id="106" name="직선 화살표 연결선 10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84" idx="3"/>
            <a:endCxn id="101" idx="1"/>
          </p:cNvCxnSpPr>
          <p:nvPr/>
        </p:nvCxnSpPr>
        <p:spPr>
          <a:xfrm>
            <a:off x="6157461" y="5822085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55" idx="3"/>
            <a:endCxn id="84" idx="1"/>
          </p:cNvCxnSpPr>
          <p:nvPr/>
        </p:nvCxnSpPr>
        <p:spPr>
          <a:xfrm>
            <a:off x="4326327" y="4925834"/>
            <a:ext cx="931134" cy="896251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8" idx="3"/>
            <a:endCxn id="104" idx="0"/>
          </p:cNvCxnSpPr>
          <p:nvPr/>
        </p:nvCxnSpPr>
        <p:spPr>
          <a:xfrm>
            <a:off x="6157461" y="1771268"/>
            <a:ext cx="2650822" cy="1708480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613049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  <a:latin typeface="맑은 고딕" panose="020B0503020000020004" pitchFamily="50" charset="-127"/>
              </a:rPr>
              <a:t>국외조달원등록증신청안내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1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55" idx="3"/>
            <a:endCxn id="111" idx="1"/>
          </p:cNvCxnSpPr>
          <p:nvPr/>
        </p:nvCxnSpPr>
        <p:spPr>
          <a:xfrm>
            <a:off x="4326327" y="4925834"/>
            <a:ext cx="931134" cy="134866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01" idx="3"/>
            <a:endCxn id="104" idx="6"/>
          </p:cNvCxnSpPr>
          <p:nvPr/>
        </p:nvCxnSpPr>
        <p:spPr>
          <a:xfrm flipV="1">
            <a:off x="7988595" y="3569748"/>
            <a:ext cx="909688" cy="2252337"/>
          </a:xfrm>
          <a:prstGeom prst="bentConnector3">
            <a:avLst>
              <a:gd name="adj1" fmla="val 165336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1" idx="3"/>
            <a:endCxn id="104" idx="6"/>
          </p:cNvCxnSpPr>
          <p:nvPr/>
        </p:nvCxnSpPr>
        <p:spPr>
          <a:xfrm flipV="1">
            <a:off x="6157461" y="3569748"/>
            <a:ext cx="2740822" cy="2704751"/>
          </a:xfrm>
          <a:prstGeom prst="bentConnector3">
            <a:avLst>
              <a:gd name="adj1" fmla="val 121686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88595" y="252831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신청 내역 상세</a:t>
            </a:r>
          </a:p>
        </p:txBody>
      </p:sp>
      <p:cxnSp>
        <p:nvCxnSpPr>
          <p:cNvPr id="12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07" idx="3"/>
            <a:endCxn id="104" idx="0"/>
          </p:cNvCxnSpPr>
          <p:nvPr/>
        </p:nvCxnSpPr>
        <p:spPr>
          <a:xfrm>
            <a:off x="7988595" y="2672314"/>
            <a:ext cx="819688" cy="807434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7" idx="3"/>
          </p:cNvCxnSpPr>
          <p:nvPr/>
        </p:nvCxnSpPr>
        <p:spPr>
          <a:xfrm>
            <a:off x="6157461" y="2672314"/>
            <a:ext cx="931134" cy="36255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49" idx="2"/>
            <a:endCxn id="88" idx="0"/>
          </p:cNvCxnSpPr>
          <p:nvPr/>
        </p:nvCxnSpPr>
        <p:spPr>
          <a:xfrm rot="5400000">
            <a:off x="6808824" y="2832902"/>
            <a:ext cx="296685" cy="116285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88" idx="3"/>
            <a:endCxn id="104" idx="2"/>
          </p:cNvCxnSpPr>
          <p:nvPr/>
        </p:nvCxnSpPr>
        <p:spPr>
          <a:xfrm flipV="1">
            <a:off x="7489058" y="3569748"/>
            <a:ext cx="1229225" cy="294877"/>
          </a:xfrm>
          <a:prstGeom prst="bentConnector3">
            <a:avLst>
              <a:gd name="adj1" fmla="val 76213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55" idx="3"/>
            <a:endCxn id="149" idx="1"/>
          </p:cNvCxnSpPr>
          <p:nvPr/>
        </p:nvCxnSpPr>
        <p:spPr>
          <a:xfrm flipV="1">
            <a:off x="4326327" y="3121989"/>
            <a:ext cx="2762268" cy="1803845"/>
          </a:xfrm>
          <a:prstGeom prst="bentConnector3">
            <a:avLst>
              <a:gd name="adj1" fmla="val 16897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55" idx="3"/>
            <a:endCxn id="99" idx="1"/>
          </p:cNvCxnSpPr>
          <p:nvPr/>
        </p:nvCxnSpPr>
        <p:spPr>
          <a:xfrm flipV="1">
            <a:off x="4326327" y="4471014"/>
            <a:ext cx="931134" cy="45482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432100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관심법령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목록</a:t>
            </a:r>
          </a:p>
        </p:txBody>
      </p:sp>
      <p:cxnSp>
        <p:nvCxnSpPr>
          <p:cNvPr id="12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endCxn id="121" idx="1"/>
          </p:cNvCxnSpPr>
          <p:nvPr/>
        </p:nvCxnSpPr>
        <p:spPr>
          <a:xfrm>
            <a:off x="2495193" y="1772964"/>
            <a:ext cx="931134" cy="269203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28657501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62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595193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마이페이지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457199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664059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나의진행업무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현황 목록</a:t>
            </a:r>
          </a:p>
        </p:txBody>
      </p:sp>
      <p:sp>
        <p:nvSpPr>
          <p:cNvPr id="2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207863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나의업무이력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현황 목록</a:t>
            </a: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22" idx="1"/>
          </p:cNvCxnSpPr>
          <p:nvPr/>
        </p:nvCxnSpPr>
        <p:spPr>
          <a:xfrm>
            <a:off x="2495193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1277" y="252831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관심 입찰공고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목록</a:t>
            </a:r>
          </a:p>
        </p:txBody>
      </p:sp>
      <p:cxnSp>
        <p:nvCxnSpPr>
          <p:cNvPr id="8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24" idx="1"/>
          </p:cNvCxnSpPr>
          <p:nvPr/>
        </p:nvCxnSpPr>
        <p:spPr>
          <a:xfrm>
            <a:off x="2495193" y="1772964"/>
            <a:ext cx="931134" cy="44967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297798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업무 캘린더</a:t>
            </a:r>
          </a:p>
        </p:txBody>
      </p:sp>
      <p:sp>
        <p:nvSpPr>
          <p:cNvPr id="9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342574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문서함 목록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600" dirty="0">
                <a:solidFill>
                  <a:schemeClr val="tx1"/>
                </a:solidFill>
              </a:rPr>
              <a:t>(</a:t>
            </a:r>
            <a:r>
              <a:rPr lang="ko-KR" altLang="en-US" sz="600" dirty="0">
                <a:solidFill>
                  <a:schemeClr val="tx1"/>
                </a:solidFill>
              </a:rPr>
              <a:t>보낸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받은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임시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반려</a:t>
            </a:r>
            <a:r>
              <a:rPr lang="en-US" altLang="ko-KR" sz="6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5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431525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관심법령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목록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>
                <a:solidFill>
                  <a:schemeClr val="tx1"/>
                </a:solidFill>
              </a:rPr>
              <a:t>(3/4)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sp>
        <p:nvSpPr>
          <p:cNvPr id="5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476492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업체정보관리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목록</a:t>
            </a:r>
          </a:p>
        </p:txBody>
      </p:sp>
      <p:sp>
        <p:nvSpPr>
          <p:cNvPr id="5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521460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사용자정보관리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목록</a:t>
            </a:r>
          </a:p>
        </p:txBody>
      </p:sp>
      <p:sp>
        <p:nvSpPr>
          <p:cNvPr id="5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566427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디지털캐비닛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(</a:t>
            </a:r>
            <a:r>
              <a:rPr lang="ko-KR" altLang="en-US" sz="800" dirty="0">
                <a:solidFill>
                  <a:schemeClr val="tx1"/>
                </a:solidFill>
              </a:rPr>
              <a:t>폴더 목록</a:t>
            </a:r>
            <a:r>
              <a:rPr lang="en-US" altLang="ko-KR" sz="8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6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611395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알림서비스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신청 및 해지</a:t>
            </a:r>
          </a:p>
        </p:txBody>
      </p:sp>
      <p:cxnSp>
        <p:nvCxnSpPr>
          <p:cNvPr id="6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83" idx="1"/>
          </p:cNvCxnSpPr>
          <p:nvPr/>
        </p:nvCxnSpPr>
        <p:spPr>
          <a:xfrm>
            <a:off x="2495193" y="1772964"/>
            <a:ext cx="926084" cy="89935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91" idx="1"/>
          </p:cNvCxnSpPr>
          <p:nvPr/>
        </p:nvCxnSpPr>
        <p:spPr>
          <a:xfrm>
            <a:off x="2495193" y="1772964"/>
            <a:ext cx="931134" cy="134902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98" idx="1"/>
          </p:cNvCxnSpPr>
          <p:nvPr/>
        </p:nvCxnSpPr>
        <p:spPr>
          <a:xfrm>
            <a:off x="2495193" y="1772964"/>
            <a:ext cx="931134" cy="179678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151" idx="1"/>
          </p:cNvCxnSpPr>
          <p:nvPr/>
        </p:nvCxnSpPr>
        <p:spPr>
          <a:xfrm>
            <a:off x="2495193" y="1772964"/>
            <a:ext cx="931134" cy="268628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55" idx="1"/>
          </p:cNvCxnSpPr>
          <p:nvPr/>
        </p:nvCxnSpPr>
        <p:spPr>
          <a:xfrm>
            <a:off x="2495193" y="1772964"/>
            <a:ext cx="931134" cy="313596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57" idx="1"/>
          </p:cNvCxnSpPr>
          <p:nvPr/>
        </p:nvCxnSpPr>
        <p:spPr>
          <a:xfrm>
            <a:off x="2495193" y="1772964"/>
            <a:ext cx="931134" cy="358563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58" idx="1"/>
          </p:cNvCxnSpPr>
          <p:nvPr/>
        </p:nvCxnSpPr>
        <p:spPr>
          <a:xfrm>
            <a:off x="2495193" y="1772964"/>
            <a:ext cx="931134" cy="403531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60" idx="1"/>
          </p:cNvCxnSpPr>
          <p:nvPr/>
        </p:nvCxnSpPr>
        <p:spPr>
          <a:xfrm>
            <a:off x="2495193" y="1772964"/>
            <a:ext cx="931134" cy="448498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432088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업체 사용자 관리 목록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8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322949" y="1559961"/>
            <a:ext cx="1112636" cy="3553288"/>
          </a:xfrm>
          <a:prstGeom prst="roundRect">
            <a:avLst>
              <a:gd name="adj" fmla="val 4682"/>
            </a:avLst>
          </a:prstGeom>
          <a:noFill/>
          <a:ln>
            <a:solidFill>
              <a:schemeClr val="bg1">
                <a:lumMod val="85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538963" y="1559961"/>
            <a:ext cx="327013" cy="923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이전</a:t>
            </a:r>
          </a:p>
        </p:txBody>
      </p:sp>
      <p:cxnSp>
        <p:nvCxnSpPr>
          <p:cNvPr id="11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6" idx="2"/>
            <a:endCxn id="132" idx="1"/>
          </p:cNvCxnSpPr>
          <p:nvPr/>
        </p:nvCxnSpPr>
        <p:spPr>
          <a:xfrm rot="5400000">
            <a:off x="4660132" y="3417552"/>
            <a:ext cx="1644659" cy="450000"/>
          </a:xfrm>
          <a:prstGeom prst="bentConnector4">
            <a:avLst>
              <a:gd name="adj1" fmla="val 4978"/>
              <a:gd name="adj2" fmla="val 1508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14129" y="1543298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538963" y="6367551"/>
            <a:ext cx="327013" cy="923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후술</a:t>
            </a:r>
          </a:p>
        </p:txBody>
      </p:sp>
      <p:sp>
        <p:nvSpPr>
          <p:cNvPr id="16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322949" y="5603955"/>
            <a:ext cx="1112636" cy="855928"/>
          </a:xfrm>
          <a:prstGeom prst="roundRect">
            <a:avLst>
              <a:gd name="adj" fmla="val 4682"/>
            </a:avLst>
          </a:prstGeom>
          <a:noFill/>
          <a:ln>
            <a:solidFill>
              <a:schemeClr val="bg1">
                <a:lumMod val="85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8689286" y="4159349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74" name="그룹 173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8718283" y="3925349"/>
            <a:ext cx="180000" cy="180000"/>
            <a:chOff x="5058274" y="2498299"/>
            <a:chExt cx="180000" cy="180000"/>
          </a:xfrm>
        </p:grpSpPr>
        <p:sp>
          <p:nvSpPr>
            <p:cNvPr id="175" name="타원 174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7" name="타원 176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0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88595" y="297298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개인정보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수정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3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342592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비밀번호 변경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131" name="직선 화살표 연결선 13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37" idx="3"/>
            <a:endCxn id="108" idx="1"/>
          </p:cNvCxnSpPr>
          <p:nvPr/>
        </p:nvCxnSpPr>
        <p:spPr>
          <a:xfrm>
            <a:off x="6157461" y="3116989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57" idx="3"/>
            <a:endCxn id="66" idx="1"/>
          </p:cNvCxnSpPr>
          <p:nvPr/>
        </p:nvCxnSpPr>
        <p:spPr>
          <a:xfrm flipV="1">
            <a:off x="4326327" y="2676223"/>
            <a:ext cx="931134" cy="268237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297298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개인정보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13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6" idx="2"/>
            <a:endCxn id="137" idx="1"/>
          </p:cNvCxnSpPr>
          <p:nvPr/>
        </p:nvCxnSpPr>
        <p:spPr>
          <a:xfrm rot="5400000">
            <a:off x="5334078" y="2743606"/>
            <a:ext cx="296766" cy="450000"/>
          </a:xfrm>
          <a:prstGeom prst="bentConnector4">
            <a:avLst>
              <a:gd name="adj1" fmla="val 25738"/>
              <a:gd name="adj2" fmla="val 1508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387134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개인신원확인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16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6" idx="2"/>
            <a:endCxn id="162" idx="1"/>
          </p:cNvCxnSpPr>
          <p:nvPr/>
        </p:nvCxnSpPr>
        <p:spPr>
          <a:xfrm rot="5400000">
            <a:off x="4884898" y="3192786"/>
            <a:ext cx="1195126" cy="450000"/>
          </a:xfrm>
          <a:prstGeom prst="bentConnector4">
            <a:avLst>
              <a:gd name="adj1" fmla="val 6769"/>
              <a:gd name="adj2" fmla="val 1508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253222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개인 </a:t>
            </a:r>
            <a:r>
              <a:rPr lang="en-US" altLang="ko-KR" sz="800" dirty="0">
                <a:solidFill>
                  <a:schemeClr val="tx1"/>
                </a:solidFill>
              </a:rPr>
              <a:t>(</a:t>
            </a:r>
            <a:r>
              <a:rPr lang="ko-KR" altLang="en-US" sz="800" dirty="0">
                <a:solidFill>
                  <a:schemeClr val="tx1"/>
                </a:solidFill>
              </a:rPr>
              <a:t>생체</a:t>
            </a:r>
            <a:r>
              <a:rPr lang="en-US" altLang="ko-KR" sz="800" dirty="0">
                <a:solidFill>
                  <a:schemeClr val="tx1"/>
                </a:solidFill>
              </a:rPr>
              <a:t>) </a:t>
            </a:r>
            <a:r>
              <a:rPr lang="ko-KR" altLang="en-US" sz="800" dirty="0">
                <a:solidFill>
                  <a:schemeClr val="tx1"/>
                </a:solidFill>
              </a:rPr>
              <a:t>인증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비밀번호 인증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7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6" idx="2"/>
            <a:endCxn id="130" idx="1"/>
          </p:cNvCxnSpPr>
          <p:nvPr/>
        </p:nvCxnSpPr>
        <p:spPr>
          <a:xfrm rot="5400000">
            <a:off x="5107611" y="2970073"/>
            <a:ext cx="749700" cy="450000"/>
          </a:xfrm>
          <a:prstGeom prst="bentConnector4">
            <a:avLst>
              <a:gd name="adj1" fmla="val 10114"/>
              <a:gd name="adj2" fmla="val 1508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08" idx="3"/>
            <a:endCxn id="175" idx="2"/>
          </p:cNvCxnSpPr>
          <p:nvPr/>
        </p:nvCxnSpPr>
        <p:spPr>
          <a:xfrm>
            <a:off x="7988595" y="3116989"/>
            <a:ext cx="729688" cy="89836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30" idx="3"/>
            <a:endCxn id="175" idx="2"/>
          </p:cNvCxnSpPr>
          <p:nvPr/>
        </p:nvCxnSpPr>
        <p:spPr>
          <a:xfrm>
            <a:off x="6157461" y="3569923"/>
            <a:ext cx="2560822" cy="445426"/>
          </a:xfrm>
          <a:prstGeom prst="bentConnector3">
            <a:avLst>
              <a:gd name="adj1" fmla="val 85707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9" idx="3"/>
            <a:endCxn id="175" idx="2"/>
          </p:cNvCxnSpPr>
          <p:nvPr/>
        </p:nvCxnSpPr>
        <p:spPr>
          <a:xfrm flipV="1">
            <a:off x="7988595" y="4015349"/>
            <a:ext cx="729688" cy="44953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TextBox 9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543140" y="6326480"/>
            <a:ext cx="847989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다음페이지 계속</a:t>
            </a:r>
          </a:p>
        </p:txBody>
      </p:sp>
      <p:sp>
        <p:nvSpPr>
          <p:cNvPr id="9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88595" y="432088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사용자 </a:t>
            </a:r>
            <a:r>
              <a:rPr lang="ko-KR" altLang="en-US" sz="800" dirty="0" err="1">
                <a:solidFill>
                  <a:schemeClr val="tx1"/>
                </a:solidFill>
              </a:rPr>
              <a:t>상태변경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103" name="직선 화살표 연결선 102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32" idx="3"/>
            <a:endCxn id="99" idx="1"/>
          </p:cNvCxnSpPr>
          <p:nvPr/>
        </p:nvCxnSpPr>
        <p:spPr>
          <a:xfrm>
            <a:off x="6157461" y="4464882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직선 화살표 연결선 6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62" idx="3"/>
            <a:endCxn id="175" idx="2"/>
          </p:cNvCxnSpPr>
          <p:nvPr/>
        </p:nvCxnSpPr>
        <p:spPr>
          <a:xfrm>
            <a:off x="6157461" y="4015349"/>
            <a:ext cx="2560822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259116" y="4192141"/>
            <a:ext cx="65242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>
                <a:solidFill>
                  <a:schemeClr val="tx1"/>
                </a:solidFill>
              </a:rPr>
              <a:t>대표자만 표시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6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387733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나의 게시물</a:t>
            </a:r>
          </a:p>
        </p:txBody>
      </p:sp>
      <p:cxnSp>
        <p:nvCxnSpPr>
          <p:cNvPr id="6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endCxn id="68" idx="1"/>
          </p:cNvCxnSpPr>
          <p:nvPr/>
        </p:nvCxnSpPr>
        <p:spPr>
          <a:xfrm>
            <a:off x="2495193" y="1772964"/>
            <a:ext cx="931134" cy="224837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1473776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63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595193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마이페이지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457199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664059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나의진행업무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현황 목록</a:t>
            </a:r>
          </a:p>
        </p:txBody>
      </p:sp>
      <p:sp>
        <p:nvSpPr>
          <p:cNvPr id="2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207863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나의업무이력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현황 목록</a:t>
            </a: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22" idx="1"/>
          </p:cNvCxnSpPr>
          <p:nvPr/>
        </p:nvCxnSpPr>
        <p:spPr>
          <a:xfrm>
            <a:off x="2495193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1277" y="252831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관심 입찰공고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목록</a:t>
            </a:r>
          </a:p>
        </p:txBody>
      </p:sp>
      <p:cxnSp>
        <p:nvCxnSpPr>
          <p:cNvPr id="8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24" idx="1"/>
          </p:cNvCxnSpPr>
          <p:nvPr/>
        </p:nvCxnSpPr>
        <p:spPr>
          <a:xfrm>
            <a:off x="2495193" y="1772964"/>
            <a:ext cx="931134" cy="44967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297798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업무 캘린더</a:t>
            </a:r>
          </a:p>
        </p:txBody>
      </p:sp>
      <p:sp>
        <p:nvSpPr>
          <p:cNvPr id="9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342574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문서함 목록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600" dirty="0">
                <a:solidFill>
                  <a:schemeClr val="tx1"/>
                </a:solidFill>
              </a:rPr>
              <a:t>(</a:t>
            </a:r>
            <a:r>
              <a:rPr lang="ko-KR" altLang="en-US" sz="600" dirty="0">
                <a:solidFill>
                  <a:schemeClr val="tx1"/>
                </a:solidFill>
              </a:rPr>
              <a:t>보낸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받은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임시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반려</a:t>
            </a:r>
            <a:r>
              <a:rPr lang="en-US" altLang="ko-KR" sz="6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5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432074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관심법령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목록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>
                <a:solidFill>
                  <a:schemeClr val="tx1"/>
                </a:solidFill>
              </a:rPr>
              <a:t>(4/4)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sp>
        <p:nvSpPr>
          <p:cNvPr id="5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477042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업체정보관리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목록</a:t>
            </a:r>
          </a:p>
        </p:txBody>
      </p:sp>
      <p:sp>
        <p:nvSpPr>
          <p:cNvPr id="5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522009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사용자정보관리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목록</a:t>
            </a:r>
          </a:p>
        </p:txBody>
      </p:sp>
      <p:sp>
        <p:nvSpPr>
          <p:cNvPr id="5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566977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디지털캐비닛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(</a:t>
            </a:r>
            <a:r>
              <a:rPr lang="ko-KR" altLang="en-US" sz="800" dirty="0">
                <a:solidFill>
                  <a:schemeClr val="tx1"/>
                </a:solidFill>
              </a:rPr>
              <a:t>폴더 목록</a:t>
            </a:r>
            <a:r>
              <a:rPr lang="en-US" altLang="ko-KR" sz="8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6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611944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알림서비스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신청 및 해지</a:t>
            </a:r>
          </a:p>
        </p:txBody>
      </p:sp>
      <p:cxnSp>
        <p:nvCxnSpPr>
          <p:cNvPr id="6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83" idx="1"/>
          </p:cNvCxnSpPr>
          <p:nvPr/>
        </p:nvCxnSpPr>
        <p:spPr>
          <a:xfrm>
            <a:off x="2495193" y="1772964"/>
            <a:ext cx="926084" cy="89935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91" idx="1"/>
          </p:cNvCxnSpPr>
          <p:nvPr/>
        </p:nvCxnSpPr>
        <p:spPr>
          <a:xfrm>
            <a:off x="2495193" y="1772964"/>
            <a:ext cx="931134" cy="134902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98" idx="1"/>
          </p:cNvCxnSpPr>
          <p:nvPr/>
        </p:nvCxnSpPr>
        <p:spPr>
          <a:xfrm>
            <a:off x="2495193" y="1772964"/>
            <a:ext cx="931134" cy="179678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151" idx="1"/>
          </p:cNvCxnSpPr>
          <p:nvPr/>
        </p:nvCxnSpPr>
        <p:spPr>
          <a:xfrm>
            <a:off x="2495193" y="1772964"/>
            <a:ext cx="931134" cy="269178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55" idx="1"/>
          </p:cNvCxnSpPr>
          <p:nvPr/>
        </p:nvCxnSpPr>
        <p:spPr>
          <a:xfrm>
            <a:off x="2495193" y="1772964"/>
            <a:ext cx="931134" cy="314145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57" idx="1"/>
          </p:cNvCxnSpPr>
          <p:nvPr/>
        </p:nvCxnSpPr>
        <p:spPr>
          <a:xfrm>
            <a:off x="2495193" y="1772964"/>
            <a:ext cx="931134" cy="359113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58" idx="1"/>
          </p:cNvCxnSpPr>
          <p:nvPr/>
        </p:nvCxnSpPr>
        <p:spPr>
          <a:xfrm>
            <a:off x="2495193" y="1772964"/>
            <a:ext cx="931134" cy="404080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60" idx="1"/>
          </p:cNvCxnSpPr>
          <p:nvPr/>
        </p:nvCxnSpPr>
        <p:spPr>
          <a:xfrm>
            <a:off x="2495193" y="1772964"/>
            <a:ext cx="931134" cy="449048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322949" y="1559960"/>
            <a:ext cx="1112636" cy="4028989"/>
          </a:xfrm>
          <a:prstGeom prst="roundRect">
            <a:avLst>
              <a:gd name="adj" fmla="val 4682"/>
            </a:avLst>
          </a:prstGeom>
          <a:noFill/>
          <a:ln>
            <a:solidFill>
              <a:schemeClr val="bg1">
                <a:lumMod val="85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538963" y="1559961"/>
            <a:ext cx="327013" cy="923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이전</a:t>
            </a: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14129" y="1543298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8689286" y="4146737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74" name="그룹 173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8718283" y="3935890"/>
            <a:ext cx="180000" cy="180000"/>
            <a:chOff x="5058274" y="2498299"/>
            <a:chExt cx="180000" cy="180000"/>
          </a:xfrm>
        </p:grpSpPr>
        <p:sp>
          <p:nvSpPr>
            <p:cNvPr id="175" name="타원 174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7" name="타원 176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3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58" idx="3"/>
            <a:endCxn id="66" idx="1"/>
          </p:cNvCxnSpPr>
          <p:nvPr/>
        </p:nvCxnSpPr>
        <p:spPr>
          <a:xfrm flipV="1">
            <a:off x="4326327" y="4025890"/>
            <a:ext cx="931134" cy="1787881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432074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폴더 내 파일 목록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6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388189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폴더 설정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권한 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7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58" idx="3"/>
            <a:endCxn id="137" idx="1"/>
          </p:cNvCxnSpPr>
          <p:nvPr/>
        </p:nvCxnSpPr>
        <p:spPr>
          <a:xfrm flipV="1">
            <a:off x="4326327" y="4464746"/>
            <a:ext cx="931134" cy="134902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직선 화살표 연결선 10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6" idx="3"/>
            <a:endCxn id="175" idx="2"/>
          </p:cNvCxnSpPr>
          <p:nvPr/>
        </p:nvCxnSpPr>
        <p:spPr>
          <a:xfrm>
            <a:off x="6157461" y="4025890"/>
            <a:ext cx="2560822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37" idx="3"/>
            <a:endCxn id="175" idx="2"/>
          </p:cNvCxnSpPr>
          <p:nvPr/>
        </p:nvCxnSpPr>
        <p:spPr>
          <a:xfrm flipV="1">
            <a:off x="6157461" y="4025890"/>
            <a:ext cx="2560822" cy="43885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0" idx="3"/>
            <a:endCxn id="175" idx="2"/>
          </p:cNvCxnSpPr>
          <p:nvPr/>
        </p:nvCxnSpPr>
        <p:spPr>
          <a:xfrm flipV="1">
            <a:off x="4326327" y="4025890"/>
            <a:ext cx="4391956" cy="223755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259116" y="3760565"/>
            <a:ext cx="894476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대표자만 </a:t>
            </a:r>
            <a:r>
              <a:rPr lang="ko-KR" altLang="en-US" sz="800" dirty="0" smtClean="0">
                <a:solidFill>
                  <a:schemeClr val="tx1"/>
                </a:solidFill>
              </a:rPr>
              <a:t>관리 표시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1277" y="387410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나의 게시물</a:t>
            </a:r>
          </a:p>
        </p:txBody>
      </p:sp>
      <p:cxnSp>
        <p:nvCxnSpPr>
          <p:cNvPr id="4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endCxn id="46" idx="1"/>
          </p:cNvCxnSpPr>
          <p:nvPr/>
        </p:nvCxnSpPr>
        <p:spPr>
          <a:xfrm>
            <a:off x="2490143" y="1769731"/>
            <a:ext cx="931134" cy="224837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69418333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>
                <a:solidFill>
                  <a:schemeClr val="tx1"/>
                </a:solidFill>
              </a:rPr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64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마이페이지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MyPagePage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세부 스텝 팝업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MyPrgrsHstryDtl</a:t>
            </a:r>
            <a:r>
              <a:rPr lang="en-US" altLang="ko-KR" sz="8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1)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 err="1">
                <a:solidFill>
                  <a:schemeClr val="tx1"/>
                </a:solidFill>
              </a:rPr>
              <a:t>나의진행업무현황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MyPrgrsHstryPage</a:t>
            </a:r>
            <a:r>
              <a:rPr lang="en-US" altLang="ko-KR" sz="8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800" dirty="0" smtClean="0">
                <a:solidFill>
                  <a:schemeClr val="tx1"/>
                </a:solidFill>
              </a:rPr>
              <a:t> </a:t>
            </a:r>
            <a:r>
              <a:rPr lang="en-US" altLang="ko-KR" sz="800" dirty="0">
                <a:solidFill>
                  <a:schemeClr val="tx1"/>
                </a:solidFill>
              </a:rPr>
              <a:t>1)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&lt;&lt;Controller&gt;&gt;</a:t>
            </a:r>
          </a:p>
          <a:p>
            <a:pPr algn="ctr"/>
            <a:r>
              <a:rPr lang="ko-KR" altLang="en-US" sz="1100" dirty="0" err="1"/>
              <a:t>마이페이지</a:t>
            </a:r>
            <a:r>
              <a:rPr lang="ko-KR" altLang="en-US" sz="1100" dirty="0"/>
              <a:t> </a:t>
            </a:r>
            <a:r>
              <a:rPr lang="en-US" altLang="ko-KR" sz="1100" dirty="0"/>
              <a:t>Controller</a:t>
            </a:r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나의업무이력현황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MyTaskHstryPage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관심입찰공고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ItrstBidPbancPage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업무캘린더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TaskCldrPage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업무캘린더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 일정 상세 정보 팝업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TaskCldrDtlPage.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55423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&lt;&lt;Controller&gt;&gt;</a:t>
            </a:r>
          </a:p>
          <a:p>
            <a:pPr algn="ctr"/>
            <a:r>
              <a:rPr lang="ko-KR" altLang="en-US" sz="1100" dirty="0"/>
              <a:t>업체정보 </a:t>
            </a:r>
            <a:r>
              <a:rPr lang="en-US" altLang="ko-KR" sz="1100" dirty="0"/>
              <a:t>Controller</a:t>
            </a:r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28" idx="1"/>
          </p:cNvCxnSpPr>
          <p:nvPr/>
        </p:nvCxnSpPr>
        <p:spPr>
          <a:xfrm>
            <a:off x="5687291" y="2990174"/>
            <a:ext cx="1226127" cy="70822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3715812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2.3.1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>
                <a:solidFill>
                  <a:schemeClr val="tx1"/>
                </a:solidFill>
              </a:rPr>
              <a:t>(1/3) – </a:t>
            </a:r>
            <a:r>
              <a:rPr lang="ko-KR" altLang="en-US" sz="1200" dirty="0">
                <a:solidFill>
                  <a:schemeClr val="tx1"/>
                </a:solidFill>
              </a:rPr>
              <a:t>공고</a:t>
            </a:r>
            <a:r>
              <a:rPr lang="en-US" altLang="ko-KR" sz="1200" dirty="0">
                <a:solidFill>
                  <a:schemeClr val="tx1"/>
                </a:solidFill>
              </a:rPr>
              <a:t>, </a:t>
            </a:r>
            <a:r>
              <a:rPr lang="ko-KR" altLang="en-US" sz="1200" dirty="0">
                <a:solidFill>
                  <a:schemeClr val="tx1"/>
                </a:solidFill>
              </a:rPr>
              <a:t>캘린더</a:t>
            </a:r>
            <a:r>
              <a:rPr lang="en-US" altLang="ko-KR" sz="1200" dirty="0">
                <a:solidFill>
                  <a:schemeClr val="tx1"/>
                </a:solidFill>
              </a:rPr>
              <a:t>, </a:t>
            </a:r>
            <a:r>
              <a:rPr lang="ko-KR" altLang="en-US" sz="1200" dirty="0">
                <a:solidFill>
                  <a:schemeClr val="tx1"/>
                </a:solidFill>
              </a:rPr>
              <a:t>문서함</a:t>
            </a:r>
            <a:r>
              <a:rPr lang="en-US" altLang="ko-KR" sz="1200" dirty="0">
                <a:solidFill>
                  <a:schemeClr val="tx1"/>
                </a:solidFill>
              </a:rPr>
              <a:t>, </a:t>
            </a:r>
            <a:r>
              <a:rPr lang="ko-KR" altLang="en-US" sz="1200" dirty="0">
                <a:solidFill>
                  <a:schemeClr val="tx1"/>
                </a:solidFill>
              </a:rPr>
              <a:t>캐비닛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업무캘린더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 등록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수정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TaskCldrRegPage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298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업무캘린더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 삭제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TaskCldrDelPage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4435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문서함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DocBoxPage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635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문서함 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DocBoxDtlPage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7" idx="3"/>
            <a:endCxn id="9" idx="1"/>
          </p:cNvCxnSpPr>
          <p:nvPr/>
        </p:nvCxnSpPr>
        <p:spPr>
          <a:xfrm flipV="1">
            <a:off x="2992582" y="2990174"/>
            <a:ext cx="967509" cy="22264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8" idx="3"/>
            <a:endCxn id="9" idx="1"/>
          </p:cNvCxnSpPr>
          <p:nvPr/>
        </p:nvCxnSpPr>
        <p:spPr>
          <a:xfrm flipV="1">
            <a:off x="2992582" y="2990174"/>
            <a:ext cx="967509" cy="26400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9" name="직선 화살표 연결선 7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9" idx="3"/>
            <a:endCxn id="9" idx="1"/>
          </p:cNvCxnSpPr>
          <p:nvPr/>
        </p:nvCxnSpPr>
        <p:spPr>
          <a:xfrm flipV="1">
            <a:off x="2992582" y="2990174"/>
            <a:ext cx="967509" cy="30600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관심법령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ItrstSttPage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폴더 내 파일 목록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DigitalCabinetFileListPage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9" name="직선 화살표 연결선 3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6" idx="0"/>
            <a:endCxn id="9" idx="2"/>
          </p:cNvCxnSpPr>
          <p:nvPr/>
        </p:nvCxnSpPr>
        <p:spPr>
          <a:xfrm flipV="1">
            <a:off x="3855704" y="3810190"/>
            <a:ext cx="967987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2" name="직선 화살표 연결선 4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7" idx="0"/>
            <a:endCxn id="9" idx="2"/>
          </p:cNvCxnSpPr>
          <p:nvPr/>
        </p:nvCxnSpPr>
        <p:spPr>
          <a:xfrm flipH="1" flipV="1">
            <a:off x="4823691" y="3810190"/>
            <a:ext cx="509121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37833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 smtClean="0">
                <a:solidFill>
                  <a:schemeClr val="tx1"/>
                </a:solidFill>
                <a:latin typeface="+mn-ea"/>
              </a:rPr>
              <a:t>나의게시물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MyPstPage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37833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폴더 설정 권한 관리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DigitalCabinetMng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48" name="직선 화살표 연결선 4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46" idx="0"/>
            <a:endCxn id="9" idx="2"/>
          </p:cNvCxnSpPr>
          <p:nvPr/>
        </p:nvCxnSpPr>
        <p:spPr>
          <a:xfrm flipV="1">
            <a:off x="3855704" y="3810190"/>
            <a:ext cx="967987" cy="156814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1" name="직선 화살표 연결선 5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47" idx="0"/>
            <a:endCxn id="9" idx="2"/>
          </p:cNvCxnSpPr>
          <p:nvPr/>
        </p:nvCxnSpPr>
        <p:spPr>
          <a:xfrm flipH="1" flipV="1">
            <a:off x="4823691" y="3810190"/>
            <a:ext cx="509121" cy="156814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4163022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&lt;&lt;Controller&gt;&gt;</a:t>
            </a:r>
          </a:p>
          <a:p>
            <a:pPr algn="ctr"/>
            <a:r>
              <a:rPr lang="ko-KR" altLang="en-US" sz="1100" dirty="0"/>
              <a:t>개인정보 </a:t>
            </a:r>
            <a:r>
              <a:rPr lang="en-US" altLang="ko-KR" sz="1100" dirty="0"/>
              <a:t>Controller</a:t>
            </a:r>
          </a:p>
        </p:txBody>
      </p: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4" idx="1"/>
          </p:cNvCxnSpPr>
          <p:nvPr/>
        </p:nvCxnSpPr>
        <p:spPr>
          <a:xfrm>
            <a:off x="5687291" y="2990174"/>
            <a:ext cx="1226127" cy="141582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4891554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디지털캐비닛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DigitalCabinetPage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50" name="직선 화살표 연결선 4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49" idx="0"/>
            <a:endCxn id="9" idx="2"/>
          </p:cNvCxnSpPr>
          <p:nvPr/>
        </p:nvCxnSpPr>
        <p:spPr>
          <a:xfrm flipH="1" flipV="1">
            <a:off x="4823691" y="3810190"/>
            <a:ext cx="509121" cy="108136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4874183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개인별수신처관리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IndvRcofcMngPage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94927276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65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업체정보관리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BzentyGnrlInfoMngPage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업체정보 상세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bzentyGnrlInfoDtlPage</a:t>
            </a:r>
            <a:r>
              <a:rPr lang="en-US" altLang="ko-KR" sz="8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1)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solidFill>
                  <a:schemeClr val="tx1"/>
                </a:solidFill>
              </a:rPr>
              <a:t>업체정보 </a:t>
            </a:r>
            <a:r>
              <a:rPr lang="ko-KR" altLang="en-US" sz="800" dirty="0" err="1">
                <a:solidFill>
                  <a:schemeClr val="tx1"/>
                </a:solidFill>
              </a:rPr>
              <a:t>추가등록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DmstLctnColInfoAddRegPage</a:t>
            </a:r>
            <a:r>
              <a:rPr lang="en-US" altLang="ko-KR" sz="8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800" dirty="0" smtClean="0">
                <a:solidFill>
                  <a:schemeClr val="tx1"/>
                </a:solidFill>
              </a:rPr>
              <a:t> </a:t>
            </a:r>
            <a:r>
              <a:rPr lang="en-US" altLang="ko-KR" sz="800" dirty="0">
                <a:solidFill>
                  <a:schemeClr val="tx1"/>
                </a:solidFill>
              </a:rPr>
              <a:t>1)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&lt;&lt;Controller&gt;&gt;</a:t>
            </a:r>
          </a:p>
          <a:p>
            <a:pPr algn="ctr"/>
            <a:r>
              <a:rPr lang="ko-KR" altLang="en-US" sz="1100" dirty="0" err="1"/>
              <a:t>마이페이지</a:t>
            </a:r>
            <a:r>
              <a:rPr lang="ko-KR" altLang="en-US" sz="1100" dirty="0"/>
              <a:t> </a:t>
            </a:r>
            <a:r>
              <a:rPr lang="en-US" altLang="ko-KR" sz="1100" dirty="0"/>
              <a:t>Controller</a:t>
            </a:r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품류선택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 팝업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KnditmChc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조합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단체 선택 팝업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AsctGrpChc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등록대상 품목 선택 팝업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RegTrgtItemChc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품목 조회 팝업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ItemInq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55423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&lt;&lt;Controller&gt;&gt;</a:t>
            </a:r>
          </a:p>
          <a:p>
            <a:pPr algn="ctr"/>
            <a:r>
              <a:rPr lang="ko-KR" altLang="en-US" sz="1100" dirty="0"/>
              <a:t>업체정보 </a:t>
            </a:r>
            <a:r>
              <a:rPr lang="en-US" altLang="ko-KR" sz="1100" dirty="0"/>
              <a:t>Controller</a:t>
            </a:r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28" idx="1"/>
          </p:cNvCxnSpPr>
          <p:nvPr/>
        </p:nvCxnSpPr>
        <p:spPr>
          <a:xfrm>
            <a:off x="5687291" y="2990174"/>
            <a:ext cx="1226127" cy="70822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3665708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2.3.1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>
                <a:solidFill>
                  <a:schemeClr val="tx1"/>
                </a:solidFill>
              </a:rPr>
              <a:t>(2/3) - </a:t>
            </a:r>
            <a:r>
              <a:rPr lang="ko-KR" altLang="en-US" sz="1200" dirty="0">
                <a:solidFill>
                  <a:schemeClr val="tx1"/>
                </a:solidFill>
              </a:rPr>
              <a:t>업체정보 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보안측정인원등록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ScrtyMsrmtPrsnlReg.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298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FSC 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선택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FSCChc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4435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주거래은행 선택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BankChc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635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행정정보공동이용 </a:t>
            </a: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사전동의서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PbamdsInfoJntUtztnBfhdWtcs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7" idx="3"/>
            <a:endCxn id="9" idx="1"/>
          </p:cNvCxnSpPr>
          <p:nvPr/>
        </p:nvCxnSpPr>
        <p:spPr>
          <a:xfrm flipV="1">
            <a:off x="2992582" y="2990174"/>
            <a:ext cx="967509" cy="22264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8" idx="3"/>
            <a:endCxn id="9" idx="1"/>
          </p:cNvCxnSpPr>
          <p:nvPr/>
        </p:nvCxnSpPr>
        <p:spPr>
          <a:xfrm flipV="1">
            <a:off x="2992582" y="2990174"/>
            <a:ext cx="967509" cy="26400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9" name="직선 화살표 연결선 7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9" idx="3"/>
            <a:endCxn id="9" idx="1"/>
          </p:cNvCxnSpPr>
          <p:nvPr/>
        </p:nvCxnSpPr>
        <p:spPr>
          <a:xfrm flipV="1">
            <a:off x="2992582" y="2990174"/>
            <a:ext cx="967509" cy="30600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국외조달원등록증신청안내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OvsdmstSosCnfdoc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4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등록증 발급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DfEqpmntTradeAgncAplyListPage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9" name="직선 화살표 연결선 3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6" idx="0"/>
            <a:endCxn id="9" idx="2"/>
          </p:cNvCxnSpPr>
          <p:nvPr/>
        </p:nvCxnSpPr>
        <p:spPr>
          <a:xfrm flipV="1">
            <a:off x="3855704" y="3810190"/>
            <a:ext cx="967987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2" name="직선 화살표 연결선 4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7" idx="0"/>
            <a:endCxn id="9" idx="2"/>
          </p:cNvCxnSpPr>
          <p:nvPr/>
        </p:nvCxnSpPr>
        <p:spPr>
          <a:xfrm flipH="1" flipV="1">
            <a:off x="4823691" y="3810190"/>
            <a:ext cx="509121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37833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조달원 확인서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DmstSosCnfdocListPage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37833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4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변경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DfEqpmntTradeAgncChgPage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48" name="직선 화살표 연결선 4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46" idx="0"/>
            <a:endCxn id="9" idx="2"/>
          </p:cNvCxnSpPr>
          <p:nvPr/>
        </p:nvCxnSpPr>
        <p:spPr>
          <a:xfrm flipV="1">
            <a:off x="3855704" y="3810190"/>
            <a:ext cx="967987" cy="156814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1" name="직선 화살표 연결선 5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47" idx="0"/>
            <a:endCxn id="9" idx="2"/>
          </p:cNvCxnSpPr>
          <p:nvPr/>
        </p:nvCxnSpPr>
        <p:spPr>
          <a:xfrm flipH="1" flipV="1">
            <a:off x="4823691" y="3810190"/>
            <a:ext cx="509121" cy="156814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4163022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&lt;&lt;Controller&gt;&gt;</a:t>
            </a:r>
          </a:p>
          <a:p>
            <a:pPr algn="ctr"/>
            <a:r>
              <a:rPr lang="ko-KR" altLang="en-US" sz="1100" dirty="0"/>
              <a:t>개인정보 </a:t>
            </a:r>
            <a:r>
              <a:rPr lang="en-US" altLang="ko-KR" sz="1100" dirty="0"/>
              <a:t>Controller</a:t>
            </a:r>
          </a:p>
        </p:txBody>
      </p: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4" idx="1"/>
          </p:cNvCxnSpPr>
          <p:nvPr/>
        </p:nvCxnSpPr>
        <p:spPr>
          <a:xfrm>
            <a:off x="5687291" y="2990174"/>
            <a:ext cx="1226127" cy="141582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4891554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4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신규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갱신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DfEqpmntTradeAgncAplyPage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50" name="직선 화살표 연결선 4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49" idx="0"/>
            <a:endCxn id="9" idx="2"/>
          </p:cNvCxnSpPr>
          <p:nvPr/>
        </p:nvCxnSpPr>
        <p:spPr>
          <a:xfrm flipH="1" flipV="1">
            <a:off x="4823691" y="3810190"/>
            <a:ext cx="509121" cy="108136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441300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4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군수품무역대리업 신청 및 발급 목록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DfEqpmntTradeAgncAplyListPage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4890347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조달원 확인서 신청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DmstSosCnfdocListPage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55" name="직선 화살표 연결선 5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52" idx="0"/>
            <a:endCxn id="9" idx="2"/>
          </p:cNvCxnSpPr>
          <p:nvPr/>
        </p:nvCxnSpPr>
        <p:spPr>
          <a:xfrm flipH="1" flipV="1">
            <a:off x="4823691" y="3810190"/>
            <a:ext cx="509121" cy="60281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6" name="직선 화살표 연결선 5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53" idx="0"/>
            <a:endCxn id="9" idx="2"/>
          </p:cNvCxnSpPr>
          <p:nvPr/>
        </p:nvCxnSpPr>
        <p:spPr>
          <a:xfrm flipV="1">
            <a:off x="3855704" y="3810190"/>
            <a:ext cx="967987" cy="1080157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7" name="직선 화살표 연결선 5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54" idx="0"/>
            <a:endCxn id="9" idx="2"/>
          </p:cNvCxnSpPr>
          <p:nvPr/>
        </p:nvCxnSpPr>
        <p:spPr>
          <a:xfrm flipV="1">
            <a:off x="3855704" y="3810190"/>
            <a:ext cx="967987" cy="60232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441251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추가정보신청조회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AddRegInfoAplyListPage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04884830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>
                <a:solidFill>
                  <a:schemeClr val="tx1"/>
                </a:solidFill>
              </a:rPr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66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사용자정보관리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IndvInfoMngPage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개인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생체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)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인증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비밀번호 인증</a:t>
            </a: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IndvCertPage</a:t>
            </a:r>
            <a:r>
              <a:rPr lang="en-US" altLang="ko-KR" sz="8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1)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solidFill>
                  <a:schemeClr val="tx1"/>
                </a:solidFill>
              </a:rPr>
              <a:t>개인정보 상세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IndvInfoDtlPage</a:t>
            </a:r>
            <a:r>
              <a:rPr lang="en-US" altLang="ko-KR" sz="8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800" dirty="0" smtClean="0">
                <a:solidFill>
                  <a:schemeClr val="tx1"/>
                </a:solidFill>
              </a:rPr>
              <a:t> </a:t>
            </a:r>
            <a:r>
              <a:rPr lang="en-US" altLang="ko-KR" sz="800" dirty="0">
                <a:solidFill>
                  <a:schemeClr val="tx1"/>
                </a:solidFill>
              </a:rPr>
              <a:t>1)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&lt;&lt;Controller&gt;&gt;</a:t>
            </a:r>
          </a:p>
          <a:p>
            <a:pPr algn="ctr"/>
            <a:r>
              <a:rPr lang="ko-KR" altLang="en-US" sz="1100" dirty="0" err="1"/>
              <a:t>마이페이지</a:t>
            </a:r>
            <a:r>
              <a:rPr lang="ko-KR" altLang="en-US" sz="1100" dirty="0"/>
              <a:t> </a:t>
            </a:r>
            <a:r>
              <a:rPr lang="en-US" altLang="ko-KR" sz="1100" dirty="0"/>
              <a:t>Controller</a:t>
            </a:r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개인정보수정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IndvInfoMdfcnPage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비밀번호 변경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PswdChgPage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개인신원확인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IndvIdntIdntyPage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업체 소속 사용자 목록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PrcmBzentyUserMngPage.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55423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&lt;&lt;Controller&gt;&gt;</a:t>
            </a:r>
          </a:p>
          <a:p>
            <a:pPr algn="ctr"/>
            <a:r>
              <a:rPr lang="ko-KR" altLang="en-US" sz="1100" dirty="0"/>
              <a:t>업체정보 </a:t>
            </a:r>
            <a:r>
              <a:rPr lang="en-US" altLang="ko-KR" sz="1100" dirty="0"/>
              <a:t>Controller</a:t>
            </a:r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28" idx="1"/>
          </p:cNvCxnSpPr>
          <p:nvPr/>
        </p:nvCxnSpPr>
        <p:spPr>
          <a:xfrm>
            <a:off x="5687291" y="2990174"/>
            <a:ext cx="1226127" cy="70822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3665708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2.3.1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>
                <a:solidFill>
                  <a:schemeClr val="tx1"/>
                </a:solidFill>
              </a:rPr>
              <a:t>(3/3) - </a:t>
            </a:r>
            <a:r>
              <a:rPr lang="ko-KR" altLang="en-US" sz="1200" dirty="0">
                <a:solidFill>
                  <a:schemeClr val="tx1"/>
                </a:solidFill>
              </a:rPr>
              <a:t>개인정보 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상태 변경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PrcmBzentyUserSttsChg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4163022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&lt;&lt;Controller&gt;&gt;</a:t>
            </a:r>
          </a:p>
          <a:p>
            <a:pPr algn="ctr"/>
            <a:r>
              <a:rPr lang="ko-KR" altLang="en-US" sz="1100" dirty="0"/>
              <a:t>개인정보 </a:t>
            </a:r>
            <a:r>
              <a:rPr lang="en-US" altLang="ko-KR" sz="1100" dirty="0"/>
              <a:t>Controller</a:t>
            </a:r>
          </a:p>
        </p:txBody>
      </p: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4" idx="1"/>
          </p:cNvCxnSpPr>
          <p:nvPr/>
        </p:nvCxnSpPr>
        <p:spPr>
          <a:xfrm>
            <a:off x="5687291" y="2990174"/>
            <a:ext cx="1226127" cy="141582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4329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알림서비스신청및해지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NotiSrvcAplyPage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60" name="직선 화살표 연결선 5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58" idx="3"/>
            <a:endCxn id="9" idx="1"/>
          </p:cNvCxnSpPr>
          <p:nvPr/>
        </p:nvCxnSpPr>
        <p:spPr>
          <a:xfrm flipV="1">
            <a:off x="2992582" y="2990174"/>
            <a:ext cx="967509" cy="223982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30665537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19" name="그림 118">
            <a:extLst>
              <a:ext uri="{FF2B5EF4-FFF2-40B4-BE49-F238E27FC236}">
                <a16:creationId xmlns:a16="http://schemas.microsoft.com/office/drawing/2014/main" id="{6EA78311-C2E0-881B-8EBE-A8E77192A99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944" r="4806" b="32893"/>
          <a:stretch/>
        </p:blipFill>
        <p:spPr>
          <a:xfrm>
            <a:off x="856015" y="4368527"/>
            <a:ext cx="2362786" cy="1856909"/>
          </a:xfrm>
          <a:prstGeom prst="rect">
            <a:avLst/>
          </a:prstGeom>
        </p:spPr>
      </p:pic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나의 진행 업무 현황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진행중인 건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나의 업무 이력 현황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완료</a:t>
            </a:r>
            <a:r>
              <a:rPr lang="en-US" altLang="ko-KR" dirty="0"/>
              <a:t>, </a:t>
            </a:r>
            <a:r>
              <a:rPr lang="ko-KR" altLang="en-US" dirty="0"/>
              <a:t>취소</a:t>
            </a:r>
            <a:r>
              <a:rPr lang="en-US" altLang="ko-KR" dirty="0"/>
              <a:t>, </a:t>
            </a:r>
            <a:r>
              <a:rPr lang="ko-KR" altLang="en-US" dirty="0"/>
              <a:t>포기 건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관심</a:t>
            </a:r>
            <a:r>
              <a:rPr lang="en-US" altLang="ko-KR" dirty="0"/>
              <a:t>(stared) </a:t>
            </a:r>
            <a:r>
              <a:rPr lang="ko-KR" altLang="en-US" dirty="0"/>
              <a:t>체크한 입찰 공고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업무 캘린더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즐겨찾기</a:t>
            </a:r>
            <a:r>
              <a:rPr lang="ko-KR" altLang="en-US" dirty="0"/>
              <a:t> 입찰공고</a:t>
            </a:r>
            <a:r>
              <a:rPr lang="en-US" altLang="ko-KR" dirty="0"/>
              <a:t>, </a:t>
            </a:r>
            <a:r>
              <a:rPr lang="ko-KR" altLang="en-US" dirty="0"/>
              <a:t>개인이 작성한 캘린더 내역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캘린더에 노출</a:t>
            </a:r>
            <a:r>
              <a:rPr lang="en-US" altLang="ko-KR" dirty="0"/>
              <a:t>, </a:t>
            </a:r>
            <a:r>
              <a:rPr lang="ko-KR" altLang="en-US" dirty="0"/>
              <a:t>업무가 있는 날짜에 표식 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관심</a:t>
            </a:r>
            <a:r>
              <a:rPr lang="en-US" altLang="ko-KR" dirty="0"/>
              <a:t>(stared) </a:t>
            </a:r>
            <a:r>
              <a:rPr lang="ko-KR" altLang="en-US" dirty="0"/>
              <a:t>체크한 공고 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해당 입찰 공고 이동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개인이 작성한 스케줄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- 6~7 </a:t>
            </a:r>
            <a:r>
              <a:rPr lang="ko-KR" altLang="en-US" dirty="0"/>
              <a:t>항목은 합쳐서 최대 </a:t>
            </a:r>
            <a:r>
              <a:rPr lang="en-US" altLang="ko-KR" dirty="0"/>
              <a:t>3</a:t>
            </a:r>
            <a:r>
              <a:rPr lang="ko-KR" altLang="en-US" dirty="0"/>
              <a:t>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</a:t>
            </a:r>
            <a:r>
              <a:rPr lang="ko-KR" altLang="en-US" dirty="0" err="1"/>
              <a:t>바텀시트로</a:t>
            </a:r>
            <a:r>
              <a:rPr lang="ko-KR" altLang="en-US" dirty="0"/>
              <a:t> 세부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문서함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즐겨찾기한</a:t>
            </a:r>
            <a:r>
              <a:rPr lang="ko-KR" altLang="en-US" dirty="0"/>
              <a:t> </a:t>
            </a:r>
            <a:r>
              <a:rPr lang="ko-KR" altLang="en-US" dirty="0" err="1"/>
              <a:t>관심법령</a:t>
            </a:r>
            <a:r>
              <a:rPr lang="ko-KR" altLang="en-US" dirty="0"/>
              <a:t> 표시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마이페이지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목록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메뉴 구성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MUI-CM-06-M01</a:t>
            </a:r>
            <a:endParaRPr lang="ko-KR" altLang="en-US" sz="1000" dirty="0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마이페이지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2055971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b="1" dirty="0">
                <a:latin typeface="+mn-ea"/>
              </a:rPr>
              <a:t>[A </a:t>
            </a:r>
            <a:r>
              <a:rPr lang="ko-KR" altLang="en-US" sz="800" b="1" dirty="0">
                <a:latin typeface="+mn-ea"/>
              </a:rPr>
              <a:t>업체</a:t>
            </a:r>
            <a:r>
              <a:rPr lang="en-US" altLang="ko-KR" sz="800" b="1" dirty="0">
                <a:latin typeface="+mn-ea"/>
              </a:rPr>
              <a:t>] </a:t>
            </a:r>
            <a:r>
              <a:rPr lang="ko-KR" altLang="en-US" sz="800" b="1" dirty="0">
                <a:latin typeface="+mn-ea"/>
              </a:rPr>
              <a:t>홍길동 님</a:t>
            </a:r>
          </a:p>
        </p:txBody>
      </p:sp>
      <p:sp>
        <p:nvSpPr>
          <p:cNvPr id="43" name="타원 42"/>
          <p:cNvSpPr/>
          <p:nvPr/>
        </p:nvSpPr>
        <p:spPr>
          <a:xfrm>
            <a:off x="3044537" y="1995960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TextBox 2"/>
          <p:cNvSpPr txBox="1"/>
          <p:nvPr/>
        </p:nvSpPr>
        <p:spPr>
          <a:xfrm>
            <a:off x="3002436" y="1977892"/>
            <a:ext cx="282450" cy="2308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900" dirty="0"/>
              <a:t>⚙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45" name="모서리가 둥근 직사각형 44"/>
          <p:cNvSpPr/>
          <p:nvPr/>
        </p:nvSpPr>
        <p:spPr>
          <a:xfrm>
            <a:off x="903581" y="2423118"/>
            <a:ext cx="2255663" cy="1012125"/>
          </a:xfrm>
          <a:prstGeom prst="roundRect">
            <a:avLst>
              <a:gd name="adj" fmla="val 6546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1" name="그룹 20"/>
          <p:cNvGrpSpPr/>
          <p:nvPr/>
        </p:nvGrpSpPr>
        <p:grpSpPr>
          <a:xfrm>
            <a:off x="903581" y="2344367"/>
            <a:ext cx="2255663" cy="306146"/>
            <a:chOff x="903581" y="2074658"/>
            <a:chExt cx="2255663" cy="306146"/>
          </a:xfrm>
        </p:grpSpPr>
        <p:sp>
          <p:nvSpPr>
            <p:cNvPr id="22" name="모서리가 둥근 직사각형 21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나의 진행 업무 현황</a:t>
              </a: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20900" y="2166176"/>
              <a:ext cx="79878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800" b="1" dirty="0">
                  <a:solidFill>
                    <a:srgbClr val="0070C0"/>
                  </a:solidFill>
                  <a:latin typeface="+mn-ea"/>
                </a:rPr>
                <a:t>00</a:t>
              </a:r>
              <a:r>
                <a:rPr lang="en-US" altLang="ko-KR" sz="800" b="1" dirty="0">
                  <a:latin typeface="+mn-ea"/>
                </a:rPr>
                <a:t> </a:t>
              </a:r>
              <a:r>
                <a:rPr lang="ko-KR" altLang="en-US" sz="800" b="1" dirty="0">
                  <a:latin typeface="+mn-ea"/>
                </a:rPr>
                <a:t>건</a:t>
              </a:r>
            </a:p>
          </p:txBody>
        </p:sp>
      </p:grpSp>
      <p:sp>
        <p:nvSpPr>
          <p:cNvPr id="40" name="TextBox 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721050"/>
            <a:ext cx="1731957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입찰참가신청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적격심사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기술평가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 err="1">
                <a:latin typeface="+mn-ea"/>
              </a:rPr>
              <a:t>사양서평가</a:t>
            </a:r>
            <a:endParaRPr lang="ko-KR" altLang="en-US" sz="700" dirty="0">
              <a:latin typeface="+mn-ea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0713" y="2721050"/>
            <a:ext cx="648968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871283" y="2721050"/>
            <a:ext cx="173253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50" name="그룹 49"/>
          <p:cNvGrpSpPr/>
          <p:nvPr/>
        </p:nvGrpSpPr>
        <p:grpSpPr>
          <a:xfrm>
            <a:off x="903581" y="3511341"/>
            <a:ext cx="2255663" cy="306146"/>
            <a:chOff x="903581" y="2074658"/>
            <a:chExt cx="2255663" cy="306146"/>
          </a:xfrm>
        </p:grpSpPr>
        <p:sp>
          <p:nvSpPr>
            <p:cNvPr id="51" name="모서리가 둥근 직사각형 5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나의 업무 이력 현황</a:t>
              </a: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20900" y="2166176"/>
              <a:ext cx="79878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800" b="1" dirty="0">
                  <a:solidFill>
                    <a:srgbClr val="0070C0"/>
                  </a:solidFill>
                  <a:latin typeface="+mn-ea"/>
                </a:rPr>
                <a:t>00</a:t>
              </a:r>
              <a:r>
                <a:rPr lang="en-US" altLang="ko-KR" sz="800" b="1" dirty="0">
                  <a:latin typeface="+mn-ea"/>
                </a:rPr>
                <a:t> </a:t>
              </a:r>
              <a:r>
                <a:rPr lang="ko-KR" altLang="en-US" sz="800" b="1" dirty="0">
                  <a:latin typeface="+mn-ea"/>
                </a:rPr>
                <a:t>건</a:t>
              </a:r>
            </a:p>
          </p:txBody>
        </p:sp>
      </p:grpSp>
      <p:grpSp>
        <p:nvGrpSpPr>
          <p:cNvPr id="55" name="그룹 54"/>
          <p:cNvGrpSpPr/>
          <p:nvPr/>
        </p:nvGrpSpPr>
        <p:grpSpPr>
          <a:xfrm>
            <a:off x="903581" y="3893585"/>
            <a:ext cx="2255663" cy="306146"/>
            <a:chOff x="903581" y="2074658"/>
            <a:chExt cx="2255663" cy="306146"/>
          </a:xfrm>
        </p:grpSpPr>
        <p:sp>
          <p:nvSpPr>
            <p:cNvPr id="56" name="모서리가 둥근 직사각형 5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관심 입찰공고</a:t>
              </a: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20900" y="2166176"/>
              <a:ext cx="79878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800" b="1" dirty="0">
                  <a:solidFill>
                    <a:srgbClr val="0070C0"/>
                  </a:solidFill>
                  <a:latin typeface="+mn-ea"/>
                </a:rPr>
                <a:t>00</a:t>
              </a:r>
              <a:r>
                <a:rPr lang="en-US" altLang="ko-KR" sz="800" b="1" dirty="0">
                  <a:latin typeface="+mn-ea"/>
                </a:rPr>
                <a:t> </a:t>
              </a:r>
              <a:r>
                <a:rPr lang="ko-KR" altLang="en-US" sz="800" b="1" dirty="0">
                  <a:latin typeface="+mn-ea"/>
                </a:rPr>
                <a:t>건</a:t>
              </a:r>
            </a:p>
          </p:txBody>
        </p:sp>
      </p:grp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4292576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업무 캘린더</a:t>
            </a:r>
          </a:p>
        </p:txBody>
      </p:sp>
      <p:sp>
        <p:nvSpPr>
          <p:cNvPr id="62" name="모서리가 둥근 직사각형 61"/>
          <p:cNvSpPr/>
          <p:nvPr/>
        </p:nvSpPr>
        <p:spPr>
          <a:xfrm>
            <a:off x="2737360" y="4273131"/>
            <a:ext cx="419793" cy="162000"/>
          </a:xfrm>
          <a:prstGeom prst="roundRect">
            <a:avLst>
              <a:gd name="adj" fmla="val 23409"/>
            </a:avLst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 dirty="0" err="1">
                <a:solidFill>
                  <a:schemeClr val="tx1"/>
                </a:solidFill>
              </a:rPr>
              <a:t>더보기</a:t>
            </a:r>
            <a:r>
              <a:rPr lang="ko-KR" altLang="en-US" sz="600" b="1" dirty="0">
                <a:solidFill>
                  <a:schemeClr val="tx1"/>
                </a:solidFill>
              </a:rPr>
              <a:t> </a:t>
            </a:r>
            <a:r>
              <a:rPr lang="en-US" altLang="ko-KR" sz="600" b="1" dirty="0">
                <a:solidFill>
                  <a:schemeClr val="tx1"/>
                </a:solidFill>
              </a:rPr>
              <a:t>&gt;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마이페이지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67" name="직선 연결선 6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8" name="그룹 67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69" name="직선 연결선 6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0" name="직선 연결선 6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1" name="타원 70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TextBox 71"/>
          <p:cNvSpPr txBox="1"/>
          <p:nvPr/>
        </p:nvSpPr>
        <p:spPr>
          <a:xfrm>
            <a:off x="6108450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grpSp>
        <p:nvGrpSpPr>
          <p:cNvPr id="73" name="그룹 72"/>
          <p:cNvGrpSpPr/>
          <p:nvPr/>
        </p:nvGrpSpPr>
        <p:grpSpPr>
          <a:xfrm>
            <a:off x="4018745" y="5462173"/>
            <a:ext cx="2255663" cy="306146"/>
            <a:chOff x="903581" y="2074658"/>
            <a:chExt cx="2255663" cy="306146"/>
          </a:xfrm>
        </p:grpSpPr>
        <p:sp>
          <p:nvSpPr>
            <p:cNvPr id="74" name="모서리가 둥근 직사각형 73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관심 법령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20900" y="2166176"/>
              <a:ext cx="79878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800" b="1" dirty="0">
                  <a:solidFill>
                    <a:srgbClr val="0070C0"/>
                  </a:solidFill>
                  <a:latin typeface="+mn-ea"/>
                </a:rPr>
                <a:t>00</a:t>
              </a:r>
              <a:r>
                <a:rPr lang="en-US" altLang="ko-KR" sz="800" b="1" dirty="0">
                  <a:latin typeface="+mn-ea"/>
                </a:rPr>
                <a:t> </a:t>
              </a:r>
              <a:r>
                <a:rPr lang="ko-KR" altLang="en-US" sz="800" b="1" dirty="0">
                  <a:latin typeface="+mn-ea"/>
                </a:rPr>
                <a:t>건</a:t>
              </a:r>
            </a:p>
          </p:txBody>
        </p:sp>
      </p:grpSp>
      <p:sp>
        <p:nvSpPr>
          <p:cNvPr id="78" name="모서리가 둥근 직사각형 77"/>
          <p:cNvSpPr/>
          <p:nvPr/>
        </p:nvSpPr>
        <p:spPr>
          <a:xfrm>
            <a:off x="4018745" y="2551301"/>
            <a:ext cx="2255663" cy="467755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0219" y="2795777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 err="1">
                <a:latin typeface="+mn-ea"/>
              </a:rPr>
              <a:t>즐겨찾기</a:t>
            </a:r>
            <a:r>
              <a:rPr lang="en-US" altLang="ko-KR" sz="800" b="1" dirty="0">
                <a:latin typeface="+mn-ea"/>
              </a:rPr>
              <a:t>(</a:t>
            </a:r>
            <a:r>
              <a:rPr lang="ko-KR" altLang="en-US" sz="800" b="1" dirty="0">
                <a:latin typeface="+mn-ea"/>
              </a:rPr>
              <a:t>찜</a:t>
            </a:r>
            <a:r>
              <a:rPr lang="en-US" altLang="ko-KR" sz="800" b="1" dirty="0">
                <a:latin typeface="+mn-ea"/>
              </a:rPr>
              <a:t>)</a:t>
            </a:r>
            <a:r>
              <a:rPr lang="ko-KR" altLang="en-US" sz="800" b="1" dirty="0">
                <a:latin typeface="+mn-ea"/>
              </a:rPr>
              <a:t>한 입찰공고 표시</a:t>
            </a: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68074" y="2647574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공고번호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000 00 0000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83" name="직선 연결선 8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40825" y="417277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4" name="모서리가 둥근 직사각형 83"/>
          <p:cNvSpPr/>
          <p:nvPr/>
        </p:nvSpPr>
        <p:spPr>
          <a:xfrm>
            <a:off x="4150219" y="2642109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791689" y="2731317"/>
            <a:ext cx="36801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sp>
        <p:nvSpPr>
          <p:cNvPr id="90" name="모서리가 둥근 직사각형 89"/>
          <p:cNvSpPr/>
          <p:nvPr/>
        </p:nvSpPr>
        <p:spPr>
          <a:xfrm>
            <a:off x="4018745" y="3060026"/>
            <a:ext cx="2255663" cy="467755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0219" y="3304502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입찰공고명이 표시됩니다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68074" y="3156299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공고번호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000 00 0000</a:t>
            </a:r>
            <a:endParaRPr lang="ko-KR" altLang="en-US" sz="700" dirty="0">
              <a:latin typeface="+mn-ea"/>
            </a:endParaRPr>
          </a:p>
        </p:txBody>
      </p:sp>
      <p:sp>
        <p:nvSpPr>
          <p:cNvPr id="93" name="모서리가 둥근 직사각형 92"/>
          <p:cNvSpPr/>
          <p:nvPr/>
        </p:nvSpPr>
        <p:spPr>
          <a:xfrm>
            <a:off x="4150219" y="3150834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공사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791689" y="3240042"/>
            <a:ext cx="36801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sp>
        <p:nvSpPr>
          <p:cNvPr id="95" name="모서리가 둥근 직사각형 94"/>
          <p:cNvSpPr/>
          <p:nvPr/>
        </p:nvSpPr>
        <p:spPr>
          <a:xfrm>
            <a:off x="4018745" y="3568751"/>
            <a:ext cx="2255663" cy="467755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0219" y="3813227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작성한 스케줄이 있는 경우 </a:t>
            </a:r>
            <a:r>
              <a:rPr lang="ko-KR" altLang="en-US" sz="800" b="1" dirty="0" err="1">
                <a:latin typeface="+mn-ea"/>
              </a:rPr>
              <a:t>표시됩</a:t>
            </a:r>
            <a:r>
              <a:rPr lang="en-US" altLang="ko-KR" sz="800" b="1" dirty="0">
                <a:latin typeface="+mn-ea"/>
              </a:rPr>
              <a:t>…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68074" y="3665024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-</a:t>
            </a:r>
            <a:endParaRPr lang="ko-KR" altLang="en-US" sz="700" dirty="0">
              <a:latin typeface="+mn-ea"/>
            </a:endParaRPr>
          </a:p>
        </p:txBody>
      </p:sp>
      <p:sp>
        <p:nvSpPr>
          <p:cNvPr id="98" name="모서리가 둥근 직사각형 97"/>
          <p:cNvSpPr/>
          <p:nvPr/>
        </p:nvSpPr>
        <p:spPr>
          <a:xfrm>
            <a:off x="4150219" y="3659559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개인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791689" y="3748767"/>
            <a:ext cx="36801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01" name="모서리가 둥근 직사각형 100"/>
          <p:cNvSpPr/>
          <p:nvPr/>
        </p:nvSpPr>
        <p:spPr>
          <a:xfrm>
            <a:off x="4018745" y="4379511"/>
            <a:ext cx="2255663" cy="1012125"/>
          </a:xfrm>
          <a:prstGeom prst="roundRect">
            <a:avLst>
              <a:gd name="adj" fmla="val 6546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2" name="그룹 101"/>
          <p:cNvGrpSpPr/>
          <p:nvPr/>
        </p:nvGrpSpPr>
        <p:grpSpPr>
          <a:xfrm>
            <a:off x="4018745" y="4300760"/>
            <a:ext cx="2255663" cy="306146"/>
            <a:chOff x="903581" y="2074658"/>
            <a:chExt cx="2255663" cy="306146"/>
          </a:xfrm>
        </p:grpSpPr>
        <p:sp>
          <p:nvSpPr>
            <p:cNvPr id="103" name="모서리가 둥근 직사각형 102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문서함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20900" y="2166176"/>
              <a:ext cx="79878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800" b="1" dirty="0">
                  <a:solidFill>
                    <a:srgbClr val="0070C0"/>
                  </a:solidFill>
                  <a:latin typeface="+mn-ea"/>
                </a:rPr>
                <a:t>00</a:t>
              </a:r>
              <a:r>
                <a:rPr lang="en-US" altLang="ko-KR" sz="800" b="1" dirty="0">
                  <a:latin typeface="+mn-ea"/>
                </a:rPr>
                <a:t> </a:t>
              </a:r>
              <a:r>
                <a:rPr lang="ko-KR" altLang="en-US" sz="800" b="1" dirty="0">
                  <a:latin typeface="+mn-ea"/>
                </a:rPr>
                <a:t>건</a:t>
              </a:r>
            </a:p>
          </p:txBody>
        </p:sp>
      </p:grpSp>
      <p:sp>
        <p:nvSpPr>
          <p:cNvPr id="107" name="TextBox 10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0219" y="4677443"/>
            <a:ext cx="1731957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받은 문서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보낸 문서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반려 문서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 err="1">
                <a:latin typeface="+mn-ea"/>
              </a:rPr>
              <a:t>임시저장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85877" y="4677443"/>
            <a:ext cx="648968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986447" y="4677443"/>
            <a:ext cx="173253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sp>
        <p:nvSpPr>
          <p:cNvPr id="110" name="타원 10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57834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11" name="타원 11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96618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12" name="타원 11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28246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113" name="타원 11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08654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114" name="타원 11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3013" y="29582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  <p:sp>
        <p:nvSpPr>
          <p:cNvPr id="115" name="타원 11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3013" y="37357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7</a:t>
            </a:r>
            <a:endParaRPr lang="ko-KR" altLang="en-US" sz="900" b="1" dirty="0"/>
          </a:p>
        </p:txBody>
      </p:sp>
      <p:sp>
        <p:nvSpPr>
          <p:cNvPr id="116" name="타원 11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3013" y="439215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8</a:t>
            </a:r>
            <a:endParaRPr lang="ko-KR" altLang="en-US" sz="900" b="1" dirty="0"/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3013" y="556628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9</a:t>
            </a:r>
            <a:endParaRPr lang="ko-KR" altLang="en-US" sz="900" b="1" dirty="0"/>
          </a:p>
        </p:txBody>
      </p:sp>
      <p:pic>
        <p:nvPicPr>
          <p:cNvPr id="120" name="그림 119">
            <a:extLst>
              <a:ext uri="{FF2B5EF4-FFF2-40B4-BE49-F238E27FC236}">
                <a16:creationId xmlns:a16="http://schemas.microsoft.com/office/drawing/2014/main" id="{6EA78311-C2E0-881B-8EBE-A8E77192A99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944" t="75623" r="4806" b="2422"/>
          <a:stretch/>
        </p:blipFill>
        <p:spPr>
          <a:xfrm>
            <a:off x="3964017" y="1859484"/>
            <a:ext cx="2362786" cy="607512"/>
          </a:xfrm>
          <a:prstGeom prst="rect">
            <a:avLst/>
          </a:prstGeom>
        </p:spPr>
      </p:pic>
      <p:grpSp>
        <p:nvGrpSpPr>
          <p:cNvPr id="118" name="그룹 117"/>
          <p:cNvGrpSpPr/>
          <p:nvPr/>
        </p:nvGrpSpPr>
        <p:grpSpPr>
          <a:xfrm>
            <a:off x="4018745" y="5841212"/>
            <a:ext cx="2255663" cy="306146"/>
            <a:chOff x="903581" y="2074658"/>
            <a:chExt cx="2255663" cy="306146"/>
          </a:xfrm>
        </p:grpSpPr>
        <p:sp>
          <p:nvSpPr>
            <p:cNvPr id="121" name="모서리가 둥근 직사각형 12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나의 게시물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938529228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각 </a:t>
            </a:r>
            <a:r>
              <a:rPr lang="ko-KR" altLang="en-US" dirty="0" err="1"/>
              <a:t>바로가기</a:t>
            </a:r>
            <a:r>
              <a:rPr lang="ko-KR" altLang="en-US" dirty="0"/>
              <a:t> 버튼 표시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마이페이지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목록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메뉴 구성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MUI-CM-06-M01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마이페이지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grpSp>
        <p:nvGrpSpPr>
          <p:cNvPr id="50" name="그룹 49"/>
          <p:cNvGrpSpPr/>
          <p:nvPr/>
        </p:nvGrpSpPr>
        <p:grpSpPr>
          <a:xfrm>
            <a:off x="903581" y="2008979"/>
            <a:ext cx="2255663" cy="306146"/>
            <a:chOff x="903581" y="2074658"/>
            <a:chExt cx="2255663" cy="306146"/>
          </a:xfrm>
        </p:grpSpPr>
        <p:sp>
          <p:nvSpPr>
            <p:cNvPr id="51" name="모서리가 둥근 직사각형 5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업체 정보관리</a:t>
              </a:r>
            </a:p>
          </p:txBody>
        </p:sp>
      </p:grpSp>
      <p:grpSp>
        <p:nvGrpSpPr>
          <p:cNvPr id="55" name="그룹 54"/>
          <p:cNvGrpSpPr/>
          <p:nvPr/>
        </p:nvGrpSpPr>
        <p:grpSpPr>
          <a:xfrm>
            <a:off x="903581" y="2391223"/>
            <a:ext cx="2255663" cy="306146"/>
            <a:chOff x="903581" y="2074658"/>
            <a:chExt cx="2255663" cy="306146"/>
          </a:xfrm>
        </p:grpSpPr>
        <p:sp>
          <p:nvSpPr>
            <p:cNvPr id="56" name="모서리가 둥근 직사각형 5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사용자 정보관리</a:t>
              </a:r>
            </a:p>
          </p:txBody>
        </p:sp>
      </p:grpSp>
      <p:grpSp>
        <p:nvGrpSpPr>
          <p:cNvPr id="110" name="그룹 109"/>
          <p:cNvGrpSpPr/>
          <p:nvPr/>
        </p:nvGrpSpPr>
        <p:grpSpPr>
          <a:xfrm>
            <a:off x="903581" y="2771499"/>
            <a:ext cx="2255663" cy="306146"/>
            <a:chOff x="903581" y="2074658"/>
            <a:chExt cx="2255663" cy="306146"/>
          </a:xfrm>
        </p:grpSpPr>
        <p:sp>
          <p:nvSpPr>
            <p:cNvPr id="111" name="모서리가 둥근 직사각형 11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디지털 캐비닛</a:t>
              </a:r>
            </a:p>
          </p:txBody>
        </p:sp>
      </p:grpSp>
      <p:grpSp>
        <p:nvGrpSpPr>
          <p:cNvPr id="115" name="그룹 114"/>
          <p:cNvGrpSpPr/>
          <p:nvPr/>
        </p:nvGrpSpPr>
        <p:grpSpPr>
          <a:xfrm>
            <a:off x="903581" y="3156791"/>
            <a:ext cx="2255663" cy="306146"/>
            <a:chOff x="903581" y="2074658"/>
            <a:chExt cx="2255663" cy="306146"/>
          </a:xfrm>
        </p:grpSpPr>
        <p:sp>
          <p:nvSpPr>
            <p:cNvPr id="116" name="모서리가 둥근 직사각형 11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알림 서비스 신청 및 해지</a:t>
              </a:r>
            </a:p>
          </p:txBody>
        </p:sp>
      </p:grpSp>
      <p:grpSp>
        <p:nvGrpSpPr>
          <p:cNvPr id="120" name="그룹 119"/>
          <p:cNvGrpSpPr/>
          <p:nvPr/>
        </p:nvGrpSpPr>
        <p:grpSpPr>
          <a:xfrm>
            <a:off x="903581" y="3545427"/>
            <a:ext cx="2255663" cy="306146"/>
            <a:chOff x="903581" y="2074658"/>
            <a:chExt cx="2255663" cy="306146"/>
          </a:xfrm>
        </p:grpSpPr>
        <p:sp>
          <p:nvSpPr>
            <p:cNvPr id="121" name="모서리가 둥근 직사각형 12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회원탈퇴</a:t>
              </a:r>
            </a:p>
          </p:txBody>
        </p:sp>
      </p:grp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250785105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69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19507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위젯관리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1530297"/>
            <a:ext cx="217424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위젯관리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dl_wdgtList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14316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userId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7590978"/>
              </p:ext>
            </p:extLst>
          </p:nvPr>
        </p:nvGraphicFramePr>
        <p:xfrm>
          <a:off x="452999" y="1814051"/>
          <a:ext cx="8994883" cy="1867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위젯명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위젯명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나의업무진행현황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나의게시물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관심공고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업무캘린더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나의문서함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알림현황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관심법령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나의업무진행현황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wdgtMyTaskPrgrsPrst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나의업무진행현황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423934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나의게시물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wdgtMyPst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나의게시물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181198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관심공고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wdgtItrstPbanc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관심공고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758752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업무캘린더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wdgtTaskCldr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업무캘린더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78170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나의문서함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wdgtMyDocBox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나의문서함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51875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알림현황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wdgtNotiPrst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알림현황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777582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관심법령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wdgtItrstStt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관심법령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8329713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2999" y="400548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8027433"/>
              </p:ext>
            </p:extLst>
          </p:nvPr>
        </p:nvGraphicFramePr>
        <p:xfrm>
          <a:off x="453000" y="4200291"/>
          <a:ext cx="8995591" cy="1069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39698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5219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사용자가 정의한 위젯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/>
                        <a:t>항목 클릭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scwin.showMore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 위젯 정보의 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dirty="0"/>
                        <a:t>UI-CM-06-M02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dirty="0"/>
                        <a:t>UI-CM-06-M03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dirty="0"/>
                        <a:t>UI-CM-06-M04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dirty="0"/>
                        <a:t>UI-CM-06-M05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dirty="0"/>
                        <a:t>UI-CM-06-M06 </a:t>
                      </a:r>
                      <a:r>
                        <a:rPr lang="ko-KR" altLang="en-US" sz="800" dirty="0"/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7293962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FFAC1962-C944-E2B4-5DF0-0324665AB3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077707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A57D18B0-B117-96B9-3853-C02FAA96F96F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A8E0EA43-D1BD-0BAA-E3BC-D7F36797F54E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D35F1B0E-0FD5-E54A-A8DB-6022A7B6F1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0131528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진행중인 업무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진행단계</a:t>
            </a:r>
            <a:r>
              <a:rPr lang="ko-KR" altLang="en-US" dirty="0"/>
              <a:t> 보기 버튼</a:t>
            </a:r>
            <a:r>
              <a:rPr lang="en-US" altLang="ko-KR" dirty="0"/>
              <a:t>, </a:t>
            </a:r>
            <a:r>
              <a:rPr lang="ko-KR" altLang="en-US" dirty="0"/>
              <a:t>공고 </a:t>
            </a:r>
            <a:r>
              <a:rPr lang="ko-KR" altLang="en-US" dirty="0" err="1"/>
              <a:t>바로가기</a:t>
            </a:r>
            <a:r>
              <a:rPr lang="ko-KR" altLang="en-US" dirty="0"/>
              <a:t> 버튼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진행단계</a:t>
            </a:r>
            <a:r>
              <a:rPr lang="ko-KR" altLang="en-US" dirty="0"/>
              <a:t>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팝업 호출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나의진행업무현황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나의진행업무현황</a:t>
            </a:r>
            <a:r>
              <a:rPr lang="ko-KR" altLang="en-US" dirty="0">
                <a:latin typeface="+mn-ea"/>
              </a:rPr>
              <a:t>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나의진행업무현황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MUI-CM-06-M02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나의 진행 업무 현황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727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5" y="1909786"/>
            <a:ext cx="42578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검색필터</a:t>
            </a:r>
            <a:endParaRPr lang="ko-KR" altLang="en-US" sz="700" dirty="0">
              <a:latin typeface="+mn-ea"/>
            </a:endParaRPr>
          </a:p>
        </p:txBody>
      </p:sp>
      <p:sp>
        <p:nvSpPr>
          <p:cNvPr id="40" name="타원 39"/>
          <p:cNvSpPr/>
          <p:nvPr/>
        </p:nvSpPr>
        <p:spPr>
          <a:xfrm>
            <a:off x="783686" y="194113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49" name="그룹 48"/>
          <p:cNvGrpSpPr/>
          <p:nvPr/>
        </p:nvGrpSpPr>
        <p:grpSpPr>
          <a:xfrm>
            <a:off x="781461" y="2395645"/>
            <a:ext cx="2473257" cy="665237"/>
            <a:chOff x="781461" y="2610063"/>
            <a:chExt cx="2473257" cy="665237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판단번호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6000A</a:t>
              </a:r>
            </a:p>
            <a:p>
              <a:r>
                <a:rPr lang="en-US" altLang="ko-KR" sz="900" b="1" dirty="0"/>
                <a:t>‘26</a:t>
              </a:r>
              <a:r>
                <a:rPr lang="ko-KR" altLang="en-US" sz="900" b="1" dirty="0"/>
                <a:t>년 </a:t>
              </a:r>
              <a:r>
                <a:rPr lang="en-US" altLang="ko-KR" sz="900" b="1" dirty="0"/>
                <a:t>K5</a:t>
              </a:r>
              <a:r>
                <a:rPr lang="ko-KR" altLang="en-US" sz="900" b="1" dirty="0"/>
                <a:t>방독면</a:t>
              </a:r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1206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신청일시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25771" y="3139237"/>
              <a:ext cx="609141" cy="1206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2026-03-30 16:30</a:t>
              </a:r>
            </a:p>
          </p:txBody>
        </p:sp>
        <p:sp>
          <p:nvSpPr>
            <p:cNvPr id="61" name="모서리가 둥근 직사각형 60"/>
            <p:cNvSpPr/>
            <p:nvPr/>
          </p:nvSpPr>
          <p:spPr>
            <a:xfrm>
              <a:off x="781461" y="2610063"/>
              <a:ext cx="54965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latin typeface="+mn-ea"/>
                </a:rPr>
                <a:t>입찰참가신청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137923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79" name="모서리가 둥근 직사각형 78"/>
            <p:cNvSpPr/>
            <p:nvPr/>
          </p:nvSpPr>
          <p:spPr>
            <a:xfrm>
              <a:off x="1673425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수의계약</a:t>
              </a: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66041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67" name="그룹 66"/>
          <p:cNvGrpSpPr/>
          <p:nvPr/>
        </p:nvGrpSpPr>
        <p:grpSpPr>
          <a:xfrm>
            <a:off x="778515" y="3638607"/>
            <a:ext cx="2476203" cy="665237"/>
            <a:chOff x="778515" y="2610063"/>
            <a:chExt cx="2476203" cy="665237"/>
          </a:xfrm>
        </p:grpSpPr>
        <p:sp>
          <p:nvSpPr>
            <p:cNvPr id="6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판단번호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2026-00590</a:t>
              </a:r>
            </a:p>
            <a:p>
              <a:r>
                <a:rPr lang="en-US" altLang="ko-KR" sz="900" b="1" dirty="0"/>
                <a:t>26-</a:t>
              </a:r>
              <a:r>
                <a:rPr lang="ko-KR" altLang="en-US" sz="900" b="1" dirty="0"/>
                <a:t>평 절개지 복구공사</a:t>
              </a:r>
            </a:p>
          </p:txBody>
        </p:sp>
        <p:sp>
          <p:nvSpPr>
            <p:cNvPr id="6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1206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신청일시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460048" y="3139237"/>
              <a:ext cx="609141" cy="1206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2026-03-15 11:30</a:t>
              </a:r>
            </a:p>
          </p:txBody>
        </p:sp>
        <p:sp>
          <p:nvSpPr>
            <p:cNvPr id="71" name="모서리가 둥근 직사각형 70"/>
            <p:cNvSpPr/>
            <p:nvPr/>
          </p:nvSpPr>
          <p:spPr>
            <a:xfrm>
              <a:off x="778515" y="2610063"/>
              <a:ext cx="41211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latin typeface="+mn-ea"/>
                </a:rPr>
                <a:t>적격심사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80" name="모서리가 둥근 직사각형 79"/>
            <p:cNvSpPr/>
            <p:nvPr/>
          </p:nvSpPr>
          <p:spPr>
            <a:xfrm>
              <a:off x="1248687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공사</a:t>
              </a:r>
            </a:p>
          </p:txBody>
        </p:sp>
        <p:sp>
          <p:nvSpPr>
            <p:cNvPr id="81" name="모서리가 둥근 직사각형 80"/>
            <p:cNvSpPr/>
            <p:nvPr/>
          </p:nvSpPr>
          <p:spPr>
            <a:xfrm>
              <a:off x="1545827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제한경쟁</a:t>
              </a:r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52008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5" name="그룹 84"/>
          <p:cNvGrpSpPr/>
          <p:nvPr/>
        </p:nvGrpSpPr>
        <p:grpSpPr>
          <a:xfrm>
            <a:off x="6255425" y="1650089"/>
            <a:ext cx="94010" cy="94010"/>
            <a:chOff x="6812560" y="3297172"/>
            <a:chExt cx="94010" cy="94010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8" name="타원 87"/>
          <p:cNvSpPr/>
          <p:nvPr/>
        </p:nvSpPr>
        <p:spPr>
          <a:xfrm>
            <a:off x="5890147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5563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4505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grpSp>
        <p:nvGrpSpPr>
          <p:cNvPr id="91" name="그룹 90"/>
          <p:cNvGrpSpPr/>
          <p:nvPr/>
        </p:nvGrpSpPr>
        <p:grpSpPr>
          <a:xfrm>
            <a:off x="3792447" y="3188066"/>
            <a:ext cx="2712027" cy="1276847"/>
            <a:chOff x="675399" y="1921801"/>
            <a:chExt cx="2712027" cy="1276847"/>
          </a:xfrm>
        </p:grpSpPr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199593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err="1">
                  <a:latin typeface="+mn-ea"/>
                </a:rPr>
                <a:t>업무구분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41620" y="2226095"/>
              <a:ext cx="2305144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용역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94" name="직사각형 93"/>
            <p:cNvSpPr/>
            <p:nvPr/>
          </p:nvSpPr>
          <p:spPr>
            <a:xfrm>
              <a:off x="772169" y="2292407"/>
              <a:ext cx="107950" cy="107950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5" name="직사각형 94"/>
            <p:cNvSpPr/>
            <p:nvPr/>
          </p:nvSpPr>
          <p:spPr>
            <a:xfrm>
              <a:off x="772169" y="2509633"/>
              <a:ext cx="107950" cy="107950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6" name="그룹 95"/>
            <p:cNvGrpSpPr/>
            <p:nvPr/>
          </p:nvGrpSpPr>
          <p:grpSpPr>
            <a:xfrm flipV="1">
              <a:off x="3140949" y="2093627"/>
              <a:ext cx="91438" cy="45719"/>
              <a:chOff x="6812560" y="3297172"/>
              <a:chExt cx="94010" cy="47005"/>
            </a:xfrm>
          </p:grpSpPr>
          <p:cxnSp>
            <p:nvCxnSpPr>
              <p:cNvPr id="104" name="직선 연결선 10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5" name="직선 연결선 10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직사각형 96"/>
            <p:cNvSpPr/>
            <p:nvPr/>
          </p:nvSpPr>
          <p:spPr>
            <a:xfrm>
              <a:off x="772169" y="2706723"/>
              <a:ext cx="107950" cy="107950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8" name="직사각형 97"/>
            <p:cNvSpPr/>
            <p:nvPr/>
          </p:nvSpPr>
          <p:spPr>
            <a:xfrm>
              <a:off x="772169" y="2921384"/>
              <a:ext cx="107950" cy="107950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1" name="TextBox 100"/>
            <p:cNvSpPr txBox="1"/>
            <p:nvPr/>
          </p:nvSpPr>
          <p:spPr>
            <a:xfrm>
              <a:off x="712771" y="2471275"/>
              <a:ext cx="221536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v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3198648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92180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06" name="그룹 105"/>
          <p:cNvGrpSpPr/>
          <p:nvPr/>
        </p:nvGrpSpPr>
        <p:grpSpPr>
          <a:xfrm>
            <a:off x="3792447" y="4523448"/>
            <a:ext cx="2712027" cy="797589"/>
            <a:chOff x="675399" y="3490553"/>
            <a:chExt cx="2712027" cy="797589"/>
          </a:xfrm>
        </p:grpSpPr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490553"/>
              <a:ext cx="230514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기간 설정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713091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검색 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빠른 설정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 flipV="1">
              <a:off x="3140949" y="3588243"/>
              <a:ext cx="91438" cy="45719"/>
              <a:chOff x="6812560" y="3297172"/>
              <a:chExt cx="94010" cy="47005"/>
            </a:xfrm>
          </p:grpSpPr>
          <p:cxnSp>
            <p:nvCxnSpPr>
              <p:cNvPr id="137" name="직선 연결선 13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25" name="그룹 124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1464781" y="3740722"/>
              <a:ext cx="859319" cy="188244"/>
              <a:chOff x="5613534" y="2854836"/>
              <a:chExt cx="804671" cy="188244"/>
            </a:xfrm>
          </p:grpSpPr>
          <p:sp>
            <p:nvSpPr>
              <p:cNvPr id="135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2025-12-15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36" name="그림 135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sp>
          <p:nvSpPr>
            <p:cNvPr id="126" name="TextBox 91">
              <a:extLst>
                <a:ext uri="{FF2B5EF4-FFF2-40B4-BE49-F238E27FC236}">
                  <a16:creationId xmlns:a16="http://schemas.microsoft.com/office/drawing/2014/main" id="{02490888-B81F-0F94-5D5F-078AEEB39DDB}"/>
                </a:ext>
              </a:extLst>
            </p:cNvPr>
            <p:cNvSpPr txBox="1"/>
            <p:nvPr/>
          </p:nvSpPr>
          <p:spPr>
            <a:xfrm>
              <a:off x="2347279" y="3760669"/>
              <a:ext cx="80150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 dirty="0">
                  <a:solidFill>
                    <a:prstClr val="black"/>
                  </a:solidFill>
                  <a:cs typeface="Pretendard Medium" panose="02000603000000020004" pitchFamily="50" charset="-127"/>
                </a:rPr>
                <a:t>~</a:t>
              </a:r>
              <a:endParaRPr lang="ko-KR" altLang="en-US" sz="900" dirty="0">
                <a:solidFill>
                  <a:prstClr val="black"/>
                </a:solidFill>
                <a:cs typeface="Pretendard Medium" panose="02000603000000020004" pitchFamily="50" charset="-127"/>
              </a:endParaRPr>
            </a:p>
          </p:txBody>
        </p:sp>
        <p:grpSp>
          <p:nvGrpSpPr>
            <p:cNvPr id="127" name="그룹 126"/>
            <p:cNvGrpSpPr/>
            <p:nvPr/>
          </p:nvGrpSpPr>
          <p:grpSpPr>
            <a:xfrm>
              <a:off x="1464781" y="3971391"/>
              <a:ext cx="1845146" cy="188135"/>
              <a:chOff x="1430277" y="4057651"/>
              <a:chExt cx="1845146" cy="188135"/>
            </a:xfrm>
          </p:grpSpPr>
          <p:sp>
            <p:nvSpPr>
              <p:cNvPr id="132" name="사각형: 둥근 모서리 169">
                <a:extLst>
                  <a:ext uri="{FF2B5EF4-FFF2-40B4-BE49-F238E27FC236}">
                    <a16:creationId xmlns:a16="http://schemas.microsoft.com/office/drawing/2014/main" id="{A28DD831-0E4B-31EE-CB08-9E188754698D}"/>
                  </a:ext>
                </a:extLst>
              </p:cNvPr>
              <p:cNvSpPr/>
              <p:nvPr/>
            </p:nvSpPr>
            <p:spPr>
              <a:xfrm>
                <a:off x="1430277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최근 </a:t>
                </a:r>
                <a:r>
                  <a:rPr kumimoji="1" lang="en-US" altLang="ko-KR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개월</a:t>
                </a:r>
                <a:endParaRPr kumimoji="1" 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3" name="사각형: 둥근 모서리 171">
                <a:extLst>
                  <a:ext uri="{FF2B5EF4-FFF2-40B4-BE49-F238E27FC236}">
                    <a16:creationId xmlns:a16="http://schemas.microsoft.com/office/drawing/2014/main" id="{75BECEC6-4045-95B1-98C2-242CA0FC5A06}"/>
                  </a:ext>
                </a:extLst>
              </p:cNvPr>
              <p:cNvSpPr/>
              <p:nvPr/>
            </p:nvSpPr>
            <p:spPr>
              <a:xfrm>
                <a:off x="2061841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latin typeface="+mn-ea"/>
                  </a:rPr>
                  <a:t>최근 </a:t>
                </a:r>
                <a:r>
                  <a:rPr kumimoji="1" lang="en-US" altLang="ko-KR" sz="700" kern="0" dirty="0">
                    <a:latin typeface="+mn-ea"/>
                  </a:rPr>
                  <a:t>3</a:t>
                </a:r>
                <a:r>
                  <a:rPr kumimoji="1" lang="ko-KR" altLang="en-US" sz="700" kern="0" dirty="0">
                    <a:latin typeface="+mn-ea"/>
                  </a:rPr>
                  <a:t>개월</a:t>
                </a:r>
                <a:endParaRPr kumimoji="1" lang="en-US" altLang="ko-KR" sz="700" kern="0" dirty="0">
                  <a:latin typeface="+mn-ea"/>
                </a:endParaRPr>
              </a:p>
            </p:txBody>
          </p:sp>
          <p:sp>
            <p:nvSpPr>
              <p:cNvPr id="134" name="사각형: 둥근 모서리 172">
                <a:extLst>
                  <a:ext uri="{FF2B5EF4-FFF2-40B4-BE49-F238E27FC236}">
                    <a16:creationId xmlns:a16="http://schemas.microsoft.com/office/drawing/2014/main" id="{7F182F00-C81F-5F02-6A1E-826222B231A9}"/>
                  </a:ext>
                </a:extLst>
              </p:cNvPr>
              <p:cNvSpPr/>
              <p:nvPr/>
            </p:nvSpPr>
            <p:spPr>
              <a:xfrm>
                <a:off x="2693406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최근 </a:t>
                </a:r>
                <a:r>
                  <a:rPr kumimoji="1" lang="en-US" altLang="ko-KR" sz="700" kern="0" dirty="0">
                    <a:solidFill>
                      <a:prstClr val="black"/>
                    </a:solidFill>
                    <a:latin typeface="+mn-ea"/>
                  </a:rPr>
                  <a:t>6</a:t>
                </a: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개월</a:t>
                </a:r>
                <a:endParaRPr kumimoji="1" lang="en-US" altLang="ko-KR" sz="7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2450608" y="3740722"/>
              <a:ext cx="859319" cy="188244"/>
              <a:chOff x="5613534" y="2854836"/>
              <a:chExt cx="804671" cy="188244"/>
            </a:xfrm>
          </p:grpSpPr>
          <p:sp>
            <p:nvSpPr>
              <p:cNvPr id="130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2026-01-15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31" name="그림 130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28814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9" name="그룹 138"/>
          <p:cNvGrpSpPr/>
          <p:nvPr/>
        </p:nvGrpSpPr>
        <p:grpSpPr>
          <a:xfrm>
            <a:off x="3917509" y="1977748"/>
            <a:ext cx="2468249" cy="1105599"/>
            <a:chOff x="3898850" y="4660546"/>
            <a:chExt cx="2468249" cy="1105599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660546"/>
              <a:ext cx="230514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진행 단계 구분</a:t>
              </a: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6261284" y="4758236"/>
              <a:ext cx="91438" cy="45719"/>
              <a:chOff x="6812560" y="3297172"/>
              <a:chExt cx="94010" cy="47005"/>
            </a:xfrm>
          </p:grpSpPr>
          <p:cxnSp>
            <p:nvCxnSpPr>
              <p:cNvPr id="146" name="직선 연결선 14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7" name="직선 연결선 14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61955" y="4904371"/>
              <a:ext cx="2305144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입찰참가신청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적격심사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기술평가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사양서평가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48" name="직사각형 147"/>
          <p:cNvSpPr/>
          <p:nvPr/>
        </p:nvSpPr>
        <p:spPr>
          <a:xfrm>
            <a:off x="3890269" y="2302805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직사각형 148"/>
          <p:cNvSpPr/>
          <p:nvPr/>
        </p:nvSpPr>
        <p:spPr>
          <a:xfrm>
            <a:off x="3890269" y="2717121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직사각형 149"/>
          <p:cNvSpPr/>
          <p:nvPr/>
        </p:nvSpPr>
        <p:spPr>
          <a:xfrm>
            <a:off x="3890269" y="2931782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직사각형 151"/>
          <p:cNvSpPr/>
          <p:nvPr/>
        </p:nvSpPr>
        <p:spPr>
          <a:xfrm>
            <a:off x="3890202" y="2520031"/>
            <a:ext cx="107950" cy="107950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TextBox 150"/>
          <p:cNvSpPr txBox="1"/>
          <p:nvPr/>
        </p:nvSpPr>
        <p:spPr>
          <a:xfrm>
            <a:off x="3830871" y="2481673"/>
            <a:ext cx="221536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solidFill>
                  <a:schemeClr val="bg1"/>
                </a:solidFill>
              </a:rPr>
              <a:t>v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15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3187874"/>
            <a:ext cx="1184875" cy="196327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진행 단계 보기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55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069844" y="3187874"/>
            <a:ext cx="1184875" cy="196327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공고 </a:t>
            </a:r>
            <a:r>
              <a:rPr kumimoji="1" lang="ko-KR" altLang="en-US" sz="7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바로가기</a:t>
            </a:r>
            <a:endParaRPr kumimoji="1" lang="en-US" sz="700" kern="0" dirty="0">
              <a:solidFill>
                <a:srgbClr val="0070C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56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4426429"/>
            <a:ext cx="1184875" cy="196327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진행 단계 보기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5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069844" y="4426429"/>
            <a:ext cx="1184875" cy="196327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공고 </a:t>
            </a:r>
            <a:r>
              <a:rPr kumimoji="1" lang="ko-KR" altLang="en-US" sz="7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바로가기</a:t>
            </a:r>
            <a:endParaRPr kumimoji="1" lang="en-US" sz="700" kern="0" dirty="0">
              <a:solidFill>
                <a:srgbClr val="0070C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cxnSp>
        <p:nvCxnSpPr>
          <p:cNvPr id="158" name="직선 연결선 1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6136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9" name="타원 1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880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110" name="그룹 109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111" name="직사각형 110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1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02595439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진행 단계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버튼 표시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세부 스텝 팝업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진행중인 공고의 진행 단계를 표시하는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나의진행업무현황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진행 단계 확인</a:t>
            </a:r>
          </a:p>
          <a:p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MUI-CM-06-P03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나의 진행 업무 현황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0" name="양쪽 모서리가 둥근 사각형 109"/>
          <p:cNvSpPr/>
          <p:nvPr/>
        </p:nvSpPr>
        <p:spPr>
          <a:xfrm>
            <a:off x="679854" y="1908439"/>
            <a:ext cx="2712027" cy="4314854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1765867" y="1945066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12" name="그룹 111"/>
          <p:cNvGrpSpPr/>
          <p:nvPr/>
        </p:nvGrpSpPr>
        <p:grpSpPr>
          <a:xfrm>
            <a:off x="3168793" y="2079482"/>
            <a:ext cx="94010" cy="94010"/>
            <a:chOff x="6812560" y="3297172"/>
            <a:chExt cx="94010" cy="94010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2060161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진행 단계 확인</a:t>
            </a:r>
          </a:p>
        </p:txBody>
      </p: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232156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t="26417" b="16151"/>
          <a:stretch/>
        </p:blipFill>
        <p:spPr>
          <a:xfrm>
            <a:off x="754234" y="2403907"/>
            <a:ext cx="2563266" cy="3320488"/>
          </a:xfrm>
          <a:prstGeom prst="rect">
            <a:avLst/>
          </a:prstGeom>
        </p:spPr>
      </p:pic>
      <p:sp>
        <p:nvSpPr>
          <p:cNvPr id="163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1494413" y="5828262"/>
            <a:ext cx="1760305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공고 </a:t>
            </a: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바로가기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166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930" y="5828262"/>
            <a:ext cx="612773" cy="27949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>
                <a:latin typeface="맑은 고딕"/>
                <a:ea typeface="맑은 고딕" panose="020B0503020000020004" pitchFamily="50" charset="-127"/>
              </a:rPr>
              <a:t>닫기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67" name="타원 1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4272862074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진행중인 업무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진행단계</a:t>
            </a:r>
            <a:r>
              <a:rPr lang="ko-KR" altLang="en-US" dirty="0"/>
              <a:t> 보기 버튼</a:t>
            </a:r>
            <a:r>
              <a:rPr lang="en-US" altLang="ko-KR" dirty="0"/>
              <a:t>, </a:t>
            </a:r>
            <a:r>
              <a:rPr lang="ko-KR" altLang="en-US" dirty="0"/>
              <a:t>공고 </a:t>
            </a:r>
            <a:r>
              <a:rPr lang="ko-KR" altLang="en-US" dirty="0" err="1"/>
              <a:t>바로가기</a:t>
            </a:r>
            <a:r>
              <a:rPr lang="ko-KR" altLang="en-US" dirty="0"/>
              <a:t> 버튼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진행단계</a:t>
            </a:r>
            <a:r>
              <a:rPr lang="ko-KR" altLang="en-US" dirty="0"/>
              <a:t>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팝업 호출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나의업무이력현황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나의업무이력현황</a:t>
            </a:r>
            <a:r>
              <a:rPr lang="ko-KR" altLang="en-US" dirty="0">
                <a:latin typeface="+mn-ea"/>
              </a:rPr>
              <a:t>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나의업무이력현황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MUI-CM-06-M04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나의 업무 이력 현황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727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5" y="1909786"/>
            <a:ext cx="42578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검색필터</a:t>
            </a:r>
            <a:endParaRPr lang="ko-KR" altLang="en-US" sz="700" dirty="0">
              <a:latin typeface="+mn-ea"/>
            </a:endParaRPr>
          </a:p>
        </p:txBody>
      </p:sp>
      <p:sp>
        <p:nvSpPr>
          <p:cNvPr id="40" name="타원 39"/>
          <p:cNvSpPr/>
          <p:nvPr/>
        </p:nvSpPr>
        <p:spPr>
          <a:xfrm>
            <a:off x="783686" y="194113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49" name="그룹 48"/>
          <p:cNvGrpSpPr/>
          <p:nvPr/>
        </p:nvGrpSpPr>
        <p:grpSpPr>
          <a:xfrm>
            <a:off x="781461" y="2395645"/>
            <a:ext cx="2473257" cy="1080735"/>
            <a:chOff x="781461" y="2610063"/>
            <a:chExt cx="2473257" cy="1080735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판단번호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6000A</a:t>
              </a:r>
            </a:p>
            <a:p>
              <a:r>
                <a:rPr lang="en-US" altLang="ko-KR" sz="900" b="1" dirty="0"/>
                <a:t>‘26</a:t>
              </a:r>
              <a:r>
                <a:rPr lang="ko-KR" altLang="en-US" sz="900" b="1" dirty="0"/>
                <a:t>년 </a:t>
              </a:r>
              <a:r>
                <a:rPr lang="en-US" altLang="ko-KR" sz="900" b="1" dirty="0"/>
                <a:t>K5</a:t>
              </a:r>
              <a:r>
                <a:rPr lang="ko-KR" altLang="en-US" sz="900" b="1" dirty="0"/>
                <a:t>방독면</a:t>
              </a:r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84721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발주예정월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발주기관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계약방법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예산금액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303" y="3139237"/>
              <a:ext cx="538609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</a:t>
              </a: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화력총괄계약팀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총액제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</a:p>
          </p:txBody>
        </p:sp>
        <p:sp>
          <p:nvSpPr>
            <p:cNvPr id="61" name="모서리가 둥근 직사각형 60"/>
            <p:cNvSpPr/>
            <p:nvPr/>
          </p:nvSpPr>
          <p:spPr>
            <a:xfrm>
              <a:off x="781461" y="2610063"/>
              <a:ext cx="54965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latin typeface="+mn-ea"/>
                </a:rPr>
                <a:t>입찰참가신청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137923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79" name="모서리가 둥근 직사각형 78"/>
            <p:cNvSpPr/>
            <p:nvPr/>
          </p:nvSpPr>
          <p:spPr>
            <a:xfrm>
              <a:off x="1673425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수의계약</a:t>
              </a: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66041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67" name="그룹 66"/>
          <p:cNvGrpSpPr/>
          <p:nvPr/>
        </p:nvGrpSpPr>
        <p:grpSpPr>
          <a:xfrm>
            <a:off x="778515" y="3638607"/>
            <a:ext cx="2476203" cy="1080735"/>
            <a:chOff x="778515" y="2610063"/>
            <a:chExt cx="2476203" cy="1080735"/>
          </a:xfrm>
        </p:grpSpPr>
        <p:sp>
          <p:nvSpPr>
            <p:cNvPr id="6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판단번호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2026-00590</a:t>
              </a:r>
            </a:p>
            <a:p>
              <a:r>
                <a:rPr lang="en-US" altLang="ko-KR" sz="900" b="1" dirty="0"/>
                <a:t>26-</a:t>
              </a:r>
              <a:r>
                <a:rPr lang="ko-KR" altLang="en-US" sz="900" b="1" dirty="0"/>
                <a:t>평 절개지 복구공사</a:t>
              </a:r>
            </a:p>
          </p:txBody>
        </p:sp>
        <p:sp>
          <p:nvSpPr>
            <p:cNvPr id="6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84721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발주예정월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발주기관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계약방법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예산금액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303" y="3139237"/>
              <a:ext cx="472886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2026-02</a:t>
              </a: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제</a:t>
              </a:r>
              <a:r>
                <a:rPr lang="en-US" altLang="ko-KR" sz="600" dirty="0">
                  <a:latin typeface="+mn-ea"/>
                </a:rPr>
                <a:t>9911</a:t>
              </a:r>
              <a:r>
                <a:rPr lang="ko-KR" altLang="en-US" sz="600" dirty="0">
                  <a:latin typeface="+mn-ea"/>
                </a:rPr>
                <a:t>부대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총액제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92,472,000 </a:t>
              </a:r>
              <a:r>
                <a:rPr lang="ko-KR" altLang="en-US" sz="600" dirty="0">
                  <a:latin typeface="+mn-ea"/>
                </a:rPr>
                <a:t>원</a:t>
              </a:r>
            </a:p>
          </p:txBody>
        </p:sp>
        <p:sp>
          <p:nvSpPr>
            <p:cNvPr id="71" name="모서리가 둥근 직사각형 70"/>
            <p:cNvSpPr/>
            <p:nvPr/>
          </p:nvSpPr>
          <p:spPr>
            <a:xfrm>
              <a:off x="778515" y="2610063"/>
              <a:ext cx="470172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>
                  <a:latin typeface="+mn-ea"/>
                </a:rPr>
                <a:t>입찰서제출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80" name="모서리가 둥근 직사각형 79"/>
            <p:cNvSpPr/>
            <p:nvPr/>
          </p:nvSpPr>
          <p:spPr>
            <a:xfrm>
              <a:off x="1299422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공사</a:t>
              </a:r>
            </a:p>
          </p:txBody>
        </p:sp>
        <p:sp>
          <p:nvSpPr>
            <p:cNvPr id="81" name="모서리가 둥근 직사각형 80"/>
            <p:cNvSpPr/>
            <p:nvPr/>
          </p:nvSpPr>
          <p:spPr>
            <a:xfrm>
              <a:off x="1596562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제한경쟁</a:t>
              </a:r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52008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5" name="그룹 84"/>
          <p:cNvGrpSpPr/>
          <p:nvPr/>
        </p:nvGrpSpPr>
        <p:grpSpPr>
          <a:xfrm>
            <a:off x="6255425" y="1650089"/>
            <a:ext cx="94010" cy="94010"/>
            <a:chOff x="6812560" y="3297172"/>
            <a:chExt cx="94010" cy="94010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8" name="타원 87"/>
          <p:cNvSpPr/>
          <p:nvPr/>
        </p:nvSpPr>
        <p:spPr>
          <a:xfrm>
            <a:off x="5890147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5563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4505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grpSp>
        <p:nvGrpSpPr>
          <p:cNvPr id="91" name="그룹 90"/>
          <p:cNvGrpSpPr/>
          <p:nvPr/>
        </p:nvGrpSpPr>
        <p:grpSpPr>
          <a:xfrm>
            <a:off x="3792447" y="3188066"/>
            <a:ext cx="2712027" cy="1276847"/>
            <a:chOff x="675399" y="1921801"/>
            <a:chExt cx="2712027" cy="1276847"/>
          </a:xfrm>
        </p:grpSpPr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199593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err="1">
                  <a:latin typeface="+mn-ea"/>
                </a:rPr>
                <a:t>업무구분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41620" y="2226095"/>
              <a:ext cx="2305144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용역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94" name="직사각형 93"/>
            <p:cNvSpPr/>
            <p:nvPr/>
          </p:nvSpPr>
          <p:spPr>
            <a:xfrm>
              <a:off x="772169" y="2292407"/>
              <a:ext cx="107950" cy="107950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5" name="직사각형 94"/>
            <p:cNvSpPr/>
            <p:nvPr/>
          </p:nvSpPr>
          <p:spPr>
            <a:xfrm>
              <a:off x="772169" y="2509633"/>
              <a:ext cx="107950" cy="107950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6" name="그룹 95"/>
            <p:cNvGrpSpPr/>
            <p:nvPr/>
          </p:nvGrpSpPr>
          <p:grpSpPr>
            <a:xfrm flipV="1">
              <a:off x="3140949" y="2093627"/>
              <a:ext cx="91438" cy="45719"/>
              <a:chOff x="6812560" y="3297172"/>
              <a:chExt cx="94010" cy="47005"/>
            </a:xfrm>
          </p:grpSpPr>
          <p:cxnSp>
            <p:nvCxnSpPr>
              <p:cNvPr id="104" name="직선 연결선 10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5" name="직선 연결선 10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7" name="직사각형 96"/>
            <p:cNvSpPr/>
            <p:nvPr/>
          </p:nvSpPr>
          <p:spPr>
            <a:xfrm>
              <a:off x="772169" y="2706723"/>
              <a:ext cx="107950" cy="107950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8" name="직사각형 97"/>
            <p:cNvSpPr/>
            <p:nvPr/>
          </p:nvSpPr>
          <p:spPr>
            <a:xfrm>
              <a:off x="772169" y="2921384"/>
              <a:ext cx="107950" cy="107950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1" name="TextBox 100"/>
            <p:cNvSpPr txBox="1"/>
            <p:nvPr/>
          </p:nvSpPr>
          <p:spPr>
            <a:xfrm>
              <a:off x="712771" y="2471275"/>
              <a:ext cx="221536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v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cxnSp>
          <p:nvCxnSpPr>
            <p:cNvPr id="102" name="직선 연결선 1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3198648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3" name="직선 연결선 1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92180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06" name="그룹 105"/>
          <p:cNvGrpSpPr/>
          <p:nvPr/>
        </p:nvGrpSpPr>
        <p:grpSpPr>
          <a:xfrm>
            <a:off x="3792447" y="4523448"/>
            <a:ext cx="2712027" cy="797589"/>
            <a:chOff x="675399" y="3490553"/>
            <a:chExt cx="2712027" cy="797589"/>
          </a:xfrm>
        </p:grpSpPr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490553"/>
              <a:ext cx="230514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기간 설정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713091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검색 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빠른 설정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 flipV="1">
              <a:off x="3140949" y="3588243"/>
              <a:ext cx="91438" cy="45719"/>
              <a:chOff x="6812560" y="3297172"/>
              <a:chExt cx="94010" cy="47005"/>
            </a:xfrm>
          </p:grpSpPr>
          <p:cxnSp>
            <p:nvCxnSpPr>
              <p:cNvPr id="137" name="직선 연결선 13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25" name="그룹 124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1464781" y="3740722"/>
              <a:ext cx="859319" cy="188244"/>
              <a:chOff x="5613534" y="2854836"/>
              <a:chExt cx="804671" cy="188244"/>
            </a:xfrm>
          </p:grpSpPr>
          <p:sp>
            <p:nvSpPr>
              <p:cNvPr id="135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2025-12-15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36" name="그림 135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sp>
          <p:nvSpPr>
            <p:cNvPr id="126" name="TextBox 91">
              <a:extLst>
                <a:ext uri="{FF2B5EF4-FFF2-40B4-BE49-F238E27FC236}">
                  <a16:creationId xmlns:a16="http://schemas.microsoft.com/office/drawing/2014/main" id="{02490888-B81F-0F94-5D5F-078AEEB39DDB}"/>
                </a:ext>
              </a:extLst>
            </p:cNvPr>
            <p:cNvSpPr txBox="1"/>
            <p:nvPr/>
          </p:nvSpPr>
          <p:spPr>
            <a:xfrm>
              <a:off x="2347279" y="3760669"/>
              <a:ext cx="80150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 dirty="0">
                  <a:solidFill>
                    <a:prstClr val="black"/>
                  </a:solidFill>
                  <a:cs typeface="Pretendard Medium" panose="02000603000000020004" pitchFamily="50" charset="-127"/>
                </a:rPr>
                <a:t>~</a:t>
              </a:r>
              <a:endParaRPr lang="ko-KR" altLang="en-US" sz="900" dirty="0">
                <a:solidFill>
                  <a:prstClr val="black"/>
                </a:solidFill>
                <a:cs typeface="Pretendard Medium" panose="02000603000000020004" pitchFamily="50" charset="-127"/>
              </a:endParaRPr>
            </a:p>
          </p:txBody>
        </p:sp>
        <p:grpSp>
          <p:nvGrpSpPr>
            <p:cNvPr id="127" name="그룹 126"/>
            <p:cNvGrpSpPr/>
            <p:nvPr/>
          </p:nvGrpSpPr>
          <p:grpSpPr>
            <a:xfrm>
              <a:off x="1464781" y="3971391"/>
              <a:ext cx="1845146" cy="188135"/>
              <a:chOff x="1430277" y="4057651"/>
              <a:chExt cx="1845146" cy="188135"/>
            </a:xfrm>
          </p:grpSpPr>
          <p:sp>
            <p:nvSpPr>
              <p:cNvPr id="132" name="사각형: 둥근 모서리 169">
                <a:extLst>
                  <a:ext uri="{FF2B5EF4-FFF2-40B4-BE49-F238E27FC236}">
                    <a16:creationId xmlns:a16="http://schemas.microsoft.com/office/drawing/2014/main" id="{A28DD831-0E4B-31EE-CB08-9E188754698D}"/>
                  </a:ext>
                </a:extLst>
              </p:cNvPr>
              <p:cNvSpPr/>
              <p:nvPr/>
            </p:nvSpPr>
            <p:spPr>
              <a:xfrm>
                <a:off x="1430277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최근 </a:t>
                </a:r>
                <a:r>
                  <a:rPr kumimoji="1" lang="en-US" altLang="ko-KR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개월</a:t>
                </a:r>
                <a:endParaRPr kumimoji="1" 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3" name="사각형: 둥근 모서리 171">
                <a:extLst>
                  <a:ext uri="{FF2B5EF4-FFF2-40B4-BE49-F238E27FC236}">
                    <a16:creationId xmlns:a16="http://schemas.microsoft.com/office/drawing/2014/main" id="{75BECEC6-4045-95B1-98C2-242CA0FC5A06}"/>
                  </a:ext>
                </a:extLst>
              </p:cNvPr>
              <p:cNvSpPr/>
              <p:nvPr/>
            </p:nvSpPr>
            <p:spPr>
              <a:xfrm>
                <a:off x="2061841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latin typeface="+mn-ea"/>
                  </a:rPr>
                  <a:t>최근 </a:t>
                </a:r>
                <a:r>
                  <a:rPr kumimoji="1" lang="en-US" altLang="ko-KR" sz="700" kern="0" dirty="0">
                    <a:latin typeface="+mn-ea"/>
                  </a:rPr>
                  <a:t>3</a:t>
                </a:r>
                <a:r>
                  <a:rPr kumimoji="1" lang="ko-KR" altLang="en-US" sz="700" kern="0" dirty="0">
                    <a:latin typeface="+mn-ea"/>
                  </a:rPr>
                  <a:t>개월</a:t>
                </a:r>
                <a:endParaRPr kumimoji="1" lang="en-US" altLang="ko-KR" sz="700" kern="0" dirty="0">
                  <a:latin typeface="+mn-ea"/>
                </a:endParaRPr>
              </a:p>
            </p:txBody>
          </p:sp>
          <p:sp>
            <p:nvSpPr>
              <p:cNvPr id="134" name="사각형: 둥근 모서리 172">
                <a:extLst>
                  <a:ext uri="{FF2B5EF4-FFF2-40B4-BE49-F238E27FC236}">
                    <a16:creationId xmlns:a16="http://schemas.microsoft.com/office/drawing/2014/main" id="{7F182F00-C81F-5F02-6A1E-826222B231A9}"/>
                  </a:ext>
                </a:extLst>
              </p:cNvPr>
              <p:cNvSpPr/>
              <p:nvPr/>
            </p:nvSpPr>
            <p:spPr>
              <a:xfrm>
                <a:off x="2693406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최근 </a:t>
                </a:r>
                <a:r>
                  <a:rPr kumimoji="1" lang="en-US" altLang="ko-KR" sz="700" kern="0" dirty="0">
                    <a:solidFill>
                      <a:prstClr val="black"/>
                    </a:solidFill>
                    <a:latin typeface="+mn-ea"/>
                  </a:rPr>
                  <a:t>6</a:t>
                </a: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개월</a:t>
                </a:r>
                <a:endParaRPr kumimoji="1" lang="en-US" altLang="ko-KR" sz="7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2450608" y="3740722"/>
              <a:ext cx="859319" cy="188244"/>
              <a:chOff x="5613534" y="2854836"/>
              <a:chExt cx="804671" cy="188244"/>
            </a:xfrm>
          </p:grpSpPr>
          <p:sp>
            <p:nvSpPr>
              <p:cNvPr id="130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2026-01-15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31" name="그림 130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28814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9" name="그룹 138"/>
          <p:cNvGrpSpPr/>
          <p:nvPr/>
        </p:nvGrpSpPr>
        <p:grpSpPr>
          <a:xfrm>
            <a:off x="3917509" y="1977748"/>
            <a:ext cx="2468249" cy="1105599"/>
            <a:chOff x="3898850" y="4660546"/>
            <a:chExt cx="2468249" cy="1105599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660546"/>
              <a:ext cx="230514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진행 구분</a:t>
              </a: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6261284" y="4758236"/>
              <a:ext cx="91438" cy="45719"/>
              <a:chOff x="6812560" y="3297172"/>
              <a:chExt cx="94010" cy="47005"/>
            </a:xfrm>
          </p:grpSpPr>
          <p:cxnSp>
            <p:nvCxnSpPr>
              <p:cNvPr id="146" name="직선 연결선 14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7" name="직선 연결선 14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61955" y="4904371"/>
              <a:ext cx="2305144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입찰참가신청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입찰서제출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공개수의협상</a:t>
              </a:r>
            </a:p>
          </p:txBody>
        </p:sp>
      </p:grpSp>
      <p:sp>
        <p:nvSpPr>
          <p:cNvPr id="148" name="직사각형 147"/>
          <p:cNvSpPr/>
          <p:nvPr/>
        </p:nvSpPr>
        <p:spPr>
          <a:xfrm>
            <a:off x="3890269" y="2302805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직사각형 148"/>
          <p:cNvSpPr/>
          <p:nvPr/>
        </p:nvSpPr>
        <p:spPr>
          <a:xfrm>
            <a:off x="3890269" y="2717121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직사각형 149"/>
          <p:cNvSpPr/>
          <p:nvPr/>
        </p:nvSpPr>
        <p:spPr>
          <a:xfrm>
            <a:off x="3890269" y="2931782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직사각형 151"/>
          <p:cNvSpPr/>
          <p:nvPr/>
        </p:nvSpPr>
        <p:spPr>
          <a:xfrm>
            <a:off x="3890202" y="2520031"/>
            <a:ext cx="107950" cy="107950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TextBox 150"/>
          <p:cNvSpPr txBox="1"/>
          <p:nvPr/>
        </p:nvSpPr>
        <p:spPr>
          <a:xfrm>
            <a:off x="3830871" y="2481673"/>
            <a:ext cx="221536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solidFill>
                  <a:schemeClr val="bg1"/>
                </a:solidFill>
              </a:rPr>
              <a:t>v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cxnSp>
        <p:nvCxnSpPr>
          <p:cNvPr id="158" name="직선 연결선 1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6136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9" name="타원 1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880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99" name="그룹 98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100" name="직사각형 99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1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00276468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관심 입찰공고 내역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관심 표시 아이콘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</a:t>
            </a:r>
            <a:r>
              <a:rPr lang="en-US" altLang="ko-KR" dirty="0"/>
              <a:t>3</a:t>
            </a:r>
            <a:r>
              <a:rPr lang="ko-KR" altLang="en-US" dirty="0"/>
              <a:t>번 항목 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즐겨찾기</a:t>
            </a:r>
            <a:r>
              <a:rPr lang="ko-KR" altLang="en-US" dirty="0"/>
              <a:t> 해제 팝업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다음부터 묻지 않기를 통해 앱 </a:t>
            </a:r>
            <a:r>
              <a:rPr lang="ko-KR" altLang="en-US" dirty="0" err="1"/>
              <a:t>스토리지에</a:t>
            </a:r>
            <a:r>
              <a:rPr lang="ko-KR" altLang="en-US" dirty="0"/>
              <a:t> 내역 저장하고</a:t>
            </a:r>
            <a:r>
              <a:rPr lang="en-US" altLang="ko-KR" dirty="0"/>
              <a:t>, </a:t>
            </a:r>
            <a:r>
              <a:rPr lang="ko-KR" altLang="en-US" dirty="0"/>
              <a:t>클릭 이후 즉시 </a:t>
            </a:r>
            <a:r>
              <a:rPr lang="ko-KR" altLang="en-US" dirty="0" err="1"/>
              <a:t>즐겨찾기</a:t>
            </a:r>
            <a:r>
              <a:rPr lang="ko-KR" altLang="en-US" dirty="0"/>
              <a:t> 해제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관심입찰공고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관심입찰공고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관심입찰공고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MUI-CM-06-M05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관심입찰공고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727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5" y="1909786"/>
            <a:ext cx="42578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검색필터</a:t>
            </a:r>
            <a:endParaRPr lang="ko-KR" altLang="en-US" sz="700" dirty="0">
              <a:latin typeface="+mn-ea"/>
            </a:endParaRPr>
          </a:p>
        </p:txBody>
      </p:sp>
      <p:sp>
        <p:nvSpPr>
          <p:cNvPr id="40" name="타원 39"/>
          <p:cNvSpPr/>
          <p:nvPr/>
        </p:nvSpPr>
        <p:spPr>
          <a:xfrm>
            <a:off x="783686" y="194113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49" name="그룹 48"/>
          <p:cNvGrpSpPr/>
          <p:nvPr/>
        </p:nvGrpSpPr>
        <p:grpSpPr>
          <a:xfrm>
            <a:off x="781461" y="2395645"/>
            <a:ext cx="2473257" cy="1080735"/>
            <a:chOff x="781461" y="2610063"/>
            <a:chExt cx="2473257" cy="1080735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정상공고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2026LGM000604191-01</a:t>
              </a:r>
            </a:p>
            <a:p>
              <a:pPr lvl="0"/>
              <a:r>
                <a:rPr lang="en-US" altLang="ko-KR" sz="900" b="1" dirty="0">
                  <a:solidFill>
                    <a:prstClr val="black"/>
                  </a:solidFill>
                </a:rPr>
                <a:t>(26-</a:t>
              </a:r>
              <a:r>
                <a:rPr lang="ko-KR" altLang="en-US" sz="900" b="1" dirty="0">
                  <a:solidFill>
                    <a:srgbClr val="5B9BD5">
                      <a:lumMod val="75000"/>
                    </a:srgbClr>
                  </a:solidFill>
                </a:rPr>
                <a:t>물품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-04) 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간편한 </a:t>
              </a:r>
              <a:r>
                <a:rPr lang="ko-KR" altLang="en-US" sz="900" b="1" dirty="0" err="1">
                  <a:solidFill>
                    <a:prstClr val="black"/>
                  </a:solidFill>
                </a:rPr>
                <a:t>아침식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 제조 및 납품</a:t>
              </a:r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84721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발주예정월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발주기관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계약방법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예산금액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303" y="3139237"/>
              <a:ext cx="538609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</a:t>
              </a: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화력총괄계약팀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총액제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782178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79" name="모서리가 둥근 직사각형 78"/>
            <p:cNvSpPr/>
            <p:nvPr/>
          </p:nvSpPr>
          <p:spPr>
            <a:xfrm>
              <a:off x="1076372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수의계약</a:t>
              </a: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66041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67" name="그룹 66"/>
          <p:cNvGrpSpPr/>
          <p:nvPr/>
        </p:nvGrpSpPr>
        <p:grpSpPr>
          <a:xfrm>
            <a:off x="778516" y="3638607"/>
            <a:ext cx="2476202" cy="1080735"/>
            <a:chOff x="778516" y="2610063"/>
            <a:chExt cx="2476202" cy="1080735"/>
          </a:xfrm>
        </p:grpSpPr>
        <p:sp>
          <p:nvSpPr>
            <p:cNvPr id="6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정상공고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2026LGM000604191-01</a:t>
              </a:r>
            </a:p>
            <a:p>
              <a:pPr lvl="0"/>
              <a:r>
                <a:rPr lang="en-US" altLang="ko-KR" sz="900" b="1" dirty="0">
                  <a:solidFill>
                    <a:prstClr val="black"/>
                  </a:solidFill>
                </a:rPr>
                <a:t>(26-</a:t>
              </a:r>
              <a:r>
                <a:rPr lang="ko-KR" altLang="en-US" sz="900" b="1" dirty="0">
                  <a:solidFill>
                    <a:srgbClr val="5B9BD5">
                      <a:lumMod val="75000"/>
                    </a:srgbClr>
                  </a:solidFill>
                </a:rPr>
                <a:t>물품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-04) 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간편한 </a:t>
              </a:r>
              <a:r>
                <a:rPr lang="ko-KR" altLang="en-US" sz="900" b="1" dirty="0" err="1">
                  <a:solidFill>
                    <a:prstClr val="black"/>
                  </a:solidFill>
                </a:rPr>
                <a:t>아침식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 제조 및 납품</a:t>
              </a:r>
            </a:p>
          </p:txBody>
        </p:sp>
        <p:sp>
          <p:nvSpPr>
            <p:cNvPr id="6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84721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발주예정월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발주기관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계약방법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예산금액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303" y="3139237"/>
              <a:ext cx="472886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2026-02</a:t>
              </a: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제</a:t>
              </a:r>
              <a:r>
                <a:rPr lang="en-US" altLang="ko-KR" sz="600" dirty="0">
                  <a:latin typeface="+mn-ea"/>
                </a:rPr>
                <a:t>9911</a:t>
              </a:r>
              <a:r>
                <a:rPr lang="ko-KR" altLang="en-US" sz="600" dirty="0">
                  <a:latin typeface="+mn-ea"/>
                </a:rPr>
                <a:t>부대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총액제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92,472,000 </a:t>
              </a:r>
              <a:r>
                <a:rPr lang="ko-KR" altLang="en-US" sz="600" dirty="0">
                  <a:latin typeface="+mn-ea"/>
                </a:rPr>
                <a:t>원</a:t>
              </a:r>
            </a:p>
          </p:txBody>
        </p:sp>
        <p:sp>
          <p:nvSpPr>
            <p:cNvPr id="80" name="모서리가 둥근 직사각형 79"/>
            <p:cNvSpPr/>
            <p:nvPr/>
          </p:nvSpPr>
          <p:spPr>
            <a:xfrm>
              <a:off x="778516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공사</a:t>
              </a:r>
            </a:p>
          </p:txBody>
        </p:sp>
        <p:sp>
          <p:nvSpPr>
            <p:cNvPr id="81" name="모서리가 둥근 직사각형 80"/>
            <p:cNvSpPr/>
            <p:nvPr/>
          </p:nvSpPr>
          <p:spPr>
            <a:xfrm>
              <a:off x="1075656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제한경쟁</a:t>
              </a:r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52008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8" name="직선 연결선 1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6136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9" name="타원 1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342334" y="252241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99" name="포인트가 5개인 별 98"/>
          <p:cNvSpPr/>
          <p:nvPr/>
        </p:nvSpPr>
        <p:spPr>
          <a:xfrm>
            <a:off x="3095327" y="2522179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0" name="포인트가 5개인 별 99"/>
          <p:cNvSpPr/>
          <p:nvPr/>
        </p:nvSpPr>
        <p:spPr>
          <a:xfrm>
            <a:off x="3095327" y="3781959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3" name="그룹 2"/>
          <p:cNvGrpSpPr/>
          <p:nvPr/>
        </p:nvGrpSpPr>
        <p:grpSpPr>
          <a:xfrm>
            <a:off x="3861751" y="3094459"/>
            <a:ext cx="2579992" cy="1519296"/>
            <a:chOff x="3905688" y="3002600"/>
            <a:chExt cx="2579992" cy="1519296"/>
          </a:xfrm>
        </p:grpSpPr>
        <p:sp>
          <p:nvSpPr>
            <p:cNvPr id="110" name="모서리가 둥근 직사각형 109"/>
            <p:cNvSpPr/>
            <p:nvPr/>
          </p:nvSpPr>
          <p:spPr>
            <a:xfrm>
              <a:off x="3905688" y="3002600"/>
              <a:ext cx="2579992" cy="1519296"/>
            </a:xfrm>
            <a:prstGeom prst="roundRect">
              <a:avLst>
                <a:gd name="adj" fmla="val 4663"/>
              </a:avLst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1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5248526" y="4069159"/>
              <a:ext cx="1080000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해제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1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023382" y="4069159"/>
              <a:ext cx="108000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23382" y="3149329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 err="1">
                  <a:latin typeface="+mn-ea"/>
                </a:rPr>
                <a:t>관심공고</a:t>
              </a:r>
              <a:r>
                <a:rPr lang="ko-KR" altLang="en-US" sz="900" b="1" dirty="0">
                  <a:latin typeface="+mn-ea"/>
                </a:rPr>
                <a:t> 해제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94108" y="3769306"/>
              <a:ext cx="153441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다음부터 묻지 않기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43112" y="3381838"/>
              <a:ext cx="2305144" cy="32316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관심공고를</a:t>
              </a:r>
              <a:r>
                <a:rPr lang="ko-KR" altLang="en-US" sz="700" dirty="0">
                  <a:latin typeface="+mn-ea"/>
                </a:rPr>
                <a:t> 해제하면 관심입찰공고 목록과 업무 캘린더에서 선택하신 입찰공고가 사라집니다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r>
                <a:rPr lang="ko-KR" altLang="en-US" sz="700" dirty="0">
                  <a:latin typeface="+mn-ea"/>
                </a:rPr>
                <a:t>정말 </a:t>
              </a:r>
              <a:r>
                <a:rPr lang="ko-KR" altLang="en-US" sz="700" dirty="0" err="1">
                  <a:latin typeface="+mn-ea"/>
                </a:rPr>
                <a:t>관심공고를</a:t>
              </a:r>
              <a:r>
                <a:rPr lang="ko-KR" altLang="en-US" sz="700" dirty="0">
                  <a:latin typeface="+mn-ea"/>
                </a:rPr>
                <a:t> 해제할까요</a:t>
              </a:r>
              <a:r>
                <a:rPr lang="en-US" altLang="ko-KR" sz="700" dirty="0">
                  <a:latin typeface="+mn-ea"/>
                </a:rPr>
                <a:t>?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18" name="그룹 117"/>
            <p:cNvGrpSpPr/>
            <p:nvPr/>
          </p:nvGrpSpPr>
          <p:grpSpPr>
            <a:xfrm>
              <a:off x="6234516" y="3149329"/>
              <a:ext cx="94010" cy="94010"/>
              <a:chOff x="6812560" y="3297172"/>
              <a:chExt cx="94010" cy="94010"/>
            </a:xfrm>
          </p:grpSpPr>
          <p:cxnSp>
            <p:nvCxnSpPr>
              <p:cNvPr id="119" name="직선 연결선 118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0" name="직선 연결선 119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5" name="그룹 4"/>
          <p:cNvGrpSpPr/>
          <p:nvPr/>
        </p:nvGrpSpPr>
        <p:grpSpPr>
          <a:xfrm>
            <a:off x="4514140" y="3832746"/>
            <a:ext cx="221536" cy="184666"/>
            <a:chOff x="3830871" y="2481673"/>
            <a:chExt cx="221536" cy="184666"/>
          </a:xfrm>
        </p:grpSpPr>
        <p:sp>
          <p:nvSpPr>
            <p:cNvPr id="123" name="직사각형 122"/>
            <p:cNvSpPr/>
            <p:nvPr/>
          </p:nvSpPr>
          <p:spPr>
            <a:xfrm>
              <a:off x="3890202" y="2520031"/>
              <a:ext cx="107950" cy="107950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3" name="TextBox 142"/>
            <p:cNvSpPr txBox="1"/>
            <p:nvPr/>
          </p:nvSpPr>
          <p:spPr>
            <a:xfrm>
              <a:off x="3830871" y="2481673"/>
              <a:ext cx="221536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v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</p:grpSp>
      <p:sp>
        <p:nvSpPr>
          <p:cNvPr id="144" name="타원 14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0924" y="319290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163609652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74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26865"/>
            <a:ext cx="24259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관심입찰공고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382901"/>
            <a:ext cx="285391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관심입찰공고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dl_itrstBidPbancList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38068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bdopnBgngYmd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bdopnEndYmd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70037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통합참조번호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intgRfrncNo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통합참조번호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pbancNo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2185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입찰건명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pbancItemNm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입찰건명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38322261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666655"/>
          <a:ext cx="8994883" cy="28368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511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9761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taskSeNm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:GTSA0001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pbancYmd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공고일자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 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pbancNoCycl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G2B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g2bPbancNoCycl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G2B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구매요청 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prcmNo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구매요청 번호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57076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입찰건명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입찰건명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691092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생산능력제출 마감일시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prdcpvSbmsnDcmntDdlnDt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생산능력제출 마감일시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645716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입찰참가등록 마감일시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bidRegDdlnDt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입찰참가등록 마감일시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252245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입찰서제출 마감일시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tndrSbmsnDdlnDt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입찰서제출 마감일시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64706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bdopnDt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470713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ctrtMthd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303321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입찰형태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bidShp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입찰형태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입찰형태코드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:BMDC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833811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delYn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86781103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E090E7E8-C9B9-2137-4E56-5636F631CC85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8CDD53D7-9569-50DE-5C9A-9DA088329DC2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6" name="Text Box 73">
              <a:extLst>
                <a:ext uri="{FF2B5EF4-FFF2-40B4-BE49-F238E27FC236}">
                  <a16:creationId xmlns:a16="http://schemas.microsoft.com/office/drawing/2014/main" id="{6369C9BE-4C9F-797E-A3BA-7BAB624BFA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10701997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75</a:t>
            </a:fld>
            <a:endParaRPr lang="ko-KR" altLang="en-US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8117" y="617717"/>
            <a:ext cx="1222242" cy="226591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D9706EB-63A9-0124-E495-42F1454AEED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08868603"/>
              </p:ext>
            </p:extLst>
          </p:nvPr>
        </p:nvGraphicFramePr>
        <p:xfrm>
          <a:off x="453000" y="872100"/>
          <a:ext cx="8995591" cy="1213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375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09133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1409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13439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136222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그리드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 err="1"/>
                        <a:t>입찰건명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scwin.grd_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itrstBidPbancList</a:t>
                      </a:r>
                      <a:r>
                        <a:rPr lang="en-US" altLang="ko-KR" sz="800" dirty="0" err="1"/>
                        <a:t>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/>
                        <a:t>해제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scwin.grd_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itrstBidPbancList</a:t>
                      </a:r>
                      <a:r>
                        <a:rPr lang="en-US" altLang="ko-KR" sz="800" dirty="0" err="1"/>
                        <a:t>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관심입찰에서 삭제된다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0218169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0B5224CA-452A-F073-EA56-08ACA48E92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76138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30647959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캘린더 표시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해당일 스케줄 표시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관심공고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개인 등록 스케줄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해당일에 일정이 없는 경우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표시 일정 없음  텍스트 및 일정 등록 버튼 표시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업무캘린더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업무캘린더</a:t>
            </a:r>
            <a:r>
              <a:rPr lang="ko-KR" altLang="en-US" dirty="0">
                <a:latin typeface="+mn-ea"/>
              </a:rPr>
              <a:t>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업무캘린더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MUI-CM-06-M06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업무 캘린더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6075740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71" name="모서리가 둥근 직사각형 70"/>
          <p:cNvSpPr/>
          <p:nvPr/>
        </p:nvSpPr>
        <p:spPr>
          <a:xfrm>
            <a:off x="778516" y="4504776"/>
            <a:ext cx="2453982" cy="467755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9990" y="4749252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 err="1">
                <a:latin typeface="+mn-ea"/>
              </a:rPr>
              <a:t>즐겨찾기</a:t>
            </a:r>
            <a:r>
              <a:rPr lang="en-US" altLang="ko-KR" sz="800" b="1" dirty="0">
                <a:latin typeface="+mn-ea"/>
              </a:rPr>
              <a:t>(</a:t>
            </a:r>
            <a:r>
              <a:rPr lang="ko-KR" altLang="en-US" sz="800" b="1" dirty="0">
                <a:latin typeface="+mn-ea"/>
              </a:rPr>
              <a:t>찜</a:t>
            </a:r>
            <a:r>
              <a:rPr lang="en-US" altLang="ko-KR" sz="800" b="1" dirty="0">
                <a:latin typeface="+mn-ea"/>
              </a:rPr>
              <a:t>)</a:t>
            </a:r>
            <a:r>
              <a:rPr lang="ko-KR" altLang="en-US" sz="800" b="1" dirty="0">
                <a:latin typeface="+mn-ea"/>
              </a:rPr>
              <a:t>한 입찰공고 표시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27845" y="4601049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공고번호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000 00 0000</a:t>
            </a:r>
            <a:endParaRPr lang="ko-KR" altLang="en-US" sz="700" dirty="0">
              <a:latin typeface="+mn-ea"/>
            </a:endParaRPr>
          </a:p>
        </p:txBody>
      </p:sp>
      <p:sp>
        <p:nvSpPr>
          <p:cNvPr id="75" name="모서리가 둥근 직사각형 74"/>
          <p:cNvSpPr/>
          <p:nvPr/>
        </p:nvSpPr>
        <p:spPr>
          <a:xfrm>
            <a:off x="909990" y="4595584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315" y="4684792"/>
            <a:ext cx="36801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sp>
        <p:nvSpPr>
          <p:cNvPr id="77" name="모서리가 둥근 직사각형 76"/>
          <p:cNvSpPr/>
          <p:nvPr/>
        </p:nvSpPr>
        <p:spPr>
          <a:xfrm>
            <a:off x="778516" y="5013501"/>
            <a:ext cx="2453982" cy="467755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9990" y="5257977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입찰공고명이 표시됩니다</a:t>
            </a: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27845" y="5109774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공고번호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000 00 0000</a:t>
            </a:r>
            <a:endParaRPr lang="ko-KR" altLang="en-US" sz="700" dirty="0">
              <a:latin typeface="+mn-ea"/>
            </a:endParaRPr>
          </a:p>
        </p:txBody>
      </p:sp>
      <p:sp>
        <p:nvSpPr>
          <p:cNvPr id="84" name="모서리가 둥근 직사각형 83"/>
          <p:cNvSpPr/>
          <p:nvPr/>
        </p:nvSpPr>
        <p:spPr>
          <a:xfrm>
            <a:off x="909990" y="5104309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공사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315" y="5193517"/>
            <a:ext cx="36801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sp>
        <p:nvSpPr>
          <p:cNvPr id="86" name="모서리가 둥근 직사각형 85"/>
          <p:cNvSpPr/>
          <p:nvPr/>
        </p:nvSpPr>
        <p:spPr>
          <a:xfrm>
            <a:off x="778516" y="5522226"/>
            <a:ext cx="2453982" cy="467755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9990" y="5766702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작성한 스케줄이 있는 경우 </a:t>
            </a:r>
            <a:r>
              <a:rPr lang="ko-KR" altLang="en-US" sz="800" b="1" dirty="0" err="1">
                <a:latin typeface="+mn-ea"/>
              </a:rPr>
              <a:t>표시됩</a:t>
            </a:r>
            <a:r>
              <a:rPr lang="en-US" altLang="ko-KR" sz="800" b="1" dirty="0">
                <a:latin typeface="+mn-ea"/>
              </a:rPr>
              <a:t>…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27845" y="5618499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-</a:t>
            </a:r>
            <a:endParaRPr lang="ko-KR" altLang="en-US" sz="700" dirty="0">
              <a:latin typeface="+mn-ea"/>
            </a:endParaRPr>
          </a:p>
        </p:txBody>
      </p:sp>
      <p:sp>
        <p:nvSpPr>
          <p:cNvPr id="89" name="모서리가 둥근 직사각형 88"/>
          <p:cNvSpPr/>
          <p:nvPr/>
        </p:nvSpPr>
        <p:spPr>
          <a:xfrm>
            <a:off x="909990" y="5613034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개인</a:t>
            </a: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315" y="5702242"/>
            <a:ext cx="36801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pic>
        <p:nvPicPr>
          <p:cNvPr id="92" name="그림 91">
            <a:extLst>
              <a:ext uri="{FF2B5EF4-FFF2-40B4-BE49-F238E27FC236}">
                <a16:creationId xmlns:a16="http://schemas.microsoft.com/office/drawing/2014/main" id="{6EA78311-C2E0-881B-8EBE-A8E77192A99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944" t="3350" r="4806" b="2041"/>
          <a:stretch/>
        </p:blipFill>
        <p:spPr>
          <a:xfrm>
            <a:off x="739935" y="1892593"/>
            <a:ext cx="2545377" cy="2219046"/>
          </a:xfrm>
          <a:prstGeom prst="rect">
            <a:avLst/>
          </a:prstGeom>
        </p:spPr>
      </p:pic>
      <p:cxnSp>
        <p:nvCxnSpPr>
          <p:cNvPr id="93" name="직선 연결선 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418565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6" y="4283855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b="1" dirty="0">
                <a:latin typeface="+mn-ea"/>
              </a:rPr>
              <a:t>2026</a:t>
            </a:r>
            <a:r>
              <a:rPr lang="ko-KR" altLang="en-US" sz="800" b="1" dirty="0">
                <a:latin typeface="+mn-ea"/>
              </a:rPr>
              <a:t>년 </a:t>
            </a:r>
            <a:r>
              <a:rPr lang="en-US" altLang="ko-KR" sz="800" b="1" dirty="0">
                <a:latin typeface="+mn-ea"/>
              </a:rPr>
              <a:t>8</a:t>
            </a:r>
            <a:r>
              <a:rPr lang="ko-KR" altLang="en-US" sz="800" b="1" dirty="0">
                <a:latin typeface="+mn-ea"/>
              </a:rPr>
              <a:t>월 </a:t>
            </a:r>
            <a:r>
              <a:rPr lang="en-US" altLang="ko-KR" sz="800" b="1" dirty="0">
                <a:latin typeface="+mn-ea"/>
              </a:rPr>
              <a:t>12</a:t>
            </a:r>
            <a:r>
              <a:rPr lang="ko-KR" altLang="en-US" sz="800" b="1" dirty="0">
                <a:latin typeface="+mn-ea"/>
              </a:rPr>
              <a:t>일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59" name="타원 1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66243" y="425915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95" name="포인트가 5개인 별 94"/>
          <p:cNvSpPr/>
          <p:nvPr/>
        </p:nvSpPr>
        <p:spPr>
          <a:xfrm>
            <a:off x="2777831" y="4658958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포인트가 5개인 별 95"/>
          <p:cNvSpPr/>
          <p:nvPr/>
        </p:nvSpPr>
        <p:spPr>
          <a:xfrm>
            <a:off x="2777831" y="5167683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13646" y="5193517"/>
            <a:ext cx="2476202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일정 등록하기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98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727315" y="4266950"/>
            <a:ext cx="527403" cy="15692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일정 등록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285769" y="4959640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표시할 일정이 없습니다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6" name="그룹 5"/>
          <p:cNvGrpSpPr/>
          <p:nvPr/>
        </p:nvGrpSpPr>
        <p:grpSpPr>
          <a:xfrm>
            <a:off x="3795734" y="1515996"/>
            <a:ext cx="2712027" cy="2890970"/>
            <a:chOff x="3777376" y="1515996"/>
            <a:chExt cx="2712027" cy="2890970"/>
          </a:xfrm>
        </p:grpSpPr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32878" y="1608356"/>
              <a:ext cx="2305144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dirty="0">
                  <a:latin typeface="+mn-ea"/>
                </a:rPr>
                <a:t>업무 캘린더</a:t>
              </a:r>
            </a:p>
          </p:txBody>
        </p: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77376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05" name="그룹 104"/>
            <p:cNvGrpSpPr/>
            <p:nvPr/>
          </p:nvGrpSpPr>
          <p:grpSpPr>
            <a:xfrm rot="5400000">
              <a:off x="3851819" y="1640499"/>
              <a:ext cx="94010" cy="47005"/>
              <a:chOff x="6812560" y="3297172"/>
              <a:chExt cx="94010" cy="47005"/>
            </a:xfrm>
          </p:grpSpPr>
          <p:cxnSp>
            <p:nvCxnSpPr>
              <p:cNvPr id="106" name="직선 연결선 10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7" name="직선 연결선 10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08" name="타원 107"/>
            <p:cNvSpPr/>
            <p:nvPr/>
          </p:nvSpPr>
          <p:spPr>
            <a:xfrm>
              <a:off x="6141343" y="1580377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9" name="TextBox 108"/>
            <p:cNvSpPr txBox="1"/>
            <p:nvPr/>
          </p:nvSpPr>
          <p:spPr>
            <a:xfrm>
              <a:off x="6090092" y="1515996"/>
              <a:ext cx="290464" cy="276999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ko-KR" altLang="en-US" sz="1200" dirty="0"/>
                <a:t>≡</a:t>
              </a:r>
            </a:p>
          </p:txBody>
        </p:sp>
        <p:pic>
          <p:nvPicPr>
            <p:cNvPr id="115" name="그림 114">
              <a:extLst>
                <a:ext uri="{FF2B5EF4-FFF2-40B4-BE49-F238E27FC236}">
                  <a16:creationId xmlns:a16="http://schemas.microsoft.com/office/drawing/2014/main" id="{6EA78311-C2E0-881B-8EBE-A8E77192A99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9944" t="3350" r="4806" b="2041"/>
            <a:stretch/>
          </p:blipFill>
          <p:spPr>
            <a:xfrm>
              <a:off x="3836741" y="1892593"/>
              <a:ext cx="2545377" cy="2219046"/>
            </a:xfrm>
            <a:prstGeom prst="rect">
              <a:avLst/>
            </a:prstGeom>
          </p:spPr>
        </p:pic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77376" y="418565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5322" y="4283855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800" b="1" dirty="0">
                  <a:latin typeface="+mn-ea"/>
                </a:rPr>
                <a:t>2026</a:t>
              </a:r>
              <a:r>
                <a:rPr lang="ko-KR" altLang="en-US" sz="800" b="1" dirty="0">
                  <a:latin typeface="+mn-ea"/>
                </a:rPr>
                <a:t>년 </a:t>
              </a:r>
              <a:r>
                <a:rPr lang="en-US" altLang="ko-KR" sz="800" b="1" dirty="0">
                  <a:latin typeface="+mn-ea"/>
                </a:rPr>
                <a:t>8</a:t>
              </a:r>
              <a:r>
                <a:rPr lang="ko-KR" altLang="en-US" sz="800" b="1" dirty="0">
                  <a:latin typeface="+mn-ea"/>
                </a:rPr>
                <a:t>월 </a:t>
              </a:r>
              <a:r>
                <a:rPr lang="en-US" altLang="ko-KR" sz="800" b="1" dirty="0">
                  <a:latin typeface="+mn-ea"/>
                </a:rPr>
                <a:t>12</a:t>
              </a:r>
              <a:r>
                <a:rPr lang="ko-KR" altLang="en-US" sz="800" b="1" dirty="0">
                  <a:latin typeface="+mn-ea"/>
                </a:rPr>
                <a:t>일</a:t>
              </a:r>
            </a:p>
          </p:txBody>
        </p:sp>
      </p:grpSp>
      <p:sp>
        <p:nvSpPr>
          <p:cNvPr id="127" name="타원 12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2807" y="188542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603023601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77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809414"/>
            <a:ext cx="245636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업무캘린더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dl_taskCldrList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93168"/>
          <a:ext cx="8994883" cy="654676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schdlTtl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작성일자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2291" y="197256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93060654"/>
              </p:ext>
            </p:extLst>
          </p:nvPr>
        </p:nvGraphicFramePr>
        <p:xfrm>
          <a:off x="453000" y="2202145"/>
          <a:ext cx="8995591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7356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880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캘린더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날짜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scwin.getSchdlDtl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해당날짜에 등록된 상세내용이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136222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/>
                        <a:t>등록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/>
                        <a:t>scwin.btn_reg_onclick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업무캘린더에 일정을 등록한다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 smtClean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13487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scwin.btn_del_onclick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업무캘린더에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등록된 일정을 삭제한다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작성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scwin.btn_wrt_onclick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업무캘린더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일정 등록화면으로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/>
                        <a:t>UI-CM-06-M04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668216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60850663-6D69-7CD5-CA30-B78A0AE4F4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2091433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C7D208F1-F7C0-67E8-82DE-6E1266B13A1B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883B8588-F8C5-021F-37D3-ABFFEEDD3345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4" name="Text Box 73">
              <a:extLst>
                <a:ext uri="{FF2B5EF4-FFF2-40B4-BE49-F238E27FC236}">
                  <a16:creationId xmlns:a16="http://schemas.microsoft.com/office/drawing/2014/main" id="{6075AC32-2550-E900-71E4-B0A0220BC4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69415437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업무 캘린더 세부 내역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수정</a:t>
            </a:r>
            <a:r>
              <a:rPr lang="en-US" altLang="ko-KR" dirty="0"/>
              <a:t>, </a:t>
            </a:r>
            <a:r>
              <a:rPr lang="ko-KR" altLang="en-US" dirty="0"/>
              <a:t>삭제 버튼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 err="1">
                <a:solidFill>
                  <a:prstClr val="black"/>
                </a:solidFill>
                <a:latin typeface="맑은 고딕" panose="020B0503020000020004" pitchFamily="50" charset="-127"/>
              </a:rPr>
              <a:t>업무캘린더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 일정 상세 정보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개인이 등록한 일정을 표시하는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업무캘린더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일정 상세 정보 팝업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MUI-CM-06-P07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업무 캘린더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0" name="양쪽 모서리가 둥근 사각형 109"/>
          <p:cNvSpPr/>
          <p:nvPr/>
        </p:nvSpPr>
        <p:spPr>
          <a:xfrm>
            <a:off x="679854" y="1908439"/>
            <a:ext cx="2712027" cy="4314854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1765867" y="1945066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12" name="그룹 111"/>
          <p:cNvGrpSpPr/>
          <p:nvPr/>
        </p:nvGrpSpPr>
        <p:grpSpPr>
          <a:xfrm>
            <a:off x="3168793" y="2079482"/>
            <a:ext cx="94010" cy="94010"/>
            <a:chOff x="6812560" y="3297172"/>
            <a:chExt cx="94010" cy="94010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2060161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일정 상세 정보</a:t>
            </a:r>
          </a:p>
        </p:txBody>
      </p: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232156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3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1494413" y="5828262"/>
            <a:ext cx="1760305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수정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166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930" y="5828262"/>
            <a:ext cx="612773" cy="27949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67" name="타원 1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2827283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제목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0331" y="3490860"/>
            <a:ext cx="25326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1. </a:t>
            </a:r>
            <a:r>
              <a:rPr lang="ko-KR" altLang="en-US" sz="700" dirty="0">
                <a:latin typeface="+mn-ea"/>
              </a:rPr>
              <a:t>사용자가 작성한 내용 </a:t>
            </a:r>
            <a:r>
              <a:rPr lang="en-US" altLang="ko-KR" sz="700" dirty="0">
                <a:latin typeface="+mn-ea"/>
              </a:rPr>
              <a:t>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2. </a:t>
            </a:r>
            <a:r>
              <a:rPr lang="ko-KR" altLang="en-US" sz="700" dirty="0">
                <a:latin typeface="+mn-ea"/>
              </a:rPr>
              <a:t>사용자가 작성한 내용 </a:t>
            </a:r>
            <a:r>
              <a:rPr lang="en-US" altLang="ko-KR" sz="700" dirty="0">
                <a:latin typeface="+mn-ea"/>
              </a:rPr>
              <a:t>2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3. </a:t>
            </a:r>
            <a:r>
              <a:rPr lang="ko-KR" altLang="en-US" sz="700" dirty="0">
                <a:latin typeface="+mn-ea"/>
              </a:rPr>
              <a:t>사용자가 작성한 내용 </a:t>
            </a:r>
            <a:r>
              <a:rPr lang="en-US" altLang="ko-KR" sz="700" dirty="0">
                <a:latin typeface="+mn-ea"/>
              </a:rPr>
              <a:t>3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4. </a:t>
            </a:r>
            <a:r>
              <a:rPr lang="ko-KR" altLang="en-US" sz="700" dirty="0">
                <a:latin typeface="+mn-ea"/>
              </a:rPr>
              <a:t>사용자가 작성한 내용 </a:t>
            </a:r>
            <a:r>
              <a:rPr lang="en-US" altLang="ko-KR" sz="700" dirty="0">
                <a:latin typeface="+mn-ea"/>
              </a:rPr>
              <a:t>4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5. </a:t>
            </a:r>
            <a:r>
              <a:rPr lang="ko-KR" altLang="en-US" sz="700" dirty="0">
                <a:latin typeface="+mn-ea"/>
              </a:rPr>
              <a:t>사용자가 작성한 내용 </a:t>
            </a:r>
            <a:r>
              <a:rPr lang="en-US" altLang="ko-KR" sz="700" dirty="0">
                <a:latin typeface="+mn-ea"/>
              </a:rPr>
              <a:t>5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6. </a:t>
            </a:r>
            <a:r>
              <a:rPr lang="ko-KR" altLang="en-US" sz="700" dirty="0">
                <a:latin typeface="+mn-ea"/>
              </a:rPr>
              <a:t>사용자가 작성한 내용 </a:t>
            </a:r>
            <a:r>
              <a:rPr lang="en-US" altLang="ko-KR" sz="700" dirty="0">
                <a:latin typeface="+mn-ea"/>
              </a:rPr>
              <a:t>6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  <a:endParaRPr lang="ko-KR" altLang="en-US" sz="700" dirty="0">
              <a:latin typeface="+mn-ea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6" y="2585131"/>
            <a:ext cx="248428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2026</a:t>
            </a:r>
            <a:r>
              <a:rPr lang="ko-KR" altLang="en-US" sz="800" dirty="0">
                <a:latin typeface="+mn-ea"/>
              </a:rPr>
              <a:t>년 </a:t>
            </a:r>
            <a:r>
              <a:rPr lang="en-US" altLang="ko-KR" sz="800" dirty="0">
                <a:latin typeface="+mn-ea"/>
              </a:rPr>
              <a:t>8</a:t>
            </a:r>
            <a:r>
              <a:rPr lang="ko-KR" altLang="en-US" sz="800" dirty="0">
                <a:latin typeface="+mn-ea"/>
              </a:rPr>
              <a:t>월 </a:t>
            </a:r>
            <a:r>
              <a:rPr lang="en-US" altLang="ko-KR" sz="800" dirty="0">
                <a:latin typeface="+mn-ea"/>
              </a:rPr>
              <a:t>12</a:t>
            </a:r>
            <a:r>
              <a:rPr lang="ko-KR" altLang="en-US" sz="800" dirty="0">
                <a:latin typeface="+mn-ea"/>
              </a:rPr>
              <a:t>일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245731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>
                <a:latin typeface="+mn-ea"/>
              </a:rPr>
              <a:t>선택 날짜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6" y="3029079"/>
            <a:ext cx="248428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작성한 스케줄이 있는 경우 표시됩니다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280049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내용</a:t>
            </a:r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067433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7" name="직선 연결선 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24873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80849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2106308889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업무 캘린더 세부 내역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미입력</a:t>
            </a:r>
            <a:r>
              <a:rPr lang="ko-KR" altLang="en-US" dirty="0"/>
              <a:t> 유효성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등록</a:t>
            </a:r>
            <a:r>
              <a:rPr lang="en-US" altLang="ko-KR" dirty="0"/>
              <a:t>, </a:t>
            </a:r>
            <a:r>
              <a:rPr lang="ko-KR" altLang="en-US" dirty="0"/>
              <a:t>수정에 따라 버튼 표시 변경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업무 캘린더 등록</a:t>
            </a: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,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수정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 일정을 등록하거나 삭제하는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업무캘린더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일정 상세 정보 팝업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일정 등록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수정 팝업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MUI-CM-06-P08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업무 캘린더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0" name="양쪽 모서리가 둥근 사각형 109"/>
          <p:cNvSpPr/>
          <p:nvPr/>
        </p:nvSpPr>
        <p:spPr>
          <a:xfrm>
            <a:off x="679854" y="1908439"/>
            <a:ext cx="2712027" cy="4314854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1765867" y="1945066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12" name="그룹 111"/>
          <p:cNvGrpSpPr/>
          <p:nvPr/>
        </p:nvGrpSpPr>
        <p:grpSpPr>
          <a:xfrm>
            <a:off x="3168793" y="2079482"/>
            <a:ext cx="94010" cy="94010"/>
            <a:chOff x="6812560" y="3297172"/>
            <a:chExt cx="94010" cy="94010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2060161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일정 등록</a:t>
            </a:r>
          </a:p>
        </p:txBody>
      </p: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232156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3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1494413" y="5828262"/>
            <a:ext cx="1760305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등록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166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930" y="5828262"/>
            <a:ext cx="612773" cy="27949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67" name="타원 1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034351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제목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245731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선택 날짜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619437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내용</a:t>
            </a:r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40682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7" name="직선 연결선 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58812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01556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0" name="모서리가 둥근 직사각형 39"/>
          <p:cNvSpPr/>
          <p:nvPr/>
        </p:nvSpPr>
        <p:spPr>
          <a:xfrm>
            <a:off x="720467" y="2604974"/>
            <a:ext cx="2610778" cy="247250"/>
          </a:xfrm>
          <a:prstGeom prst="roundRect">
            <a:avLst>
              <a:gd name="adj" fmla="val 23409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800" dirty="0">
                <a:latin typeface="+mn-ea"/>
              </a:rPr>
              <a:t>2026-08-12</a:t>
            </a:r>
            <a:endParaRPr lang="ko-KR" altLang="en-US" sz="800" dirty="0">
              <a:latin typeface="+mn-ea"/>
            </a:endParaRPr>
          </a:p>
        </p:txBody>
      </p:sp>
      <p:pic>
        <p:nvPicPr>
          <p:cNvPr id="41" name="그림 4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080925" y="2655701"/>
            <a:ext cx="134873" cy="137278"/>
          </a:xfrm>
          <a:prstGeom prst="rect">
            <a:avLst/>
          </a:prstGeom>
        </p:spPr>
      </p:pic>
      <p:sp>
        <p:nvSpPr>
          <p:cNvPr id="42" name="모서리가 둥근 직사각형 41"/>
          <p:cNvSpPr/>
          <p:nvPr/>
        </p:nvSpPr>
        <p:spPr>
          <a:xfrm>
            <a:off x="720467" y="3244531"/>
            <a:ext cx="2610778" cy="247250"/>
          </a:xfrm>
          <a:prstGeom prst="roundRect">
            <a:avLst>
              <a:gd name="adj" fmla="val 23409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</a:rPr>
              <a:t>제목을 입력해주세요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</a:rPr>
              <a:t>.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43" name="모서리가 둥근 직사각형 42"/>
          <p:cNvSpPr/>
          <p:nvPr/>
        </p:nvSpPr>
        <p:spPr>
          <a:xfrm>
            <a:off x="720467" y="3823033"/>
            <a:ext cx="2610778" cy="1528248"/>
          </a:xfrm>
          <a:prstGeom prst="roundRect">
            <a:avLst>
              <a:gd name="adj" fmla="val 5377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</a:rPr>
              <a:t>내용을 입력해주세요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</a:rPr>
              <a:t>.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8301" y="1608355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업무 캘린더</a:t>
            </a:r>
          </a:p>
        </p:txBody>
      </p:sp>
      <p:cxnSp>
        <p:nvCxnSpPr>
          <p:cNvPr id="49" name="직선 연결선 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2799" y="184693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0" name="그룹 49"/>
          <p:cNvGrpSpPr/>
          <p:nvPr/>
        </p:nvGrpSpPr>
        <p:grpSpPr>
          <a:xfrm rot="5400000">
            <a:off x="3877242" y="1640498"/>
            <a:ext cx="94010" cy="47005"/>
            <a:chOff x="6812560" y="3297172"/>
            <a:chExt cx="94010" cy="47005"/>
          </a:xfrm>
        </p:grpSpPr>
        <p:cxnSp>
          <p:nvCxnSpPr>
            <p:cNvPr id="51" name="직선 연결선 5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2" name="직선 연결선 5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3" name="타원 52"/>
          <p:cNvSpPr/>
          <p:nvPr/>
        </p:nvSpPr>
        <p:spPr>
          <a:xfrm>
            <a:off x="6166766" y="1580376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/>
          <p:cNvSpPr txBox="1"/>
          <p:nvPr/>
        </p:nvSpPr>
        <p:spPr>
          <a:xfrm>
            <a:off x="6115515" y="1515995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8908" y="1493926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56" name="양쪽 모서리가 둥근 사각형 55"/>
          <p:cNvSpPr/>
          <p:nvPr/>
        </p:nvSpPr>
        <p:spPr>
          <a:xfrm>
            <a:off x="3802083" y="1908438"/>
            <a:ext cx="2712027" cy="4314854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57" name="모서리가 둥근 직사각형 56"/>
          <p:cNvSpPr/>
          <p:nvPr/>
        </p:nvSpPr>
        <p:spPr>
          <a:xfrm>
            <a:off x="4888096" y="1945065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58" name="그룹 57"/>
          <p:cNvGrpSpPr/>
          <p:nvPr/>
        </p:nvGrpSpPr>
        <p:grpSpPr>
          <a:xfrm>
            <a:off x="6291022" y="2079481"/>
            <a:ext cx="94010" cy="94010"/>
            <a:chOff x="6812560" y="3297172"/>
            <a:chExt cx="94010" cy="94010"/>
          </a:xfrm>
        </p:grpSpPr>
        <p:cxnSp>
          <p:nvCxnSpPr>
            <p:cNvPr id="59" name="직선 연결선 5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0" name="직선 연결선 5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31160" y="2060160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일정 수정</a:t>
            </a:r>
          </a:p>
        </p:txBody>
      </p:sp>
      <p:cxnSp>
        <p:nvCxnSpPr>
          <p:cNvPr id="62" name="직선 연결선 6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2083" y="232156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3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4616642" y="5828261"/>
            <a:ext cx="1760305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수정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6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31159" y="5828261"/>
            <a:ext cx="612773" cy="27949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84375" y="3034350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제목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84375" y="2457311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선택 날짜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84375" y="3619436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내용</a:t>
            </a:r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42719" y="540682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42719" y="358812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70" name="직선 연결선 6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42719" y="301556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1" name="모서리가 둥근 직사각형 70"/>
          <p:cNvSpPr/>
          <p:nvPr/>
        </p:nvSpPr>
        <p:spPr>
          <a:xfrm>
            <a:off x="3842696" y="2604973"/>
            <a:ext cx="2610778" cy="247250"/>
          </a:xfrm>
          <a:prstGeom prst="roundRect">
            <a:avLst>
              <a:gd name="adj" fmla="val 23409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800" dirty="0">
                <a:latin typeface="+mn-ea"/>
              </a:rPr>
              <a:t>2026-08-12</a:t>
            </a:r>
            <a:endParaRPr lang="ko-KR" altLang="en-US" sz="800" dirty="0">
              <a:latin typeface="+mn-ea"/>
            </a:endParaRPr>
          </a:p>
        </p:txBody>
      </p:sp>
      <p:pic>
        <p:nvPicPr>
          <p:cNvPr id="72" name="그림 71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03154" y="2655700"/>
            <a:ext cx="134873" cy="137278"/>
          </a:xfrm>
          <a:prstGeom prst="rect">
            <a:avLst/>
          </a:prstGeom>
        </p:spPr>
      </p:pic>
      <p:sp>
        <p:nvSpPr>
          <p:cNvPr id="73" name="모서리가 둥근 직사각형 72"/>
          <p:cNvSpPr/>
          <p:nvPr/>
        </p:nvSpPr>
        <p:spPr>
          <a:xfrm>
            <a:off x="3842696" y="3244530"/>
            <a:ext cx="2610778" cy="247250"/>
          </a:xfrm>
          <a:prstGeom prst="roundRect">
            <a:avLst>
              <a:gd name="adj" fmla="val 23409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ko-KR" altLang="en-US" sz="800" dirty="0">
                <a:latin typeface="+mn-ea"/>
              </a:rPr>
              <a:t>작성한 제목이 표시됩니다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74" name="모서리가 둥근 직사각형 73"/>
          <p:cNvSpPr/>
          <p:nvPr/>
        </p:nvSpPr>
        <p:spPr>
          <a:xfrm>
            <a:off x="3842696" y="3823032"/>
            <a:ext cx="2610778" cy="1528248"/>
          </a:xfrm>
          <a:prstGeom prst="roundRect">
            <a:avLst>
              <a:gd name="adj" fmla="val 5377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작성한 내용이 표시됩니다</a:t>
            </a:r>
            <a:r>
              <a:rPr lang="en-US" altLang="ko-KR" sz="800" dirty="0">
                <a:solidFill>
                  <a:schemeClr val="tx1"/>
                </a:solidFill>
              </a:rPr>
              <a:t>.</a:t>
            </a: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 err="1">
                <a:solidFill>
                  <a:schemeClr val="tx1"/>
                </a:solidFill>
              </a:rPr>
              <a:t>여러줄이</a:t>
            </a:r>
            <a:r>
              <a:rPr lang="ko-KR" altLang="en-US" sz="800" dirty="0">
                <a:solidFill>
                  <a:schemeClr val="tx1"/>
                </a:solidFill>
              </a:rPr>
              <a:t> 있는 경우 맞춰서 표시 됩니다</a:t>
            </a:r>
            <a:r>
              <a:rPr lang="en-US" altLang="ko-KR" sz="800" dirty="0">
                <a:solidFill>
                  <a:schemeClr val="tx1"/>
                </a:solidFill>
              </a:rPr>
              <a:t>.</a:t>
            </a: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en-US" altLang="ko-KR" sz="800" dirty="0">
                <a:solidFill>
                  <a:schemeClr val="tx1"/>
                </a:solidFill>
              </a:rPr>
              <a:t>Input </a:t>
            </a:r>
            <a:r>
              <a:rPr lang="ko-KR" altLang="en-US" sz="800" dirty="0">
                <a:solidFill>
                  <a:schemeClr val="tx1"/>
                </a:solidFill>
              </a:rPr>
              <a:t>박스의 기본 세로 크기는 </a:t>
            </a:r>
            <a:r>
              <a:rPr lang="en-US" altLang="ko-KR" sz="800" dirty="0">
                <a:solidFill>
                  <a:schemeClr val="tx1"/>
                </a:solidFill>
              </a:rPr>
              <a:t>10</a:t>
            </a:r>
            <a:r>
              <a:rPr lang="ko-KR" altLang="en-US" sz="800" dirty="0">
                <a:solidFill>
                  <a:schemeClr val="tx1"/>
                </a:solidFill>
              </a:rPr>
              <a:t>줄이며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입력한 내용에 따라 늘어나며 표시됩니다</a:t>
            </a:r>
            <a:r>
              <a:rPr lang="en-US" altLang="ko-KR" sz="800" dirty="0">
                <a:solidFill>
                  <a:schemeClr val="tx1"/>
                </a:solidFill>
              </a:rPr>
              <a:t>.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4620" y="3107769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4620" y="245731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86849" y="3107769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86849" y="245731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68620468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삭제 확인 팝업 표시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업무 캘린더 삭제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개인이 등록한 일정을 삭제하는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업무캘린더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일정 상세 정보 팝업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일정 삭제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MUI-CM-06-P09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업무 캘린더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39" name="그룹 38"/>
          <p:cNvGrpSpPr/>
          <p:nvPr/>
        </p:nvGrpSpPr>
        <p:grpSpPr>
          <a:xfrm>
            <a:off x="741416" y="3094459"/>
            <a:ext cx="2579992" cy="1519296"/>
            <a:chOff x="3905688" y="3002600"/>
            <a:chExt cx="2579992" cy="1519296"/>
          </a:xfrm>
        </p:grpSpPr>
        <p:sp>
          <p:nvSpPr>
            <p:cNvPr id="45" name="모서리가 둥근 직사각형 44"/>
            <p:cNvSpPr/>
            <p:nvPr/>
          </p:nvSpPr>
          <p:spPr>
            <a:xfrm>
              <a:off x="3905688" y="3002600"/>
              <a:ext cx="2579992" cy="1519296"/>
            </a:xfrm>
            <a:prstGeom prst="roundRect">
              <a:avLst>
                <a:gd name="adj" fmla="val 4663"/>
              </a:avLst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6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5248526" y="4069159"/>
              <a:ext cx="1080000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삭제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4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023382" y="4069159"/>
              <a:ext cx="108000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23382" y="3149329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일정 삭제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43112" y="3381838"/>
              <a:ext cx="2305144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업무 캘린더에 등록된 일정을 삭제합니다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r>
                <a:rPr lang="ko-KR" altLang="en-US" sz="700" dirty="0">
                  <a:latin typeface="+mn-ea"/>
                </a:rPr>
                <a:t>삭제된 일정은 복구할 수 없습니다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endParaRPr lang="en-US" altLang="ko-KR" sz="700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정말 삭제할까요</a:t>
              </a:r>
              <a:r>
                <a:rPr lang="en-US" altLang="ko-KR" sz="700" dirty="0">
                  <a:latin typeface="+mn-ea"/>
                </a:rPr>
                <a:t>?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52" name="그룹 51"/>
            <p:cNvGrpSpPr/>
            <p:nvPr/>
          </p:nvGrpSpPr>
          <p:grpSpPr>
            <a:xfrm>
              <a:off x="6234516" y="3149329"/>
              <a:ext cx="94010" cy="94010"/>
              <a:chOff x="6812560" y="3297172"/>
              <a:chExt cx="94010" cy="94010"/>
            </a:xfrm>
          </p:grpSpPr>
          <p:cxnSp>
            <p:nvCxnSpPr>
              <p:cNvPr id="53" name="직선 연결선 52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4" name="직선 연결선 53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932965694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809414"/>
            <a:ext cx="245636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업무캘린더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dl_taskCldrList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93168"/>
          <a:ext cx="8994883" cy="654676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schdlTtl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작성일자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2291" y="197256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85456713"/>
              </p:ext>
            </p:extLst>
          </p:nvPr>
        </p:nvGraphicFramePr>
        <p:xfrm>
          <a:off x="453000" y="2202145"/>
          <a:ext cx="8995591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7356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880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캘린더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날짜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scwin.getSchdlDtl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해당날짜에 등록된 상세내용이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136222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/>
                        <a:t>등록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/>
                        <a:t>scwin.btn_reg_onclick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업무캘린더에 일정을 등록한다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 smtClean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57871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scwin.btn_del_onclick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업무캘린더에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등록된 일정을 삭제한다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작성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scwin.btn_wrt_onclick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업무캘린더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일정 등록화면으로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/>
                        <a:t>UI-CM-06-M04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668216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60850663-6D69-7CD5-CA30-B78A0AE4F4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2091433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C7D208F1-F7C0-67E8-82DE-6E1266B13A1B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883B8588-F8C5-021F-37D3-ABFFEEDD3345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4" name="Text Box 73">
              <a:extLst>
                <a:ext uri="{FF2B5EF4-FFF2-40B4-BE49-F238E27FC236}">
                  <a16:creationId xmlns:a16="http://schemas.microsoft.com/office/drawing/2014/main" id="{6075AC32-2550-E900-71E4-B0A0220BC4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90437370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문서함 내 </a:t>
            </a:r>
            <a:r>
              <a:rPr lang="ko-KR" altLang="en-US" dirty="0" err="1"/>
              <a:t>보낸문서</a:t>
            </a:r>
            <a:r>
              <a:rPr lang="en-US" altLang="ko-KR" dirty="0"/>
              <a:t>, </a:t>
            </a:r>
            <a:r>
              <a:rPr lang="ko-KR" altLang="en-US" dirty="0" err="1"/>
              <a:t>받은문서</a:t>
            </a:r>
            <a:r>
              <a:rPr lang="en-US" altLang="ko-KR" dirty="0"/>
              <a:t>, </a:t>
            </a:r>
            <a:r>
              <a:rPr lang="ko-KR" altLang="en-US" dirty="0" err="1"/>
              <a:t>임시저장</a:t>
            </a:r>
            <a:r>
              <a:rPr lang="en-US" altLang="ko-KR" dirty="0"/>
              <a:t>, </a:t>
            </a:r>
            <a:r>
              <a:rPr lang="ko-KR" altLang="en-US" dirty="0" err="1"/>
              <a:t>반려받은</a:t>
            </a:r>
            <a:r>
              <a:rPr lang="ko-KR" altLang="en-US" dirty="0"/>
              <a:t> 문서</a:t>
            </a:r>
            <a:r>
              <a:rPr lang="en-US" altLang="ko-KR" dirty="0"/>
              <a:t>, </a:t>
            </a:r>
            <a:r>
              <a:rPr lang="ko-KR" altLang="en-US" dirty="0"/>
              <a:t>반려한 문서 일괄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 필터를 통해 사용자가 </a:t>
            </a:r>
            <a:r>
              <a:rPr lang="ko-KR" altLang="en-US" dirty="0" err="1"/>
              <a:t>필터하여</a:t>
            </a:r>
            <a:r>
              <a:rPr lang="ko-KR" altLang="en-US" dirty="0"/>
              <a:t> 볼 수 있음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문서 상단 레이블을 통해 </a:t>
            </a:r>
            <a:r>
              <a:rPr lang="ko-KR" altLang="en-US" dirty="0" err="1"/>
              <a:t>보낸문서</a:t>
            </a:r>
            <a:r>
              <a:rPr lang="en-US" altLang="ko-KR" dirty="0"/>
              <a:t>, </a:t>
            </a:r>
            <a:r>
              <a:rPr lang="ko-KR" altLang="en-US" dirty="0"/>
              <a:t>받은 </a:t>
            </a:r>
            <a:r>
              <a:rPr lang="ko-KR" altLang="en-US" dirty="0" err="1"/>
              <a:t>문서등</a:t>
            </a:r>
            <a:r>
              <a:rPr lang="ko-KR" altLang="en-US" dirty="0"/>
              <a:t> 분리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첨언</a:t>
            </a:r>
            <a:r>
              <a:rPr lang="en-US" altLang="ko-KR" dirty="0"/>
              <a:t>, </a:t>
            </a:r>
            <a:r>
              <a:rPr lang="ko-KR" altLang="en-US" dirty="0"/>
              <a:t>첨부가 </a:t>
            </a:r>
            <a:r>
              <a:rPr lang="ko-KR" altLang="en-US" dirty="0" smtClean="0"/>
              <a:t>있는 경우 </a:t>
            </a:r>
            <a:r>
              <a:rPr lang="ko-KR" altLang="en-US" dirty="0"/>
              <a:t>레이블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문서는 </a:t>
            </a:r>
            <a:r>
              <a:rPr lang="ko-KR" altLang="en-US" dirty="0" err="1"/>
              <a:t>최신순으로</a:t>
            </a:r>
            <a:r>
              <a:rPr lang="ko-KR" altLang="en-US" dirty="0"/>
              <a:t> 정렬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MUI-CM-06-M10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문서함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727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5" y="1909786"/>
            <a:ext cx="42578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검색필터</a:t>
            </a:r>
            <a:endParaRPr lang="ko-KR" altLang="en-US" sz="700" dirty="0">
              <a:latin typeface="+mn-ea"/>
            </a:endParaRPr>
          </a:p>
        </p:txBody>
      </p:sp>
      <p:sp>
        <p:nvSpPr>
          <p:cNvPr id="40" name="타원 39"/>
          <p:cNvSpPr/>
          <p:nvPr/>
        </p:nvSpPr>
        <p:spPr>
          <a:xfrm>
            <a:off x="783686" y="194113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28441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49" name="그룹 48"/>
          <p:cNvGrpSpPr/>
          <p:nvPr/>
        </p:nvGrpSpPr>
        <p:grpSpPr>
          <a:xfrm>
            <a:off x="781461" y="2395645"/>
            <a:ext cx="2473257" cy="806173"/>
            <a:chOff x="781461" y="2610063"/>
            <a:chExt cx="2473257" cy="806173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송신처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-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문서 제목을 표시합니다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.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230832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도착일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수신일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139237"/>
              <a:ext cx="397545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2026-03-11</a:t>
              </a:r>
            </a:p>
          </p:txBody>
        </p:sp>
        <p:sp>
          <p:nvSpPr>
            <p:cNvPr id="79" name="모서리가 둥근 직사각형 78"/>
            <p:cNvSpPr/>
            <p:nvPr/>
          </p:nvSpPr>
          <p:spPr>
            <a:xfrm>
              <a:off x="781461" y="2610063"/>
              <a:ext cx="42821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받은 문서</a:t>
              </a:r>
            </a:p>
          </p:txBody>
        </p:sp>
        <p:sp>
          <p:nvSpPr>
            <p:cNvPr id="71" name="모서리가 둥근 직사각형 70"/>
            <p:cNvSpPr/>
            <p:nvPr/>
          </p:nvSpPr>
          <p:spPr>
            <a:xfrm>
              <a:off x="1276971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/>
                <a:t>첨언</a:t>
              </a:r>
              <a:endParaRPr lang="ko-KR" altLang="en-US" sz="600" dirty="0"/>
            </a:p>
          </p:txBody>
        </p:sp>
        <p:sp>
          <p:nvSpPr>
            <p:cNvPr id="72" name="모서리가 둥근 직사각형 71"/>
            <p:cNvSpPr/>
            <p:nvPr/>
          </p:nvSpPr>
          <p:spPr>
            <a:xfrm>
              <a:off x="1588278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첨부</a:t>
              </a: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5284597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32459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74" name="그룹 73"/>
          <p:cNvGrpSpPr/>
          <p:nvPr/>
        </p:nvGrpSpPr>
        <p:grpSpPr>
          <a:xfrm>
            <a:off x="781461" y="3436694"/>
            <a:ext cx="2473257" cy="821562"/>
            <a:chOff x="781461" y="2610063"/>
            <a:chExt cx="2473257" cy="821562"/>
          </a:xfrm>
        </p:grpSpPr>
        <p:sp>
          <p:nvSpPr>
            <p:cNvPr id="7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수신처 </a:t>
              </a:r>
              <a:r>
                <a:rPr lang="en-US" altLang="ko-KR" sz="700" dirty="0">
                  <a:solidFill>
                    <a:prstClr val="black"/>
                  </a:solidFill>
                </a:rPr>
                <a:t>-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문서 제목을 표시합니다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.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76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230832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송신일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확인일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7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139237"/>
              <a:ext cx="397545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2026-03-11</a:t>
              </a:r>
            </a:p>
          </p:txBody>
        </p:sp>
        <p:sp>
          <p:nvSpPr>
            <p:cNvPr id="82" name="모서리가 둥근 직사각형 81"/>
            <p:cNvSpPr/>
            <p:nvPr/>
          </p:nvSpPr>
          <p:spPr>
            <a:xfrm>
              <a:off x="781461" y="2610063"/>
              <a:ext cx="42821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보낸 문서</a:t>
              </a:r>
            </a:p>
          </p:txBody>
        </p:sp>
        <p:sp>
          <p:nvSpPr>
            <p:cNvPr id="83" name="모서리가 둥근 직사각형 82"/>
            <p:cNvSpPr/>
            <p:nvPr/>
          </p:nvSpPr>
          <p:spPr>
            <a:xfrm>
              <a:off x="1276971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/>
                <a:t>첨언</a:t>
              </a:r>
              <a:endParaRPr lang="ko-KR" altLang="en-US" sz="600" dirty="0"/>
            </a:p>
          </p:txBody>
        </p:sp>
        <p:sp>
          <p:nvSpPr>
            <p:cNvPr id="84" name="모서리가 둥근 직사각형 83"/>
            <p:cNvSpPr/>
            <p:nvPr/>
          </p:nvSpPr>
          <p:spPr>
            <a:xfrm>
              <a:off x="1588278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첨부</a:t>
              </a:r>
            </a:p>
          </p:txBody>
        </p:sp>
      </p:grpSp>
      <p:cxnSp>
        <p:nvCxnSpPr>
          <p:cNvPr id="85" name="직선 연결선 8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6564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6" name="그룹 85"/>
          <p:cNvGrpSpPr/>
          <p:nvPr/>
        </p:nvGrpSpPr>
        <p:grpSpPr>
          <a:xfrm>
            <a:off x="781461" y="4493250"/>
            <a:ext cx="2473257" cy="532810"/>
            <a:chOff x="781461" y="2610063"/>
            <a:chExt cx="2473257" cy="532810"/>
          </a:xfrm>
        </p:grpSpPr>
        <p:sp>
          <p:nvSpPr>
            <p:cNvPr id="87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문서 제목을 표시합니다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.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88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022199"/>
              <a:ext cx="230832" cy="1206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작성일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89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006810"/>
              <a:ext cx="397545" cy="1206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</p:txBody>
        </p:sp>
        <p:sp>
          <p:nvSpPr>
            <p:cNvPr id="90" name="모서리가 둥근 직사각형 89"/>
            <p:cNvSpPr/>
            <p:nvPr/>
          </p:nvSpPr>
          <p:spPr>
            <a:xfrm>
              <a:off x="781461" y="2610063"/>
              <a:ext cx="42821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임시저장</a:t>
              </a:r>
              <a:endParaRPr lang="ko-KR" altLang="en-US" sz="600" dirty="0"/>
            </a:p>
          </p:txBody>
        </p:sp>
      </p:grpSp>
      <p:cxnSp>
        <p:nvCxnSpPr>
          <p:cNvPr id="93" name="직선 연결선 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14081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문서함</a:t>
            </a:r>
          </a:p>
        </p:txBody>
      </p:sp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96" name="그룹 95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97" name="직선 연결선 9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8" name="직선 연결선 9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1" name="타원 100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/>
          <p:cNvSpPr txBox="1"/>
          <p:nvPr/>
        </p:nvSpPr>
        <p:spPr>
          <a:xfrm>
            <a:off x="6108450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grpSp>
        <p:nvGrpSpPr>
          <p:cNvPr id="103" name="그룹 102"/>
          <p:cNvGrpSpPr/>
          <p:nvPr/>
        </p:nvGrpSpPr>
        <p:grpSpPr>
          <a:xfrm>
            <a:off x="3896624" y="1979532"/>
            <a:ext cx="2473258" cy="806173"/>
            <a:chOff x="781460" y="2610063"/>
            <a:chExt cx="2473258" cy="806173"/>
          </a:xfrm>
        </p:grpSpPr>
        <p:sp>
          <p:nvSpPr>
            <p:cNvPr id="10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반려처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-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문서 제목을 표시합니다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.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105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230832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도착일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수신일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06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139237"/>
              <a:ext cx="397545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2026-03-11</a:t>
              </a:r>
            </a:p>
          </p:txBody>
        </p:sp>
        <p:sp>
          <p:nvSpPr>
            <p:cNvPr id="107" name="모서리가 둥근 직사각형 106"/>
            <p:cNvSpPr/>
            <p:nvPr/>
          </p:nvSpPr>
          <p:spPr>
            <a:xfrm>
              <a:off x="781460" y="2610063"/>
              <a:ext cx="575363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반려받은</a:t>
              </a:r>
              <a:r>
                <a:rPr lang="ko-KR" altLang="en-US" sz="600" dirty="0"/>
                <a:t> 문서</a:t>
              </a:r>
            </a:p>
          </p:txBody>
        </p:sp>
      </p:grp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5654" y="290847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17" name="그룹 116"/>
          <p:cNvGrpSpPr/>
          <p:nvPr/>
        </p:nvGrpSpPr>
        <p:grpSpPr>
          <a:xfrm>
            <a:off x="3896625" y="3020581"/>
            <a:ext cx="2473257" cy="821562"/>
            <a:chOff x="781461" y="2610063"/>
            <a:chExt cx="2473257" cy="821562"/>
          </a:xfrm>
        </p:grpSpPr>
        <p:sp>
          <p:nvSpPr>
            <p:cNvPr id="12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반려처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-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문서 제목을 표시합니다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.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126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230832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반려일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반려자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27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139237"/>
              <a:ext cx="397545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홍길동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28" name="모서리가 둥근 직사각형 127"/>
            <p:cNvSpPr/>
            <p:nvPr/>
          </p:nvSpPr>
          <p:spPr>
            <a:xfrm>
              <a:off x="781461" y="2610063"/>
              <a:ext cx="51345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반려한 문서</a:t>
              </a:r>
            </a:p>
          </p:txBody>
        </p:sp>
      </p:grpSp>
      <p:cxnSp>
        <p:nvCxnSpPr>
          <p:cNvPr id="131" name="직선 연결선 1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5654" y="394952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2" name="TextBox 13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</p:spTree>
    <p:extLst>
      <p:ext uri="{BB962C8B-B14F-4D97-AF65-F5344CB8AC3E}">
        <p14:creationId xmlns:p14="http://schemas.microsoft.com/office/powerpoint/2010/main" val="2496374999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문서함 내 </a:t>
            </a:r>
            <a:r>
              <a:rPr lang="ko-KR" altLang="en-US" dirty="0" err="1"/>
              <a:t>보낸문서</a:t>
            </a:r>
            <a:r>
              <a:rPr lang="en-US" altLang="ko-KR" dirty="0"/>
              <a:t>, </a:t>
            </a:r>
            <a:r>
              <a:rPr lang="ko-KR" altLang="en-US" dirty="0" err="1"/>
              <a:t>받은문서</a:t>
            </a:r>
            <a:r>
              <a:rPr lang="en-US" altLang="ko-KR" dirty="0"/>
              <a:t>, </a:t>
            </a:r>
            <a:r>
              <a:rPr lang="ko-KR" altLang="en-US" dirty="0" err="1"/>
              <a:t>임시저장</a:t>
            </a:r>
            <a:r>
              <a:rPr lang="en-US" altLang="ko-KR" dirty="0"/>
              <a:t>, </a:t>
            </a:r>
            <a:r>
              <a:rPr lang="ko-KR" altLang="en-US" dirty="0" err="1"/>
              <a:t>반려받은</a:t>
            </a:r>
            <a:r>
              <a:rPr lang="ko-KR" altLang="en-US" dirty="0"/>
              <a:t> 문서</a:t>
            </a:r>
            <a:r>
              <a:rPr lang="en-US" altLang="ko-KR" dirty="0"/>
              <a:t>, </a:t>
            </a:r>
            <a:r>
              <a:rPr lang="ko-KR" altLang="en-US" dirty="0"/>
              <a:t>반려한 문서 일괄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 필터를 통해 사용자가 </a:t>
            </a:r>
            <a:r>
              <a:rPr lang="ko-KR" altLang="en-US" dirty="0" err="1"/>
              <a:t>필터하여</a:t>
            </a:r>
            <a:r>
              <a:rPr lang="ko-KR" altLang="en-US" dirty="0"/>
              <a:t> 볼 수 있음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문서 상단 레이블을 통해 </a:t>
            </a:r>
            <a:r>
              <a:rPr lang="ko-KR" altLang="en-US" dirty="0" err="1"/>
              <a:t>보낸문서</a:t>
            </a:r>
            <a:r>
              <a:rPr lang="en-US" altLang="ko-KR" dirty="0"/>
              <a:t>, </a:t>
            </a:r>
            <a:r>
              <a:rPr lang="ko-KR" altLang="en-US" dirty="0"/>
              <a:t>받은 </a:t>
            </a:r>
            <a:r>
              <a:rPr lang="ko-KR" altLang="en-US" dirty="0" err="1"/>
              <a:t>문서등</a:t>
            </a:r>
            <a:r>
              <a:rPr lang="ko-KR" altLang="en-US" dirty="0"/>
              <a:t> 분리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첨언</a:t>
            </a:r>
            <a:r>
              <a:rPr lang="en-US" altLang="ko-KR" dirty="0"/>
              <a:t>, </a:t>
            </a:r>
            <a:r>
              <a:rPr lang="ko-KR" altLang="en-US" dirty="0"/>
              <a:t>첨부가 </a:t>
            </a:r>
            <a:r>
              <a:rPr lang="ko-KR" altLang="en-US" dirty="0" err="1"/>
              <a:t>있는경우</a:t>
            </a:r>
            <a:r>
              <a:rPr lang="ko-KR" altLang="en-US" dirty="0"/>
              <a:t> 레이블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문서는 </a:t>
            </a:r>
            <a:r>
              <a:rPr lang="ko-KR" altLang="en-US" dirty="0" err="1"/>
              <a:t>최신순으로</a:t>
            </a:r>
            <a:r>
              <a:rPr lang="ko-KR" altLang="en-US" dirty="0"/>
              <a:t> </a:t>
            </a:r>
            <a:r>
              <a:rPr lang="ko-KR" altLang="en-US" dirty="0" smtClean="0"/>
              <a:t>정렬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초기값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문서구분</a:t>
            </a:r>
            <a:r>
              <a:rPr lang="en-US" altLang="ko-KR" dirty="0" smtClean="0"/>
              <a:t>:</a:t>
            </a:r>
            <a:r>
              <a:rPr lang="ko-KR" altLang="en-US" dirty="0" smtClean="0"/>
              <a:t>전체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첨언</a:t>
            </a:r>
            <a:r>
              <a:rPr lang="en-US" altLang="ko-KR" dirty="0" smtClean="0"/>
              <a:t>, </a:t>
            </a:r>
            <a:r>
              <a:rPr lang="ko-KR" altLang="en-US" dirty="0" smtClean="0"/>
              <a:t>첨부 여부</a:t>
            </a:r>
            <a:r>
              <a:rPr lang="en-US" altLang="ko-KR" dirty="0" smtClean="0"/>
              <a:t>: </a:t>
            </a:r>
            <a:r>
              <a:rPr lang="ko-KR" altLang="en-US" dirty="0" smtClean="0"/>
              <a:t>전체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기간</a:t>
            </a:r>
            <a:r>
              <a:rPr lang="en-US" altLang="ko-KR" dirty="0" smtClean="0"/>
              <a:t>: 1</a:t>
            </a:r>
            <a:r>
              <a:rPr lang="ko-KR" altLang="en-US" dirty="0" smtClean="0"/>
              <a:t>개월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문서함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err="1" smtClean="0">
                <a:latin typeface="+mn-ea"/>
              </a:rPr>
              <a:t>검색필터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목록 </a:t>
            </a:r>
            <a:r>
              <a:rPr lang="ko-KR" altLang="en-US" dirty="0" err="1" smtClean="0">
                <a:latin typeface="+mn-ea"/>
              </a:rPr>
              <a:t>검색필터</a:t>
            </a:r>
            <a:r>
              <a:rPr lang="ko-KR" altLang="en-US" dirty="0" smtClean="0">
                <a:latin typeface="+mn-ea"/>
              </a:rPr>
              <a:t>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MUI-CM-06-M10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0" name="직선 연결선 7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2112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1" name="그룹 80"/>
          <p:cNvGrpSpPr/>
          <p:nvPr/>
        </p:nvGrpSpPr>
        <p:grpSpPr>
          <a:xfrm>
            <a:off x="3135090" y="1650089"/>
            <a:ext cx="94010" cy="94010"/>
            <a:chOff x="6812560" y="3297172"/>
            <a:chExt cx="94010" cy="94010"/>
          </a:xfrm>
        </p:grpSpPr>
        <p:cxnSp>
          <p:nvCxnSpPr>
            <p:cNvPr id="91" name="직선 연결선 90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2" name="직선 연결선 9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9" name="타원 98"/>
          <p:cNvSpPr/>
          <p:nvPr/>
        </p:nvSpPr>
        <p:spPr>
          <a:xfrm>
            <a:off x="2769812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5228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44170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grpSp>
        <p:nvGrpSpPr>
          <p:cNvPr id="109" name="그룹 108"/>
          <p:cNvGrpSpPr/>
          <p:nvPr/>
        </p:nvGrpSpPr>
        <p:grpSpPr>
          <a:xfrm>
            <a:off x="672112" y="3614651"/>
            <a:ext cx="2712027" cy="1085258"/>
            <a:chOff x="675399" y="1921801"/>
            <a:chExt cx="2712027" cy="1085258"/>
          </a:xfrm>
        </p:grpSpPr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199593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smtClean="0">
                  <a:latin typeface="+mn-ea"/>
                </a:rPr>
                <a:t>첨언</a:t>
              </a:r>
              <a:r>
                <a:rPr lang="en-US" altLang="ko-KR" sz="700" b="1" dirty="0" smtClean="0">
                  <a:latin typeface="+mn-ea"/>
                </a:rPr>
                <a:t>, </a:t>
              </a:r>
              <a:r>
                <a:rPr lang="ko-KR" altLang="en-US" sz="700" b="1" dirty="0" smtClean="0">
                  <a:latin typeface="+mn-ea"/>
                </a:rPr>
                <a:t>첨부 여부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41620" y="2226095"/>
              <a:ext cx="2305144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첨언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첨부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2" name="직사각형 111"/>
            <p:cNvSpPr/>
            <p:nvPr/>
          </p:nvSpPr>
          <p:spPr>
            <a:xfrm>
              <a:off x="772169" y="2292407"/>
              <a:ext cx="107950" cy="107950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3" name="직사각형 112"/>
            <p:cNvSpPr/>
            <p:nvPr/>
          </p:nvSpPr>
          <p:spPr>
            <a:xfrm>
              <a:off x="772169" y="2509633"/>
              <a:ext cx="107950" cy="107950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14" name="그룹 113"/>
            <p:cNvGrpSpPr/>
            <p:nvPr/>
          </p:nvGrpSpPr>
          <p:grpSpPr>
            <a:xfrm flipV="1">
              <a:off x="3140949" y="2093627"/>
              <a:ext cx="91438" cy="45719"/>
              <a:chOff x="6812560" y="3297172"/>
              <a:chExt cx="94010" cy="47005"/>
            </a:xfrm>
          </p:grpSpPr>
          <p:cxnSp>
            <p:nvCxnSpPr>
              <p:cNvPr id="123" name="직선 연결선 12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9" name="직선 연결선 12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6" name="직사각형 115"/>
            <p:cNvSpPr/>
            <p:nvPr/>
          </p:nvSpPr>
          <p:spPr>
            <a:xfrm>
              <a:off x="772169" y="2706723"/>
              <a:ext cx="107950" cy="107950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9" name="TextBox 118"/>
            <p:cNvSpPr txBox="1"/>
            <p:nvPr/>
          </p:nvSpPr>
          <p:spPr>
            <a:xfrm>
              <a:off x="712771" y="2471275"/>
              <a:ext cx="221536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v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3007059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92180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672112" y="4775939"/>
            <a:ext cx="2712027" cy="797589"/>
            <a:chOff x="675399" y="3490553"/>
            <a:chExt cx="2712027" cy="797589"/>
          </a:xfrm>
        </p:grpSpPr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490553"/>
              <a:ext cx="230514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기간 설정</a:t>
              </a:r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713091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검색 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빠른 설정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35" name="그룹 134"/>
            <p:cNvGrpSpPr/>
            <p:nvPr/>
          </p:nvGrpSpPr>
          <p:grpSpPr>
            <a:xfrm flipV="1">
              <a:off x="3140949" y="3588243"/>
              <a:ext cx="91438" cy="45719"/>
              <a:chOff x="6812560" y="3297172"/>
              <a:chExt cx="94010" cy="47005"/>
            </a:xfrm>
          </p:grpSpPr>
          <p:cxnSp>
            <p:nvCxnSpPr>
              <p:cNvPr id="148" name="직선 연결선 14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9" name="직선 연결선 14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36" name="그룹 135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1464781" y="3740722"/>
              <a:ext cx="859319" cy="188244"/>
              <a:chOff x="5613534" y="2854836"/>
              <a:chExt cx="804671" cy="188244"/>
            </a:xfrm>
          </p:grpSpPr>
          <p:sp>
            <p:nvSpPr>
              <p:cNvPr id="146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2025-12-15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47" name="그림 146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sp>
          <p:nvSpPr>
            <p:cNvPr id="137" name="TextBox 91">
              <a:extLst>
                <a:ext uri="{FF2B5EF4-FFF2-40B4-BE49-F238E27FC236}">
                  <a16:creationId xmlns:a16="http://schemas.microsoft.com/office/drawing/2014/main" id="{02490888-B81F-0F94-5D5F-078AEEB39DDB}"/>
                </a:ext>
              </a:extLst>
            </p:cNvPr>
            <p:cNvSpPr txBox="1"/>
            <p:nvPr/>
          </p:nvSpPr>
          <p:spPr>
            <a:xfrm>
              <a:off x="2347279" y="3760669"/>
              <a:ext cx="80150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 dirty="0">
                  <a:solidFill>
                    <a:prstClr val="black"/>
                  </a:solidFill>
                  <a:cs typeface="Pretendard Medium" panose="02000603000000020004" pitchFamily="50" charset="-127"/>
                </a:rPr>
                <a:t>~</a:t>
              </a:r>
              <a:endParaRPr lang="ko-KR" altLang="en-US" sz="900" dirty="0">
                <a:solidFill>
                  <a:prstClr val="black"/>
                </a:solidFill>
                <a:cs typeface="Pretendard Medium" panose="02000603000000020004" pitchFamily="50" charset="-127"/>
              </a:endParaRPr>
            </a:p>
          </p:txBody>
        </p:sp>
        <p:grpSp>
          <p:nvGrpSpPr>
            <p:cNvPr id="138" name="그룹 137"/>
            <p:cNvGrpSpPr/>
            <p:nvPr/>
          </p:nvGrpSpPr>
          <p:grpSpPr>
            <a:xfrm>
              <a:off x="1464781" y="3971391"/>
              <a:ext cx="1845146" cy="188135"/>
              <a:chOff x="1430277" y="4057651"/>
              <a:chExt cx="1845146" cy="188135"/>
            </a:xfrm>
          </p:grpSpPr>
          <p:sp>
            <p:nvSpPr>
              <p:cNvPr id="143" name="사각형: 둥근 모서리 169">
                <a:extLst>
                  <a:ext uri="{FF2B5EF4-FFF2-40B4-BE49-F238E27FC236}">
                    <a16:creationId xmlns:a16="http://schemas.microsoft.com/office/drawing/2014/main" id="{A28DD831-0E4B-31EE-CB08-9E188754698D}"/>
                  </a:ext>
                </a:extLst>
              </p:cNvPr>
              <p:cNvSpPr/>
              <p:nvPr/>
            </p:nvSpPr>
            <p:spPr>
              <a:xfrm>
                <a:off x="1430277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최근 </a:t>
                </a:r>
                <a:r>
                  <a:rPr kumimoji="1" lang="en-US" altLang="ko-KR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개월</a:t>
                </a:r>
                <a:endParaRPr kumimoji="1" 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44" name="사각형: 둥근 모서리 171">
                <a:extLst>
                  <a:ext uri="{FF2B5EF4-FFF2-40B4-BE49-F238E27FC236}">
                    <a16:creationId xmlns:a16="http://schemas.microsoft.com/office/drawing/2014/main" id="{75BECEC6-4045-95B1-98C2-242CA0FC5A06}"/>
                  </a:ext>
                </a:extLst>
              </p:cNvPr>
              <p:cNvSpPr/>
              <p:nvPr/>
            </p:nvSpPr>
            <p:spPr>
              <a:xfrm>
                <a:off x="2061841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latin typeface="+mn-ea"/>
                  </a:rPr>
                  <a:t>최근 </a:t>
                </a:r>
                <a:r>
                  <a:rPr kumimoji="1" lang="en-US" altLang="ko-KR" sz="700" kern="0" dirty="0">
                    <a:latin typeface="+mn-ea"/>
                  </a:rPr>
                  <a:t>3</a:t>
                </a:r>
                <a:r>
                  <a:rPr kumimoji="1" lang="ko-KR" altLang="en-US" sz="700" kern="0" dirty="0">
                    <a:latin typeface="+mn-ea"/>
                  </a:rPr>
                  <a:t>개월</a:t>
                </a:r>
                <a:endParaRPr kumimoji="1" lang="en-US" altLang="ko-KR" sz="700" kern="0" dirty="0">
                  <a:latin typeface="+mn-ea"/>
                </a:endParaRPr>
              </a:p>
            </p:txBody>
          </p:sp>
          <p:sp>
            <p:nvSpPr>
              <p:cNvPr id="145" name="사각형: 둥근 모서리 172">
                <a:extLst>
                  <a:ext uri="{FF2B5EF4-FFF2-40B4-BE49-F238E27FC236}">
                    <a16:creationId xmlns:a16="http://schemas.microsoft.com/office/drawing/2014/main" id="{7F182F00-C81F-5F02-6A1E-826222B231A9}"/>
                  </a:ext>
                </a:extLst>
              </p:cNvPr>
              <p:cNvSpPr/>
              <p:nvPr/>
            </p:nvSpPr>
            <p:spPr>
              <a:xfrm>
                <a:off x="2693406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최근 </a:t>
                </a:r>
                <a:r>
                  <a:rPr kumimoji="1" lang="en-US" altLang="ko-KR" sz="700" kern="0" dirty="0">
                    <a:solidFill>
                      <a:prstClr val="black"/>
                    </a:solidFill>
                    <a:latin typeface="+mn-ea"/>
                  </a:rPr>
                  <a:t>6</a:t>
                </a: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개월</a:t>
                </a:r>
                <a:endParaRPr kumimoji="1" lang="en-US" altLang="ko-KR" sz="7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grpSp>
          <p:nvGrpSpPr>
            <p:cNvPr id="139" name="그룹 138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2450608" y="3740722"/>
              <a:ext cx="859319" cy="188244"/>
              <a:chOff x="5613534" y="2854836"/>
              <a:chExt cx="804671" cy="188244"/>
            </a:xfrm>
          </p:grpSpPr>
          <p:sp>
            <p:nvSpPr>
              <p:cNvPr id="141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2026-01-15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42" name="그림 141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28814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50" name="그룹 149"/>
          <p:cNvGrpSpPr/>
          <p:nvPr/>
        </p:nvGrpSpPr>
        <p:grpSpPr>
          <a:xfrm>
            <a:off x="797174" y="1977748"/>
            <a:ext cx="2468249" cy="1536487"/>
            <a:chOff x="3898850" y="4660546"/>
            <a:chExt cx="2468249" cy="1536487"/>
          </a:xfrm>
        </p:grpSpPr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660546"/>
              <a:ext cx="230514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smtClean="0">
                  <a:latin typeface="+mn-ea"/>
                </a:rPr>
                <a:t>문서 </a:t>
              </a:r>
              <a:r>
                <a:rPr lang="ko-KR" altLang="en-US" sz="700" b="1" dirty="0">
                  <a:latin typeface="+mn-ea"/>
                </a:rPr>
                <a:t>구분</a:t>
              </a:r>
            </a:p>
          </p:txBody>
        </p:sp>
        <p:grpSp>
          <p:nvGrpSpPr>
            <p:cNvPr id="152" name="그룹 151"/>
            <p:cNvGrpSpPr/>
            <p:nvPr/>
          </p:nvGrpSpPr>
          <p:grpSpPr>
            <a:xfrm flipV="1">
              <a:off x="6261284" y="4758236"/>
              <a:ext cx="91438" cy="45719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61955" y="4904371"/>
              <a:ext cx="2305144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받은 문서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보낸 문서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반려 받은 문서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반려한 문서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임시 저장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56" name="직사각형 155"/>
          <p:cNvSpPr/>
          <p:nvPr/>
        </p:nvSpPr>
        <p:spPr>
          <a:xfrm>
            <a:off x="769934" y="2302805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7" name="직사각형 156"/>
          <p:cNvSpPr/>
          <p:nvPr/>
        </p:nvSpPr>
        <p:spPr>
          <a:xfrm>
            <a:off x="769934" y="2717121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8" name="직사각형 157"/>
          <p:cNvSpPr/>
          <p:nvPr/>
        </p:nvSpPr>
        <p:spPr>
          <a:xfrm>
            <a:off x="769934" y="2931782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9" name="직사각형 158"/>
          <p:cNvSpPr/>
          <p:nvPr/>
        </p:nvSpPr>
        <p:spPr>
          <a:xfrm>
            <a:off x="769867" y="2520031"/>
            <a:ext cx="107950" cy="107950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0" name="TextBox 159"/>
          <p:cNvSpPr txBox="1"/>
          <p:nvPr/>
        </p:nvSpPr>
        <p:spPr>
          <a:xfrm>
            <a:off x="710536" y="2481673"/>
            <a:ext cx="221536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solidFill>
                  <a:schemeClr val="bg1"/>
                </a:solidFill>
              </a:rPr>
              <a:t>v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6289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1" name="직사각형 160"/>
          <p:cNvSpPr/>
          <p:nvPr/>
        </p:nvSpPr>
        <p:spPr>
          <a:xfrm>
            <a:off x="769934" y="3144406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직사각형 161"/>
          <p:cNvSpPr/>
          <p:nvPr/>
        </p:nvSpPr>
        <p:spPr>
          <a:xfrm>
            <a:off x="769934" y="3359067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3" name="타원 16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313209" y="16289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grpSp>
        <p:nvGrpSpPr>
          <p:cNvPr id="164" name="그룹 163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65" name="직사각형 16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6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40041559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상세 화면 상단에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1-1 – </a:t>
            </a:r>
            <a:r>
              <a:rPr lang="ko-KR" altLang="en-US" dirty="0"/>
              <a:t>최초 확장하여 목록과 동일한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2-2 – </a:t>
            </a:r>
            <a:r>
              <a:rPr lang="ko-KR" altLang="en-US" dirty="0"/>
              <a:t>스크롤이 발생하는 경우 최소화 정보만 상단 상시 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이슈가 </a:t>
            </a:r>
            <a:r>
              <a:rPr lang="ko-KR" altLang="en-US" dirty="0"/>
              <a:t>발생하는 경우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문서정보</a:t>
            </a:r>
            <a:r>
              <a:rPr lang="en-US" altLang="ko-KR" dirty="0"/>
              <a:t>, </a:t>
            </a:r>
            <a:r>
              <a:rPr lang="ko-KR" altLang="en-US" dirty="0"/>
              <a:t>첨언</a:t>
            </a:r>
            <a:r>
              <a:rPr lang="en-US" altLang="ko-KR" dirty="0"/>
              <a:t>, </a:t>
            </a:r>
            <a:r>
              <a:rPr lang="ko-KR" altLang="en-US" dirty="0" err="1"/>
              <a:t>반려사유</a:t>
            </a:r>
            <a:r>
              <a:rPr lang="en-US" altLang="ko-KR" dirty="0"/>
              <a:t>, </a:t>
            </a:r>
            <a:r>
              <a:rPr lang="ko-KR" altLang="en-US" dirty="0"/>
              <a:t>첨부파일 순으로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문서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상세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상세 조회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MUI-CM-06-M11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문서함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18892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88926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3758" y="2435689"/>
            <a:ext cx="270400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243568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75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3527987" y="1860110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1-2</a:t>
            </a:r>
            <a:endParaRPr lang="ko-KR" altLang="en-US" sz="900" b="1" dirty="0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6582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64168" y="2972319"/>
            <a:ext cx="1636583" cy="107722"/>
            <a:chOff x="764168" y="4142235"/>
            <a:chExt cx="1636583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8" y="4142235"/>
              <a:ext cx="39153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err="1">
                  <a:latin typeface="+mn-ea"/>
                </a:rPr>
                <a:t>문서정보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302043" y="4142235"/>
              <a:ext cx="59397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첨언 상세보기</a:t>
              </a:r>
            </a:p>
          </p:txBody>
        </p: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036583" y="4142235"/>
              <a:ext cx="36416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첨부파일</a:t>
              </a:r>
            </a:p>
          </p:txBody>
        </p:sp>
      </p:grpSp>
      <p:grpSp>
        <p:nvGrpSpPr>
          <p:cNvPr id="174" name="그룹 17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5274274"/>
            <a:ext cx="76863" cy="292489"/>
            <a:chOff x="3750067" y="4683795"/>
            <a:chExt cx="76863" cy="292489"/>
          </a:xfrm>
        </p:grpSpPr>
        <p:sp>
          <p:nvSpPr>
            <p:cNvPr id="176" name="타원 175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7" name="타원 176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141" name="그룹 140"/>
          <p:cNvGrpSpPr/>
          <p:nvPr/>
        </p:nvGrpSpPr>
        <p:grpSpPr>
          <a:xfrm>
            <a:off x="794784" y="1947622"/>
            <a:ext cx="2473257" cy="806173"/>
            <a:chOff x="781461" y="2610063"/>
            <a:chExt cx="2473257" cy="806173"/>
          </a:xfrm>
        </p:grpSpPr>
        <p:sp>
          <p:nvSpPr>
            <p:cNvPr id="142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송신처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–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문서 제목을 표시합니다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.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143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230832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도착일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수신일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44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139237"/>
              <a:ext cx="397545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2026-03-11</a:t>
              </a:r>
            </a:p>
          </p:txBody>
        </p:sp>
        <p:sp>
          <p:nvSpPr>
            <p:cNvPr id="145" name="모서리가 둥근 직사각형 144"/>
            <p:cNvSpPr/>
            <p:nvPr/>
          </p:nvSpPr>
          <p:spPr>
            <a:xfrm>
              <a:off x="781461" y="2610063"/>
              <a:ext cx="42821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받은 문서</a:t>
              </a:r>
            </a:p>
          </p:txBody>
        </p:sp>
        <p:sp>
          <p:nvSpPr>
            <p:cNvPr id="146" name="모서리가 둥근 직사각형 145"/>
            <p:cNvSpPr/>
            <p:nvPr/>
          </p:nvSpPr>
          <p:spPr>
            <a:xfrm>
              <a:off x="1276971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/>
                <a:t>첨언</a:t>
              </a:r>
              <a:endParaRPr lang="ko-KR" altLang="en-US" sz="600" dirty="0"/>
            </a:p>
          </p:txBody>
        </p:sp>
        <p:sp>
          <p:nvSpPr>
            <p:cNvPr id="147" name="모서리가 둥근 직사각형 146"/>
            <p:cNvSpPr/>
            <p:nvPr/>
          </p:nvSpPr>
          <p:spPr>
            <a:xfrm>
              <a:off x="1588278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첨부</a:t>
              </a:r>
            </a:p>
          </p:txBody>
        </p:sp>
      </p:grpSp>
      <p:grpSp>
        <p:nvGrpSpPr>
          <p:cNvPr id="169" name="그룹 168"/>
          <p:cNvGrpSpPr/>
          <p:nvPr/>
        </p:nvGrpSpPr>
        <p:grpSpPr>
          <a:xfrm>
            <a:off x="3915119" y="1603462"/>
            <a:ext cx="2473257" cy="430552"/>
            <a:chOff x="781461" y="2610063"/>
            <a:chExt cx="2473257" cy="430552"/>
          </a:xfrm>
        </p:grpSpPr>
        <p:sp>
          <p:nvSpPr>
            <p:cNvPr id="171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송신처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-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문서 제목을 표시합니다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.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179" name="모서리가 둥근 직사각형 178"/>
            <p:cNvSpPr/>
            <p:nvPr/>
          </p:nvSpPr>
          <p:spPr>
            <a:xfrm>
              <a:off x="781461" y="2610063"/>
              <a:ext cx="42821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받은 문서</a:t>
              </a:r>
            </a:p>
          </p:txBody>
        </p:sp>
        <p:sp>
          <p:nvSpPr>
            <p:cNvPr id="180" name="모서리가 둥근 직사각형 179"/>
            <p:cNvSpPr/>
            <p:nvPr/>
          </p:nvSpPr>
          <p:spPr>
            <a:xfrm>
              <a:off x="1276971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/>
                <a:t>첨언</a:t>
              </a:r>
              <a:endParaRPr lang="ko-KR" altLang="en-US" sz="600" dirty="0"/>
            </a:p>
          </p:txBody>
        </p:sp>
        <p:sp>
          <p:nvSpPr>
            <p:cNvPr id="181" name="모서리가 둥근 직사각형 180"/>
            <p:cNvSpPr/>
            <p:nvPr/>
          </p:nvSpPr>
          <p:spPr>
            <a:xfrm>
              <a:off x="1588278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첨부</a:t>
              </a:r>
            </a:p>
          </p:txBody>
        </p:sp>
      </p:grpSp>
      <p:grpSp>
        <p:nvGrpSpPr>
          <p:cNvPr id="206" name="그룹 205"/>
          <p:cNvGrpSpPr/>
          <p:nvPr/>
        </p:nvGrpSpPr>
        <p:grpSpPr>
          <a:xfrm>
            <a:off x="3869962" y="2216688"/>
            <a:ext cx="1636583" cy="107722"/>
            <a:chOff x="764168" y="4142235"/>
            <a:chExt cx="1636583" cy="107722"/>
          </a:xfrm>
        </p:grpSpPr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8" y="4142235"/>
              <a:ext cx="39153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err="1">
                  <a:latin typeface="+mn-ea"/>
                </a:rPr>
                <a:t>문서정보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302043" y="4142235"/>
              <a:ext cx="59397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첨언 상세보기</a:t>
              </a:r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036583" y="4142235"/>
              <a:ext cx="36416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첨부파일</a:t>
              </a: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0615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71" name="타원 2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564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74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439443" y="2228979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1-1</a:t>
            </a:r>
            <a:endParaRPr lang="ko-KR" altLang="en-US" sz="900" b="1" dirty="0"/>
          </a:p>
        </p:txBody>
      </p: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30159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39" name="TextBox 2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0331" y="3441714"/>
            <a:ext cx="2532688" cy="168809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1.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1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2.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2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3.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3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4.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4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5.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5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6.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6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⁞</a:t>
            </a:r>
            <a:endParaRPr lang="ko-KR" altLang="en-US" sz="800" dirty="0">
              <a:latin typeface="+mn-ea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31477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내용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8962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326131052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첨언 상세 내용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첨부파일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상세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상세 조회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MUI-CM-06-M11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문서함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18892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58764" y="3188926"/>
            <a:ext cx="652018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6582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64168" y="2972319"/>
            <a:ext cx="1636583" cy="107722"/>
            <a:chOff x="764168" y="4142235"/>
            <a:chExt cx="1636583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8" y="4142235"/>
              <a:ext cx="39153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>
                  <a:latin typeface="+mn-ea"/>
                </a:rPr>
                <a:t>문서정보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302043" y="4142235"/>
              <a:ext cx="59397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latin typeface="+mn-ea"/>
                </a:rPr>
                <a:t>첨언 상세보기</a:t>
              </a:r>
            </a:p>
          </p:txBody>
        </p: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036583" y="4142235"/>
              <a:ext cx="36416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첨부파일</a:t>
              </a:r>
            </a:p>
          </p:txBody>
        </p:sp>
      </p:grpSp>
      <p:grpSp>
        <p:nvGrpSpPr>
          <p:cNvPr id="141" name="그룹 140"/>
          <p:cNvGrpSpPr/>
          <p:nvPr/>
        </p:nvGrpSpPr>
        <p:grpSpPr>
          <a:xfrm>
            <a:off x="794784" y="1947622"/>
            <a:ext cx="2473257" cy="806173"/>
            <a:chOff x="781461" y="2610063"/>
            <a:chExt cx="2473257" cy="806173"/>
          </a:xfrm>
        </p:grpSpPr>
        <p:sp>
          <p:nvSpPr>
            <p:cNvPr id="142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송신처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–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문서 제목을 표시합니다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.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143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230832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도착일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수신일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44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139237"/>
              <a:ext cx="397545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2026-03-11</a:t>
              </a:r>
            </a:p>
          </p:txBody>
        </p:sp>
        <p:sp>
          <p:nvSpPr>
            <p:cNvPr id="145" name="모서리가 둥근 직사각형 144"/>
            <p:cNvSpPr/>
            <p:nvPr/>
          </p:nvSpPr>
          <p:spPr>
            <a:xfrm>
              <a:off x="781461" y="2610063"/>
              <a:ext cx="42821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받은 문서</a:t>
              </a:r>
            </a:p>
          </p:txBody>
        </p:sp>
        <p:sp>
          <p:nvSpPr>
            <p:cNvPr id="146" name="모서리가 둥근 직사각형 145"/>
            <p:cNvSpPr/>
            <p:nvPr/>
          </p:nvSpPr>
          <p:spPr>
            <a:xfrm>
              <a:off x="1276971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/>
                <a:t>첨언</a:t>
              </a:r>
              <a:endParaRPr lang="ko-KR" altLang="en-US" sz="600" dirty="0"/>
            </a:p>
          </p:txBody>
        </p:sp>
        <p:sp>
          <p:nvSpPr>
            <p:cNvPr id="147" name="모서리가 둥근 직사각형 146"/>
            <p:cNvSpPr/>
            <p:nvPr/>
          </p:nvSpPr>
          <p:spPr>
            <a:xfrm>
              <a:off x="1588278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첨부</a:t>
              </a:r>
            </a:p>
          </p:txBody>
        </p:sp>
      </p:grp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30159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8" name="TextBox 2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0331" y="3441714"/>
            <a:ext cx="2532688" cy="168809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1.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1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2.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2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3.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3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4.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4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5.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5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6.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6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⁞</a:t>
            </a:r>
            <a:endParaRPr lang="ko-KR" altLang="en-US" sz="800" dirty="0">
              <a:latin typeface="+mn-ea"/>
            </a:endParaRPr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31477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내용</a:t>
            </a:r>
          </a:p>
        </p:txBody>
      </p:sp>
      <p:sp>
        <p:nvSpPr>
          <p:cNvPr id="271" name="타원 2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8860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74" name="직선 연결선 7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3758" y="2435689"/>
            <a:ext cx="270400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5113316" y="243568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6" name="그룹 7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5274274"/>
            <a:ext cx="76863" cy="292489"/>
            <a:chOff x="3750067" y="4683795"/>
            <a:chExt cx="76863" cy="292489"/>
          </a:xfrm>
        </p:grpSpPr>
        <p:sp>
          <p:nvSpPr>
            <p:cNvPr id="77" name="타원 76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8" name="타원 77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9" name="타원 78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80" name="그룹 79"/>
          <p:cNvGrpSpPr/>
          <p:nvPr/>
        </p:nvGrpSpPr>
        <p:grpSpPr>
          <a:xfrm>
            <a:off x="3915119" y="1603462"/>
            <a:ext cx="2473257" cy="430552"/>
            <a:chOff x="781461" y="2610063"/>
            <a:chExt cx="2473257" cy="430552"/>
          </a:xfrm>
        </p:grpSpPr>
        <p:sp>
          <p:nvSpPr>
            <p:cNvPr id="81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송신처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-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문서 제목을 표시합니다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.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82" name="모서리가 둥근 직사각형 81"/>
            <p:cNvSpPr/>
            <p:nvPr/>
          </p:nvSpPr>
          <p:spPr>
            <a:xfrm>
              <a:off x="781461" y="2610063"/>
              <a:ext cx="42821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받은 문서</a:t>
              </a:r>
            </a:p>
          </p:txBody>
        </p:sp>
        <p:sp>
          <p:nvSpPr>
            <p:cNvPr id="83" name="모서리가 둥근 직사각형 82"/>
            <p:cNvSpPr/>
            <p:nvPr/>
          </p:nvSpPr>
          <p:spPr>
            <a:xfrm>
              <a:off x="1276971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/>
                <a:t>첨언</a:t>
              </a:r>
              <a:endParaRPr lang="ko-KR" altLang="en-US" sz="600" dirty="0"/>
            </a:p>
          </p:txBody>
        </p:sp>
        <p:sp>
          <p:nvSpPr>
            <p:cNvPr id="86" name="모서리가 둥근 직사각형 85"/>
            <p:cNvSpPr/>
            <p:nvPr/>
          </p:nvSpPr>
          <p:spPr>
            <a:xfrm>
              <a:off x="1588278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첨부</a:t>
              </a:r>
            </a:p>
          </p:txBody>
        </p:sp>
      </p:grpSp>
      <p:grpSp>
        <p:nvGrpSpPr>
          <p:cNvPr id="87" name="그룹 86"/>
          <p:cNvGrpSpPr/>
          <p:nvPr/>
        </p:nvGrpSpPr>
        <p:grpSpPr>
          <a:xfrm>
            <a:off x="3869962" y="2216688"/>
            <a:ext cx="1636583" cy="107722"/>
            <a:chOff x="764168" y="4142235"/>
            <a:chExt cx="1636583" cy="107722"/>
          </a:xfrm>
        </p:grpSpPr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8" y="4142235"/>
              <a:ext cx="39153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>
                  <a:latin typeface="+mn-ea"/>
                </a:rPr>
                <a:t>문서정보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302043" y="4142235"/>
              <a:ext cx="59397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첨언 상세보기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036583" y="4142235"/>
              <a:ext cx="36416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latin typeface="+mn-ea"/>
                </a:rPr>
                <a:t>첨부파일</a:t>
              </a:r>
            </a:p>
          </p:txBody>
        </p:sp>
      </p:grpSp>
      <p:sp>
        <p:nvSpPr>
          <p:cNvPr id="93" name="타원 9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4498" y="257040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8" name="그룹 7"/>
          <p:cNvGrpSpPr/>
          <p:nvPr/>
        </p:nvGrpSpPr>
        <p:grpSpPr>
          <a:xfrm>
            <a:off x="3795734" y="2600243"/>
            <a:ext cx="2712027" cy="1351549"/>
            <a:chOff x="675399" y="1880640"/>
            <a:chExt cx="2712027" cy="1351549"/>
          </a:xfrm>
        </p:grpSpPr>
        <p:grpSp>
          <p:nvGrpSpPr>
            <p:cNvPr id="94" name="그룹 93"/>
            <p:cNvGrpSpPr/>
            <p:nvPr/>
          </p:nvGrpSpPr>
          <p:grpSpPr>
            <a:xfrm>
              <a:off x="705041" y="1880640"/>
              <a:ext cx="2652743" cy="906290"/>
              <a:chOff x="675929" y="1954020"/>
              <a:chExt cx="2652743" cy="906290"/>
            </a:xfrm>
          </p:grpSpPr>
          <p:sp>
            <p:nvSpPr>
              <p:cNvPr id="95" name="모서리가 둥근 직사각형 94"/>
              <p:cNvSpPr/>
              <p:nvPr/>
            </p:nvSpPr>
            <p:spPr>
              <a:xfrm>
                <a:off x="675929" y="2089138"/>
                <a:ext cx="2652743" cy="364486"/>
              </a:xfrm>
              <a:prstGeom prst="roundRect">
                <a:avLst>
                  <a:gd name="adj" fmla="val 9062"/>
                </a:avLst>
              </a:prstGeom>
              <a:noFill/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176597" y="2163659"/>
                <a:ext cx="1682738" cy="21544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첨부파일명칭 표시</a:t>
                </a:r>
                <a:endPara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endParaRPr>
              </a:p>
              <a:p>
                <a:r>
                  <a:rPr lang="ko-KR" altLang="en-US" sz="700" dirty="0" err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첨부파일명</a:t>
                </a:r>
                <a:r>
                  <a: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.</a:t>
                </a:r>
                <a:r>
                  <a:rPr lang="en-US" altLang="ko-KR" sz="700" dirty="0" err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hwp</a:t>
                </a:r>
                <a:r>
                  <a: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 [</a:t>
                </a:r>
                <a:r>
                  <a:rPr lang="ko-KR" altLang="en-US" sz="700" dirty="0" err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파일크기</a:t>
                </a:r>
                <a:r>
                  <a: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]</a:t>
                </a:r>
              </a:p>
            </p:txBody>
          </p:sp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54125" y="2217520"/>
                <a:ext cx="24778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1</a:t>
                </a:r>
              </a:p>
            </p:txBody>
          </p:sp>
          <p:sp>
            <p:nvSpPr>
              <p:cNvPr id="98" name="타원 97"/>
              <p:cNvSpPr/>
              <p:nvPr/>
            </p:nvSpPr>
            <p:spPr>
              <a:xfrm>
                <a:off x="3063926" y="2199381"/>
                <a:ext cx="144000" cy="1440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9" name="모서리가 둥근 직사각형 98"/>
              <p:cNvSpPr/>
              <p:nvPr/>
            </p:nvSpPr>
            <p:spPr>
              <a:xfrm>
                <a:off x="675929" y="2495824"/>
                <a:ext cx="2652743" cy="364486"/>
              </a:xfrm>
              <a:prstGeom prst="roundRect">
                <a:avLst>
                  <a:gd name="adj" fmla="val 9062"/>
                </a:avLst>
              </a:prstGeom>
              <a:noFill/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176597" y="2570345"/>
                <a:ext cx="1682738" cy="21544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첨부파일명칭 표시</a:t>
                </a:r>
                <a:endPara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endParaRPr>
              </a:p>
              <a:p>
                <a:r>
                  <a:rPr lang="ko-KR" altLang="en-US" sz="700" dirty="0" err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첨부파일명</a:t>
                </a:r>
                <a:r>
                  <a: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.</a:t>
                </a:r>
                <a:r>
                  <a:rPr lang="en-US" altLang="ko-KR" sz="700" dirty="0" err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hwp</a:t>
                </a:r>
                <a:r>
                  <a: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 [</a:t>
                </a:r>
                <a:r>
                  <a:rPr lang="ko-KR" altLang="en-US" sz="700" dirty="0" err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파일크기</a:t>
                </a:r>
                <a:r>
                  <a: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]</a:t>
                </a:r>
              </a:p>
            </p:txBody>
          </p:sp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54125" y="2624206"/>
                <a:ext cx="24778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2</a:t>
                </a:r>
              </a:p>
            </p:txBody>
          </p:sp>
          <p:sp>
            <p:nvSpPr>
              <p:cNvPr id="103" name="타원 102"/>
              <p:cNvSpPr/>
              <p:nvPr/>
            </p:nvSpPr>
            <p:spPr>
              <a:xfrm>
                <a:off x="3063926" y="2606067"/>
                <a:ext cx="144000" cy="1440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176597" y="1954020"/>
                <a:ext cx="474348" cy="92333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600" dirty="0" err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첨부파일명</a:t>
                </a:r>
                <a:endParaRPr lang="en-US" altLang="ko-KR" sz="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endParaRPr>
              </a:p>
            </p:txBody>
          </p:sp>
          <p:sp>
            <p:nvSpPr>
              <p:cNvPr id="106" name="TextBox 10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973442" y="1954020"/>
                <a:ext cx="324968" cy="92333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다운로드</a:t>
                </a:r>
                <a:endParaRPr lang="en-US" altLang="ko-KR" sz="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endParaRPr>
              </a:p>
            </p:txBody>
          </p:sp>
          <p:sp>
            <p:nvSpPr>
              <p:cNvPr id="107" name="TextBox 10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1074" y="1954020"/>
                <a:ext cx="153888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algn="ctr"/>
                <a:r>
                  <a:rPr lang="ko-KR" altLang="en-US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번호</a:t>
                </a:r>
                <a:endParaRPr lang="en-US" altLang="ko-KR" sz="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endParaRPr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3232189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1901526963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3104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받은문서함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133517"/>
            <a:ext cx="272086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받은문서함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dl_rcptnDocBoxList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1431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송신처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trsmOgnzCd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송신처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docNm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Rcpt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Idnty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2185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Rcpt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Idnty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8958112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417271"/>
          <a:ext cx="8994883" cy="1576188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송신처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trsmOgnzCd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송신처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문서명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도착일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rcptnDt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</a:rPr>
                        <a:t>도착일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수신일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rcptIdntyDt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수신일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접수확인일시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첨언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addCn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첨언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500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첨부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edmsDocId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5707676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2999" y="409530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4321897"/>
          <a:ext cx="8995591" cy="1529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7356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880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72185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그리드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scwin.grd_rcptnDocBoxList_oncellclick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9067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그리드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scwin.grd_rcptnDocBoxList_oncellclick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첨언이 팝업으로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/>
                        <a:t>UI-CM-06-P08 </a:t>
                      </a:r>
                      <a:r>
                        <a:rPr lang="ko-KR" altLang="en-US" sz="800" dirty="0"/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31124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그리드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scwin.grd_rcptnDocBoxList_oncellclick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첨부문서를 다운로드 할 수 있는 팝업이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/>
                        <a:t>UI-CM-06-P09 </a:t>
                      </a:r>
                      <a:r>
                        <a:rPr lang="ko-KR" altLang="en-US" sz="800" dirty="0"/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02432186"/>
                  </a:ext>
                </a:extLst>
              </a:tr>
            </a:tbl>
          </a:graphicData>
        </a:graphic>
      </p:graphicFrame>
      <p:sp>
        <p:nvSpPr>
          <p:cNvPr id="14" name="Text Box 73">
            <a:extLst>
              <a:ext uri="{FF2B5EF4-FFF2-40B4-BE49-F238E27FC236}">
                <a16:creationId xmlns:a16="http://schemas.microsoft.com/office/drawing/2014/main" id="{39B3FC3F-44C8-AA76-E87C-D8F513C0C0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20525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A856F0DC-4AC5-DFA7-F72E-BA04B94B5918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1329A1BF-B567-C483-B2E8-33E3874D72AC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0" name="Text Box 73">
              <a:extLst>
                <a:ext uri="{FF2B5EF4-FFF2-40B4-BE49-F238E27FC236}">
                  <a16:creationId xmlns:a16="http://schemas.microsoft.com/office/drawing/2014/main" id="{D469DDBC-E680-75E9-4D85-0D21C7C9FA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64908026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9" y="170111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832564"/>
            <a:ext cx="258140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첨언상세보기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dm_addCnInfo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1930709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7356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880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닫기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scwin.btn_close_onclick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 검색 팝업창이 닫힌다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1038216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116318"/>
          <a:ext cx="8994883" cy="424298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첨언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addCn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첨언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029ECBC4-6D9B-D7FA-B257-E877073396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181698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65BFF1C7-887B-32AA-24EE-EBE46D67EEAF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FFA3ED1D-D653-0078-76A8-8AD322EB9D05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6" name="Text Box 73">
              <a:extLst>
                <a:ext uri="{FF2B5EF4-FFF2-40B4-BE49-F238E27FC236}">
                  <a16:creationId xmlns:a16="http://schemas.microsoft.com/office/drawing/2014/main" id="{77BEF055-45FA-F5E1-7995-1C9453CA27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33981145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65674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첨부문서다운로드 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7" y="257827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1481090"/>
            <a:ext cx="28042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첨부문서다운로드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dl_atchDocList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7" y="1014316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EDMS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edmsDocId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받은 문서 또는 보낸 문서에서 받아온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EDMS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3258132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2804861"/>
          <a:ext cx="8995591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90498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711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다운로드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scwin.btn_dwnld_onclick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선택한 파일을 다운로드 한다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10382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닫기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scwin.btn_close_onclick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첨부파일다운로드 팝업창이 닫힌다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0031607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764844"/>
          <a:ext cx="8994883" cy="654676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첨부문서명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fileTtl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첨부문서명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파일명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파일명 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9282185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5505DE0D-16CC-3C4F-C939-DC20317EC6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2703015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A02BF9D5-5273-4F6F-CB5E-11F91278AED5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ED826C1C-0132-3CB3-AC8A-80FE3A0C3571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BAD4D73E-E849-1E51-9D60-482A015D75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39170107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3104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보낸문서함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127581"/>
            <a:ext cx="269201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보낸문서함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dl_sendDocBoxList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1431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rcptnOgnzCd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수신처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trsmBgngYmd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2185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trsmEndYmd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33746398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411335"/>
          <a:ext cx="8994883" cy="1576188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수신처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rcptnOgnzCd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수신처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문서명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송신일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docWrtDt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</a:rPr>
                        <a:t>송신일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확인일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rcptIdntyDt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확인일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첨언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addCn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첨언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500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첨부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edmsDocId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5707676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8117" y="404376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4321898"/>
          <a:ext cx="8995591" cy="1529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39698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5219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72185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그리드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scwin.grd_sendDocBoxList_oncellclick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9067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그리드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scwin.grd_sendDocBoxList_oncellclick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첨언이 팝업으로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marR="0" lvl="0" indent="-87313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dirty="0"/>
                        <a:t>UI-CM-06-P08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+mn-ea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31124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그리드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scwin.grd_sendDocBoxList_oncellclick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첨부문서를 다운로드 할 수 있는 팝업이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marR="0" lvl="0" indent="-87313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dirty="0"/>
                        <a:t>UI-CM-06-P09</a:t>
                      </a:r>
                      <a:r>
                        <a:rPr lang="ko-KR" altLang="en-US" sz="800" dirty="0">
                          <a:latin typeface="+mn-lt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+mn-ea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02432186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ECAFF8A0-50EC-82AE-BA5A-D1527BD4D9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199315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0E98179B-2A5F-DCA0-6FB1-5254512490D4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0AFDD93-06A1-7721-9E3F-045B7346CD84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4735F0DC-C396-6A0B-A66C-37731D6CCA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63871271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90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3104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임시저장함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1996950"/>
            <a:ext cx="270002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임시저장함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dl_tmprDocBoxList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14316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wrtBgngYmd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wrtEndYmd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317615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docNm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280704"/>
          <a:ext cx="8994883" cy="654676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문서명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작성일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</a:rPr>
                        <a:t>작성일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8117" y="3022488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3300619"/>
          <a:ext cx="8995591" cy="897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276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5388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72185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그리드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scwin.grd_tmprDocBoxList_oncellclick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9067193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2BE24769-50A8-B14F-3957-A7A3A03CFD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319584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77F39A60-AAE4-10F9-971A-14BEA40553D2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405504B0-219F-7020-36D2-5A22C9604AFF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8794ABDE-C3BD-6C8C-B743-65102D9251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77378518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91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07966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반려함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139458"/>
            <a:ext cx="237942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반려함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dl_rjctDocBoxList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1431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docWrtBgngYmd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docWrtEndYmd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98668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rjctYn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반려여부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반려받은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반려한 문서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5814632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343690"/>
          <a:ext cx="8994883" cy="1576188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반려처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trsmOgnzCd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반려처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반려자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rturId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</a:rPr>
                        <a:t>반려자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문서명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46621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반려여부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rjctYn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반려여부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54546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반려일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docWrtDt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반려일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306115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반려사유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rjctRsn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반려사유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5362723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2999" y="401513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4250648"/>
          <a:ext cx="8995591" cy="897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82032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7958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72185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그리드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반려사유 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scwin.grd_rjctDocBoxList_oncellclick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반려사유 팝업창이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/>
                        <a:t>UI-CM-06-P13 </a:t>
                      </a:r>
                      <a:r>
                        <a:rPr lang="ko-KR" altLang="en-US" sz="800" dirty="0"/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9067193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1844FB6C-BF5D-D2C1-8CC7-7295814E11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13400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34F34269-FA1F-CAFC-925F-EB508475034C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A36E5A4B-8498-C576-9110-316A94C90915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63761980-DED2-5628-B24D-04AFEFCB27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64879300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92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879953"/>
            <a:ext cx="237621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반려사유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dm_rjctRsnInfo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163707"/>
          <a:ext cx="8994883" cy="424298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반려사유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rjctRsn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반려사유 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E1AFFECE-E5E8-396C-84F0-3EB6A65AC3F1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BA240484-4FCF-6BAA-7C44-24FA614779E5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E6A817EE-0532-A5EC-D59B-9990726EE7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65592023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개인별 수신처 정보 목록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모바일에서 조회만 가능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등록</a:t>
            </a:r>
            <a:r>
              <a:rPr lang="en-US" altLang="ko-KR" dirty="0" smtClean="0"/>
              <a:t>, </a:t>
            </a:r>
            <a:r>
              <a:rPr lang="ko-KR" altLang="en-US" dirty="0" smtClean="0"/>
              <a:t>수정</a:t>
            </a:r>
            <a:r>
              <a:rPr lang="en-US" altLang="ko-KR" dirty="0" smtClean="0"/>
              <a:t>, </a:t>
            </a:r>
            <a:r>
              <a:rPr lang="ko-KR" altLang="en-US" dirty="0" smtClean="0"/>
              <a:t>삭제는 </a:t>
            </a:r>
            <a:r>
              <a:rPr lang="en-US" altLang="ko-KR" dirty="0" smtClean="0"/>
              <a:t>PC</a:t>
            </a:r>
            <a:r>
              <a:rPr lang="ko-KR" altLang="en-US" dirty="0" smtClean="0"/>
              <a:t>에서 가능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개인별수신처 관리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개인별수신처관리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개인별수신처관리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MUI-CM-06-M12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개인별 수신처 관리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727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49" name="그룹 48"/>
          <p:cNvGrpSpPr/>
          <p:nvPr/>
        </p:nvGrpSpPr>
        <p:grpSpPr>
          <a:xfrm>
            <a:off x="781461" y="2325444"/>
            <a:ext cx="2473257" cy="498731"/>
            <a:chOff x="781461" y="2794394"/>
            <a:chExt cx="2473257" cy="498731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부서 </a:t>
              </a:r>
              <a:r>
                <a:rPr lang="en-US" altLang="ko-KR" sz="700" dirty="0">
                  <a:solidFill>
                    <a:prstClr val="black"/>
                  </a:solidFill>
                </a:rPr>
                <a:t>-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수신자 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- 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홍길동</a:t>
              </a:r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전자문서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50191" y="3139237"/>
              <a:ext cx="384721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물량배정서</a:t>
              </a:r>
              <a:endParaRPr lang="en-US" altLang="ko-KR" sz="600" dirty="0">
                <a:latin typeface="+mn-ea"/>
              </a:endParaRP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284597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90480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8" name="그룹 77"/>
          <p:cNvGrpSpPr/>
          <p:nvPr/>
        </p:nvGrpSpPr>
        <p:grpSpPr>
          <a:xfrm>
            <a:off x="781461" y="3018547"/>
            <a:ext cx="2473257" cy="498731"/>
            <a:chOff x="781461" y="2794394"/>
            <a:chExt cx="2473257" cy="498731"/>
          </a:xfrm>
        </p:grpSpPr>
        <p:sp>
          <p:nvSpPr>
            <p:cNvPr id="80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부서 </a:t>
              </a:r>
              <a:r>
                <a:rPr lang="en-US" altLang="ko-KR" sz="700" dirty="0">
                  <a:solidFill>
                    <a:prstClr val="black"/>
                  </a:solidFill>
                </a:rPr>
                <a:t>-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수신자 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- 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홍길동</a:t>
              </a:r>
            </a:p>
          </p:txBody>
        </p:sp>
        <p:sp>
          <p:nvSpPr>
            <p:cNvPr id="81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전자문서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91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50191" y="3139237"/>
              <a:ext cx="384721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물량배정서</a:t>
              </a:r>
              <a:endParaRPr lang="en-US" altLang="ko-KR" sz="600" dirty="0">
                <a:latin typeface="+mn-ea"/>
              </a:endParaRPr>
            </a:p>
          </p:txBody>
        </p:sp>
      </p:grpSp>
      <p:cxnSp>
        <p:nvCxnSpPr>
          <p:cNvPr id="92" name="직선 연결선 9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59791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1762982998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94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20927"/>
            <a:ext cx="265674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개인별수신처관리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1658504"/>
            <a:ext cx="289559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개인별수신처관리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dl_indvRcofcList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32130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전자문서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eldocNm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전자문서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rcptnOgnzNm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수신부서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942258"/>
          <a:ext cx="8994883" cy="134581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전자문서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eldocNm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전자문서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전자문서코드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:XSTORECATE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deptNm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부서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수신자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rcvrId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46621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수신부서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rcptnOgnzNm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부신부서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54546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수신자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rcvrNm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30611593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8117" y="328968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6371811"/>
              </p:ext>
            </p:extLst>
          </p:nvPr>
        </p:nvGraphicFramePr>
        <p:xfrm>
          <a:off x="453000" y="3567814"/>
          <a:ext cx="8995591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90498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711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7218538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C37E3C67-E84D-7FF6-3F6C-3608A6AC55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345117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F405B97E-644A-CE99-3CF6-BB586B8CAA52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40EE7967-76BA-EAD7-3853-B4F644E279C5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23DC1AB0-DD2A-250D-CC23-F4690B66CF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34607164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관심법령</a:t>
            </a:r>
            <a:r>
              <a:rPr lang="ko-KR" altLang="en-US" dirty="0"/>
              <a:t>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외부 브라우저로 법령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관심 법령 </a:t>
            </a:r>
            <a:r>
              <a:rPr lang="ko-KR" altLang="en-US" dirty="0" smtClean="0"/>
              <a:t>해제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해제 확인 팝업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노출 메시지는 아래로 변경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err="1" smtClean="0"/>
              <a:t>관심법령</a:t>
            </a:r>
            <a:r>
              <a:rPr lang="ko-KR" altLang="en-US" dirty="0" smtClean="0"/>
              <a:t> </a:t>
            </a:r>
            <a:r>
              <a:rPr lang="ko-KR" altLang="en-US" dirty="0" err="1" smtClean="0"/>
              <a:t>즐겨찾기를</a:t>
            </a:r>
            <a:r>
              <a:rPr lang="ko-KR" altLang="en-US" dirty="0" smtClean="0"/>
              <a:t> 해제하면</a:t>
            </a:r>
            <a:r>
              <a:rPr lang="en-US" altLang="ko-KR" dirty="0" smtClean="0"/>
              <a:t>, </a:t>
            </a:r>
            <a:r>
              <a:rPr lang="ko-KR" altLang="en-US" dirty="0" smtClean="0"/>
              <a:t>그 즉시 목록에서 사라집니다</a:t>
            </a:r>
            <a:r>
              <a:rPr lang="en-US" altLang="ko-KR" dirty="0" smtClean="0"/>
              <a:t>. 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정말 </a:t>
            </a:r>
            <a:r>
              <a:rPr lang="ko-KR" altLang="en-US" dirty="0" err="1" smtClean="0"/>
              <a:t>즐겨찾기를</a:t>
            </a:r>
            <a:r>
              <a:rPr lang="ko-KR" altLang="en-US" dirty="0" smtClean="0"/>
              <a:t> 해제할까요</a:t>
            </a:r>
            <a:r>
              <a:rPr lang="en-US" altLang="ko-KR" dirty="0" smtClean="0"/>
              <a:t>?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다시 묻지 않기 설정 가능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다시 묻지 않기 설정된 경우 바로 해제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관심법령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관심법령</a:t>
            </a:r>
            <a:r>
              <a:rPr lang="ko-KR" altLang="en-US" dirty="0">
                <a:latin typeface="+mn-ea"/>
              </a:rPr>
              <a:t>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관심법령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MUI-CM-06-M13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관심법령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727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5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2354041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주요 법령 모음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방위사업법 법령 모음</a:t>
            </a: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874158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73282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0" name="포인트가 5개인 별 79"/>
          <p:cNvSpPr/>
          <p:nvPr/>
        </p:nvSpPr>
        <p:spPr>
          <a:xfrm>
            <a:off x="3058823" y="2397456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2864279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방위사업법</a:t>
            </a:r>
            <a:r>
              <a:rPr lang="en-US" altLang="ko-KR" sz="700" dirty="0">
                <a:solidFill>
                  <a:prstClr val="black"/>
                </a:solidFill>
              </a:rPr>
              <a:t>/</a:t>
            </a:r>
            <a:r>
              <a:rPr lang="ko-KR" altLang="en-US" sz="700" dirty="0" err="1">
                <a:solidFill>
                  <a:prstClr val="black"/>
                </a:solidFill>
              </a:rPr>
              <a:t>국계법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방위사업법 시행규칙</a:t>
            </a:r>
          </a:p>
        </p:txBody>
      </p:sp>
      <p:cxnSp>
        <p:nvCxnSpPr>
          <p:cNvPr id="91" name="직선 연결선 9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24305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0" name="포인트가 5개인 별 99"/>
          <p:cNvSpPr/>
          <p:nvPr/>
        </p:nvSpPr>
        <p:spPr>
          <a:xfrm>
            <a:off x="3058823" y="2907694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374517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방위사업청</a:t>
            </a:r>
            <a:r>
              <a:rPr lang="en-US" altLang="ko-KR" sz="700" dirty="0">
                <a:solidFill>
                  <a:prstClr val="black"/>
                </a:solidFill>
              </a:rPr>
              <a:t>(</a:t>
            </a:r>
            <a:r>
              <a:rPr lang="ko-KR" altLang="en-US" sz="700" dirty="0" err="1">
                <a:solidFill>
                  <a:prstClr val="black"/>
                </a:solidFill>
              </a:rPr>
              <a:t>중앙조달</a:t>
            </a:r>
            <a:r>
              <a:rPr lang="en-US" altLang="ko-KR" sz="700" dirty="0">
                <a:solidFill>
                  <a:prstClr val="black"/>
                </a:solidFill>
              </a:rPr>
              <a:t>) </a:t>
            </a:r>
            <a:r>
              <a:rPr lang="ko-KR" altLang="en-US" sz="700" dirty="0">
                <a:solidFill>
                  <a:prstClr val="black"/>
                </a:solidFill>
              </a:rPr>
              <a:t>주요 규정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군수품조달</a:t>
            </a:r>
            <a:r>
              <a:rPr lang="ko-KR" altLang="en-US" sz="900" b="1" dirty="0">
                <a:solidFill>
                  <a:prstClr val="black"/>
                </a:solidFill>
              </a:rPr>
              <a:t> 관리규정</a:t>
            </a:r>
          </a:p>
        </p:txBody>
      </p:sp>
      <p:cxnSp>
        <p:nvCxnSpPr>
          <p:cNvPr id="109" name="직선 연결선 10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75329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2" name="포인트가 5개인 별 111"/>
          <p:cNvSpPr/>
          <p:nvPr/>
        </p:nvSpPr>
        <p:spPr>
          <a:xfrm>
            <a:off x="3058823" y="3417932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878989"/>
            <a:ext cx="2061246" cy="3847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국방부</a:t>
            </a:r>
            <a:r>
              <a:rPr lang="en-US" altLang="ko-KR" sz="700" dirty="0">
                <a:solidFill>
                  <a:prstClr val="black"/>
                </a:solidFill>
              </a:rPr>
              <a:t>(</a:t>
            </a:r>
            <a:r>
              <a:rPr lang="ko-KR" altLang="en-US" sz="700" dirty="0" err="1">
                <a:solidFill>
                  <a:prstClr val="black"/>
                </a:solidFill>
              </a:rPr>
              <a:t>부대조달</a:t>
            </a:r>
            <a:r>
              <a:rPr lang="en-US" altLang="ko-KR" sz="700" dirty="0">
                <a:solidFill>
                  <a:prstClr val="black"/>
                </a:solidFill>
              </a:rPr>
              <a:t>) </a:t>
            </a:r>
            <a:r>
              <a:rPr lang="ko-KR" altLang="en-US" sz="700" dirty="0">
                <a:solidFill>
                  <a:prstClr val="black"/>
                </a:solidFill>
              </a:rPr>
              <a:t>주요 규정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군시설공사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입찰참가자격사전심사</a:t>
            </a:r>
            <a:endParaRPr lang="en-US" altLang="ko-KR" sz="900" b="1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세부운영</a:t>
            </a:r>
            <a:r>
              <a:rPr lang="ko-KR" altLang="en-US" sz="900" b="1" dirty="0">
                <a:solidFill>
                  <a:prstClr val="black"/>
                </a:solidFill>
              </a:rPr>
              <a:t> 기준에 관한 훈령</a:t>
            </a:r>
          </a:p>
        </p:txBody>
      </p:sp>
      <p:cxnSp>
        <p:nvCxnSpPr>
          <p:cNvPr id="114" name="직선 연결선 11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9019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9" name="포인트가 5개인 별 118"/>
          <p:cNvSpPr/>
          <p:nvPr/>
        </p:nvSpPr>
        <p:spPr>
          <a:xfrm>
            <a:off x="3058823" y="3991654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타원 1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319568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2415596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12</a:t>
            </a:r>
            <a:endParaRPr lang="ko-KR" altLang="en-US" sz="800" dirty="0">
              <a:latin typeface="+mn-ea"/>
            </a:endParaRP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2925834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11</a:t>
            </a:r>
            <a:endParaRPr lang="ko-KR" altLang="en-US" sz="800" dirty="0">
              <a:latin typeface="+mn-ea"/>
            </a:endParaRP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3436072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10</a:t>
            </a:r>
            <a:endParaRPr lang="ko-KR" altLang="en-US" sz="800" dirty="0">
              <a:latin typeface="+mn-ea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4009794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9</a:t>
            </a:r>
            <a:endParaRPr lang="ko-KR" altLang="en-US" sz="8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05048449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96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19507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관심법령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285915"/>
            <a:ext cx="226881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관심법령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dl_itrstSttList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1431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법령구분코드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:GTSC0017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시행일자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sttEnfcBgngYmd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시행일자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시행일자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sttEnfcEndYmd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시행일자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40758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법령명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법령명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218591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497118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법령구분 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법령구분코드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:GTSC0017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법령약어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sttAbbrNm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법령약어</a:t>
                      </a:r>
                      <a:r>
                        <a:rPr lang="ko-KR" altLang="en-US" sz="800" dirty="0">
                          <a:latin typeface="+mn-ea"/>
                        </a:rPr>
                        <a:t> 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법령명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법령명</a:t>
                      </a:r>
                      <a:r>
                        <a:rPr lang="ko-KR" altLang="en-US" sz="800" dirty="0">
                          <a:latin typeface="+mn-ea"/>
                        </a:rPr>
                        <a:t> 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시행일자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sttEnfcYmd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시행일자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링크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sttUrl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링크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57076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delYn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69109270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8117" y="418733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32842932"/>
              </p:ext>
            </p:extLst>
          </p:nvPr>
        </p:nvGraphicFramePr>
        <p:xfrm>
          <a:off x="453000" y="4465470"/>
          <a:ext cx="8995591" cy="1213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6632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50498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72185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그리드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링크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scwin.grd_itrstSttList_oncellclick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 법령의 링크화면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9067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scwin.grd_itrstSttList_oncellclick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관심법령에서 삭제된다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0011185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D7F5CC1D-2566-7E2B-B0F3-7FAF0EF6AD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34289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F47615BA-8AA0-390C-2414-6B3A13575B19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D34B53F6-B152-0E8A-06E0-7268AD46F084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F080E219-6A88-FE2C-9DE5-38900941F7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41511310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작성한 게시물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작성 위치정보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작성 제목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작성일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클릭 시 해당 게시물 화면으로 이동하여 콘텐츠 표시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나의 게시물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관심법령</a:t>
            </a:r>
            <a:r>
              <a:rPr lang="ko-KR" altLang="en-US" dirty="0">
                <a:latin typeface="+mn-ea"/>
              </a:rPr>
              <a:t>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나의 게시물</a:t>
            </a:r>
            <a:endParaRPr lang="en-US" altLang="ko-KR" dirty="0">
              <a:latin typeface="+mn-ea"/>
            </a:endParaRPr>
          </a:p>
          <a:p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MUI-CM-06-M17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나의 게시물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727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5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2336949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작성한 위치 정보 표시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 smtClean="0">
                <a:solidFill>
                  <a:prstClr val="black"/>
                </a:solidFill>
              </a:rPr>
              <a:t>작성한 제목 표시 영역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69703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82682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9" name="직선 연결선 10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619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4131886"/>
            <a:ext cx="2061246" cy="3847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작성한 위치 정보 표시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작성한 제목 표시 </a:t>
            </a:r>
            <a:r>
              <a:rPr lang="ko-KR" altLang="en-US" sz="900" b="1" dirty="0" smtClean="0">
                <a:solidFill>
                  <a:prstClr val="black"/>
                </a:solidFill>
              </a:rPr>
              <a:t>영역 </a:t>
            </a:r>
            <a:r>
              <a:rPr lang="ko-KR" altLang="en-US" sz="900" b="1" dirty="0" err="1" smtClean="0">
                <a:solidFill>
                  <a:prstClr val="black"/>
                </a:solidFill>
              </a:rPr>
              <a:t>두줄이</a:t>
            </a:r>
            <a:r>
              <a:rPr lang="ko-KR" altLang="en-US" sz="900" b="1" dirty="0" smtClean="0">
                <a:solidFill>
                  <a:prstClr val="black"/>
                </a:solidFill>
              </a:rPr>
              <a:t> 되는 경우 </a:t>
            </a:r>
            <a:r>
              <a:rPr lang="ko-KR" altLang="en-US" sz="900" b="1" dirty="0" err="1" smtClean="0">
                <a:solidFill>
                  <a:prstClr val="black"/>
                </a:solidFill>
              </a:rPr>
              <a:t>두줄까지</a:t>
            </a:r>
            <a:r>
              <a:rPr lang="ko-KR" altLang="en-US" sz="900" b="1" dirty="0" smtClean="0">
                <a:solidFill>
                  <a:prstClr val="black"/>
                </a:solidFill>
              </a:rPr>
              <a:t> 표시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114" name="직선 연결선 11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88375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2" name="TextBox 1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2460494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12</a:t>
            </a:r>
            <a:endParaRPr lang="ko-KR" altLang="en-US" sz="800" dirty="0">
              <a:latin typeface="+mn-ea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4335729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9</a:t>
            </a:r>
            <a:endParaRPr lang="ko-KR" altLang="en-US" sz="800" dirty="0">
              <a:latin typeface="+mn-ea"/>
            </a:endParaRPr>
          </a:p>
        </p:txBody>
      </p:sp>
      <p:grpSp>
        <p:nvGrpSpPr>
          <p:cNvPr id="49" name="그룹 48"/>
          <p:cNvGrpSpPr/>
          <p:nvPr/>
        </p:nvGrpSpPr>
        <p:grpSpPr>
          <a:xfrm rot="16200000" flipH="1">
            <a:off x="3096543" y="2498546"/>
            <a:ext cx="94010" cy="47005"/>
            <a:chOff x="6812560" y="3297172"/>
            <a:chExt cx="94010" cy="47005"/>
          </a:xfrm>
        </p:grpSpPr>
        <p:cxnSp>
          <p:nvCxnSpPr>
            <p:cNvPr id="50" name="직선 연결선 4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1" name="직선 연결선 5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59" name="그룹 58"/>
          <p:cNvGrpSpPr/>
          <p:nvPr/>
        </p:nvGrpSpPr>
        <p:grpSpPr>
          <a:xfrm rot="16200000" flipH="1">
            <a:off x="3096545" y="4373782"/>
            <a:ext cx="94010" cy="47005"/>
            <a:chOff x="6812560" y="3297172"/>
            <a:chExt cx="94010" cy="47005"/>
          </a:xfrm>
        </p:grpSpPr>
        <p:cxnSp>
          <p:nvCxnSpPr>
            <p:cNvPr id="60" name="직선 연결선 5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1" name="직선 연결선 6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2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2619927"/>
            <a:ext cx="20612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작성일 </a:t>
            </a:r>
            <a:r>
              <a:rPr lang="en-US" altLang="ko-KR" sz="700" dirty="0" smtClean="0">
                <a:solidFill>
                  <a:prstClr val="black"/>
                </a:solidFill>
              </a:rPr>
              <a:t>2025-12-01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67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2927022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작성한 위치 정보 표시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 smtClean="0">
                <a:solidFill>
                  <a:prstClr val="black"/>
                </a:solidFill>
              </a:rPr>
              <a:t>작성한 제목 표시 영역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41690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3050567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 smtClean="0">
                <a:latin typeface="+mn-ea"/>
              </a:rPr>
              <a:t>11</a:t>
            </a:r>
            <a:endParaRPr lang="ko-KR" altLang="en-US" sz="800" dirty="0">
              <a:latin typeface="+mn-ea"/>
            </a:endParaRPr>
          </a:p>
        </p:txBody>
      </p:sp>
      <p:grpSp>
        <p:nvGrpSpPr>
          <p:cNvPr id="70" name="그룹 69"/>
          <p:cNvGrpSpPr/>
          <p:nvPr/>
        </p:nvGrpSpPr>
        <p:grpSpPr>
          <a:xfrm rot="16200000" flipH="1">
            <a:off x="3096543" y="3088619"/>
            <a:ext cx="94010" cy="47005"/>
            <a:chOff x="6812560" y="3297172"/>
            <a:chExt cx="94010" cy="47005"/>
          </a:xfrm>
        </p:grpSpPr>
        <p:cxnSp>
          <p:nvCxnSpPr>
            <p:cNvPr id="71" name="직선 연결선 7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2" name="직선 연결선 7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210000"/>
            <a:ext cx="20612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작성일 </a:t>
            </a:r>
            <a:r>
              <a:rPr lang="en-US" altLang="ko-KR" sz="700" dirty="0" smtClean="0">
                <a:solidFill>
                  <a:prstClr val="black"/>
                </a:solidFill>
              </a:rPr>
              <a:t>2025-12-01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7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517094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작성한 위치 정보 표시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 smtClean="0">
                <a:solidFill>
                  <a:prstClr val="black"/>
                </a:solidFill>
              </a:rPr>
              <a:t>작성한 제목 표시 영역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4" y="3640639"/>
            <a:ext cx="156074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 smtClean="0">
                <a:latin typeface="+mn-ea"/>
              </a:rPr>
              <a:t>10</a:t>
            </a:r>
            <a:endParaRPr lang="ko-KR" altLang="en-US" sz="800" dirty="0">
              <a:latin typeface="+mn-ea"/>
            </a:endParaRPr>
          </a:p>
        </p:txBody>
      </p:sp>
      <p:grpSp>
        <p:nvGrpSpPr>
          <p:cNvPr id="78" name="그룹 77"/>
          <p:cNvGrpSpPr/>
          <p:nvPr/>
        </p:nvGrpSpPr>
        <p:grpSpPr>
          <a:xfrm rot="16200000" flipH="1">
            <a:off x="3096543" y="3678691"/>
            <a:ext cx="94010" cy="47005"/>
            <a:chOff x="6812560" y="3297172"/>
            <a:chExt cx="94010" cy="47005"/>
          </a:xfrm>
        </p:grpSpPr>
        <p:cxnSp>
          <p:nvCxnSpPr>
            <p:cNvPr id="79" name="직선 연결선 7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800072"/>
            <a:ext cx="20612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작성일 </a:t>
            </a:r>
            <a:r>
              <a:rPr lang="en-US" altLang="ko-KR" sz="700" dirty="0" smtClean="0">
                <a:solidFill>
                  <a:prstClr val="black"/>
                </a:solidFill>
              </a:rPr>
              <a:t>2025-12-01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8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4556108"/>
            <a:ext cx="20612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작성일 </a:t>
            </a:r>
            <a:r>
              <a:rPr lang="en-US" altLang="ko-KR" sz="700" dirty="0" smtClean="0">
                <a:solidFill>
                  <a:prstClr val="black"/>
                </a:solidFill>
              </a:rPr>
              <a:t>2025-12-01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38996404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생성한 폴더 구조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폴더 상세 </a:t>
            </a:r>
            <a:r>
              <a:rPr lang="ko-KR" altLang="en-US" dirty="0" smtClean="0"/>
              <a:t>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폴더의</a:t>
            </a:r>
            <a:r>
              <a:rPr lang="en-US" altLang="ko-KR" dirty="0" smtClean="0"/>
              <a:t> </a:t>
            </a:r>
            <a:r>
              <a:rPr lang="ko-KR" altLang="en-US" dirty="0" smtClean="0"/>
              <a:t>생성</a:t>
            </a:r>
            <a:r>
              <a:rPr lang="en-US" altLang="ko-KR" dirty="0" smtClean="0"/>
              <a:t>, </a:t>
            </a:r>
            <a:r>
              <a:rPr lang="ko-KR" altLang="en-US" dirty="0" smtClean="0"/>
              <a:t>삭제는 </a:t>
            </a:r>
            <a:r>
              <a:rPr lang="en-US" altLang="ko-KR" dirty="0" smtClean="0"/>
              <a:t>PC</a:t>
            </a:r>
            <a:r>
              <a:rPr lang="ko-KR" altLang="en-US" dirty="0" smtClean="0"/>
              <a:t>에서 제공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권한 관리는 업체 대표자에게만 표시됨</a:t>
            </a:r>
            <a:r>
              <a:rPr lang="en-US" altLang="ko-KR" dirty="0"/>
              <a:t>.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디지털캐비닛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디지털 캐비닛</a:t>
            </a: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,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사용자가 등록한 자료 폴더 목록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디지털캐비닛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MUI-CM-06-M14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디지털캐비닛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58757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2603570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📁</a:t>
            </a: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874158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7452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6" name="모서리가 둥근 직사각형 55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7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폴더와</a:t>
            </a:r>
            <a:r>
              <a:rPr lang="en-US" altLang="ko-KR" sz="700" dirty="0">
                <a:solidFill>
                  <a:prstClr val="black"/>
                </a:solidFill>
              </a:rPr>
              <a:t> </a:t>
            </a:r>
            <a:r>
              <a:rPr lang="ko-KR" altLang="en-US" sz="700" dirty="0">
                <a:solidFill>
                  <a:prstClr val="black"/>
                </a:solidFill>
              </a:rPr>
              <a:t>파일의 추가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삭제는 </a:t>
            </a:r>
            <a:r>
              <a:rPr lang="en-US" altLang="ko-KR" sz="700" dirty="0">
                <a:solidFill>
                  <a:prstClr val="black"/>
                </a:solidFill>
              </a:rPr>
              <a:t>PC </a:t>
            </a:r>
            <a:r>
              <a:rPr lang="ko-KR" altLang="en-US" sz="700" dirty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6" name="타원 9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333470" y="256702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0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2535675"/>
            <a:ext cx="2024722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 err="1">
                <a:solidFill>
                  <a:prstClr val="black"/>
                </a:solidFill>
              </a:rPr>
              <a:t>폴더명이</a:t>
            </a:r>
            <a:r>
              <a:rPr lang="ko-KR" altLang="en-US" sz="800" b="1" dirty="0">
                <a:solidFill>
                  <a:prstClr val="black"/>
                </a:solidFill>
              </a:rPr>
              <a:t> 표시됩니다</a:t>
            </a:r>
            <a:r>
              <a:rPr lang="en-US" altLang="ko-KR" sz="800" b="1" dirty="0">
                <a:solidFill>
                  <a:prstClr val="black"/>
                </a:solidFill>
              </a:rPr>
              <a:t>.</a:t>
            </a:r>
          </a:p>
          <a:p>
            <a:pPr lvl="0">
              <a:lnSpc>
                <a:spcPct val="120000"/>
              </a:lnSpc>
            </a:pPr>
            <a:r>
              <a:rPr lang="ko-KR" altLang="en-US" sz="600" dirty="0" err="1">
                <a:solidFill>
                  <a:prstClr val="black"/>
                </a:solidFill>
              </a:rPr>
              <a:t>수정일시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2025-01-31 12:12 | </a:t>
            </a:r>
            <a:r>
              <a:rPr lang="ko-KR" altLang="en-US" sz="600" dirty="0" err="1">
                <a:solidFill>
                  <a:prstClr val="black"/>
                </a:solidFill>
              </a:rPr>
              <a:t>폴더크기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10MB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53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993286" y="2586665"/>
            <a:ext cx="290464" cy="15692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권한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02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3025770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📁</a:t>
            </a:r>
          </a:p>
        </p:txBody>
      </p:sp>
      <p:cxnSp>
        <p:nvCxnSpPr>
          <p:cNvPr id="103" name="직선 연결선 1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29672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2957875"/>
            <a:ext cx="2024722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 err="1">
                <a:solidFill>
                  <a:prstClr val="black"/>
                </a:solidFill>
              </a:rPr>
              <a:t>폴더명이</a:t>
            </a:r>
            <a:r>
              <a:rPr lang="ko-KR" altLang="en-US" sz="800" b="1" dirty="0">
                <a:solidFill>
                  <a:prstClr val="black"/>
                </a:solidFill>
              </a:rPr>
              <a:t> 표시됩니다</a:t>
            </a:r>
            <a:r>
              <a:rPr lang="en-US" altLang="ko-KR" sz="800" b="1" dirty="0">
                <a:solidFill>
                  <a:prstClr val="black"/>
                </a:solidFill>
              </a:rPr>
              <a:t>.</a:t>
            </a:r>
          </a:p>
          <a:p>
            <a:pPr lvl="0">
              <a:lnSpc>
                <a:spcPct val="120000"/>
              </a:lnSpc>
            </a:pPr>
            <a:r>
              <a:rPr lang="ko-KR" altLang="en-US" sz="600" dirty="0" err="1">
                <a:solidFill>
                  <a:prstClr val="black"/>
                </a:solidFill>
              </a:rPr>
              <a:t>수정일시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2025-01-31 12:12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| </a:t>
            </a:r>
            <a:r>
              <a:rPr lang="ko-KR" altLang="en-US" sz="600" dirty="0" err="1">
                <a:solidFill>
                  <a:prstClr val="black"/>
                </a:solidFill>
              </a:rPr>
              <a:t>폴더크기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10MB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106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993286" y="3008865"/>
            <a:ext cx="290464" cy="15692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권한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07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3439120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📁</a:t>
            </a: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71007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3371225"/>
            <a:ext cx="2024722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 err="1">
                <a:solidFill>
                  <a:prstClr val="black"/>
                </a:solidFill>
              </a:rPr>
              <a:t>폴더명이</a:t>
            </a:r>
            <a:r>
              <a:rPr lang="ko-KR" altLang="en-US" sz="800" b="1" dirty="0">
                <a:solidFill>
                  <a:prstClr val="black"/>
                </a:solidFill>
              </a:rPr>
              <a:t> 표시됩니다</a:t>
            </a:r>
            <a:r>
              <a:rPr lang="en-US" altLang="ko-KR" sz="800" b="1" dirty="0">
                <a:solidFill>
                  <a:prstClr val="black"/>
                </a:solidFill>
              </a:rPr>
              <a:t>.</a:t>
            </a:r>
          </a:p>
          <a:p>
            <a:pPr lvl="0">
              <a:lnSpc>
                <a:spcPct val="120000"/>
              </a:lnSpc>
            </a:pPr>
            <a:r>
              <a:rPr lang="ko-KR" altLang="en-US" sz="600" dirty="0" err="1">
                <a:solidFill>
                  <a:prstClr val="black"/>
                </a:solidFill>
              </a:rPr>
              <a:t>수정일시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2025-01-31 12:12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| </a:t>
            </a:r>
            <a:r>
              <a:rPr lang="ko-KR" altLang="en-US" sz="600" dirty="0" err="1">
                <a:solidFill>
                  <a:prstClr val="black"/>
                </a:solidFill>
              </a:rPr>
              <a:t>폴더크기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10MB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125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993286" y="3422215"/>
            <a:ext cx="290464" cy="15692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권한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26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3860375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📁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13132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3792480"/>
            <a:ext cx="2024722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 err="1">
                <a:solidFill>
                  <a:prstClr val="black"/>
                </a:solidFill>
              </a:rPr>
              <a:t>폴더명이</a:t>
            </a:r>
            <a:r>
              <a:rPr lang="ko-KR" altLang="en-US" sz="800" b="1" dirty="0">
                <a:solidFill>
                  <a:prstClr val="black"/>
                </a:solidFill>
              </a:rPr>
              <a:t> 표시됩니다</a:t>
            </a:r>
            <a:r>
              <a:rPr lang="en-US" altLang="ko-KR" sz="800" b="1" dirty="0">
                <a:solidFill>
                  <a:prstClr val="black"/>
                </a:solidFill>
              </a:rPr>
              <a:t>.</a:t>
            </a:r>
          </a:p>
          <a:p>
            <a:pPr lvl="0">
              <a:lnSpc>
                <a:spcPct val="120000"/>
              </a:lnSpc>
            </a:pPr>
            <a:r>
              <a:rPr lang="ko-KR" altLang="en-US" sz="600" dirty="0" err="1">
                <a:solidFill>
                  <a:prstClr val="black"/>
                </a:solidFill>
              </a:rPr>
              <a:t>수정일시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2025-01-31 12:12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| </a:t>
            </a:r>
            <a:r>
              <a:rPr lang="ko-KR" altLang="en-US" sz="600" dirty="0" err="1">
                <a:solidFill>
                  <a:prstClr val="black"/>
                </a:solidFill>
              </a:rPr>
              <a:t>폴더크기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5MB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13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993286" y="3843470"/>
            <a:ext cx="290464" cy="15692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권한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3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4280031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📁</a:t>
            </a:r>
          </a:p>
        </p:txBody>
      </p:sp>
      <p:cxnSp>
        <p:nvCxnSpPr>
          <p:cNvPr id="134" name="직선 연결선 13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55098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6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4212136"/>
            <a:ext cx="2024722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 err="1">
                <a:solidFill>
                  <a:prstClr val="black"/>
                </a:solidFill>
              </a:rPr>
              <a:t>폴더명이</a:t>
            </a:r>
            <a:r>
              <a:rPr lang="ko-KR" altLang="en-US" sz="800" b="1" dirty="0">
                <a:solidFill>
                  <a:prstClr val="black"/>
                </a:solidFill>
              </a:rPr>
              <a:t> 표시됩니다</a:t>
            </a:r>
            <a:r>
              <a:rPr lang="en-US" altLang="ko-KR" sz="800" b="1" dirty="0">
                <a:solidFill>
                  <a:prstClr val="black"/>
                </a:solidFill>
              </a:rPr>
              <a:t>.</a:t>
            </a:r>
          </a:p>
          <a:p>
            <a:pPr lvl="0">
              <a:lnSpc>
                <a:spcPct val="120000"/>
              </a:lnSpc>
            </a:pPr>
            <a:r>
              <a:rPr lang="ko-KR" altLang="en-US" sz="600" dirty="0" err="1">
                <a:solidFill>
                  <a:prstClr val="black"/>
                </a:solidFill>
              </a:rPr>
              <a:t>수정일시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2025-01-31 12:12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| </a:t>
            </a:r>
            <a:r>
              <a:rPr lang="ko-KR" altLang="en-US" sz="600" dirty="0" err="1">
                <a:solidFill>
                  <a:prstClr val="black"/>
                </a:solidFill>
              </a:rPr>
              <a:t>폴더크기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5MB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13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993286" y="4263126"/>
            <a:ext cx="290464" cy="15692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권한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2249278"/>
            <a:ext cx="45225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40" name="타원 139"/>
          <p:cNvSpPr/>
          <p:nvPr/>
        </p:nvSpPr>
        <p:spPr>
          <a:xfrm>
            <a:off x="783686" y="221671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41" name="그룹 140"/>
          <p:cNvGrpSpPr/>
          <p:nvPr/>
        </p:nvGrpSpPr>
        <p:grpSpPr>
          <a:xfrm>
            <a:off x="3143548" y="2279636"/>
            <a:ext cx="94010" cy="47005"/>
            <a:chOff x="6812560" y="3297172"/>
            <a:chExt cx="94010" cy="47005"/>
          </a:xfrm>
        </p:grpSpPr>
        <p:cxnSp>
          <p:nvCxnSpPr>
            <p:cNvPr id="142" name="직선 연결선 14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3" name="직선 연결선 14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5536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4160781856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폴더명</a:t>
            </a:r>
            <a:r>
              <a:rPr lang="en-US" altLang="ko-KR" dirty="0"/>
              <a:t>, </a:t>
            </a:r>
            <a:r>
              <a:rPr lang="ko-KR" altLang="en-US" dirty="0"/>
              <a:t>폴더 사이즈</a:t>
            </a:r>
            <a:r>
              <a:rPr lang="en-US" altLang="ko-KR" dirty="0"/>
              <a:t>, </a:t>
            </a:r>
            <a:r>
              <a:rPr lang="ko-KR" altLang="en-US" dirty="0"/>
              <a:t>사용자 권한을 조정할 수 있음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권한 설정은 업체 대표자만 가능함</a:t>
            </a:r>
            <a:r>
              <a:rPr lang="en-US" altLang="ko-KR" dirty="0"/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취소시</a:t>
            </a:r>
            <a:r>
              <a:rPr lang="en-US" altLang="ko-KR" dirty="0"/>
              <a:t> </a:t>
            </a:r>
            <a:r>
              <a:rPr lang="ko-KR" altLang="en-US" dirty="0"/>
              <a:t>팝업 그대로 닫힘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ko-KR" altLang="en-US" dirty="0"/>
              <a:t>저장 시 토스트 메시지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변경 저장 되었습니다</a:t>
            </a:r>
            <a:r>
              <a:rPr lang="en-US" altLang="ko-KR" dirty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폴더 설정 권한 관리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디지털캐비닛 폴더의 권한 설정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디지털캐비닛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권한 설정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MUI-CM-06-P15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디지털캐비닛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0" name="양쪽 모서리가 둥근 사각형 59"/>
          <p:cNvSpPr/>
          <p:nvPr/>
        </p:nvSpPr>
        <p:spPr>
          <a:xfrm>
            <a:off x="679854" y="1908439"/>
            <a:ext cx="2712027" cy="4314854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1" name="모서리가 둥근 직사각형 60"/>
          <p:cNvSpPr/>
          <p:nvPr/>
        </p:nvSpPr>
        <p:spPr>
          <a:xfrm>
            <a:off x="1765867" y="1945066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2" name="그룹 61"/>
          <p:cNvGrpSpPr/>
          <p:nvPr/>
        </p:nvGrpSpPr>
        <p:grpSpPr>
          <a:xfrm>
            <a:off x="3168793" y="2079482"/>
            <a:ext cx="94010" cy="94010"/>
            <a:chOff x="6812560" y="3297172"/>
            <a:chExt cx="94010" cy="94010"/>
          </a:xfrm>
        </p:grpSpPr>
        <p:cxnSp>
          <p:nvCxnSpPr>
            <p:cNvPr id="67" name="직선 연결선 66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8" name="직선 연결선 67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2060161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권한 설정</a:t>
            </a:r>
          </a:p>
        </p:txBody>
      </p:sp>
      <p:cxnSp>
        <p:nvCxnSpPr>
          <p:cNvPr id="70" name="직선 연결선 6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232156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1" name="타원 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7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1494413" y="5828262"/>
            <a:ext cx="1760305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저장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7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930" y="5828262"/>
            <a:ext cx="612773" cy="27949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75" name="타원 7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2959173"/>
            <a:ext cx="1035095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폴더 사이즈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245731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폴더명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544259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사용자 권한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80" name="직선 연결선 7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51294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94038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2" name="모서리가 둥근 직사각형 81"/>
          <p:cNvSpPr/>
          <p:nvPr/>
        </p:nvSpPr>
        <p:spPr>
          <a:xfrm>
            <a:off x="720467" y="2604974"/>
            <a:ext cx="2610778" cy="247250"/>
          </a:xfrm>
          <a:prstGeom prst="roundRect">
            <a:avLst>
              <a:gd name="adj" fmla="val 23409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lvl="0">
              <a:lnSpc>
                <a:spcPct val="120000"/>
              </a:lnSpc>
            </a:pPr>
            <a:r>
              <a:rPr lang="ko-KR" altLang="en-US" sz="800" b="1" dirty="0" err="1">
                <a:solidFill>
                  <a:prstClr val="black"/>
                </a:solidFill>
              </a:rPr>
              <a:t>폴더명이</a:t>
            </a:r>
            <a:r>
              <a:rPr lang="ko-KR" altLang="en-US" sz="800" b="1" dirty="0">
                <a:solidFill>
                  <a:prstClr val="black"/>
                </a:solidFill>
              </a:rPr>
              <a:t> 표시됩니다</a:t>
            </a:r>
            <a:r>
              <a:rPr lang="en-US" altLang="ko-KR" sz="800" b="1" dirty="0">
                <a:solidFill>
                  <a:prstClr val="black"/>
                </a:solidFill>
              </a:rPr>
              <a:t>.</a:t>
            </a:r>
          </a:p>
        </p:txBody>
      </p:sp>
      <p:sp>
        <p:nvSpPr>
          <p:cNvPr id="84" name="모서리가 둥근 직사각형 83"/>
          <p:cNvSpPr/>
          <p:nvPr/>
        </p:nvSpPr>
        <p:spPr>
          <a:xfrm>
            <a:off x="720467" y="3169353"/>
            <a:ext cx="2610778" cy="247250"/>
          </a:xfrm>
          <a:prstGeom prst="roundRect">
            <a:avLst>
              <a:gd name="adj" fmla="val 23409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10MB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4620" y="3032591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4620" y="245731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88" name="그룹 87"/>
          <p:cNvGrpSpPr/>
          <p:nvPr/>
        </p:nvGrpSpPr>
        <p:grpSpPr>
          <a:xfrm>
            <a:off x="3143548" y="3264043"/>
            <a:ext cx="94010" cy="47005"/>
            <a:chOff x="6812560" y="3297172"/>
            <a:chExt cx="94010" cy="47005"/>
          </a:xfrm>
        </p:grpSpPr>
        <p:cxnSp>
          <p:nvCxnSpPr>
            <p:cNvPr id="89" name="직선 연결선 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0" name="직선 연결선 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4" name="모서리가 둥근 직사각형 93"/>
          <p:cNvSpPr/>
          <p:nvPr/>
        </p:nvSpPr>
        <p:spPr>
          <a:xfrm>
            <a:off x="712057" y="3769855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55122" y="3844376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김대표</a:t>
            </a:r>
            <a:endParaRPr lang="en-US" altLang="ko-KR" sz="800" b="1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수정일시</a:t>
            </a:r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2025-01-15 13:25</a:t>
            </a:r>
          </a:p>
        </p:txBody>
      </p:sp>
      <p:sp>
        <p:nvSpPr>
          <p:cNvPr id="99" name="모서리가 둥근 직사각형 98"/>
          <p:cNvSpPr/>
          <p:nvPr/>
        </p:nvSpPr>
        <p:spPr>
          <a:xfrm>
            <a:off x="712057" y="4176541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55122" y="4251062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/>
            <a:r>
              <a:rPr lang="ko-KR" altLang="en-US" sz="800" b="1" dirty="0" err="1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박영업</a:t>
            </a:r>
            <a:endParaRPr lang="en-US" altLang="ko-KR" sz="800" b="1" dirty="0">
              <a:solidFill>
                <a:prstClr val="black">
                  <a:lumMod val="85000"/>
                  <a:lumOff val="15000"/>
                </a:prstClr>
              </a:solidFill>
              <a:latin typeface="맑은 고딕" panose="020B0503020000020004" pitchFamily="50" charset="-127"/>
            </a:endParaRPr>
          </a:p>
          <a:p>
            <a:pPr lvl="0"/>
            <a:r>
              <a:rPr lang="ko-KR" altLang="en-US" sz="600" dirty="0" err="1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수정일시</a:t>
            </a:r>
            <a:r>
              <a:rPr lang="ko-KR" altLang="en-US" sz="600" dirty="0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600" dirty="0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2025-01-15 14:47 </a:t>
            </a:r>
          </a:p>
        </p:txBody>
      </p:sp>
      <p:cxnSp>
        <p:nvCxnSpPr>
          <p:cNvPr id="93" name="직선 연결선 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2415" y="573579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4620" y="3617677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116" name="그룹 115"/>
          <p:cNvGrpSpPr/>
          <p:nvPr/>
        </p:nvGrpSpPr>
        <p:grpSpPr>
          <a:xfrm>
            <a:off x="2305867" y="3874106"/>
            <a:ext cx="993848" cy="155984"/>
            <a:chOff x="808107" y="2288229"/>
            <a:chExt cx="1811459" cy="168318"/>
          </a:xfrm>
        </p:grpSpPr>
        <p:sp>
          <p:nvSpPr>
            <p:cNvPr id="117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808107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쓰기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8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1434352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latin typeface="맑은 고딕"/>
                  <a:ea typeface="맑은 고딕" panose="020B0503020000020004" pitchFamily="50" charset="-127"/>
                </a:rPr>
                <a:t>읽기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9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056072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latin typeface="맑은 고딕"/>
                  <a:ea typeface="맑은 고딕" panose="020B0503020000020004" pitchFamily="50" charset="-127"/>
                </a:rPr>
                <a:t>없음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23" name="그룹 122"/>
          <p:cNvGrpSpPr/>
          <p:nvPr/>
        </p:nvGrpSpPr>
        <p:grpSpPr>
          <a:xfrm>
            <a:off x="2305867" y="4280792"/>
            <a:ext cx="993848" cy="155984"/>
            <a:chOff x="808107" y="2288229"/>
            <a:chExt cx="1811459" cy="168318"/>
          </a:xfrm>
        </p:grpSpPr>
        <p:sp>
          <p:nvSpPr>
            <p:cNvPr id="128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808107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latin typeface="맑은 고딕"/>
                  <a:ea typeface="맑은 고딕" panose="020B0503020000020004" pitchFamily="50" charset="-127"/>
                </a:rPr>
                <a:t>쓰기</a:t>
              </a:r>
              <a:endParaRPr kumimoji="1" lang="en-US" sz="700" kern="0" dirty="0"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29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1434352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읽기</a:t>
              </a:r>
              <a:endParaRPr kumimoji="1" 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30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056072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latin typeface="맑은 고딕"/>
                  <a:ea typeface="맑은 고딕" panose="020B0503020000020004" pitchFamily="50" charset="-127"/>
                </a:rPr>
                <a:t>없음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35" name="모서리가 둥근 직사각형 134"/>
          <p:cNvSpPr/>
          <p:nvPr/>
        </p:nvSpPr>
        <p:spPr>
          <a:xfrm>
            <a:off x="712057" y="4581074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55122" y="4655595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/>
            <a:r>
              <a:rPr lang="en-US" altLang="ko-KR" sz="800" b="1" dirty="0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James </a:t>
            </a:r>
            <a:r>
              <a:rPr lang="en-US" altLang="ko-KR" sz="800" b="1" dirty="0" err="1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Burkley</a:t>
            </a:r>
            <a:endParaRPr lang="en-US" altLang="ko-KR" sz="800" b="1" dirty="0">
              <a:solidFill>
                <a:prstClr val="black">
                  <a:lumMod val="85000"/>
                  <a:lumOff val="15000"/>
                </a:prstClr>
              </a:solidFill>
              <a:latin typeface="맑은 고딕" panose="020B0503020000020004" pitchFamily="50" charset="-127"/>
            </a:endParaRPr>
          </a:p>
          <a:p>
            <a:pPr lvl="0"/>
            <a:r>
              <a:rPr lang="ko-KR" altLang="en-US" sz="600" dirty="0" err="1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수정일시</a:t>
            </a:r>
            <a:r>
              <a:rPr lang="ko-KR" altLang="en-US" sz="600" dirty="0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600" dirty="0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2025-01-15 16:22</a:t>
            </a:r>
          </a:p>
        </p:txBody>
      </p:sp>
      <p:grpSp>
        <p:nvGrpSpPr>
          <p:cNvPr id="144" name="그룹 143"/>
          <p:cNvGrpSpPr/>
          <p:nvPr/>
        </p:nvGrpSpPr>
        <p:grpSpPr>
          <a:xfrm>
            <a:off x="2305867" y="4685325"/>
            <a:ext cx="993848" cy="155984"/>
            <a:chOff x="808107" y="2288229"/>
            <a:chExt cx="1811459" cy="168318"/>
          </a:xfrm>
        </p:grpSpPr>
        <p:sp>
          <p:nvSpPr>
            <p:cNvPr id="145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808107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latin typeface="맑은 고딕"/>
                  <a:ea typeface="맑은 고딕" panose="020B0503020000020004" pitchFamily="50" charset="-127"/>
                </a:rPr>
                <a:t>쓰기</a:t>
              </a:r>
              <a:endParaRPr kumimoji="1" lang="en-US" sz="700" kern="0" dirty="0"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46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1434352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latin typeface="맑은 고딕"/>
                  <a:ea typeface="맑은 고딕" panose="020B0503020000020004" pitchFamily="50" charset="-127"/>
                </a:rPr>
                <a:t>읽기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48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056072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없음</a:t>
              </a:r>
              <a:endParaRPr kumimoji="1" 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49" name="그룹 14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232020"/>
            <a:ext cx="76863" cy="292489"/>
            <a:chOff x="3750067" y="4683795"/>
            <a:chExt cx="76863" cy="292489"/>
          </a:xfrm>
        </p:grpSpPr>
        <p:sp>
          <p:nvSpPr>
            <p:cNvPr id="150" name="타원 14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51" name="타원 15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52" name="타원 15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651484985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98965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100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60676" y="853662"/>
            <a:ext cx="264071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폴더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dl_digitalCabinetFldrList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1137416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폴더명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fldrNm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폴더명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폴더사이즈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fldrSz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폴더사이즈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93806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수정자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mdfrNm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수정자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11183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등록일시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14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231560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수정일시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mdfcnDt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수정일시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14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82110824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BD3DF6E4-3604-ED94-DEC3-2A8F6364DA0E}"/>
              </a:ext>
            </a:extLst>
          </p:cNvPr>
          <p:cNvSpPr txBox="1"/>
          <p:nvPr/>
        </p:nvSpPr>
        <p:spPr>
          <a:xfrm>
            <a:off x="463235" y="2347416"/>
            <a:ext cx="305909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폴더 권한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dl_digitalCabinetAuthrtList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428DE66F-5F85-32C0-B139-005B58225AB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8117" y="2595542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userNm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사용자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권한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authrtSe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권한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쓰기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없음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접근권한코드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:GTSC0009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93806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수정일시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mdfcnDt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수정일시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1118349"/>
                  </a:ext>
                </a:extLst>
              </a:tr>
            </a:tbl>
          </a:graphicData>
        </a:graphic>
      </p:graphicFrame>
      <p:sp>
        <p:nvSpPr>
          <p:cNvPr id="20" name="TextBox 19">
            <a:extLst>
              <a:ext uri="{FF2B5EF4-FFF2-40B4-BE49-F238E27FC236}">
                <a16:creationId xmlns:a16="http://schemas.microsoft.com/office/drawing/2014/main" id="{5621256E-2BA7-6BAA-111B-197BD14DF222}"/>
              </a:ext>
            </a:extLst>
          </p:cNvPr>
          <p:cNvSpPr txBox="1"/>
          <p:nvPr/>
        </p:nvSpPr>
        <p:spPr>
          <a:xfrm>
            <a:off x="468353" y="3427342"/>
            <a:ext cx="329794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폴더 내 파일목록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dl_digitalCabinetFileList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BCC675FA-CA9A-F7D0-E1A9-801F009BFC8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3235" y="3669530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68540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255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파일사이즈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fileSz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파일사이즈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(MB)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93806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유효기간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vldPrdEndYmd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유효기간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11183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전자문서 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eldocYn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전자문서 여부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(Y/N)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Y/N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1174319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63235" y="487937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9813785"/>
              </p:ext>
            </p:extLst>
          </p:nvPr>
        </p:nvGraphicFramePr>
        <p:xfrm>
          <a:off x="455204" y="5100670"/>
          <a:ext cx="8995591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03492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78467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3124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scwin.btn_save_onclick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변경된 정보를 저장한다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쓰기 권한이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있을때만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가능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8206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60345BDA-72F8-A50F-5DEE-1DC664B80D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7" y="4987413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2CC302D0-0791-F56B-8FCB-36A5979D6C42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D7D3E1E8-2A83-F048-7179-4CE69B789918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7" name="Text Box 73">
              <a:extLst>
                <a:ext uri="{FF2B5EF4-FFF2-40B4-BE49-F238E27FC236}">
                  <a16:creationId xmlns:a16="http://schemas.microsoft.com/office/drawing/2014/main" id="{E5988E95-6757-1BE7-B513-585E4D65CB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0113259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생성한 폴더 구조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상위 폴더 이동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파일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 등록</a:t>
            </a:r>
            <a:r>
              <a:rPr lang="en-US" altLang="ko-KR" dirty="0" smtClean="0"/>
              <a:t>, </a:t>
            </a:r>
            <a:r>
              <a:rPr lang="ko-KR" altLang="en-US" dirty="0" smtClean="0"/>
              <a:t>삭제 </a:t>
            </a:r>
            <a:r>
              <a:rPr lang="en-US" altLang="ko-KR" dirty="0" smtClean="0"/>
              <a:t>PC</a:t>
            </a:r>
            <a:r>
              <a:rPr lang="ko-KR" altLang="en-US" dirty="0" smtClean="0"/>
              <a:t>에서 제공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폴더 내 파일 목록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디지털캐비닛 파일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디지털캐비닛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MUI-CM-06-M14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디지털캐비닛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5924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874158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56" name="모서리가 둥근 직사각형 55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7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폴더와</a:t>
            </a:r>
            <a:r>
              <a:rPr lang="en-US" altLang="ko-KR" sz="700" dirty="0">
                <a:solidFill>
                  <a:prstClr val="black"/>
                </a:solidFill>
              </a:rPr>
              <a:t> </a:t>
            </a:r>
            <a:r>
              <a:rPr lang="ko-KR" altLang="en-US" sz="700" dirty="0">
                <a:solidFill>
                  <a:prstClr val="black"/>
                </a:solidFill>
              </a:rPr>
              <a:t>파일의 추가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삭제는 </a:t>
            </a:r>
            <a:r>
              <a:rPr lang="en-US" altLang="ko-KR" sz="700" dirty="0">
                <a:solidFill>
                  <a:prstClr val="black"/>
                </a:solidFill>
              </a:rPr>
              <a:t>PC </a:t>
            </a:r>
            <a:r>
              <a:rPr lang="ko-KR" altLang="en-US" sz="700" dirty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532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0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2601424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800" b="1" dirty="0">
                <a:latin typeface="+mn-ea"/>
              </a:rPr>
              <a:t>←</a:t>
            </a:r>
            <a:endParaRPr lang="ko-KR" altLang="en-US" sz="800" b="1" dirty="0">
              <a:latin typeface="+mn-ea"/>
            </a:endParaRPr>
          </a:p>
        </p:txBody>
      </p: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7237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2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0620" y="2588929"/>
            <a:ext cx="2063916" cy="13388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20000"/>
              </a:lnSpc>
            </a:pPr>
            <a:r>
              <a:rPr lang="ko-KR" altLang="en-US" sz="800" dirty="0">
                <a:solidFill>
                  <a:prstClr val="black"/>
                </a:solidFill>
              </a:rPr>
              <a:t>📁 </a:t>
            </a:r>
            <a:r>
              <a:rPr lang="ko-KR" altLang="en-US" sz="800" b="1" dirty="0">
                <a:solidFill>
                  <a:prstClr val="black"/>
                </a:solidFill>
              </a:rPr>
              <a:t>상위 폴더 목록 이동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3023624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📄</a:t>
            </a:r>
          </a:p>
        </p:txBody>
      </p: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29457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2955729"/>
            <a:ext cx="2212684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>
                <a:solidFill>
                  <a:prstClr val="black"/>
                </a:solidFill>
              </a:rPr>
              <a:t>사업자등록증</a:t>
            </a:r>
            <a:r>
              <a:rPr lang="en-US" altLang="ko-KR" sz="800" b="1" dirty="0">
                <a:solidFill>
                  <a:prstClr val="black"/>
                </a:solidFill>
              </a:rPr>
              <a:t>.pdf </a:t>
            </a:r>
            <a:r>
              <a:rPr lang="en-US" altLang="ko-KR" sz="600" dirty="0">
                <a:solidFill>
                  <a:prstClr val="black"/>
                </a:solidFill>
              </a:rPr>
              <a:t>[369KB]</a:t>
            </a:r>
            <a:endParaRPr lang="en-US" altLang="ko-KR" sz="800" dirty="0">
              <a:solidFill>
                <a:prstClr val="black"/>
              </a:solidFill>
            </a:endParaRPr>
          </a:p>
          <a:p>
            <a:pPr lvl="0">
              <a:lnSpc>
                <a:spcPct val="120000"/>
              </a:lnSpc>
            </a:pPr>
            <a:r>
              <a:rPr lang="ko-KR" altLang="en-US" sz="600" dirty="0">
                <a:solidFill>
                  <a:prstClr val="black"/>
                </a:solidFill>
              </a:rPr>
              <a:t>유효기간 </a:t>
            </a:r>
            <a:r>
              <a:rPr lang="en-US" altLang="ko-KR" sz="600" dirty="0">
                <a:solidFill>
                  <a:prstClr val="black"/>
                </a:solidFill>
              </a:rPr>
              <a:t>2025-01-31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67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3436974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📄</a:t>
            </a:r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70792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3369079"/>
            <a:ext cx="2212684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en-US" altLang="ko-KR" sz="800" b="1" dirty="0">
                <a:solidFill>
                  <a:prstClr val="black"/>
                </a:solidFill>
              </a:rPr>
              <a:t>4</a:t>
            </a:r>
            <a:r>
              <a:rPr lang="ko-KR" altLang="en-US" sz="800" b="1" dirty="0" err="1">
                <a:solidFill>
                  <a:prstClr val="black"/>
                </a:solidFill>
              </a:rPr>
              <a:t>대사회보험사업장가입자명부</a:t>
            </a:r>
            <a:r>
              <a:rPr lang="en-US" altLang="ko-KR" sz="800" b="1" dirty="0">
                <a:solidFill>
                  <a:prstClr val="black"/>
                </a:solidFill>
              </a:rPr>
              <a:t>.pdf </a:t>
            </a:r>
            <a:r>
              <a:rPr lang="en-US" altLang="ko-KR" sz="600" dirty="0">
                <a:solidFill>
                  <a:prstClr val="black"/>
                </a:solidFill>
              </a:rPr>
              <a:t>[20KB]</a:t>
            </a:r>
            <a:endParaRPr lang="en-US" altLang="ko-KR" sz="800" dirty="0">
              <a:solidFill>
                <a:prstClr val="black"/>
              </a:solidFill>
            </a:endParaRPr>
          </a:p>
          <a:p>
            <a:pPr lvl="0">
              <a:lnSpc>
                <a:spcPct val="120000"/>
              </a:lnSpc>
            </a:pPr>
            <a:r>
              <a:rPr lang="ko-KR" altLang="en-US" sz="600" dirty="0">
                <a:solidFill>
                  <a:prstClr val="black"/>
                </a:solidFill>
              </a:rPr>
              <a:t>유효기간 </a:t>
            </a:r>
            <a:r>
              <a:rPr lang="en-US" altLang="ko-KR" sz="600" dirty="0">
                <a:solidFill>
                  <a:prstClr val="black"/>
                </a:solidFill>
              </a:rPr>
              <a:t>2025-01-31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8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3858229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📄</a:t>
            </a:r>
          </a:p>
        </p:txBody>
      </p:sp>
      <p:cxnSp>
        <p:nvCxnSpPr>
          <p:cNvPr id="91" name="직선 연결선 9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12917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2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3790334"/>
            <a:ext cx="2212684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en-US" altLang="ko-KR" sz="800" b="1" dirty="0">
                <a:solidFill>
                  <a:prstClr val="black"/>
                </a:solidFill>
              </a:rPr>
              <a:t>4</a:t>
            </a:r>
            <a:r>
              <a:rPr lang="ko-KR" altLang="en-US" sz="800" b="1" dirty="0" err="1">
                <a:solidFill>
                  <a:prstClr val="black"/>
                </a:solidFill>
              </a:rPr>
              <a:t>대사회보험사업장가입내역확인서</a:t>
            </a:r>
            <a:r>
              <a:rPr lang="en-US" altLang="ko-KR" sz="800" b="1" dirty="0">
                <a:solidFill>
                  <a:prstClr val="black"/>
                </a:solidFill>
              </a:rPr>
              <a:t>.pdf </a:t>
            </a:r>
            <a:r>
              <a:rPr lang="en-US" altLang="ko-KR" sz="600" dirty="0">
                <a:solidFill>
                  <a:prstClr val="black"/>
                </a:solidFill>
              </a:rPr>
              <a:t>[20KB]</a:t>
            </a:r>
            <a:endParaRPr lang="en-US" altLang="ko-KR" sz="800" dirty="0">
              <a:solidFill>
                <a:prstClr val="black"/>
              </a:solidFill>
            </a:endParaRPr>
          </a:p>
          <a:p>
            <a:pPr lvl="0">
              <a:lnSpc>
                <a:spcPct val="120000"/>
              </a:lnSpc>
            </a:pPr>
            <a:r>
              <a:rPr lang="ko-KR" altLang="en-US" sz="600" dirty="0">
                <a:solidFill>
                  <a:prstClr val="black"/>
                </a:solidFill>
              </a:rPr>
              <a:t>유효기간 </a:t>
            </a:r>
            <a:r>
              <a:rPr lang="en-US" altLang="ko-KR" sz="600" dirty="0">
                <a:solidFill>
                  <a:prstClr val="black"/>
                </a:solidFill>
              </a:rPr>
              <a:t>2025-01-31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9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4277885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📄</a:t>
            </a:r>
          </a:p>
        </p:txBody>
      </p:sp>
      <p:cxnSp>
        <p:nvCxnSpPr>
          <p:cNvPr id="99" name="직선 연결선 9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54883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0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4209990"/>
            <a:ext cx="2212684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>
                <a:solidFill>
                  <a:prstClr val="black"/>
                </a:solidFill>
              </a:rPr>
              <a:t>파일명</a:t>
            </a:r>
            <a:r>
              <a:rPr lang="en-US" altLang="ko-KR" sz="800" b="1" dirty="0">
                <a:solidFill>
                  <a:prstClr val="black"/>
                </a:solidFill>
              </a:rPr>
              <a:t>.</a:t>
            </a:r>
            <a:r>
              <a:rPr lang="ko-KR" altLang="en-US" sz="800" b="1" dirty="0" err="1">
                <a:solidFill>
                  <a:prstClr val="black"/>
                </a:solidFill>
              </a:rPr>
              <a:t>확장자</a:t>
            </a:r>
            <a:r>
              <a:rPr lang="en-US" altLang="ko-KR" sz="800" b="1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[20KB]</a:t>
            </a:r>
            <a:endParaRPr lang="en-US" altLang="ko-KR" sz="800" b="1" dirty="0">
              <a:solidFill>
                <a:prstClr val="black"/>
              </a:solidFill>
            </a:endParaRPr>
          </a:p>
          <a:p>
            <a:pPr lvl="0">
              <a:lnSpc>
                <a:spcPct val="120000"/>
              </a:lnSpc>
            </a:pPr>
            <a:r>
              <a:rPr lang="ko-KR" altLang="en-US" sz="600" dirty="0">
                <a:solidFill>
                  <a:prstClr val="black"/>
                </a:solidFill>
              </a:rPr>
              <a:t>유효기간 </a:t>
            </a:r>
            <a:r>
              <a:rPr lang="en-US" altLang="ko-KR" sz="600" dirty="0">
                <a:solidFill>
                  <a:prstClr val="black"/>
                </a:solidFill>
              </a:rPr>
              <a:t>-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cxnSp>
        <p:nvCxnSpPr>
          <p:cNvPr id="102" name="직선 연결선 1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2249278"/>
            <a:ext cx="45225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4" name="타원 103"/>
          <p:cNvSpPr/>
          <p:nvPr/>
        </p:nvSpPr>
        <p:spPr>
          <a:xfrm>
            <a:off x="783686" y="221671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5" name="그룹 104"/>
          <p:cNvGrpSpPr/>
          <p:nvPr/>
        </p:nvGrpSpPr>
        <p:grpSpPr>
          <a:xfrm>
            <a:off x="3143548" y="2279636"/>
            <a:ext cx="94010" cy="47005"/>
            <a:chOff x="6812560" y="3297172"/>
            <a:chExt cx="94010" cy="47005"/>
          </a:xfrm>
        </p:grpSpPr>
        <p:cxnSp>
          <p:nvCxnSpPr>
            <p:cNvPr id="106" name="직선 연결선 10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7" name="직선 연결선 10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6" name="타원 11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01368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614333062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60676" y="802438"/>
            <a:ext cx="264071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폴더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dl_digitalCabinetFldrList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1086192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폴더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fldrSn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항목 검색 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03297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폴더명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fldrNm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폴더명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항목 검색 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폴더사이즈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fldrSz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폴더사이즈 항목 검색 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93806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수정자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수정자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항목 검색 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11183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수정일시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mdfcnDt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 수정일시 항목 검색 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82110824"/>
                  </a:ext>
                </a:extLst>
              </a:tr>
            </a:tbl>
          </a:graphicData>
        </a:graphic>
      </p:graphicFrame>
      <p:sp>
        <p:nvSpPr>
          <p:cNvPr id="20" name="TextBox 19">
            <a:extLst>
              <a:ext uri="{FF2B5EF4-FFF2-40B4-BE49-F238E27FC236}">
                <a16:creationId xmlns:a16="http://schemas.microsoft.com/office/drawing/2014/main" id="{5621256E-2BA7-6BAA-111B-197BD14DF222}"/>
              </a:ext>
            </a:extLst>
          </p:cNvPr>
          <p:cNvSpPr txBox="1"/>
          <p:nvPr/>
        </p:nvSpPr>
        <p:spPr>
          <a:xfrm>
            <a:off x="438119" y="2449502"/>
            <a:ext cx="327710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폴더 내 파일목록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dl_digitalCabinetFileList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BCC675FA-CA9A-F7D0-E1A9-801F009BFC8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33001" y="2733256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lt"/>
                          <a:ea typeface="+mn-ea"/>
                        </a:rPr>
                        <a:t>fileId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68540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파일명 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255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파일사이즈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fileSz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파일사이즈 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93806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유효기간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vldPrdEndYmd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유효기간 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11183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전자문서 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lt"/>
                          <a:ea typeface="+mn-ea"/>
                        </a:rPr>
                        <a:t>eldocYn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전자문서 여부 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Y/N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1174319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AEACD273-95D4-61F0-0E38-A6B2B35E67F9}"/>
              </a:ext>
            </a:extLst>
          </p:cNvPr>
          <p:cNvSpPr txBox="1"/>
          <p:nvPr/>
        </p:nvSpPr>
        <p:spPr>
          <a:xfrm>
            <a:off x="463575" y="426735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B949227A-FD55-5483-94A2-84441908A15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9609147"/>
              </p:ext>
            </p:extLst>
          </p:nvPr>
        </p:nvGraphicFramePr>
        <p:xfrm>
          <a:off x="433001" y="4551087"/>
          <a:ext cx="8995591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85097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765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목록을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폴더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scwin.fldrInfo_onclick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폴더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해당하는 파일목록 정보를 조회한다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030245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B384D4DE-1334-2648-261A-B57C67E0D1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4409" y="442250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A4350DC5-4272-6447-12B9-D0BD5DC6A619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2205CD74-5F48-3EBE-9AE5-0C8C7BC4E2CF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0" name="Text Box 73">
              <a:extLst>
                <a:ext uri="{FF2B5EF4-FFF2-40B4-BE49-F238E27FC236}">
                  <a16:creationId xmlns:a16="http://schemas.microsoft.com/office/drawing/2014/main" id="{6EE07283-DD02-DC10-0DF5-55ADA55192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35031933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각 </a:t>
            </a:r>
            <a:r>
              <a:rPr lang="ko-KR" altLang="en-US" dirty="0" err="1"/>
              <a:t>바로가기</a:t>
            </a:r>
            <a:r>
              <a:rPr lang="ko-KR" altLang="en-US" dirty="0"/>
              <a:t> 버튼 표시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업체정보관리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업체정보관리 목록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메뉴 구성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MUI-CM-01-M01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업체정보관리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grpSp>
        <p:nvGrpSpPr>
          <p:cNvPr id="50" name="그룹 49"/>
          <p:cNvGrpSpPr/>
          <p:nvPr/>
        </p:nvGrpSpPr>
        <p:grpSpPr>
          <a:xfrm>
            <a:off x="903581" y="3663608"/>
            <a:ext cx="2255663" cy="306146"/>
            <a:chOff x="903581" y="2074658"/>
            <a:chExt cx="2255663" cy="306146"/>
          </a:xfrm>
        </p:grpSpPr>
        <p:sp>
          <p:nvSpPr>
            <p:cNvPr id="51" name="모서리가 둥근 직사각형 5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업체 정보 상세보기</a:t>
              </a:r>
            </a:p>
          </p:txBody>
        </p:sp>
      </p:grpSp>
      <p:grpSp>
        <p:nvGrpSpPr>
          <p:cNvPr id="55" name="그룹 54"/>
          <p:cNvGrpSpPr/>
          <p:nvPr/>
        </p:nvGrpSpPr>
        <p:grpSpPr>
          <a:xfrm>
            <a:off x="903581" y="4045852"/>
            <a:ext cx="2255663" cy="306146"/>
            <a:chOff x="903581" y="2074658"/>
            <a:chExt cx="2255663" cy="306146"/>
          </a:xfrm>
        </p:grpSpPr>
        <p:sp>
          <p:nvSpPr>
            <p:cNvPr id="56" name="모서리가 둥근 직사각형 5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추가정보 신청 목록</a:t>
              </a:r>
            </a:p>
          </p:txBody>
        </p:sp>
      </p:grpSp>
      <p:grpSp>
        <p:nvGrpSpPr>
          <p:cNvPr id="110" name="그룹 109"/>
          <p:cNvGrpSpPr/>
          <p:nvPr/>
        </p:nvGrpSpPr>
        <p:grpSpPr>
          <a:xfrm>
            <a:off x="903581" y="4426128"/>
            <a:ext cx="2255663" cy="306146"/>
            <a:chOff x="903581" y="2074658"/>
            <a:chExt cx="2255663" cy="306146"/>
          </a:xfrm>
        </p:grpSpPr>
        <p:sp>
          <p:nvSpPr>
            <p:cNvPr id="111" name="모서리가 둥근 직사각형 11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업체정보 </a:t>
              </a:r>
              <a:r>
                <a:rPr lang="ko-KR" altLang="en-US" sz="800" b="1" dirty="0" err="1">
                  <a:latin typeface="+mn-ea"/>
                </a:rPr>
                <a:t>추가등록</a:t>
              </a:r>
              <a:endParaRPr lang="ko-KR" altLang="en-US" sz="800" b="1" dirty="0">
                <a:latin typeface="+mn-ea"/>
              </a:endParaRPr>
            </a:p>
          </p:txBody>
        </p:sp>
      </p:grpSp>
      <p:grpSp>
        <p:nvGrpSpPr>
          <p:cNvPr id="115" name="그룹 114"/>
          <p:cNvGrpSpPr/>
          <p:nvPr/>
        </p:nvGrpSpPr>
        <p:grpSpPr>
          <a:xfrm>
            <a:off x="903581" y="4811420"/>
            <a:ext cx="2255663" cy="306146"/>
            <a:chOff x="903581" y="2074658"/>
            <a:chExt cx="2255663" cy="306146"/>
          </a:xfrm>
        </p:grpSpPr>
        <p:sp>
          <p:nvSpPr>
            <p:cNvPr id="116" name="모서리가 둥근 직사각형 11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군수품무역대리업 신청 및 발급 목록</a:t>
              </a:r>
            </a:p>
          </p:txBody>
        </p:sp>
      </p:grpSp>
      <p:grpSp>
        <p:nvGrpSpPr>
          <p:cNvPr id="120" name="그룹 119"/>
          <p:cNvGrpSpPr/>
          <p:nvPr/>
        </p:nvGrpSpPr>
        <p:grpSpPr>
          <a:xfrm>
            <a:off x="903581" y="5200056"/>
            <a:ext cx="2255663" cy="306146"/>
            <a:chOff x="903581" y="2074658"/>
            <a:chExt cx="2255663" cy="306146"/>
          </a:xfrm>
        </p:grpSpPr>
        <p:sp>
          <p:nvSpPr>
            <p:cNvPr id="121" name="모서리가 둥근 직사각형 12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조달원 확인서 신청</a:t>
              </a:r>
            </a:p>
          </p:txBody>
        </p:sp>
      </p:grp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05853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37" name="그룹 36"/>
          <p:cNvGrpSpPr/>
          <p:nvPr/>
        </p:nvGrpSpPr>
        <p:grpSpPr>
          <a:xfrm>
            <a:off x="903581" y="5588692"/>
            <a:ext cx="2255663" cy="306146"/>
            <a:chOff x="903581" y="2074658"/>
            <a:chExt cx="2255663" cy="306146"/>
          </a:xfrm>
        </p:grpSpPr>
        <p:sp>
          <p:nvSpPr>
            <p:cNvPr id="38" name="모서리가 둥근 직사각형 37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국외 조달원등록증 신청안내</a:t>
              </a:r>
            </a:p>
          </p:txBody>
        </p:sp>
      </p:grpSp>
      <p:grpSp>
        <p:nvGrpSpPr>
          <p:cNvPr id="41" name="그룹 40"/>
          <p:cNvGrpSpPr/>
          <p:nvPr/>
        </p:nvGrpSpPr>
        <p:grpSpPr>
          <a:xfrm>
            <a:off x="716365" y="1926939"/>
            <a:ext cx="2630093" cy="1600147"/>
            <a:chOff x="720490" y="4465173"/>
            <a:chExt cx="2630093" cy="1600147"/>
          </a:xfrm>
        </p:grpSpPr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업체정보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43" name="그룹 42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64" name="직선 연결선 6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5" name="직선 연결선 6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45" name="직사각형 44"/>
            <p:cNvSpPr/>
            <p:nvPr/>
          </p:nvSpPr>
          <p:spPr>
            <a:xfrm>
              <a:off x="722583" y="4772658"/>
              <a:ext cx="792000" cy="12808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업체코드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등록일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법인등록번호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주식회사 </a:t>
              </a:r>
              <a:r>
                <a:rPr lang="ko-KR" altLang="en-US" sz="700" dirty="0" smtClean="0">
                  <a:latin typeface="+mn-ea"/>
                </a:rPr>
                <a:t>국방전자조달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7004F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2026-02-02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123456-7890123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3042389778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</a:t>
            </a:r>
            <a:r>
              <a:rPr lang="ko-KR" altLang="en-US" sz="1000" b="1" dirty="0" smtClean="0">
                <a:solidFill>
                  <a:prstClr val="black"/>
                </a:solidFill>
              </a:rPr>
              <a:t>설명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53000" y="840586"/>
            <a:ext cx="236980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업체정보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1054269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64318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07890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bzentyRgstrtYmd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43788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1711343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9646A461-BCAF-034A-1179-54DE17ACB2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96F37B1-F84C-2A3A-7E62-143A78C7C08B}"/>
              </a:ext>
            </a:extLst>
          </p:cNvPr>
          <p:cNvSpPr txBox="1"/>
          <p:nvPr/>
        </p:nvSpPr>
        <p:spPr>
          <a:xfrm>
            <a:off x="455204" y="2849740"/>
            <a:ext cx="911074" cy="205992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B9231C4C-4641-0463-57E3-B0D9AC1324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0199505"/>
              </p:ext>
            </p:extLst>
          </p:nvPr>
        </p:nvGraphicFramePr>
        <p:xfrm>
          <a:off x="455204" y="3055732"/>
          <a:ext cx="8995591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).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 사용자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smtClean="0"/>
                        <a:t>항목 </a:t>
                      </a:r>
                      <a:r>
                        <a:rPr lang="ko-KR" altLang="en-US" sz="800" dirty="0"/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각 세부 페이지로 이동한다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FC288215-3957-73FE-9B76-59983CB7F9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2936287"/>
            <a:ext cx="1678016" cy="979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216763985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업체정보 상세 </a:t>
            </a:r>
            <a:r>
              <a:rPr lang="ko-KR" altLang="en-US" dirty="0" smtClean="0"/>
              <a:t>데이터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나라장터 갱신 버튼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- 1</a:t>
            </a:r>
            <a:r>
              <a:rPr lang="ko-KR" altLang="en-US" dirty="0" smtClean="0"/>
              <a:t>일 </a:t>
            </a:r>
            <a:r>
              <a:rPr lang="en-US" altLang="ko-KR" dirty="0" smtClean="0"/>
              <a:t>1</a:t>
            </a:r>
            <a:r>
              <a:rPr lang="ko-KR" altLang="en-US" dirty="0" smtClean="0"/>
              <a:t>회 제한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완료 토스트 메시지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갱신되었습니다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제한 토스트 메시지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/>
              <a:t>갱신은 </a:t>
            </a:r>
            <a:r>
              <a:rPr lang="en-US" altLang="ko-KR" dirty="0" smtClean="0"/>
              <a:t>1</a:t>
            </a:r>
            <a:r>
              <a:rPr lang="ko-KR" altLang="en-US" dirty="0" smtClean="0"/>
              <a:t>일 </a:t>
            </a:r>
            <a:r>
              <a:rPr lang="en-US" altLang="ko-KR" dirty="0" smtClean="0"/>
              <a:t>1</a:t>
            </a:r>
            <a:r>
              <a:rPr lang="ko-KR" altLang="en-US" dirty="0" smtClean="0"/>
              <a:t>회로 제한됩니다</a:t>
            </a:r>
            <a:r>
              <a:rPr lang="en-US" altLang="ko-KR" dirty="0" smtClean="0"/>
              <a:t>.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자신이 속한 업체 정보 표시</a:t>
            </a:r>
            <a:endParaRPr lang="en-US" altLang="ko-KR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MUI-CM-01-M02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 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124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1928876"/>
            <a:ext cx="247325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b="1" dirty="0">
                <a:latin typeface="+mn-ea"/>
              </a:rPr>
              <a:t>업체 정보 조회</a:t>
            </a:r>
          </a:p>
        </p:txBody>
      </p:sp>
      <p:grpSp>
        <p:nvGrpSpPr>
          <p:cNvPr id="14" name="그룹 13"/>
          <p:cNvGrpSpPr/>
          <p:nvPr/>
        </p:nvGrpSpPr>
        <p:grpSpPr>
          <a:xfrm>
            <a:off x="2926040" y="1931567"/>
            <a:ext cx="387478" cy="144000"/>
            <a:chOff x="2926040" y="2261650"/>
            <a:chExt cx="387478" cy="144000"/>
          </a:xfrm>
        </p:grpSpPr>
        <p:sp>
          <p:nvSpPr>
            <p:cNvPr id="80" name="타원 79"/>
            <p:cNvSpPr/>
            <p:nvPr/>
          </p:nvSpPr>
          <p:spPr>
            <a:xfrm>
              <a:off x="2926040" y="226165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2" name="모서리가 둥근 직사각형 81"/>
            <p:cNvSpPr/>
            <p:nvPr/>
          </p:nvSpPr>
          <p:spPr>
            <a:xfrm>
              <a:off x="3070040" y="2278058"/>
              <a:ext cx="243478" cy="119400"/>
            </a:xfrm>
            <a:prstGeom prst="roundRect">
              <a:avLst>
                <a:gd name="adj" fmla="val 23409"/>
              </a:avLst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출력</a:t>
              </a:r>
            </a:p>
          </p:txBody>
        </p:sp>
      </p:grp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1481931" y="2178612"/>
            <a:ext cx="42046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  <a:r>
              <a:rPr lang="en-US" altLang="ko-KR" sz="600" dirty="0">
                <a:solidFill>
                  <a:schemeClr val="dk1"/>
                </a:solidFill>
              </a:rPr>
              <a:t>(</a:t>
            </a:r>
            <a:r>
              <a:rPr lang="ko-KR" altLang="en-US" sz="600" dirty="0">
                <a:solidFill>
                  <a:schemeClr val="dk1"/>
                </a:solidFill>
              </a:rPr>
              <a:t>내자</a:t>
            </a:r>
            <a:r>
              <a:rPr lang="en-US" altLang="ko-KR" sz="600" dirty="0">
                <a:solidFill>
                  <a:schemeClr val="dk1"/>
                </a:solidFill>
              </a:rPr>
              <a:t>)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192" name="모서리가 둥근 직사각형 191"/>
          <p:cNvSpPr/>
          <p:nvPr/>
        </p:nvSpPr>
        <p:spPr>
          <a:xfrm>
            <a:off x="1959511" y="2178612"/>
            <a:ext cx="26661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공사</a:t>
            </a:r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56" name="모서리가 둥근 직사각형 155"/>
          <p:cNvSpPr/>
          <p:nvPr/>
        </p:nvSpPr>
        <p:spPr>
          <a:xfrm>
            <a:off x="2279644" y="2178612"/>
            <a:ext cx="25400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/>
              <a:t>용역</a:t>
            </a:r>
            <a:endParaRPr lang="ko-KR" altLang="en-US" sz="600" dirty="0"/>
          </a:p>
        </p:txBody>
      </p:sp>
      <p:grpSp>
        <p:nvGrpSpPr>
          <p:cNvPr id="8" name="그룹 7"/>
          <p:cNvGrpSpPr/>
          <p:nvPr/>
        </p:nvGrpSpPr>
        <p:grpSpPr>
          <a:xfrm>
            <a:off x="720490" y="3219475"/>
            <a:ext cx="2630093" cy="3108252"/>
            <a:chOff x="720490" y="4465173"/>
            <a:chExt cx="2630093" cy="3108252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업체일반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07" name="그룹 106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108" name="직선 연결선 1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9" name="직선 연결선 1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" name="직사각형 15"/>
            <p:cNvSpPr/>
            <p:nvPr/>
          </p:nvSpPr>
          <p:spPr>
            <a:xfrm>
              <a:off x="722583" y="4772658"/>
              <a:ext cx="792000" cy="271795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영문상호명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개업일자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홈페이지주소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팩스번호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법인설립일자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본사사업자번호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종업원수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조달테스트업체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err="1">
                  <a:latin typeface="+mn-ea"/>
                </a:rPr>
                <a:t>Jodal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대한민국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1999-12-31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www.dapa.go.kr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[12345] </a:t>
              </a: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02-2345-6789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1999-12-31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123456-7890123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 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2760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4897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6846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8983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4" name="직선 연결선 1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71120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73452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62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94784" y="2164911"/>
            <a:ext cx="307777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사업구분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업체코드</a:t>
            </a:r>
            <a:endParaRPr lang="en-US" altLang="ko-KR" sz="600" dirty="0">
              <a:latin typeface="+mn-ea"/>
            </a:endParaRPr>
          </a:p>
        </p:txBody>
      </p:sp>
      <p:sp>
        <p:nvSpPr>
          <p:cNvPr id="163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3108679" y="2149522"/>
            <a:ext cx="163571" cy="25917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100F</a:t>
            </a:r>
          </a:p>
        </p:txBody>
      </p:sp>
      <p:sp>
        <p:nvSpPr>
          <p:cNvPr id="178" name="모서리가 둥근 직사각형 177"/>
          <p:cNvSpPr/>
          <p:nvPr/>
        </p:nvSpPr>
        <p:spPr>
          <a:xfrm>
            <a:off x="2587167" y="2178612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일반용역</a:t>
            </a:r>
          </a:p>
        </p:txBody>
      </p:sp>
      <p:sp>
        <p:nvSpPr>
          <p:cNvPr id="179" name="모서리가 둥근 직사각형 178"/>
          <p:cNvSpPr/>
          <p:nvPr/>
        </p:nvSpPr>
        <p:spPr>
          <a:xfrm>
            <a:off x="3030985" y="2178612"/>
            <a:ext cx="25400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외자</a:t>
            </a:r>
          </a:p>
        </p:txBody>
      </p:sp>
      <p:grpSp>
        <p:nvGrpSpPr>
          <p:cNvPr id="232" name="그룹 231"/>
          <p:cNvGrpSpPr/>
          <p:nvPr/>
        </p:nvGrpSpPr>
        <p:grpSpPr>
          <a:xfrm>
            <a:off x="3836701" y="2510307"/>
            <a:ext cx="2630093" cy="1515507"/>
            <a:chOff x="720490" y="4772658"/>
            <a:chExt cx="2630093" cy="1515507"/>
          </a:xfrm>
        </p:grpSpPr>
        <p:sp>
          <p:nvSpPr>
            <p:cNvPr id="237" name="직사각형 236"/>
            <p:cNvSpPr/>
            <p:nvPr/>
          </p:nvSpPr>
          <p:spPr>
            <a:xfrm>
              <a:off x="722583" y="4772658"/>
              <a:ext cx="792000" cy="151252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38" name="직선 연결선 2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사업구분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제조구분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기업구분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기업구분해당년도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지역코드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지사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내자</a:t>
              </a:r>
              <a:r>
                <a:rPr lang="en-US" altLang="ko-KR" sz="700" dirty="0">
                  <a:latin typeface="+mn-ea"/>
                </a:rPr>
                <a:t>) | </a:t>
              </a:r>
              <a:r>
                <a:rPr lang="ko-KR" altLang="en-US" sz="700" dirty="0">
                  <a:latin typeface="+mn-ea"/>
                </a:rPr>
                <a:t>공사 </a:t>
              </a:r>
              <a:r>
                <a:rPr lang="en-US" altLang="ko-KR" sz="700" dirty="0">
                  <a:latin typeface="+mn-ea"/>
                </a:rPr>
                <a:t>| </a:t>
              </a:r>
              <a:r>
                <a:rPr lang="ko-KR" altLang="en-US" sz="700" dirty="0">
                  <a:latin typeface="+mn-ea"/>
                </a:rPr>
                <a:t>용역 </a:t>
              </a:r>
              <a:r>
                <a:rPr lang="en-US" altLang="ko-KR" sz="700" dirty="0">
                  <a:latin typeface="+mn-ea"/>
                </a:rPr>
                <a:t>| </a:t>
              </a:r>
              <a:r>
                <a:rPr lang="ko-KR" altLang="en-US" sz="700" dirty="0">
                  <a:latin typeface="+mn-ea"/>
                </a:rPr>
                <a:t>일반용역 </a:t>
              </a:r>
              <a:r>
                <a:rPr lang="en-US" altLang="ko-KR" sz="700" dirty="0">
                  <a:latin typeface="+mn-ea"/>
                </a:rPr>
                <a:t>| </a:t>
              </a:r>
              <a:r>
                <a:rPr lang="ko-KR" altLang="en-US" sz="700" dirty="0">
                  <a:latin typeface="+mn-ea"/>
                </a:rPr>
                <a:t>외자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중소기업 </a:t>
              </a:r>
              <a:r>
                <a:rPr lang="ko-KR" altLang="en-US" sz="700" dirty="0" err="1">
                  <a:latin typeface="+mn-ea"/>
                </a:rPr>
                <a:t>원호기업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1999</a:t>
              </a:r>
              <a:r>
                <a:rPr lang="ko-KR" altLang="en-US" sz="700" dirty="0">
                  <a:latin typeface="+mn-ea"/>
                </a:rPr>
                <a:t>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11-</a:t>
              </a:r>
              <a:r>
                <a:rPr lang="ko-KR" altLang="en-US" sz="700" dirty="0">
                  <a:latin typeface="+mn-ea"/>
                </a:rPr>
                <a:t>서울특별시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1-</a:t>
              </a:r>
              <a:r>
                <a:rPr lang="ko-KR" altLang="en-US" sz="700" dirty="0">
                  <a:latin typeface="+mn-ea"/>
                </a:rPr>
                <a:t>본사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42" name="직선 연결선 2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6" name="직선 연결선 2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7" name="직선 연결선 2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8" name="직선 연결선 2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839523"/>
              <a:ext cx="67077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공장설립특례 해당여부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2881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7" name="그룹 16"/>
          <p:cNvGrpSpPr/>
          <p:nvPr/>
        </p:nvGrpSpPr>
        <p:grpSpPr>
          <a:xfrm>
            <a:off x="3795734" y="1496869"/>
            <a:ext cx="2717198" cy="1014120"/>
            <a:chOff x="3892639" y="1846937"/>
            <a:chExt cx="2717198" cy="1014120"/>
          </a:xfrm>
        </p:grpSpPr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9781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3998701" y="1928876"/>
              <a:ext cx="2473257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b="1" dirty="0">
                  <a:latin typeface="+mn-ea"/>
                </a:rPr>
                <a:t>업체 정보 조회</a:t>
              </a:r>
            </a:p>
          </p:txBody>
        </p:sp>
        <p:grpSp>
          <p:nvGrpSpPr>
            <p:cNvPr id="187" name="그룹 186"/>
            <p:cNvGrpSpPr/>
            <p:nvPr/>
          </p:nvGrpSpPr>
          <p:grpSpPr>
            <a:xfrm>
              <a:off x="6143280" y="1931567"/>
              <a:ext cx="387478" cy="144000"/>
              <a:chOff x="2926040" y="2261650"/>
              <a:chExt cx="387478" cy="144000"/>
            </a:xfrm>
          </p:grpSpPr>
          <p:sp>
            <p:nvSpPr>
              <p:cNvPr id="206" name="타원 205"/>
              <p:cNvSpPr/>
              <p:nvPr/>
            </p:nvSpPr>
            <p:spPr>
              <a:xfrm>
                <a:off x="2926040" y="2261650"/>
                <a:ext cx="144000" cy="1440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07" name="모서리가 둥근 직사각형 206"/>
              <p:cNvSpPr/>
              <p:nvPr/>
            </p:nvSpPr>
            <p:spPr>
              <a:xfrm>
                <a:off x="3070040" y="2278058"/>
                <a:ext cx="243478" cy="119400"/>
              </a:xfrm>
              <a:prstGeom prst="roundRect">
                <a:avLst>
                  <a:gd name="adj" fmla="val 23409"/>
                </a:avLst>
              </a:prstGeom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lIns="36000" rIns="36000" rtlCol="0" anchor="ctr"/>
              <a:lstStyle/>
              <a:p>
                <a:pPr algn="ctr"/>
                <a:r>
                  <a:rPr lang="ko-KR" altLang="en-US" sz="600" dirty="0">
                    <a:solidFill>
                      <a:schemeClr val="dk1"/>
                    </a:solidFill>
                  </a:rPr>
                  <a:t>출력</a:t>
                </a:r>
              </a:p>
            </p:txBody>
          </p:sp>
        </p:grp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92639" y="250664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92639" y="286105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81409" y="2644450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err="1">
                  <a:latin typeface="+mn-ea"/>
                </a:rPr>
                <a:t>업체일반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526736" y="2644450"/>
              <a:ext cx="40668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물품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내자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222" name="직선 연결선 2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937730" y="2861057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23" name="모서리가 둥근 직사각형 222"/>
            <p:cNvSpPr/>
            <p:nvPr/>
          </p:nvSpPr>
          <p:spPr>
            <a:xfrm>
              <a:off x="4699171" y="2178612"/>
              <a:ext cx="42046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  <a:r>
                <a:rPr lang="en-US" altLang="ko-KR" sz="600" dirty="0">
                  <a:solidFill>
                    <a:schemeClr val="dk1"/>
                  </a:solidFill>
                </a:rPr>
                <a:t>(</a:t>
              </a:r>
              <a:r>
                <a:rPr lang="ko-KR" altLang="en-US" sz="600" dirty="0">
                  <a:solidFill>
                    <a:schemeClr val="dk1"/>
                  </a:solidFill>
                </a:rPr>
                <a:t>내자</a:t>
              </a:r>
              <a:r>
                <a:rPr lang="en-US" altLang="ko-KR" sz="600" dirty="0">
                  <a:solidFill>
                    <a:schemeClr val="dk1"/>
                  </a:solidFill>
                </a:rPr>
                <a:t>)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224" name="모서리가 둥근 직사각형 223"/>
            <p:cNvSpPr/>
            <p:nvPr/>
          </p:nvSpPr>
          <p:spPr>
            <a:xfrm>
              <a:off x="5176751" y="2178612"/>
              <a:ext cx="266612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공사</a:t>
              </a:r>
            </a:p>
          </p:txBody>
        </p:sp>
        <p:sp>
          <p:nvSpPr>
            <p:cNvPr id="225" name="모서리가 둥근 직사각형 224"/>
            <p:cNvSpPr/>
            <p:nvPr/>
          </p:nvSpPr>
          <p:spPr>
            <a:xfrm>
              <a:off x="5496884" y="2178612"/>
              <a:ext cx="254002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/>
                <a:t>용역</a:t>
              </a:r>
              <a:endParaRPr lang="ko-KR" altLang="en-US" sz="600" dirty="0"/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118961" y="2644450"/>
              <a:ext cx="179536" cy="10772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시설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484042" y="2644450"/>
              <a:ext cx="53884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국내소재상사</a:t>
              </a:r>
            </a:p>
          </p:txBody>
        </p:sp>
        <p:sp>
          <p:nvSpPr>
            <p:cNvPr id="228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4012024" y="2164911"/>
              <a:ext cx="307777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사업구분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업체코드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229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6325919" y="2149522"/>
              <a:ext cx="163571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100F</a:t>
              </a:r>
            </a:p>
          </p:txBody>
        </p:sp>
        <p:sp>
          <p:nvSpPr>
            <p:cNvPr id="230" name="모서리가 둥근 직사각형 229"/>
            <p:cNvSpPr/>
            <p:nvPr/>
          </p:nvSpPr>
          <p:spPr>
            <a:xfrm>
              <a:off x="5804407" y="2178612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일반용역</a:t>
              </a:r>
            </a:p>
          </p:txBody>
        </p:sp>
        <p:sp>
          <p:nvSpPr>
            <p:cNvPr id="231" name="모서리가 둥근 직사각형 230"/>
            <p:cNvSpPr/>
            <p:nvPr/>
          </p:nvSpPr>
          <p:spPr>
            <a:xfrm>
              <a:off x="6248225" y="2178612"/>
              <a:ext cx="254002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외자</a:t>
              </a:r>
            </a:p>
          </p:txBody>
        </p:sp>
      </p:grpSp>
      <p:grpSp>
        <p:nvGrpSpPr>
          <p:cNvPr id="287" name="그룹 286"/>
          <p:cNvGrpSpPr/>
          <p:nvPr/>
        </p:nvGrpSpPr>
        <p:grpSpPr>
          <a:xfrm>
            <a:off x="3836701" y="4152847"/>
            <a:ext cx="2630093" cy="1600147"/>
            <a:chOff x="720490" y="4465173"/>
            <a:chExt cx="2630093" cy="1600147"/>
          </a:xfrm>
        </p:grpSpPr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상태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부정당</a:t>
              </a:r>
            </a:p>
          </p:txBody>
        </p:sp>
        <p:grpSp>
          <p:nvGrpSpPr>
            <p:cNvPr id="291" name="그룹 290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321" name="직선 연결선 3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2" name="직선 연결선 3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92" name="직사각형 291"/>
            <p:cNvSpPr/>
            <p:nvPr/>
          </p:nvSpPr>
          <p:spPr>
            <a:xfrm>
              <a:off x="722583" y="4772658"/>
              <a:ext cx="792000" cy="12896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상태코드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상태명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발생일자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시작일자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종료일자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비고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양도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양수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2018-02-05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2021-10-17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양도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98" name="직선 연결선 2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9" name="직선 연결선 2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0" name="직선 연결선 2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1" name="직선 연결선 3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324" name="직선 연결선 32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09799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50664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" name="그룹 17"/>
          <p:cNvGrpSpPr/>
          <p:nvPr/>
        </p:nvGrpSpPr>
        <p:grpSpPr>
          <a:xfrm>
            <a:off x="670228" y="2861112"/>
            <a:ext cx="2717198" cy="303979"/>
            <a:chOff x="675399" y="1846937"/>
            <a:chExt cx="2717198" cy="303979"/>
          </a:xfrm>
        </p:grpSpPr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33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69340" y="1891204"/>
              <a:ext cx="220200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나라장터</a:t>
              </a:r>
              <a:r>
                <a:rPr lang="en-US" altLang="ko-KR" sz="700" dirty="0">
                  <a:solidFill>
                    <a:prstClr val="black"/>
                  </a:solidFill>
                </a:rPr>
                <a:t>(G2B) </a:t>
              </a:r>
              <a:r>
                <a:rPr lang="ko-KR" altLang="en-US" sz="700" dirty="0">
                  <a:solidFill>
                    <a:prstClr val="black"/>
                  </a:solidFill>
                </a:rPr>
                <a:t>조달업체정보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최근 수신</a:t>
              </a:r>
              <a:r>
                <a:rPr lang="en-US" altLang="ko-KR" sz="700" dirty="0">
                  <a:solidFill>
                    <a:prstClr val="black"/>
                  </a:solidFill>
                </a:rPr>
                <a:t>(</a:t>
              </a:r>
              <a:r>
                <a:rPr lang="ko-KR" altLang="en-US" sz="700" dirty="0">
                  <a:solidFill>
                    <a:prstClr val="black"/>
                  </a:solidFill>
                </a:rPr>
                <a:t>갱신</a:t>
              </a:r>
              <a:r>
                <a:rPr lang="en-US" altLang="ko-KR" sz="700" dirty="0">
                  <a:solidFill>
                    <a:prstClr val="black"/>
                  </a:solidFill>
                </a:rPr>
                <a:t>)</a:t>
              </a:r>
              <a:r>
                <a:rPr lang="ko-KR" altLang="en-US" sz="700" dirty="0">
                  <a:solidFill>
                    <a:prstClr val="black"/>
                  </a:solidFill>
                </a:rPr>
                <a:t>일시 </a:t>
              </a:r>
              <a:r>
                <a:rPr lang="en-US" altLang="ko-KR" sz="700" dirty="0">
                  <a:solidFill>
                    <a:prstClr val="black"/>
                  </a:solidFill>
                </a:rPr>
                <a:t>: 2000-12-31 12:00</a:t>
              </a:r>
            </a:p>
          </p:txBody>
        </p: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15091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35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861883" y="1920467"/>
              <a:ext cx="421867" cy="156920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갱신하기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6105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264445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업체일반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09496" y="2644450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861057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901721" y="2644450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6802" y="2644450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sp>
        <p:nvSpPr>
          <p:cNvPr id="122" name="타원 12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85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196917757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수의계약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기본 값 </a:t>
            </a:r>
            <a:r>
              <a:rPr lang="en-US" altLang="ko-KR" dirty="0" smtClean="0"/>
              <a:t>: 3</a:t>
            </a:r>
            <a:r>
              <a:rPr lang="ko-KR" altLang="en-US" dirty="0" smtClean="0"/>
              <a:t>개월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자신이 속한 업체 정보 표시</a:t>
            </a:r>
            <a:endParaRPr lang="en-US" altLang="ko-KR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MUI-CM-01-M02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/>
          <p:cNvGrpSpPr/>
          <p:nvPr/>
        </p:nvGrpSpPr>
        <p:grpSpPr>
          <a:xfrm>
            <a:off x="720490" y="2564359"/>
            <a:ext cx="2630093" cy="2031034"/>
            <a:chOff x="720490" y="2967388"/>
            <a:chExt cx="2630093" cy="2031034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수의계약배제</a:t>
              </a:r>
            </a:p>
          </p:txBody>
        </p:sp>
        <p:grpSp>
          <p:nvGrpSpPr>
            <p:cNvPr id="107" name="그룹 106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08" name="직선 연결선 1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9" name="직선 연결선 1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" name="직사각형 15"/>
            <p:cNvSpPr/>
            <p:nvPr/>
          </p:nvSpPr>
          <p:spPr>
            <a:xfrm>
              <a:off x="722583" y="3274873"/>
              <a:ext cx="792000" cy="171709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공고번호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판단번호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공고명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개찰일자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계약포기사유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등록일자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285608N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5608N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원격관제시스템</a:t>
              </a:r>
              <a:endParaRPr lang="en-US" altLang="ko-KR" sz="700" dirty="0"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2025-10-18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맑은 고딕" panose="020B0503020000020004" pitchFamily="50" charset="-127"/>
                  <a:cs typeface="Segoe UI" panose="020B0502040204020203" pitchFamily="34" charset="0"/>
                </a:rPr>
                <a:t>방위사업청</a:t>
              </a:r>
              <a:endParaRPr lang="en-US" altLang="ko-KR" sz="700" dirty="0"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1</a:t>
              </a:r>
              <a:r>
                <a:rPr lang="ko-KR" altLang="en-US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일</a:t>
              </a:r>
              <a:endParaRPr lang="en-US" altLang="ko-KR" sz="700" dirty="0"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포기합니다</a:t>
              </a:r>
              <a:r>
                <a:rPr lang="en-US" altLang="ko-KR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.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2025-09-01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282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419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5556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77826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99196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344542"/>
              <a:ext cx="67077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수의계약</a:t>
              </a:r>
              <a:endParaRPr lang="en-US" altLang="ko-KR" sz="700" dirty="0">
                <a:latin typeface="+mn-ea"/>
              </a:endParaRPr>
            </a:p>
            <a:p>
              <a:r>
                <a:rPr lang="ko-KR" altLang="en-US" sz="700" dirty="0" err="1">
                  <a:latin typeface="+mn-ea"/>
                </a:rPr>
                <a:t>배제기간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0" name="그룹 119"/>
          <p:cNvGrpSpPr/>
          <p:nvPr/>
        </p:nvGrpSpPr>
        <p:grpSpPr>
          <a:xfrm>
            <a:off x="3795734" y="1496869"/>
            <a:ext cx="2717198" cy="1014120"/>
            <a:chOff x="3892639" y="1846937"/>
            <a:chExt cx="2717198" cy="1014120"/>
          </a:xfrm>
        </p:grpSpPr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9781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2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3998701" y="1928876"/>
              <a:ext cx="2473257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b="1" dirty="0">
                  <a:latin typeface="+mn-ea"/>
                </a:rPr>
                <a:t>업체 정보 조회</a:t>
              </a:r>
            </a:p>
          </p:txBody>
        </p:sp>
        <p:grpSp>
          <p:nvGrpSpPr>
            <p:cNvPr id="123" name="그룹 122"/>
            <p:cNvGrpSpPr/>
            <p:nvPr/>
          </p:nvGrpSpPr>
          <p:grpSpPr>
            <a:xfrm>
              <a:off x="6143280" y="1931567"/>
              <a:ext cx="387478" cy="144000"/>
              <a:chOff x="2926040" y="2261650"/>
              <a:chExt cx="387478" cy="144000"/>
            </a:xfrm>
          </p:grpSpPr>
          <p:sp>
            <p:nvSpPr>
              <p:cNvPr id="140" name="타원 139"/>
              <p:cNvSpPr/>
              <p:nvPr/>
            </p:nvSpPr>
            <p:spPr>
              <a:xfrm>
                <a:off x="2926040" y="2261650"/>
                <a:ext cx="144000" cy="1440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1" name="모서리가 둥근 직사각형 140"/>
              <p:cNvSpPr/>
              <p:nvPr/>
            </p:nvSpPr>
            <p:spPr>
              <a:xfrm>
                <a:off x="3070040" y="2278058"/>
                <a:ext cx="243478" cy="119400"/>
              </a:xfrm>
              <a:prstGeom prst="roundRect">
                <a:avLst>
                  <a:gd name="adj" fmla="val 23409"/>
                </a:avLst>
              </a:prstGeom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lIns="36000" rIns="36000" rtlCol="0" anchor="ctr"/>
              <a:lstStyle/>
              <a:p>
                <a:pPr algn="ctr"/>
                <a:r>
                  <a:rPr lang="ko-KR" altLang="en-US" sz="600" dirty="0">
                    <a:solidFill>
                      <a:schemeClr val="dk1"/>
                    </a:solidFill>
                  </a:rPr>
                  <a:t>출력</a:t>
                </a:r>
              </a:p>
            </p:txBody>
          </p:sp>
        </p:grp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92639" y="250664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92639" y="286105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81409" y="2644450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err="1">
                  <a:latin typeface="+mn-ea"/>
                </a:rPr>
                <a:t>업체일반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526736" y="2644450"/>
              <a:ext cx="40668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물품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내자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937730" y="2861057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0" name="모서리가 둥근 직사각형 129"/>
            <p:cNvSpPr/>
            <p:nvPr/>
          </p:nvSpPr>
          <p:spPr>
            <a:xfrm>
              <a:off x="4699171" y="2178612"/>
              <a:ext cx="42046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  <a:r>
                <a:rPr lang="en-US" altLang="ko-KR" sz="600" dirty="0">
                  <a:solidFill>
                    <a:schemeClr val="dk1"/>
                  </a:solidFill>
                </a:rPr>
                <a:t>(</a:t>
              </a:r>
              <a:r>
                <a:rPr lang="ko-KR" altLang="en-US" sz="600" dirty="0">
                  <a:solidFill>
                    <a:schemeClr val="dk1"/>
                  </a:solidFill>
                </a:rPr>
                <a:t>내자</a:t>
              </a:r>
              <a:r>
                <a:rPr lang="en-US" altLang="ko-KR" sz="600" dirty="0">
                  <a:solidFill>
                    <a:schemeClr val="dk1"/>
                  </a:solidFill>
                </a:rPr>
                <a:t>)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131" name="모서리가 둥근 직사각형 130"/>
            <p:cNvSpPr/>
            <p:nvPr/>
          </p:nvSpPr>
          <p:spPr>
            <a:xfrm>
              <a:off x="5176751" y="2178612"/>
              <a:ext cx="266612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공사</a:t>
              </a:r>
            </a:p>
          </p:txBody>
        </p:sp>
        <p:sp>
          <p:nvSpPr>
            <p:cNvPr id="132" name="모서리가 둥근 직사각형 131"/>
            <p:cNvSpPr/>
            <p:nvPr/>
          </p:nvSpPr>
          <p:spPr>
            <a:xfrm>
              <a:off x="5496884" y="2178612"/>
              <a:ext cx="254002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/>
                <a:t>용역</a:t>
              </a:r>
              <a:endParaRPr lang="ko-KR" altLang="en-US" sz="600" dirty="0"/>
            </a:p>
          </p:txBody>
        </p:sp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118961" y="2644450"/>
              <a:ext cx="179536" cy="10772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시설</a:t>
              </a:r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484042" y="2644450"/>
              <a:ext cx="53884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국내소재상사</a:t>
              </a:r>
            </a:p>
          </p:txBody>
        </p:sp>
        <p:sp>
          <p:nvSpPr>
            <p:cNvPr id="135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4012024" y="2164911"/>
              <a:ext cx="307777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사업구분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업체코드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36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6325919" y="2149522"/>
              <a:ext cx="163571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100F</a:t>
              </a:r>
            </a:p>
          </p:txBody>
        </p:sp>
        <p:sp>
          <p:nvSpPr>
            <p:cNvPr id="137" name="모서리가 둥근 직사각형 136"/>
            <p:cNvSpPr/>
            <p:nvPr/>
          </p:nvSpPr>
          <p:spPr>
            <a:xfrm>
              <a:off x="5804407" y="2178612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일반용역</a:t>
              </a:r>
            </a:p>
          </p:txBody>
        </p:sp>
        <p:sp>
          <p:nvSpPr>
            <p:cNvPr id="138" name="모서리가 둥근 직사각형 137"/>
            <p:cNvSpPr/>
            <p:nvPr/>
          </p:nvSpPr>
          <p:spPr>
            <a:xfrm>
              <a:off x="6248225" y="2178612"/>
              <a:ext cx="254002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외자</a:t>
              </a:r>
            </a:p>
          </p:txBody>
        </p:sp>
      </p:grpSp>
      <p:sp>
        <p:nvSpPr>
          <p:cNvPr id="142" name="TextBox 14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43" name="그룹 142"/>
          <p:cNvGrpSpPr/>
          <p:nvPr/>
        </p:nvGrpSpPr>
        <p:grpSpPr>
          <a:xfrm>
            <a:off x="675399" y="1496869"/>
            <a:ext cx="2717198" cy="1014120"/>
            <a:chOff x="3892639" y="1846937"/>
            <a:chExt cx="2717198" cy="1014120"/>
          </a:xfrm>
        </p:grpSpPr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9781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3998701" y="1928876"/>
              <a:ext cx="2473257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b="1" dirty="0">
                  <a:latin typeface="+mn-ea"/>
                </a:rPr>
                <a:t>업체 정보 조회</a:t>
              </a:r>
            </a:p>
          </p:txBody>
        </p:sp>
        <p:grpSp>
          <p:nvGrpSpPr>
            <p:cNvPr id="146" name="그룹 145"/>
            <p:cNvGrpSpPr/>
            <p:nvPr/>
          </p:nvGrpSpPr>
          <p:grpSpPr>
            <a:xfrm>
              <a:off x="6143280" y="1931567"/>
              <a:ext cx="387478" cy="144000"/>
              <a:chOff x="2926040" y="2261650"/>
              <a:chExt cx="387478" cy="144000"/>
            </a:xfrm>
          </p:grpSpPr>
          <p:sp>
            <p:nvSpPr>
              <p:cNvPr id="166" name="타원 165"/>
              <p:cNvSpPr/>
              <p:nvPr/>
            </p:nvSpPr>
            <p:spPr>
              <a:xfrm>
                <a:off x="2926040" y="2261650"/>
                <a:ext cx="144000" cy="1440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모서리가 둥근 직사각형 179"/>
              <p:cNvSpPr/>
              <p:nvPr/>
            </p:nvSpPr>
            <p:spPr>
              <a:xfrm>
                <a:off x="3070040" y="2278058"/>
                <a:ext cx="243478" cy="119400"/>
              </a:xfrm>
              <a:prstGeom prst="roundRect">
                <a:avLst>
                  <a:gd name="adj" fmla="val 23409"/>
                </a:avLst>
              </a:prstGeom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lIns="36000" rIns="36000" rtlCol="0" anchor="ctr"/>
              <a:lstStyle/>
              <a:p>
                <a:pPr algn="ctr"/>
                <a:r>
                  <a:rPr lang="ko-KR" altLang="en-US" sz="600" dirty="0">
                    <a:solidFill>
                      <a:schemeClr val="dk1"/>
                    </a:solidFill>
                  </a:rPr>
                  <a:t>출력</a:t>
                </a:r>
              </a:p>
            </p:txBody>
          </p:sp>
        </p:grp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92639" y="250664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92639" y="286105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81409" y="2644450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err="1">
                  <a:latin typeface="+mn-ea"/>
                </a:rPr>
                <a:t>업체일반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50" name="TextBox 14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526736" y="2644450"/>
              <a:ext cx="40668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물품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내자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937730" y="2861057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52" name="모서리가 둥근 직사각형 151"/>
            <p:cNvSpPr/>
            <p:nvPr/>
          </p:nvSpPr>
          <p:spPr>
            <a:xfrm>
              <a:off x="4699171" y="2178612"/>
              <a:ext cx="42046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  <a:r>
                <a:rPr lang="en-US" altLang="ko-KR" sz="600" dirty="0">
                  <a:solidFill>
                    <a:schemeClr val="dk1"/>
                  </a:solidFill>
                </a:rPr>
                <a:t>(</a:t>
              </a:r>
              <a:r>
                <a:rPr lang="ko-KR" altLang="en-US" sz="600" dirty="0">
                  <a:solidFill>
                    <a:schemeClr val="dk1"/>
                  </a:solidFill>
                </a:rPr>
                <a:t>내자</a:t>
              </a:r>
              <a:r>
                <a:rPr lang="en-US" altLang="ko-KR" sz="600" dirty="0">
                  <a:solidFill>
                    <a:schemeClr val="dk1"/>
                  </a:solidFill>
                </a:rPr>
                <a:t>)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153" name="모서리가 둥근 직사각형 152"/>
            <p:cNvSpPr/>
            <p:nvPr/>
          </p:nvSpPr>
          <p:spPr>
            <a:xfrm>
              <a:off x="5176751" y="2178612"/>
              <a:ext cx="266612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공사</a:t>
              </a:r>
            </a:p>
          </p:txBody>
        </p:sp>
        <p:sp>
          <p:nvSpPr>
            <p:cNvPr id="154" name="모서리가 둥근 직사각형 153"/>
            <p:cNvSpPr/>
            <p:nvPr/>
          </p:nvSpPr>
          <p:spPr>
            <a:xfrm>
              <a:off x="5496884" y="2178612"/>
              <a:ext cx="254002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/>
                <a:t>용역</a:t>
              </a:r>
              <a:endParaRPr lang="ko-KR" altLang="en-US" sz="600" dirty="0"/>
            </a:p>
          </p:txBody>
        </p:sp>
        <p:sp>
          <p:nvSpPr>
            <p:cNvPr id="155" name="TextBox 1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118961" y="2644450"/>
              <a:ext cx="179536" cy="10772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시설</a:t>
              </a:r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484042" y="2644450"/>
              <a:ext cx="53884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국내소재상사</a:t>
              </a:r>
            </a:p>
          </p:txBody>
        </p:sp>
        <p:sp>
          <p:nvSpPr>
            <p:cNvPr id="160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4012024" y="2164911"/>
              <a:ext cx="307777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사업구분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업체코드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61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6325919" y="2149522"/>
              <a:ext cx="163571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100F</a:t>
              </a:r>
            </a:p>
          </p:txBody>
        </p:sp>
        <p:sp>
          <p:nvSpPr>
            <p:cNvPr id="164" name="모서리가 둥근 직사각형 163"/>
            <p:cNvSpPr/>
            <p:nvPr/>
          </p:nvSpPr>
          <p:spPr>
            <a:xfrm>
              <a:off x="5804407" y="2178612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일반용역</a:t>
              </a:r>
            </a:p>
          </p:txBody>
        </p:sp>
        <p:sp>
          <p:nvSpPr>
            <p:cNvPr id="165" name="모서리가 둥근 직사각형 164"/>
            <p:cNvSpPr/>
            <p:nvPr/>
          </p:nvSpPr>
          <p:spPr>
            <a:xfrm>
              <a:off x="6248225" y="2178612"/>
              <a:ext cx="254002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외자</a:t>
              </a:r>
            </a:p>
          </p:txBody>
        </p:sp>
      </p:grpSp>
      <p:grpSp>
        <p:nvGrpSpPr>
          <p:cNvPr id="182" name="그룹 181"/>
          <p:cNvGrpSpPr/>
          <p:nvPr/>
        </p:nvGrpSpPr>
        <p:grpSpPr>
          <a:xfrm>
            <a:off x="3828452" y="2559544"/>
            <a:ext cx="2630093" cy="1384703"/>
            <a:chOff x="720490" y="2967388"/>
            <a:chExt cx="2630093" cy="1384703"/>
          </a:xfrm>
        </p:grpSpPr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</a:p>
          </p:txBody>
        </p:sp>
        <p:grpSp>
          <p:nvGrpSpPr>
            <p:cNvPr id="184" name="그룹 183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202" name="직선 연결선 20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3" name="직선 연결선 20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6" name="직사각형 185"/>
            <p:cNvSpPr/>
            <p:nvPr/>
          </p:nvSpPr>
          <p:spPr>
            <a:xfrm>
              <a:off x="722583" y="3274873"/>
              <a:ext cx="792000" cy="106711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대표대표자여부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대표자영문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주민등록번호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이메일주소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대대표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Hong </a:t>
              </a:r>
              <a:r>
                <a:rPr lang="en-US" altLang="ko-KR" sz="700" dirty="0" err="1">
                  <a:latin typeface="+mn-ea"/>
                </a:rPr>
                <a:t>kil</a:t>
              </a:r>
              <a:r>
                <a:rPr lang="en-US" altLang="ko-KR" sz="700" dirty="0">
                  <a:latin typeface="+mn-ea"/>
                </a:rPr>
                <a:t> dong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890123-1******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abcde@dapa.go.kr</a:t>
              </a:r>
            </a:p>
          </p:txBody>
        </p: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282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419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85141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5" name="그룹 204"/>
          <p:cNvGrpSpPr/>
          <p:nvPr/>
        </p:nvGrpSpPr>
        <p:grpSpPr>
          <a:xfrm>
            <a:off x="3836701" y="4222259"/>
            <a:ext cx="2630093" cy="1169259"/>
            <a:chOff x="720490" y="2967388"/>
            <a:chExt cx="2630093" cy="1169259"/>
          </a:xfrm>
        </p:grpSpPr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입찰대리인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09" name="그룹 208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234" name="직선 연결선 23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35" name="직선 연결선 23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0" name="직사각형 209"/>
            <p:cNvSpPr/>
            <p:nvPr/>
          </p:nvSpPr>
          <p:spPr>
            <a:xfrm>
              <a:off x="722583" y="3274873"/>
              <a:ext cx="792000" cy="84997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1" name="직선 연결선 2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직위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성명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주민등록번호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과장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김길동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890123-1******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</p:txBody>
        </p:sp>
        <p:cxnSp>
          <p:nvCxnSpPr>
            <p:cNvPr id="214" name="직선 연결선 2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6" name="직선 연결선 2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7" name="직선 연결선 2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282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98" name="타원 9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62126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99" name="직선 연결선 9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06812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2324095" y="2606794"/>
            <a:ext cx="713326" cy="188135"/>
            <a:chOff x="1823840" y="2598090"/>
            <a:chExt cx="1213581" cy="188135"/>
          </a:xfrm>
        </p:grpSpPr>
        <p:sp>
          <p:nvSpPr>
            <p:cNvPr id="101" name="사각형: 둥근 모서리 169">
              <a:extLst>
                <a:ext uri="{FF2B5EF4-FFF2-40B4-BE49-F238E27FC236}">
                  <a16:creationId xmlns:a16="http://schemas.microsoft.com/office/drawing/2014/main" id="{A28DD831-0E4B-31EE-CB08-9E188754698D}"/>
                </a:ext>
              </a:extLst>
            </p:cNvPr>
            <p:cNvSpPr/>
            <p:nvPr/>
          </p:nvSpPr>
          <p:spPr>
            <a:xfrm>
              <a:off x="1823840" y="2598090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 smtClean="0"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en-US" sz="700" kern="0" dirty="0"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02" name="사각형: 둥근 모서리 171">
              <a:extLst>
                <a:ext uri="{FF2B5EF4-FFF2-40B4-BE49-F238E27FC236}">
                  <a16:creationId xmlns:a16="http://schemas.microsoft.com/office/drawing/2014/main" id="{75BECEC6-4045-95B1-98C2-242CA0FC5A06}"/>
                </a:ext>
              </a:extLst>
            </p:cNvPr>
            <p:cNvSpPr/>
            <p:nvPr/>
          </p:nvSpPr>
          <p:spPr>
            <a:xfrm>
              <a:off x="2455404" y="2598090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ko-KR" sz="700" kern="0" dirty="0" smtClean="0">
                  <a:solidFill>
                    <a:srgbClr val="0070C0"/>
                  </a:solidFill>
                  <a:latin typeface="+mn-ea"/>
                </a:rPr>
                <a:t>3</a:t>
              </a:r>
              <a:r>
                <a:rPr kumimoji="1" lang="ko-KR" altLang="en-US" sz="700" kern="0" dirty="0">
                  <a:solidFill>
                    <a:srgbClr val="0070C0"/>
                  </a:solidFill>
                  <a:latin typeface="+mn-ea"/>
                </a:rPr>
                <a:t>개월</a:t>
              </a:r>
              <a:endParaRPr kumimoji="1" lang="en-US" altLang="ko-KR" sz="700" kern="0" dirty="0">
                <a:solidFill>
                  <a:srgbClr val="0070C0"/>
                </a:solidFill>
                <a:latin typeface="+mn-ea"/>
              </a:endParaRPr>
            </a:p>
          </p:txBody>
        </p:sp>
      </p:grpSp>
      <p:grpSp>
        <p:nvGrpSpPr>
          <p:cNvPr id="104" name="그룹 10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918902"/>
            <a:ext cx="76863" cy="292489"/>
            <a:chOff x="3750067" y="4683795"/>
            <a:chExt cx="76863" cy="292489"/>
          </a:xfrm>
        </p:grpSpPr>
        <p:sp>
          <p:nvSpPr>
            <p:cNvPr id="110" name="타원 10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11" name="타원 11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12" name="타원 11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96850585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2D5E7BC-2F20-E769-ABD1-A1599668D8AB}"/>
              </a:ext>
            </a:extLst>
          </p:cNvPr>
          <p:cNvSpPr txBox="1"/>
          <p:nvPr/>
        </p:nvSpPr>
        <p:spPr>
          <a:xfrm>
            <a:off x="460676" y="811968"/>
            <a:ext cx="260063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업체일반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dm_bzentyGnrlInfo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CC65F83-4317-B2AC-2278-7907C354C35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1018532"/>
          <a:ext cx="8994883" cy="44601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bzentyCd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bzentyNm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영문상호명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bzentyEngNm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영문상호명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brno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7660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ntnCd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570806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개업일자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opbizYmd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개업일자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1700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홈페이지주소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hmpgAddr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홈페이지주소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0932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bzentyAddr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rprsvTelno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rprsvFxno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9491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법인설립일자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fndnYmd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법인설립일자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8860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crno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662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hdofcBrno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본사사업자번호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040638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종업원수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empCnt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종업원수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866616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bizCd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9468756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제조구분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entTpcd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제조구분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27452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기업구분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entShcd1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기업구분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20297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기업구분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entShcd2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기업구분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값이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있을때만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표시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77407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기업구분해당년도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entSeRlvtYr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기업구분해당년도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94591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지역코드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rgnCd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지역코드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8579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공장설립특례해당여부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fctryFndnSpcsYn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공장설립특례해당여부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103119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bplcSecd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9861475"/>
                  </a:ext>
                </a:extLst>
              </a:tr>
            </a:tbl>
          </a:graphicData>
        </a:graphic>
      </p:graphicFrame>
      <p:sp>
        <p:nvSpPr>
          <p:cNvPr id="5" name="직사각형 4">
            <a:extLst>
              <a:ext uri="{FF2B5EF4-FFF2-40B4-BE49-F238E27FC236}">
                <a16:creationId xmlns:a16="http://schemas.microsoft.com/office/drawing/2014/main" id="{051650A0-6477-9D01-FA0C-D7C3BF87DA84}"/>
              </a:ext>
            </a:extLst>
          </p:cNvPr>
          <p:cNvSpPr/>
          <p:nvPr/>
        </p:nvSpPr>
        <p:spPr>
          <a:xfrm>
            <a:off x="6367463" y="634871"/>
            <a:ext cx="3157537" cy="226591"/>
          </a:xfrm>
          <a:prstGeom prst="rect">
            <a:avLst/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n>
                <a:solidFill>
                  <a:schemeClr val="bg1"/>
                </a:solidFill>
              </a:ln>
              <a:solidFill>
                <a:schemeClr val="bg1"/>
              </a:solidFill>
            </a:endParaRPr>
          </a:p>
        </p:txBody>
      </p:sp>
      <p:sp>
        <p:nvSpPr>
          <p:cNvPr id="13" name="Text Box 73">
            <a:extLst>
              <a:ext uri="{FF2B5EF4-FFF2-40B4-BE49-F238E27FC236}">
                <a16:creationId xmlns:a16="http://schemas.microsoft.com/office/drawing/2014/main" id="{258E0144-829A-EA7C-666D-8E58B6D643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08756976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108</a:t>
            </a:fld>
            <a:endParaRPr lang="ko-KR" alt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1316425D-4BD5-6E29-5732-73E636F8FE4D}"/>
              </a:ext>
            </a:extLst>
          </p:cNvPr>
          <p:cNvSpPr txBox="1"/>
          <p:nvPr/>
        </p:nvSpPr>
        <p:spPr>
          <a:xfrm>
            <a:off x="460676" y="810730"/>
            <a:ext cx="26391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상태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부정당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dl_bzentySttsList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CA9A8587-5819-67EB-81EE-F25A40AE7C90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103476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상태명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상태명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상태구분코드로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상태명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발생일자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crtrYmd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발생일자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시작일자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7660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570806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rmrkCn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170083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6378ACA8-0DBB-242F-7302-6161CBC92EC3}"/>
              </a:ext>
            </a:extLst>
          </p:cNvPr>
          <p:cNvSpPr txBox="1"/>
          <p:nvPr/>
        </p:nvSpPr>
        <p:spPr>
          <a:xfrm>
            <a:off x="460676" y="2627659"/>
            <a:ext cx="328351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수의계약배제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dl_bzentyRlsVltrnsRstricList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0A266717-41A4-FFE0-9028-C30737B2931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2862151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pbancNo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prcmNo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공고명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pbancNm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공고명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공고명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bdopnYmd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7660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orderInstNm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570806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 배제기간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exclPrd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 배제기간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배제기간 종료일자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–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시작일자로 기간 설정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1700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계약포기사유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exclRsn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계약포기사유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59006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5602106"/>
                  </a:ext>
                </a:extLst>
              </a:tr>
            </a:tbl>
          </a:graphicData>
        </a:graphic>
      </p:graphicFrame>
      <p:sp>
        <p:nvSpPr>
          <p:cNvPr id="21" name="TextBox 20">
            <a:extLst>
              <a:ext uri="{FF2B5EF4-FFF2-40B4-BE49-F238E27FC236}">
                <a16:creationId xmlns:a16="http://schemas.microsoft.com/office/drawing/2014/main" id="{03B252C2-8DD7-95F1-F37C-1DD64918DF71}"/>
              </a:ext>
            </a:extLst>
          </p:cNvPr>
          <p:cNvSpPr txBox="1"/>
          <p:nvPr/>
        </p:nvSpPr>
        <p:spPr>
          <a:xfrm>
            <a:off x="430810" y="4807345"/>
            <a:ext cx="245636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>
                <a:solidFill>
                  <a:prstClr val="black"/>
                </a:solidFill>
              </a:rPr>
              <a:t>대표자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dl_bzentyRprsvList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0C2491EF-77B1-8CF0-7D2E-53A4A7C6B39E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25692" y="5031719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대표대표자여부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rprsvYn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대표대표자여부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대표자영문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rprsvEngNm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대표자영문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주민등록번호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rprsvEnrrno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대표자주민등록번호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7660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rprsvEmlAddr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대표자이메일주소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57080612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A568EBA1-28CC-955A-4797-32A7FB98B4A6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9" name="Text Box 73">
            <a:extLst>
              <a:ext uri="{FF2B5EF4-FFF2-40B4-BE49-F238E27FC236}">
                <a16:creationId xmlns:a16="http://schemas.microsoft.com/office/drawing/2014/main" id="{802FEBB7-652C-3886-F1E0-11862D6BD8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131462394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109</a:t>
            </a:fld>
            <a:endParaRPr lang="ko-KR" alt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1316425D-4BD5-6E29-5732-73E636F8FE4D}"/>
              </a:ext>
            </a:extLst>
          </p:cNvPr>
          <p:cNvSpPr txBox="1"/>
          <p:nvPr/>
        </p:nvSpPr>
        <p:spPr>
          <a:xfrm>
            <a:off x="458118" y="811578"/>
            <a:ext cx="275613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 </a:t>
            </a:r>
            <a:r>
              <a:rPr lang="ko-KR" altLang="en-US" sz="900" b="1" dirty="0">
                <a:solidFill>
                  <a:prstClr val="black"/>
                </a:solidFill>
              </a:rPr>
              <a:t>입찰대리인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dl_bzentyBidAgtList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CA9A8587-5819-67EB-81EE-F25A40AE7C90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8117" y="1022781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lt"/>
                          <a:ea typeface="+mn-ea"/>
                        </a:rPr>
                        <a:t>직위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agtJbpsNm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lt"/>
                          <a:ea typeface="+mn-ea"/>
                        </a:rPr>
                        <a:t>직위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100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lt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agtNm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lt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100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lt"/>
                          <a:ea typeface="+mn-ea"/>
                        </a:rPr>
                        <a:t>주민등록번호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agtEnrrno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lt"/>
                          <a:ea typeface="+mn-ea"/>
                        </a:rPr>
                        <a:t>주민등록번호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lt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agtEntlno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lt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7660226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784BD3DB-3D3A-4BBF-F92F-9CA0617EEF77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809A899B-AE9E-80CA-B3B3-E3F1774541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644703533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110</a:t>
            </a:fld>
            <a:endParaRPr lang="ko-KR" altLang="en-US" dirty="0"/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DF682E38-8D2E-2EA1-FA7C-426AFDAB2F3C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204" y="799547"/>
          <a:ext cx="8995591" cy="138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0710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7469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 일반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수의계약배제조회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scwin.btn_rlsVltrnsRstricList_onclick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 수의계약배제정보를 조회한다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조건에 따라 전체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/3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개월 수의계약배제 정보를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52398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나라장터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(G2B)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조달업체정보수신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(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갱신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)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/>
                        <a:t>scwin.btn_g2bDmnd_onclick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나라장터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(G2B)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에 등록된 조달업체 정보를 갱신한다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회로 제한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7302419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499126BC-7F95-33D5-ED23-60F3C4E82D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68334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6521E2C-E736-42FD-BA08-C70A616ED481}"/>
              </a:ext>
            </a:extLst>
          </p:cNvPr>
          <p:cNvSpPr txBox="1"/>
          <p:nvPr/>
        </p:nvSpPr>
        <p:spPr>
          <a:xfrm>
            <a:off x="458117" y="57295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2. </a:t>
            </a:r>
            <a:r>
              <a:rPr lang="ko-KR" altLang="en-US" sz="1000" b="1" dirty="0">
                <a:solidFill>
                  <a:prstClr val="black"/>
                </a:solidFill>
              </a:rPr>
              <a:t>이벤트 설명</a:t>
            </a:r>
          </a:p>
        </p:txBody>
      </p:sp>
    </p:spTree>
    <p:extLst>
      <p:ext uri="{BB962C8B-B14F-4D97-AF65-F5344CB8AC3E}">
        <p14:creationId xmlns:p14="http://schemas.microsoft.com/office/powerpoint/2010/main" val="3060327881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업체정보 상세 데이터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조달확인서</a:t>
            </a:r>
            <a:r>
              <a:rPr lang="ko-KR" altLang="en-US" dirty="0"/>
              <a:t> 신청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</a:t>
            </a:r>
            <a:r>
              <a:rPr lang="ko-KR" altLang="en-US" dirty="0" smtClean="0">
                <a:latin typeface="+mn-ea"/>
              </a:rPr>
              <a:t>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상세 구성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물품</a:t>
            </a: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내자</a:t>
            </a: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)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MUI-CM-01-M02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 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124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1928876"/>
            <a:ext cx="247325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b="1" dirty="0">
                <a:latin typeface="+mn-ea"/>
              </a:rPr>
              <a:t>업체 정보 조회</a:t>
            </a:r>
          </a:p>
        </p:txBody>
      </p:sp>
      <p:grpSp>
        <p:nvGrpSpPr>
          <p:cNvPr id="14" name="그룹 13"/>
          <p:cNvGrpSpPr/>
          <p:nvPr/>
        </p:nvGrpSpPr>
        <p:grpSpPr>
          <a:xfrm>
            <a:off x="2926040" y="1931567"/>
            <a:ext cx="387478" cy="144000"/>
            <a:chOff x="2926040" y="2261650"/>
            <a:chExt cx="387478" cy="144000"/>
          </a:xfrm>
        </p:grpSpPr>
        <p:sp>
          <p:nvSpPr>
            <p:cNvPr id="80" name="타원 79"/>
            <p:cNvSpPr/>
            <p:nvPr/>
          </p:nvSpPr>
          <p:spPr>
            <a:xfrm>
              <a:off x="2926040" y="226165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2" name="모서리가 둥근 직사각형 81"/>
            <p:cNvSpPr/>
            <p:nvPr/>
          </p:nvSpPr>
          <p:spPr>
            <a:xfrm>
              <a:off x="3070040" y="2278058"/>
              <a:ext cx="243478" cy="119400"/>
            </a:xfrm>
            <a:prstGeom prst="roundRect">
              <a:avLst>
                <a:gd name="adj" fmla="val 23409"/>
              </a:avLst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출력</a:t>
              </a:r>
            </a:p>
          </p:txBody>
        </p:sp>
      </p:grp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1481931" y="2178612"/>
            <a:ext cx="42046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  <a:r>
              <a:rPr lang="en-US" altLang="ko-KR" sz="600" dirty="0">
                <a:solidFill>
                  <a:schemeClr val="dk1"/>
                </a:solidFill>
              </a:rPr>
              <a:t>(</a:t>
            </a:r>
            <a:r>
              <a:rPr lang="ko-KR" altLang="en-US" sz="600" dirty="0">
                <a:solidFill>
                  <a:schemeClr val="dk1"/>
                </a:solidFill>
              </a:rPr>
              <a:t>내자</a:t>
            </a:r>
            <a:r>
              <a:rPr lang="en-US" altLang="ko-KR" sz="600" dirty="0">
                <a:solidFill>
                  <a:schemeClr val="dk1"/>
                </a:solidFill>
              </a:rPr>
              <a:t>)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192" name="모서리가 둥근 직사각형 191"/>
          <p:cNvSpPr/>
          <p:nvPr/>
        </p:nvSpPr>
        <p:spPr>
          <a:xfrm>
            <a:off x="1959511" y="2178612"/>
            <a:ext cx="26661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공사</a:t>
            </a:r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94" name="타원 29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240" y="587122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56" name="모서리가 둥근 직사각형 155"/>
          <p:cNvSpPr/>
          <p:nvPr/>
        </p:nvSpPr>
        <p:spPr>
          <a:xfrm>
            <a:off x="2279644" y="2178612"/>
            <a:ext cx="25400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/>
              <a:t>용역</a:t>
            </a:r>
            <a:endParaRPr lang="ko-KR" altLang="en-US" sz="600" dirty="0"/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62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94784" y="2164911"/>
            <a:ext cx="307777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사업구분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업체코드</a:t>
            </a:r>
            <a:endParaRPr lang="en-US" altLang="ko-KR" sz="600" dirty="0">
              <a:latin typeface="+mn-ea"/>
            </a:endParaRPr>
          </a:p>
        </p:txBody>
      </p:sp>
      <p:sp>
        <p:nvSpPr>
          <p:cNvPr id="163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3108679" y="2149522"/>
            <a:ext cx="163571" cy="25917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100F</a:t>
            </a:r>
          </a:p>
        </p:txBody>
      </p:sp>
      <p:sp>
        <p:nvSpPr>
          <p:cNvPr id="178" name="모서리가 둥근 직사각형 177"/>
          <p:cNvSpPr/>
          <p:nvPr/>
        </p:nvSpPr>
        <p:spPr>
          <a:xfrm>
            <a:off x="2587167" y="2178612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일반용역</a:t>
            </a:r>
          </a:p>
        </p:txBody>
      </p:sp>
      <p:sp>
        <p:nvSpPr>
          <p:cNvPr id="179" name="모서리가 둥근 직사각형 178"/>
          <p:cNvSpPr/>
          <p:nvPr/>
        </p:nvSpPr>
        <p:spPr>
          <a:xfrm>
            <a:off x="3030985" y="2178612"/>
            <a:ext cx="25400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외자</a:t>
            </a:r>
          </a:p>
        </p:txBody>
      </p:sp>
      <p:grpSp>
        <p:nvGrpSpPr>
          <p:cNvPr id="17" name="그룹 16"/>
          <p:cNvGrpSpPr/>
          <p:nvPr/>
        </p:nvGrpSpPr>
        <p:grpSpPr>
          <a:xfrm>
            <a:off x="3795734" y="1493927"/>
            <a:ext cx="2717198" cy="1014120"/>
            <a:chOff x="3892639" y="1846937"/>
            <a:chExt cx="2717198" cy="1014120"/>
          </a:xfrm>
        </p:grpSpPr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9781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3998701" y="1928876"/>
              <a:ext cx="2473257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b="1" dirty="0">
                  <a:latin typeface="+mn-ea"/>
                </a:rPr>
                <a:t>업체 정보 조회</a:t>
              </a:r>
            </a:p>
          </p:txBody>
        </p:sp>
        <p:grpSp>
          <p:nvGrpSpPr>
            <p:cNvPr id="187" name="그룹 186"/>
            <p:cNvGrpSpPr/>
            <p:nvPr/>
          </p:nvGrpSpPr>
          <p:grpSpPr>
            <a:xfrm>
              <a:off x="6143280" y="1931567"/>
              <a:ext cx="387478" cy="144000"/>
              <a:chOff x="2926040" y="2261650"/>
              <a:chExt cx="387478" cy="144000"/>
            </a:xfrm>
          </p:grpSpPr>
          <p:sp>
            <p:nvSpPr>
              <p:cNvPr id="206" name="타원 205"/>
              <p:cNvSpPr/>
              <p:nvPr/>
            </p:nvSpPr>
            <p:spPr>
              <a:xfrm>
                <a:off x="2926040" y="2261650"/>
                <a:ext cx="144000" cy="1440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07" name="모서리가 둥근 직사각형 206"/>
              <p:cNvSpPr/>
              <p:nvPr/>
            </p:nvSpPr>
            <p:spPr>
              <a:xfrm>
                <a:off x="3070040" y="2278058"/>
                <a:ext cx="243478" cy="119400"/>
              </a:xfrm>
              <a:prstGeom prst="roundRect">
                <a:avLst>
                  <a:gd name="adj" fmla="val 23409"/>
                </a:avLst>
              </a:prstGeom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lIns="36000" rIns="36000" rtlCol="0" anchor="ctr"/>
              <a:lstStyle/>
              <a:p>
                <a:pPr algn="ctr"/>
                <a:r>
                  <a:rPr lang="ko-KR" altLang="en-US" sz="600" dirty="0">
                    <a:solidFill>
                      <a:schemeClr val="dk1"/>
                    </a:solidFill>
                  </a:rPr>
                  <a:t>출력</a:t>
                </a:r>
              </a:p>
            </p:txBody>
          </p:sp>
        </p:grp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92639" y="250664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92639" y="286105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81409" y="2644450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>
                  <a:latin typeface="+mn-ea"/>
                </a:rPr>
                <a:t>업체일반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526736" y="2644450"/>
              <a:ext cx="40668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latin typeface="+mn-ea"/>
                </a:rPr>
                <a:t>물품</a:t>
              </a:r>
              <a:r>
                <a:rPr lang="en-US" altLang="ko-KR" sz="700" b="1" dirty="0">
                  <a:latin typeface="+mn-ea"/>
                </a:rPr>
                <a:t>(</a:t>
              </a:r>
              <a:r>
                <a:rPr lang="ko-KR" altLang="en-US" sz="700" b="1" dirty="0">
                  <a:latin typeface="+mn-ea"/>
                </a:rPr>
                <a:t>내자</a:t>
              </a:r>
              <a:r>
                <a:rPr lang="en-US" altLang="ko-KR" sz="700" b="1" dirty="0">
                  <a:latin typeface="+mn-ea"/>
                </a:rPr>
                <a:t>)</a:t>
              </a:r>
              <a:endParaRPr lang="ko-KR" altLang="en-US" sz="700" b="1" dirty="0">
                <a:latin typeface="+mn-ea"/>
              </a:endParaRPr>
            </a:p>
          </p:txBody>
        </p:sp>
        <p:cxnSp>
          <p:nvCxnSpPr>
            <p:cNvPr id="222" name="직선 연결선 2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4510094" y="2861057"/>
              <a:ext cx="435210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23" name="모서리가 둥근 직사각형 222"/>
            <p:cNvSpPr/>
            <p:nvPr/>
          </p:nvSpPr>
          <p:spPr>
            <a:xfrm>
              <a:off x="4699171" y="2178612"/>
              <a:ext cx="42046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  <a:r>
                <a:rPr lang="en-US" altLang="ko-KR" sz="600" dirty="0">
                  <a:solidFill>
                    <a:schemeClr val="dk1"/>
                  </a:solidFill>
                </a:rPr>
                <a:t>(</a:t>
              </a:r>
              <a:r>
                <a:rPr lang="ko-KR" altLang="en-US" sz="600" dirty="0">
                  <a:solidFill>
                    <a:schemeClr val="dk1"/>
                  </a:solidFill>
                </a:rPr>
                <a:t>내자</a:t>
              </a:r>
              <a:r>
                <a:rPr lang="en-US" altLang="ko-KR" sz="600" dirty="0">
                  <a:solidFill>
                    <a:schemeClr val="dk1"/>
                  </a:solidFill>
                </a:rPr>
                <a:t>)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224" name="모서리가 둥근 직사각형 223"/>
            <p:cNvSpPr/>
            <p:nvPr/>
          </p:nvSpPr>
          <p:spPr>
            <a:xfrm>
              <a:off x="5176751" y="2178612"/>
              <a:ext cx="266612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공사</a:t>
              </a:r>
            </a:p>
          </p:txBody>
        </p:sp>
        <p:sp>
          <p:nvSpPr>
            <p:cNvPr id="225" name="모서리가 둥근 직사각형 224"/>
            <p:cNvSpPr/>
            <p:nvPr/>
          </p:nvSpPr>
          <p:spPr>
            <a:xfrm>
              <a:off x="5496884" y="2178612"/>
              <a:ext cx="254002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/>
                <a:t>용역</a:t>
              </a:r>
              <a:endParaRPr lang="ko-KR" altLang="en-US" sz="600" dirty="0"/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118961" y="2644450"/>
              <a:ext cx="179536" cy="10772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시설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484042" y="2644450"/>
              <a:ext cx="53884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국내소재상사</a:t>
              </a:r>
            </a:p>
          </p:txBody>
        </p:sp>
        <p:sp>
          <p:nvSpPr>
            <p:cNvPr id="228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4012024" y="2164911"/>
              <a:ext cx="307777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사업구분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업체코드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229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6325919" y="2149522"/>
              <a:ext cx="163571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100F</a:t>
              </a:r>
            </a:p>
          </p:txBody>
        </p:sp>
        <p:sp>
          <p:nvSpPr>
            <p:cNvPr id="230" name="모서리가 둥근 직사각형 229"/>
            <p:cNvSpPr/>
            <p:nvPr/>
          </p:nvSpPr>
          <p:spPr>
            <a:xfrm>
              <a:off x="5804407" y="2178612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일반용역</a:t>
              </a:r>
            </a:p>
          </p:txBody>
        </p:sp>
        <p:sp>
          <p:nvSpPr>
            <p:cNvPr id="231" name="모서리가 둥근 직사각형 230"/>
            <p:cNvSpPr/>
            <p:nvPr/>
          </p:nvSpPr>
          <p:spPr>
            <a:xfrm>
              <a:off x="6248225" y="2178612"/>
              <a:ext cx="254002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외자</a:t>
              </a:r>
            </a:p>
          </p:txBody>
        </p:sp>
      </p:grpSp>
      <p:grpSp>
        <p:nvGrpSpPr>
          <p:cNvPr id="287" name="그룹 286"/>
          <p:cNvGrpSpPr/>
          <p:nvPr/>
        </p:nvGrpSpPr>
        <p:grpSpPr>
          <a:xfrm>
            <a:off x="3836701" y="2567841"/>
            <a:ext cx="2630093" cy="1600147"/>
            <a:chOff x="720490" y="4465173"/>
            <a:chExt cx="2630093" cy="1600147"/>
          </a:xfrm>
        </p:grpSpPr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등록품목명세</a:t>
              </a:r>
            </a:p>
          </p:txBody>
        </p:sp>
        <p:grpSp>
          <p:nvGrpSpPr>
            <p:cNvPr id="291" name="그룹 290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321" name="직선 연결선 3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2" name="직선 연결선 3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92" name="직사각형 291"/>
            <p:cNvSpPr/>
            <p:nvPr/>
          </p:nvSpPr>
          <p:spPr>
            <a:xfrm>
              <a:off x="722583" y="4772658"/>
              <a:ext cx="792000" cy="12896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품목코드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품류코드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등록요건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품목적부판정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1001100001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60 / </a:t>
              </a:r>
              <a:r>
                <a:rPr lang="ko-KR" altLang="en-US" sz="700" dirty="0">
                  <a:latin typeface="+mn-ea"/>
                </a:rPr>
                <a:t>총탄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이불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해당업종</a:t>
              </a:r>
              <a:r>
                <a:rPr lang="ko-KR" altLang="en-US" sz="700" dirty="0">
                  <a:latin typeface="+mn-ea"/>
                </a:rPr>
                <a:t> 사업자</a:t>
              </a:r>
              <a:r>
                <a:rPr lang="en-US" altLang="ko-KR" sz="700" dirty="0">
                  <a:latin typeface="+mn-ea"/>
                </a:rPr>
                <a:t>/ </a:t>
              </a:r>
              <a:r>
                <a:rPr lang="ko-KR" altLang="en-US" sz="700" dirty="0">
                  <a:latin typeface="+mn-ea"/>
                </a:rPr>
                <a:t>공장 등록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98" name="직선 연결선 2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9" name="직선 연결선 2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0" name="직선 연결선 2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1" name="직선 연결선 3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50664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6105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264445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업체일반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09496" y="2644450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물품</a:t>
            </a:r>
            <a:r>
              <a:rPr lang="en-US" altLang="ko-KR" sz="700" b="1" dirty="0">
                <a:latin typeface="+mn-ea"/>
              </a:rPr>
              <a:t>(</a:t>
            </a:r>
            <a:r>
              <a:rPr lang="ko-KR" altLang="en-US" sz="700" b="1" dirty="0">
                <a:latin typeface="+mn-ea"/>
              </a:rPr>
              <a:t>내자</a:t>
            </a:r>
            <a:r>
              <a:rPr lang="en-US" altLang="ko-KR" sz="700" b="1" dirty="0">
                <a:latin typeface="+mn-ea"/>
              </a:rPr>
              <a:t>)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901721" y="2644450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6802" y="2644450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grpSp>
        <p:nvGrpSpPr>
          <p:cNvPr id="123" name="그룹 122"/>
          <p:cNvGrpSpPr/>
          <p:nvPr/>
        </p:nvGrpSpPr>
        <p:grpSpPr>
          <a:xfrm>
            <a:off x="716366" y="3276205"/>
            <a:ext cx="2630093" cy="1169259"/>
            <a:chOff x="720490" y="2967388"/>
            <a:chExt cx="2630093" cy="1169259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담당자정보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5" name="그룹 124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35" name="직선 연결선 13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6" name="직선 연결선 13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6" name="직사각형 125"/>
            <p:cNvSpPr/>
            <p:nvPr/>
          </p:nvSpPr>
          <p:spPr>
            <a:xfrm>
              <a:off x="722583" y="3274873"/>
              <a:ext cx="792000" cy="84997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담당자명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팩스번호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이메일주소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김길동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02-2345-6789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abcde@dapa.go.kr</a:t>
              </a: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282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7" name="그룹 136"/>
          <p:cNvGrpSpPr/>
          <p:nvPr/>
        </p:nvGrpSpPr>
        <p:grpSpPr>
          <a:xfrm>
            <a:off x="716366" y="4572062"/>
            <a:ext cx="2630093" cy="966004"/>
            <a:chOff x="720490" y="2967388"/>
            <a:chExt cx="2630093" cy="966004"/>
          </a:xfrm>
        </p:grpSpPr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0" y="2967388"/>
              <a:ext cx="113625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대표품류</a:t>
              </a:r>
              <a:r>
                <a:rPr lang="ko-KR" altLang="en-US" sz="700" dirty="0">
                  <a:latin typeface="+mn-ea"/>
                </a:rPr>
                <a:t> 및 조합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단체</a:t>
              </a:r>
            </a:p>
          </p:txBody>
        </p:sp>
        <p:grpSp>
          <p:nvGrpSpPr>
            <p:cNvPr id="140" name="그룹 139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49" name="직선 연결선 14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0" name="직선 연결선 14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1" name="직사각형 140"/>
            <p:cNvSpPr/>
            <p:nvPr/>
          </p:nvSpPr>
          <p:spPr>
            <a:xfrm>
              <a:off x="722583" y="3274873"/>
              <a:ext cx="792000" cy="6563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대표품류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조합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단체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6120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05 / </a:t>
              </a:r>
              <a:r>
                <a:rPr lang="ko-KR" altLang="en-US" sz="700" dirty="0">
                  <a:latin typeface="+mn-ea"/>
                </a:rPr>
                <a:t>피복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한국피복공업협동조합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50965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52" name="그룹 151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4442789"/>
            <a:ext cx="76863" cy="292489"/>
            <a:chOff x="3750067" y="4683795"/>
            <a:chExt cx="76863" cy="292489"/>
          </a:xfrm>
        </p:grpSpPr>
        <p:sp>
          <p:nvSpPr>
            <p:cNvPr id="153" name="타원 152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54" name="타원 153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55" name="타원 154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159" name="직선 연결선 1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62696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66" name="직선 연결선 16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99364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" name="모서리가 둥근 직사각형 2"/>
          <p:cNvSpPr/>
          <p:nvPr/>
        </p:nvSpPr>
        <p:spPr>
          <a:xfrm>
            <a:off x="3880034" y="5070191"/>
            <a:ext cx="2543426" cy="608387"/>
          </a:xfrm>
          <a:prstGeom prst="roundRect">
            <a:avLst>
              <a:gd name="adj" fmla="val 8245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3114" y="5132010"/>
            <a:ext cx="2154318" cy="48474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b="1" dirty="0">
                <a:latin typeface="Consolas" panose="020B0609020204030204" pitchFamily="49" charset="0"/>
              </a:rPr>
              <a:t>물품</a:t>
            </a:r>
            <a:r>
              <a:rPr lang="en-US" altLang="ko-KR" sz="700" b="1" dirty="0">
                <a:latin typeface="Consolas" panose="020B0609020204030204" pitchFamily="49" charset="0"/>
              </a:rPr>
              <a:t>[</a:t>
            </a:r>
            <a:r>
              <a:rPr lang="ko-KR" altLang="en-US" sz="700" b="1" dirty="0">
                <a:latin typeface="Consolas" panose="020B0609020204030204" pitchFamily="49" charset="0"/>
              </a:rPr>
              <a:t>내자</a:t>
            </a:r>
            <a:r>
              <a:rPr lang="en-US" altLang="ko-KR" sz="700" b="1" dirty="0">
                <a:latin typeface="Consolas" panose="020B0609020204030204" pitchFamily="49" charset="0"/>
              </a:rPr>
              <a:t>]</a:t>
            </a:r>
            <a:r>
              <a:rPr lang="ko-KR" altLang="en-US" sz="700" b="1" dirty="0">
                <a:latin typeface="Consolas" panose="020B0609020204030204" pitchFamily="49" charset="0"/>
              </a:rPr>
              <a:t>업체 제출서류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공장등록증명서 </a:t>
            </a:r>
            <a:r>
              <a:rPr lang="en-US" altLang="ko-KR" sz="700" dirty="0">
                <a:latin typeface="Consolas" panose="020B0609020204030204" pitchFamily="49" charset="0"/>
              </a:rPr>
              <a:t>- 1</a:t>
            </a:r>
            <a:r>
              <a:rPr lang="ko-KR" altLang="en-US" sz="700" dirty="0">
                <a:latin typeface="Consolas" panose="020B0609020204030204" pitchFamily="49" charset="0"/>
              </a:rPr>
              <a:t>부 </a:t>
            </a: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관련업체만 제출</a:t>
            </a:r>
            <a:r>
              <a:rPr lang="en-US" altLang="ko-KR" sz="700" dirty="0">
                <a:latin typeface="Consolas" panose="020B0609020204030204" pitchFamily="49" charset="0"/>
              </a:rPr>
              <a:t>)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인</a:t>
            </a:r>
            <a:r>
              <a:rPr lang="en-US" altLang="ko-KR" sz="700" dirty="0">
                <a:latin typeface="Consolas" panose="020B0609020204030204" pitchFamily="49" charset="0"/>
              </a:rPr>
              <a:t>,</a:t>
            </a:r>
            <a:r>
              <a:rPr lang="ko-KR" altLang="en-US" sz="700" dirty="0" err="1">
                <a:latin typeface="Consolas" panose="020B0609020204030204" pitchFamily="49" charset="0"/>
              </a:rPr>
              <a:t>허가증사본</a:t>
            </a:r>
            <a:r>
              <a:rPr lang="ko-KR" altLang="en-US" sz="700" dirty="0">
                <a:latin typeface="Consolas" panose="020B0609020204030204" pitchFamily="49" charset="0"/>
              </a:rPr>
              <a:t> </a:t>
            </a:r>
            <a:r>
              <a:rPr lang="en-US" altLang="ko-KR" sz="700" dirty="0">
                <a:latin typeface="Consolas" panose="020B0609020204030204" pitchFamily="49" charset="0"/>
              </a:rPr>
              <a:t>- 1</a:t>
            </a:r>
            <a:r>
              <a:rPr lang="ko-KR" altLang="en-US" sz="700" dirty="0">
                <a:latin typeface="Consolas" panose="020B0609020204030204" pitchFamily="49" charset="0"/>
              </a:rPr>
              <a:t>부 </a:t>
            </a: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해당품목 제출</a:t>
            </a:r>
            <a:r>
              <a:rPr lang="en-US" altLang="ko-KR" sz="700" dirty="0">
                <a:latin typeface="Consolas" panose="020B0609020204030204" pitchFamily="49" charset="0"/>
              </a:rPr>
              <a:t>)</a:t>
            </a:r>
            <a:endParaRPr lang="ko-KR" altLang="en-US" sz="700" b="1" dirty="0">
              <a:latin typeface="맑은 고딕" panose="020B0503020000020004" pitchFamily="50" charset="-127"/>
            </a:endParaRPr>
          </a:p>
        </p:txBody>
      </p:sp>
      <p:sp>
        <p:nvSpPr>
          <p:cNvPr id="180" name="타원 179"/>
          <p:cNvSpPr/>
          <p:nvPr/>
        </p:nvSpPr>
        <p:spPr>
          <a:xfrm>
            <a:off x="3953173" y="5136746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28441" y="5828262"/>
            <a:ext cx="2446613" cy="279492"/>
          </a:xfrm>
          <a:prstGeom prst="roundRect">
            <a:avLst/>
          </a:prstGeom>
          <a:solidFill>
            <a:srgbClr val="0070C0"/>
          </a:solidFill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rPr>
              <a:t>조달원확인서 신청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160" name="그룹 159"/>
          <p:cNvGrpSpPr/>
          <p:nvPr/>
        </p:nvGrpSpPr>
        <p:grpSpPr>
          <a:xfrm>
            <a:off x="670228" y="2861112"/>
            <a:ext cx="2717198" cy="303979"/>
            <a:chOff x="675399" y="1846937"/>
            <a:chExt cx="2717198" cy="303979"/>
          </a:xfrm>
        </p:grpSpPr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69340" y="1891204"/>
              <a:ext cx="220200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나라장터</a:t>
              </a:r>
              <a:r>
                <a:rPr lang="en-US" altLang="ko-KR" sz="700" dirty="0">
                  <a:solidFill>
                    <a:prstClr val="black"/>
                  </a:solidFill>
                </a:rPr>
                <a:t>(G2B) </a:t>
              </a:r>
              <a:r>
                <a:rPr lang="ko-KR" altLang="en-US" sz="700" dirty="0">
                  <a:solidFill>
                    <a:prstClr val="black"/>
                  </a:solidFill>
                </a:rPr>
                <a:t>조달업체정보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최근 수신</a:t>
              </a:r>
              <a:r>
                <a:rPr lang="en-US" altLang="ko-KR" sz="700" dirty="0">
                  <a:solidFill>
                    <a:prstClr val="black"/>
                  </a:solidFill>
                </a:rPr>
                <a:t>(</a:t>
              </a:r>
              <a:r>
                <a:rPr lang="ko-KR" altLang="en-US" sz="700" dirty="0">
                  <a:solidFill>
                    <a:prstClr val="black"/>
                  </a:solidFill>
                </a:rPr>
                <a:t>갱신</a:t>
              </a:r>
              <a:r>
                <a:rPr lang="en-US" altLang="ko-KR" sz="700" dirty="0">
                  <a:solidFill>
                    <a:prstClr val="black"/>
                  </a:solidFill>
                </a:rPr>
                <a:t>)</a:t>
              </a:r>
              <a:r>
                <a:rPr lang="ko-KR" altLang="en-US" sz="700" dirty="0">
                  <a:solidFill>
                    <a:prstClr val="black"/>
                  </a:solidFill>
                </a:rPr>
                <a:t>일시 </a:t>
              </a:r>
              <a:r>
                <a:rPr lang="en-US" altLang="ko-KR" sz="700" dirty="0">
                  <a:solidFill>
                    <a:prstClr val="black"/>
                  </a:solidFill>
                </a:rPr>
                <a:t>: 2000-12-31 12:00</a:t>
              </a:r>
            </a:p>
          </p:txBody>
        </p: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15091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7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861883" y="1920467"/>
              <a:ext cx="421867" cy="156920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갱신하기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80966" y="2861057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2183900738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2D5E7BC-2F20-E769-ABD1-A1599668D8AB}"/>
              </a:ext>
            </a:extLst>
          </p:cNvPr>
          <p:cNvSpPr txBox="1"/>
          <p:nvPr/>
        </p:nvSpPr>
        <p:spPr>
          <a:xfrm>
            <a:off x="460676" y="815597"/>
            <a:ext cx="227522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담당자정보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dm_picInfo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CC65F83-4317-B2AC-2278-7907C354C35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1039971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7660226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0C5F4BF4-FFA6-A8E0-BAA2-8E1C1F22F9AA}"/>
              </a:ext>
            </a:extLst>
          </p:cNvPr>
          <p:cNvSpPr txBox="1"/>
          <p:nvPr/>
        </p:nvSpPr>
        <p:spPr>
          <a:xfrm>
            <a:off x="455559" y="2074614"/>
            <a:ext cx="368106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대표품류및조합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단체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dm_knditmListAsctGrpList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DA928137-514C-9ABE-6A4F-A4CBC3407BF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0441" y="2293050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대표품류코드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knditmCdNm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대표품류코드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233706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knditmCdNm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   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업태구분코드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MBTC (CODE_VLUE like ‘1%’)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28275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2477628B-DB8C-186D-A7E8-513CE70CB873}"/>
              </a:ext>
            </a:extLst>
          </p:cNvPr>
          <p:cNvSpPr txBox="1"/>
          <p:nvPr/>
        </p:nvSpPr>
        <p:spPr>
          <a:xfrm>
            <a:off x="458117" y="3636964"/>
            <a:ext cx="278498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등록품목명세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dl_regTrgtItemList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D59B016F-59AB-0FCE-204C-B71BDF4D9912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8117" y="3861969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33919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itemRgstrtSecdNm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품목등재구분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ITRGDVCD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51344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itemRgstrtRqmtNm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등록요건코드로 등록요건명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42305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품목적부판정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itemRvwRsltCn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품목적부판정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42679792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E4990925-92C3-E007-B9FA-BA5B8BF20032}"/>
              </a:ext>
            </a:extLst>
          </p:cNvPr>
          <p:cNvSpPr txBox="1"/>
          <p:nvPr/>
        </p:nvSpPr>
        <p:spPr>
          <a:xfrm>
            <a:off x="460676" y="548625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FE2DA2A7-544D-3515-5CBD-3763E6944CED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5681315"/>
          <a:ext cx="8995591" cy="825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0710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7469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 물품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조달원확인서신청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 </a:t>
                      </a:r>
                      <a:r>
                        <a:rPr lang="ko-KR" altLang="en-US" sz="800" dirty="0"/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scwin.btn_sosCnfdocAply_onclick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국내조달원 확인서 신청서 팝업을 호출한다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UI-CM-01-P03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7302419"/>
                  </a:ext>
                </a:extLst>
              </a:tr>
            </a:tbl>
          </a:graphicData>
        </a:graphic>
      </p:graphicFrame>
      <p:sp>
        <p:nvSpPr>
          <p:cNvPr id="19" name="Text Box 73">
            <a:extLst>
              <a:ext uri="{FF2B5EF4-FFF2-40B4-BE49-F238E27FC236}">
                <a16:creationId xmlns:a16="http://schemas.microsoft.com/office/drawing/2014/main" id="{204B93B3-59EC-7870-C562-484E348BB4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308" y="5570392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0C1C9B76-0F5C-A916-E7F3-A4F4CC861E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451187828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업체정보 상세 데이터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</a:t>
            </a:r>
            <a:r>
              <a:rPr lang="ko-KR" altLang="en-US" dirty="0" smtClean="0">
                <a:latin typeface="+mn-ea"/>
              </a:rPr>
              <a:t>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상세 구성 화면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smtClean="0">
                <a:solidFill>
                  <a:prstClr val="black"/>
                </a:solidFill>
                <a:latin typeface="맑은 고딕" panose="020B0503020000020004" pitchFamily="50" charset="-127"/>
              </a:rPr>
              <a:t>시설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MUI-CM-01-M02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 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124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1928876"/>
            <a:ext cx="247325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b="1" dirty="0">
                <a:latin typeface="+mn-ea"/>
              </a:rPr>
              <a:t>업체 정보 조회</a:t>
            </a:r>
          </a:p>
        </p:txBody>
      </p:sp>
      <p:grpSp>
        <p:nvGrpSpPr>
          <p:cNvPr id="14" name="그룹 13"/>
          <p:cNvGrpSpPr/>
          <p:nvPr/>
        </p:nvGrpSpPr>
        <p:grpSpPr>
          <a:xfrm>
            <a:off x="2926040" y="1931567"/>
            <a:ext cx="387478" cy="144000"/>
            <a:chOff x="2926040" y="2261650"/>
            <a:chExt cx="387478" cy="144000"/>
          </a:xfrm>
        </p:grpSpPr>
        <p:sp>
          <p:nvSpPr>
            <p:cNvPr id="80" name="타원 79"/>
            <p:cNvSpPr/>
            <p:nvPr/>
          </p:nvSpPr>
          <p:spPr>
            <a:xfrm>
              <a:off x="2926040" y="226165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2" name="모서리가 둥근 직사각형 81"/>
            <p:cNvSpPr/>
            <p:nvPr/>
          </p:nvSpPr>
          <p:spPr>
            <a:xfrm>
              <a:off x="3070040" y="2278058"/>
              <a:ext cx="243478" cy="119400"/>
            </a:xfrm>
            <a:prstGeom prst="roundRect">
              <a:avLst>
                <a:gd name="adj" fmla="val 23409"/>
              </a:avLst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출력</a:t>
              </a:r>
            </a:p>
          </p:txBody>
        </p:sp>
      </p:grp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1481931" y="2178612"/>
            <a:ext cx="42046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  <a:r>
              <a:rPr lang="en-US" altLang="ko-KR" sz="600" dirty="0">
                <a:solidFill>
                  <a:schemeClr val="dk1"/>
                </a:solidFill>
              </a:rPr>
              <a:t>(</a:t>
            </a:r>
            <a:r>
              <a:rPr lang="ko-KR" altLang="en-US" sz="600" dirty="0">
                <a:solidFill>
                  <a:schemeClr val="dk1"/>
                </a:solidFill>
              </a:rPr>
              <a:t>내자</a:t>
            </a:r>
            <a:r>
              <a:rPr lang="en-US" altLang="ko-KR" sz="600" dirty="0">
                <a:solidFill>
                  <a:schemeClr val="dk1"/>
                </a:solidFill>
              </a:rPr>
              <a:t>)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192" name="모서리가 둥근 직사각형 191"/>
          <p:cNvSpPr/>
          <p:nvPr/>
        </p:nvSpPr>
        <p:spPr>
          <a:xfrm>
            <a:off x="1959511" y="2178612"/>
            <a:ext cx="26661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공사</a:t>
            </a:r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56" name="모서리가 둥근 직사각형 155"/>
          <p:cNvSpPr/>
          <p:nvPr/>
        </p:nvSpPr>
        <p:spPr>
          <a:xfrm>
            <a:off x="2279644" y="2178612"/>
            <a:ext cx="25400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/>
              <a:t>용역</a:t>
            </a:r>
            <a:endParaRPr lang="ko-KR" altLang="en-US" sz="600" dirty="0"/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62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94784" y="2164911"/>
            <a:ext cx="307777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사업구분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업체코드</a:t>
            </a:r>
            <a:endParaRPr lang="en-US" altLang="ko-KR" sz="600" dirty="0">
              <a:latin typeface="+mn-ea"/>
            </a:endParaRPr>
          </a:p>
        </p:txBody>
      </p:sp>
      <p:sp>
        <p:nvSpPr>
          <p:cNvPr id="163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3108679" y="2149522"/>
            <a:ext cx="163571" cy="25917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100F</a:t>
            </a:r>
          </a:p>
        </p:txBody>
      </p:sp>
      <p:sp>
        <p:nvSpPr>
          <p:cNvPr id="178" name="모서리가 둥근 직사각형 177"/>
          <p:cNvSpPr/>
          <p:nvPr/>
        </p:nvSpPr>
        <p:spPr>
          <a:xfrm>
            <a:off x="2587167" y="2178612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일반용역</a:t>
            </a:r>
          </a:p>
        </p:txBody>
      </p:sp>
      <p:sp>
        <p:nvSpPr>
          <p:cNvPr id="179" name="모서리가 둥근 직사각형 178"/>
          <p:cNvSpPr/>
          <p:nvPr/>
        </p:nvSpPr>
        <p:spPr>
          <a:xfrm>
            <a:off x="3030985" y="2178612"/>
            <a:ext cx="25400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외자</a:t>
            </a:r>
          </a:p>
        </p:txBody>
      </p:sp>
      <p:grpSp>
        <p:nvGrpSpPr>
          <p:cNvPr id="17" name="그룹 16"/>
          <p:cNvGrpSpPr/>
          <p:nvPr/>
        </p:nvGrpSpPr>
        <p:grpSpPr>
          <a:xfrm>
            <a:off x="3795734" y="1493927"/>
            <a:ext cx="2717198" cy="1014120"/>
            <a:chOff x="3892639" y="1846937"/>
            <a:chExt cx="2717198" cy="1014120"/>
          </a:xfrm>
        </p:grpSpPr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9781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3998701" y="1928876"/>
              <a:ext cx="2473257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b="1" dirty="0">
                  <a:latin typeface="+mn-ea"/>
                </a:rPr>
                <a:t>업체 정보 조회</a:t>
              </a:r>
            </a:p>
          </p:txBody>
        </p:sp>
        <p:grpSp>
          <p:nvGrpSpPr>
            <p:cNvPr id="187" name="그룹 186"/>
            <p:cNvGrpSpPr/>
            <p:nvPr/>
          </p:nvGrpSpPr>
          <p:grpSpPr>
            <a:xfrm>
              <a:off x="6143280" y="1931567"/>
              <a:ext cx="387478" cy="144000"/>
              <a:chOff x="2926040" y="2261650"/>
              <a:chExt cx="387478" cy="144000"/>
            </a:xfrm>
          </p:grpSpPr>
          <p:sp>
            <p:nvSpPr>
              <p:cNvPr id="206" name="타원 205"/>
              <p:cNvSpPr/>
              <p:nvPr/>
            </p:nvSpPr>
            <p:spPr>
              <a:xfrm>
                <a:off x="2926040" y="2261650"/>
                <a:ext cx="144000" cy="1440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07" name="모서리가 둥근 직사각형 206"/>
              <p:cNvSpPr/>
              <p:nvPr/>
            </p:nvSpPr>
            <p:spPr>
              <a:xfrm>
                <a:off x="3070040" y="2278058"/>
                <a:ext cx="243478" cy="119400"/>
              </a:xfrm>
              <a:prstGeom prst="roundRect">
                <a:avLst>
                  <a:gd name="adj" fmla="val 23409"/>
                </a:avLst>
              </a:prstGeom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lIns="36000" rIns="36000" rtlCol="0" anchor="ctr"/>
              <a:lstStyle/>
              <a:p>
                <a:pPr algn="ctr"/>
                <a:r>
                  <a:rPr lang="ko-KR" altLang="en-US" sz="600" dirty="0">
                    <a:solidFill>
                      <a:schemeClr val="dk1"/>
                    </a:solidFill>
                  </a:rPr>
                  <a:t>출력</a:t>
                </a:r>
              </a:p>
            </p:txBody>
          </p:sp>
        </p:grp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92639" y="250664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92639" y="286105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81409" y="2644450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>
                  <a:latin typeface="+mn-ea"/>
                </a:rPr>
                <a:t>업체일반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526736" y="2644450"/>
              <a:ext cx="40668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물품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내자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222" name="직선 연결선 2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5118961" y="2861057"/>
              <a:ext cx="185793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23" name="모서리가 둥근 직사각형 222"/>
            <p:cNvSpPr/>
            <p:nvPr/>
          </p:nvSpPr>
          <p:spPr>
            <a:xfrm>
              <a:off x="4699171" y="2178612"/>
              <a:ext cx="42046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  <a:r>
                <a:rPr lang="en-US" altLang="ko-KR" sz="600" dirty="0">
                  <a:solidFill>
                    <a:schemeClr val="dk1"/>
                  </a:solidFill>
                </a:rPr>
                <a:t>(</a:t>
              </a:r>
              <a:r>
                <a:rPr lang="ko-KR" altLang="en-US" sz="600" dirty="0">
                  <a:solidFill>
                    <a:schemeClr val="dk1"/>
                  </a:solidFill>
                </a:rPr>
                <a:t>내자</a:t>
              </a:r>
              <a:r>
                <a:rPr lang="en-US" altLang="ko-KR" sz="600" dirty="0">
                  <a:solidFill>
                    <a:schemeClr val="dk1"/>
                  </a:solidFill>
                </a:rPr>
                <a:t>)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224" name="모서리가 둥근 직사각형 223"/>
            <p:cNvSpPr/>
            <p:nvPr/>
          </p:nvSpPr>
          <p:spPr>
            <a:xfrm>
              <a:off x="5176751" y="2178612"/>
              <a:ext cx="266612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공사</a:t>
              </a:r>
            </a:p>
          </p:txBody>
        </p:sp>
        <p:sp>
          <p:nvSpPr>
            <p:cNvPr id="225" name="모서리가 둥근 직사각형 224"/>
            <p:cNvSpPr/>
            <p:nvPr/>
          </p:nvSpPr>
          <p:spPr>
            <a:xfrm>
              <a:off x="5496884" y="2178612"/>
              <a:ext cx="254002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/>
                <a:t>용역</a:t>
              </a:r>
              <a:endParaRPr lang="ko-KR" altLang="en-US" sz="600" dirty="0"/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118961" y="2644450"/>
              <a:ext cx="179536" cy="10772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latin typeface="+mn-ea"/>
                </a:rPr>
                <a:t>시설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484042" y="2644450"/>
              <a:ext cx="53884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국내소재상사</a:t>
              </a:r>
            </a:p>
          </p:txBody>
        </p:sp>
        <p:sp>
          <p:nvSpPr>
            <p:cNvPr id="228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4012024" y="2164911"/>
              <a:ext cx="307777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사업구분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업체코드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229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6325919" y="2149522"/>
              <a:ext cx="163571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100F</a:t>
              </a:r>
            </a:p>
          </p:txBody>
        </p:sp>
        <p:sp>
          <p:nvSpPr>
            <p:cNvPr id="230" name="모서리가 둥근 직사각형 229"/>
            <p:cNvSpPr/>
            <p:nvPr/>
          </p:nvSpPr>
          <p:spPr>
            <a:xfrm>
              <a:off x="5804407" y="2178612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일반용역</a:t>
              </a:r>
            </a:p>
          </p:txBody>
        </p:sp>
        <p:sp>
          <p:nvSpPr>
            <p:cNvPr id="231" name="모서리가 둥근 직사각형 230"/>
            <p:cNvSpPr/>
            <p:nvPr/>
          </p:nvSpPr>
          <p:spPr>
            <a:xfrm>
              <a:off x="6248225" y="2178612"/>
              <a:ext cx="254002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외자</a:t>
              </a:r>
            </a:p>
          </p:txBody>
        </p:sp>
      </p:grpSp>
      <p:grpSp>
        <p:nvGrpSpPr>
          <p:cNvPr id="287" name="그룹 286"/>
          <p:cNvGrpSpPr/>
          <p:nvPr/>
        </p:nvGrpSpPr>
        <p:grpSpPr>
          <a:xfrm>
            <a:off x="3836701" y="2567841"/>
            <a:ext cx="2630093" cy="2051510"/>
            <a:chOff x="720490" y="4465173"/>
            <a:chExt cx="2630093" cy="2051510"/>
          </a:xfrm>
        </p:grpSpPr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주력분야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91" name="그룹 290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321" name="직선 연결선 3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2" name="직선 연결선 3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92" name="직사각형 291"/>
            <p:cNvSpPr/>
            <p:nvPr/>
          </p:nvSpPr>
          <p:spPr>
            <a:xfrm>
              <a:off x="722583" y="4772658"/>
              <a:ext cx="792000" cy="174121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공종명</a:t>
              </a:r>
              <a:r>
                <a:rPr lang="en-US" altLang="ko-KR" sz="700" dirty="0" smtClean="0">
                  <a:latin typeface="+mn-ea"/>
                </a:rPr>
                <a:t>[</a:t>
              </a:r>
              <a:r>
                <a:rPr lang="ko-KR" altLang="en-US" sz="700" dirty="0" err="1" smtClean="0">
                  <a:latin typeface="+mn-ea"/>
                </a:rPr>
                <a:t>업종코드</a:t>
              </a:r>
              <a:r>
                <a:rPr lang="en-US" altLang="ko-KR" sz="700" dirty="0" smtClean="0">
                  <a:latin typeface="+mn-ea"/>
                </a:rPr>
                <a:t>]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주력분야</a:t>
              </a:r>
              <a:r>
                <a:rPr lang="en-US" altLang="ko-KR" sz="700" dirty="0" smtClean="0">
                  <a:latin typeface="+mn-ea"/>
                </a:rPr>
                <a:t>[</a:t>
              </a:r>
              <a:r>
                <a:rPr lang="ko-KR" altLang="en-US" sz="700" dirty="0" smtClean="0">
                  <a:latin typeface="+mn-ea"/>
                </a:rPr>
                <a:t>코드</a:t>
              </a:r>
              <a:r>
                <a:rPr lang="en-US" altLang="ko-KR" sz="700" dirty="0" smtClean="0">
                  <a:latin typeface="+mn-ea"/>
                </a:rPr>
                <a:t>]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해제일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시공능력 </a:t>
              </a:r>
              <a:r>
                <a:rPr lang="ko-KR" altLang="en-US" sz="700" dirty="0" err="1" smtClean="0">
                  <a:latin typeface="+mn-ea"/>
                </a:rPr>
                <a:t>공시액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평가액</a:t>
              </a:r>
              <a:r>
                <a:rPr lang="ko-KR" altLang="en-US" sz="700" dirty="0" smtClean="0">
                  <a:latin typeface="+mn-ea"/>
                </a:rPr>
                <a:t> 기준년도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지정일자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갱신일시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입찰제한대상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1001100001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60 / </a:t>
              </a:r>
              <a:r>
                <a:rPr lang="ko-KR" altLang="en-US" sz="700" dirty="0">
                  <a:latin typeface="+mn-ea"/>
                </a:rPr>
                <a:t>총탄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이불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해당업종</a:t>
              </a:r>
              <a:r>
                <a:rPr lang="ko-KR" altLang="en-US" sz="700" dirty="0">
                  <a:latin typeface="+mn-ea"/>
                </a:rPr>
                <a:t> 사업자</a:t>
              </a:r>
              <a:r>
                <a:rPr lang="en-US" altLang="ko-KR" sz="700" dirty="0">
                  <a:latin typeface="+mn-ea"/>
                </a:rPr>
                <a:t>/ </a:t>
              </a:r>
              <a:r>
                <a:rPr lang="ko-KR" altLang="en-US" sz="700" dirty="0">
                  <a:latin typeface="+mn-ea"/>
                </a:rPr>
                <a:t>공장 등록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98" name="직선 연결선 2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9" name="직선 연결선 2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0" name="직선 연결선 2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1" name="직선 연결선 3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30297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5166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50664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264445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업체일반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09496" y="2644450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901721" y="2644450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시설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6802" y="2644450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grpSp>
        <p:nvGrpSpPr>
          <p:cNvPr id="123" name="그룹 122"/>
          <p:cNvGrpSpPr/>
          <p:nvPr/>
        </p:nvGrpSpPr>
        <p:grpSpPr>
          <a:xfrm>
            <a:off x="716366" y="3222207"/>
            <a:ext cx="2630093" cy="756958"/>
            <a:chOff x="720490" y="2967388"/>
            <a:chExt cx="2630093" cy="756958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시설정보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5" name="그룹 124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35" name="직선 연결선 13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6" name="직선 연결선 13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6" name="직사각형 125"/>
            <p:cNvSpPr/>
            <p:nvPr/>
          </p:nvSpPr>
          <p:spPr>
            <a:xfrm>
              <a:off x="722583" y="3274873"/>
              <a:ext cx="792000" cy="44947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대표업태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연락소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전화번호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7" name="그룹 136"/>
          <p:cNvGrpSpPr/>
          <p:nvPr/>
        </p:nvGrpSpPr>
        <p:grpSpPr>
          <a:xfrm>
            <a:off x="713288" y="4118122"/>
            <a:ext cx="2633171" cy="1775727"/>
            <a:chOff x="717412" y="2967388"/>
            <a:chExt cx="2633171" cy="1775727"/>
          </a:xfrm>
        </p:grpSpPr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0" y="2967388"/>
              <a:ext cx="1136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시설면허정보</a:t>
              </a:r>
            </a:p>
          </p:txBody>
        </p:sp>
        <p:grpSp>
          <p:nvGrpSpPr>
            <p:cNvPr id="140" name="그룹 139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49" name="직선 연결선 14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0" name="직선 연결선 14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1" name="직사각형 140"/>
            <p:cNvSpPr/>
            <p:nvPr/>
          </p:nvSpPr>
          <p:spPr>
            <a:xfrm>
              <a:off x="722583" y="3274874"/>
              <a:ext cx="792000" cy="107721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공통</a:t>
              </a:r>
              <a:r>
                <a:rPr lang="en-US" altLang="ko-KR" sz="700" dirty="0" smtClean="0">
                  <a:latin typeface="+mn-ea"/>
                </a:rPr>
                <a:t>[</a:t>
              </a:r>
              <a:r>
                <a:rPr lang="ko-KR" altLang="en-US" sz="700" dirty="0" err="1" smtClean="0">
                  <a:latin typeface="+mn-ea"/>
                </a:rPr>
                <a:t>업종코드</a:t>
              </a:r>
              <a:r>
                <a:rPr lang="en-US" altLang="ko-KR" sz="700" dirty="0" smtClean="0">
                  <a:latin typeface="+mn-ea"/>
                </a:rPr>
                <a:t>]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면허번호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시공능력 </a:t>
              </a:r>
              <a:r>
                <a:rPr lang="ko-KR" altLang="en-US" sz="700" dirty="0" err="1" smtClean="0">
                  <a:latin typeface="+mn-ea"/>
                </a:rPr>
                <a:t>공사액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면허유효기간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폐업여부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소방공사업</a:t>
              </a:r>
              <a:r>
                <a:rPr lang="en-US" altLang="ko-KR" sz="700" dirty="0" smtClean="0">
                  <a:latin typeface="+mn-ea"/>
                </a:rPr>
                <a:t> [</a:t>
              </a:r>
              <a:r>
                <a:rPr lang="en-US" altLang="ko-KR" sz="700" dirty="0">
                  <a:latin typeface="+mn-ea"/>
                </a:rPr>
                <a:t>0001</a:t>
              </a:r>
              <a:r>
                <a:rPr lang="en-US" altLang="ko-KR" sz="700" dirty="0" smtClean="0">
                  <a:latin typeface="+mn-ea"/>
                </a:rPr>
                <a:t>]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1000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맑은 고딕" panose="020B0503020000020004" pitchFamily="50" charset="-127"/>
                  <a:cs typeface="Segoe UI" panose="020B0502040204020203" pitchFamily="34" charset="0"/>
                </a:rPr>
                <a:t>1999-12-31 ~ </a:t>
              </a:r>
              <a:r>
                <a:rPr lang="en-US" altLang="ko-KR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2000-01-01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4170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5541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743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17412" y="4441695"/>
              <a:ext cx="2633171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rgbClr val="FF0000"/>
                  </a:solidFill>
                  <a:latin typeface="+mn-ea"/>
                </a:rPr>
                <a:t>시공능력평가액은 </a:t>
              </a:r>
              <a:r>
                <a:rPr lang="ko-KR" altLang="en-US" sz="700" dirty="0" err="1">
                  <a:solidFill>
                    <a:srgbClr val="FF0000"/>
                  </a:solidFill>
                  <a:latin typeface="+mn-ea"/>
                </a:rPr>
                <a:t>해당협회에</a:t>
              </a:r>
              <a:r>
                <a:rPr lang="ko-KR" altLang="en-US" sz="700" dirty="0">
                  <a:solidFill>
                    <a:srgbClr val="FF0000"/>
                  </a:solidFill>
                  <a:latin typeface="+mn-ea"/>
                </a:rPr>
                <a:t> 등록된 금액과 </a:t>
              </a:r>
              <a:endParaRPr lang="en-US" altLang="ko-KR" sz="700" dirty="0" smtClean="0">
                <a:solidFill>
                  <a:srgbClr val="FF0000"/>
                </a:solidFill>
                <a:latin typeface="+mn-ea"/>
              </a:endParaRPr>
            </a:p>
            <a:p>
              <a:pPr algn="ctr"/>
              <a:r>
                <a:rPr lang="ko-KR" altLang="en-US" sz="700" dirty="0" smtClean="0">
                  <a:solidFill>
                    <a:srgbClr val="FF0000"/>
                  </a:solidFill>
                  <a:latin typeface="+mn-ea"/>
                </a:rPr>
                <a:t>동일하지 </a:t>
              </a:r>
              <a:r>
                <a:rPr lang="ko-KR" altLang="en-US" sz="700" dirty="0">
                  <a:solidFill>
                    <a:srgbClr val="FF0000"/>
                  </a:solidFill>
                  <a:latin typeface="+mn-ea"/>
                </a:rPr>
                <a:t>않을 수 있습니다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.</a:t>
              </a:r>
            </a:p>
          </p:txBody>
        </p:sp>
      </p:grp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05571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52" name="그룹 151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1824" y="5018483"/>
            <a:ext cx="76863" cy="292489"/>
            <a:chOff x="3750067" y="4683795"/>
            <a:chExt cx="76863" cy="292489"/>
          </a:xfrm>
        </p:grpSpPr>
        <p:sp>
          <p:nvSpPr>
            <p:cNvPr id="153" name="타원 152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54" name="타원 153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55" name="타원 154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166" name="직선 연결선 16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55693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21" name="그룹 120"/>
          <p:cNvGrpSpPr/>
          <p:nvPr/>
        </p:nvGrpSpPr>
        <p:grpSpPr>
          <a:xfrm>
            <a:off x="670228" y="2861112"/>
            <a:ext cx="2717198" cy="303979"/>
            <a:chOff x="675399" y="1846937"/>
            <a:chExt cx="2717198" cy="303979"/>
          </a:xfrm>
        </p:grpSpPr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69340" y="1891204"/>
              <a:ext cx="220200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나라장터</a:t>
              </a:r>
              <a:r>
                <a:rPr lang="en-US" altLang="ko-KR" sz="700" dirty="0">
                  <a:solidFill>
                    <a:prstClr val="black"/>
                  </a:solidFill>
                </a:rPr>
                <a:t>(G2B) </a:t>
              </a:r>
              <a:r>
                <a:rPr lang="ko-KR" altLang="en-US" sz="700" dirty="0">
                  <a:solidFill>
                    <a:prstClr val="black"/>
                  </a:solidFill>
                </a:rPr>
                <a:t>조달업체정보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최근 수신</a:t>
              </a:r>
              <a:r>
                <a:rPr lang="en-US" altLang="ko-KR" sz="700" dirty="0">
                  <a:solidFill>
                    <a:prstClr val="black"/>
                  </a:solidFill>
                </a:rPr>
                <a:t>(</a:t>
              </a:r>
              <a:r>
                <a:rPr lang="ko-KR" altLang="en-US" sz="700" dirty="0">
                  <a:solidFill>
                    <a:prstClr val="black"/>
                  </a:solidFill>
                </a:rPr>
                <a:t>갱신</a:t>
              </a:r>
              <a:r>
                <a:rPr lang="en-US" altLang="ko-KR" sz="700" dirty="0">
                  <a:solidFill>
                    <a:prstClr val="black"/>
                  </a:solidFill>
                </a:rPr>
                <a:t>)</a:t>
              </a:r>
              <a:r>
                <a:rPr lang="ko-KR" altLang="en-US" sz="700" dirty="0">
                  <a:solidFill>
                    <a:prstClr val="black"/>
                  </a:solidFill>
                </a:rPr>
                <a:t>일시 </a:t>
              </a:r>
              <a:r>
                <a:rPr lang="en-US" altLang="ko-KR" sz="700" dirty="0">
                  <a:solidFill>
                    <a:prstClr val="black"/>
                  </a:solidFill>
                </a:rPr>
                <a:t>: 2000-12-31 12:00</a:t>
              </a:r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15091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861883" y="1920467"/>
              <a:ext cx="421867" cy="156920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갱신하기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6105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876497" y="2861057"/>
            <a:ext cx="224359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17" name="그룹 116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923520"/>
            <a:ext cx="76863" cy="292489"/>
            <a:chOff x="3750067" y="4683795"/>
            <a:chExt cx="76863" cy="292489"/>
          </a:xfrm>
        </p:grpSpPr>
        <p:sp>
          <p:nvSpPr>
            <p:cNvPr id="118" name="타원 11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19" name="타원 11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20" name="타원 119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4234343859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2D5E7BC-2F20-E769-ABD1-A1599668D8AB}"/>
              </a:ext>
            </a:extLst>
          </p:cNvPr>
          <p:cNvSpPr txBox="1"/>
          <p:nvPr/>
        </p:nvSpPr>
        <p:spPr>
          <a:xfrm>
            <a:off x="473471" y="803322"/>
            <a:ext cx="256377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시설정보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dm_bzentyFcltInfo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CC65F83-4317-B2AC-2278-7907C354C35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8353" y="1012431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대표업태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연락소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lcofcTelno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연락소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D2B55895-1826-4B4A-ACFB-AC296EFA55E0}"/>
              </a:ext>
            </a:extLst>
          </p:cNvPr>
          <p:cNvSpPr txBox="1"/>
          <p:nvPr/>
        </p:nvSpPr>
        <p:spPr>
          <a:xfrm>
            <a:off x="473471" y="1816320"/>
            <a:ext cx="292765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시설면허정보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dl_bzentyFcltLcnsList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1937E17B-C201-E238-9E2D-3808BCD3B49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8353" y="2028820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cnstpCdNm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cnstpCd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60502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시공능력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공시액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cnstAbltEvlAmt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시공능력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공시액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773829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면허유효기간 시작일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lcnsAcqsYmd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면허유효기간 시작일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517837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면허유효기간 종료일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lcnsExpryYmd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면허유효기간 종료일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6629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폐업여부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폐업여부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6328153"/>
                  </a:ext>
                </a:extLst>
              </a:tr>
            </a:tbl>
          </a:graphicData>
        </a:graphic>
      </p:graphicFrame>
      <p:sp>
        <p:nvSpPr>
          <p:cNvPr id="16" name="슬라이드 번호 개체 틀 2">
            <a:extLst>
              <a:ext uri="{FF2B5EF4-FFF2-40B4-BE49-F238E27FC236}">
                <a16:creationId xmlns:a16="http://schemas.microsoft.com/office/drawing/2014/main" id="{7DC5BC1B-3BF8-AE98-6489-9A230033BAF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114</a:t>
            </a:fld>
            <a:endParaRPr lang="ko-KR" altLang="en-US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5035AD7-61D7-42A4-0EE3-846A701AAECE}"/>
              </a:ext>
            </a:extLst>
          </p:cNvPr>
          <p:cNvSpPr txBox="1"/>
          <p:nvPr/>
        </p:nvSpPr>
        <p:spPr>
          <a:xfrm>
            <a:off x="460676" y="3810138"/>
            <a:ext cx="287795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주력분야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dl_bzentyFcltMfrcFldList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512A68A4-F4C6-2E22-999E-2BD5A6683B4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4028575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cnstpCdNm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cnstpCdNm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mfrcFldNm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60502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mfrcFldCd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773829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mfrcFldRmvYmd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517837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시공능력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공시액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cnstAbltEvlAmt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시공능력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공시액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6629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평가액기준년도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evlAmtCrtrYr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평가액기준년도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63281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지정일자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mfrcFldDsgnYmd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지정일자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6760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mdfcnDt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갱신일시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56419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입찰제한대상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excptnMttrCd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입찰제한대상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특이사항코드로 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9174944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60A7DED2-DDAA-2987-A018-643D3CE5E6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596468445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115</a:t>
            </a:fld>
            <a:endParaRPr lang="ko-KR" altLang="en-US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78B2212E-EACF-2FEC-3C17-024016BD85B5}"/>
              </a:ext>
            </a:extLst>
          </p:cNvPr>
          <p:cNvSpPr txBox="1"/>
          <p:nvPr/>
        </p:nvSpPr>
        <p:spPr>
          <a:xfrm>
            <a:off x="460322" y="59781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BE982B75-03ED-2F22-5FB5-61DE604C9F42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204" y="834444"/>
          <a:ext cx="8995591" cy="947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0710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7469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 시설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나라장터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(G2B)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시설면허정보 수신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(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갱신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)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/>
                        <a:t>scwin.btn_g2bDmnd_onclick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나라장터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(G2B)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에 등록된 시설면허 정보를 갱신한다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회로 제한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3869035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C1E445BA-02EE-5737-FF0C-91467146FC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71896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8141576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법인 개인 구분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법인</a:t>
            </a:r>
            <a:r>
              <a:rPr lang="en-US" altLang="ko-KR" dirty="0"/>
              <a:t> </a:t>
            </a:r>
            <a:r>
              <a:rPr lang="ko-KR" altLang="en-US" dirty="0" smtClean="0"/>
              <a:t>또는 개인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</a:t>
            </a:r>
            <a:r>
              <a:rPr lang="ko-KR" altLang="en-US" dirty="0" smtClean="0">
                <a:latin typeface="+mn-ea"/>
              </a:rPr>
              <a:t>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상세 구성 화면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smtClean="0">
                <a:solidFill>
                  <a:prstClr val="black"/>
                </a:solidFill>
                <a:latin typeface="맑은 고딕" panose="020B0503020000020004" pitchFamily="50" charset="-127"/>
              </a:rPr>
              <a:t>국내소재상사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MUI-CM-01-M02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 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5572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1928876"/>
            <a:ext cx="247325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b="1" dirty="0">
                <a:latin typeface="+mn-ea"/>
              </a:rPr>
              <a:t>업체 정보 조회</a:t>
            </a:r>
          </a:p>
        </p:txBody>
      </p:sp>
      <p:grpSp>
        <p:nvGrpSpPr>
          <p:cNvPr id="14" name="그룹 13"/>
          <p:cNvGrpSpPr/>
          <p:nvPr/>
        </p:nvGrpSpPr>
        <p:grpSpPr>
          <a:xfrm>
            <a:off x="2926040" y="1931567"/>
            <a:ext cx="387478" cy="144000"/>
            <a:chOff x="2926040" y="2261650"/>
            <a:chExt cx="387478" cy="144000"/>
          </a:xfrm>
        </p:grpSpPr>
        <p:sp>
          <p:nvSpPr>
            <p:cNvPr id="80" name="타원 79"/>
            <p:cNvSpPr/>
            <p:nvPr/>
          </p:nvSpPr>
          <p:spPr>
            <a:xfrm>
              <a:off x="2926040" y="2261650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2" name="모서리가 둥근 직사각형 81"/>
            <p:cNvSpPr/>
            <p:nvPr/>
          </p:nvSpPr>
          <p:spPr>
            <a:xfrm>
              <a:off x="3070040" y="2278058"/>
              <a:ext cx="243478" cy="119400"/>
            </a:xfrm>
            <a:prstGeom prst="roundRect">
              <a:avLst>
                <a:gd name="adj" fmla="val 23409"/>
              </a:avLst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출력</a:t>
              </a:r>
            </a:p>
          </p:txBody>
        </p:sp>
      </p:grp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1481931" y="2178612"/>
            <a:ext cx="42046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  <a:r>
              <a:rPr lang="en-US" altLang="ko-KR" sz="600" dirty="0">
                <a:solidFill>
                  <a:schemeClr val="dk1"/>
                </a:solidFill>
              </a:rPr>
              <a:t>(</a:t>
            </a:r>
            <a:r>
              <a:rPr lang="ko-KR" altLang="en-US" sz="600" dirty="0">
                <a:solidFill>
                  <a:schemeClr val="dk1"/>
                </a:solidFill>
              </a:rPr>
              <a:t>내자</a:t>
            </a:r>
            <a:r>
              <a:rPr lang="en-US" altLang="ko-KR" sz="600" dirty="0">
                <a:solidFill>
                  <a:schemeClr val="dk1"/>
                </a:solidFill>
              </a:rPr>
              <a:t>)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192" name="모서리가 둥근 직사각형 191"/>
          <p:cNvSpPr/>
          <p:nvPr/>
        </p:nvSpPr>
        <p:spPr>
          <a:xfrm>
            <a:off x="1959511" y="2178612"/>
            <a:ext cx="26661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공사</a:t>
            </a:r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56" name="모서리가 둥근 직사각형 155"/>
          <p:cNvSpPr/>
          <p:nvPr/>
        </p:nvSpPr>
        <p:spPr>
          <a:xfrm>
            <a:off x="2279644" y="2178612"/>
            <a:ext cx="25400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/>
              <a:t>용역</a:t>
            </a:r>
            <a:endParaRPr lang="ko-KR" altLang="en-US" sz="600" dirty="0"/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62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94784" y="2164911"/>
            <a:ext cx="307777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사업구분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업체코드</a:t>
            </a:r>
            <a:endParaRPr lang="en-US" altLang="ko-KR" sz="600" dirty="0">
              <a:latin typeface="+mn-ea"/>
            </a:endParaRPr>
          </a:p>
        </p:txBody>
      </p:sp>
      <p:sp>
        <p:nvSpPr>
          <p:cNvPr id="163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3108679" y="2149522"/>
            <a:ext cx="163571" cy="25917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100F</a:t>
            </a:r>
          </a:p>
        </p:txBody>
      </p:sp>
      <p:sp>
        <p:nvSpPr>
          <p:cNvPr id="178" name="모서리가 둥근 직사각형 177"/>
          <p:cNvSpPr/>
          <p:nvPr/>
        </p:nvSpPr>
        <p:spPr>
          <a:xfrm>
            <a:off x="2587167" y="2178612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일반용역</a:t>
            </a:r>
          </a:p>
        </p:txBody>
      </p:sp>
      <p:sp>
        <p:nvSpPr>
          <p:cNvPr id="179" name="모서리가 둥근 직사각형 178"/>
          <p:cNvSpPr/>
          <p:nvPr/>
        </p:nvSpPr>
        <p:spPr>
          <a:xfrm>
            <a:off x="3030985" y="2178612"/>
            <a:ext cx="25400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외자</a:t>
            </a:r>
          </a:p>
        </p:txBody>
      </p:sp>
      <p:grpSp>
        <p:nvGrpSpPr>
          <p:cNvPr id="17" name="그룹 16"/>
          <p:cNvGrpSpPr/>
          <p:nvPr/>
        </p:nvGrpSpPr>
        <p:grpSpPr>
          <a:xfrm>
            <a:off x="3795734" y="1493927"/>
            <a:ext cx="2717198" cy="1014120"/>
            <a:chOff x="3892639" y="1846937"/>
            <a:chExt cx="2717198" cy="1014120"/>
          </a:xfrm>
        </p:grpSpPr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9781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3998701" y="1928876"/>
              <a:ext cx="2473257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b="1" dirty="0">
                  <a:latin typeface="+mn-ea"/>
                </a:rPr>
                <a:t>업체 정보 조회</a:t>
              </a:r>
            </a:p>
          </p:txBody>
        </p:sp>
        <p:grpSp>
          <p:nvGrpSpPr>
            <p:cNvPr id="187" name="그룹 186"/>
            <p:cNvGrpSpPr/>
            <p:nvPr/>
          </p:nvGrpSpPr>
          <p:grpSpPr>
            <a:xfrm>
              <a:off x="6143280" y="1931567"/>
              <a:ext cx="387478" cy="144000"/>
              <a:chOff x="2926040" y="2261650"/>
              <a:chExt cx="387478" cy="144000"/>
            </a:xfrm>
          </p:grpSpPr>
          <p:sp>
            <p:nvSpPr>
              <p:cNvPr id="206" name="타원 205"/>
              <p:cNvSpPr/>
              <p:nvPr/>
            </p:nvSpPr>
            <p:spPr>
              <a:xfrm>
                <a:off x="2926040" y="2261650"/>
                <a:ext cx="144000" cy="1440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07" name="모서리가 둥근 직사각형 206"/>
              <p:cNvSpPr/>
              <p:nvPr/>
            </p:nvSpPr>
            <p:spPr>
              <a:xfrm>
                <a:off x="3070040" y="2278058"/>
                <a:ext cx="243478" cy="119400"/>
              </a:xfrm>
              <a:prstGeom prst="roundRect">
                <a:avLst>
                  <a:gd name="adj" fmla="val 23409"/>
                </a:avLst>
              </a:prstGeom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lIns="36000" rIns="36000" rtlCol="0" anchor="ctr"/>
              <a:lstStyle/>
              <a:p>
                <a:pPr algn="ctr"/>
                <a:r>
                  <a:rPr lang="ko-KR" altLang="en-US" sz="600" dirty="0">
                    <a:solidFill>
                      <a:schemeClr val="dk1"/>
                    </a:solidFill>
                  </a:rPr>
                  <a:t>출력</a:t>
                </a:r>
              </a:p>
            </p:txBody>
          </p:sp>
        </p:grp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92639" y="250664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92639" y="286105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81409" y="2644450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>
                  <a:latin typeface="+mn-ea"/>
                </a:rPr>
                <a:t>업체일반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526736" y="2644450"/>
              <a:ext cx="40668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물품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내자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222" name="직선 연결선 2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5443363" y="2861057"/>
              <a:ext cx="579528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23" name="모서리가 둥근 직사각형 222"/>
            <p:cNvSpPr/>
            <p:nvPr/>
          </p:nvSpPr>
          <p:spPr>
            <a:xfrm>
              <a:off x="4699171" y="2178612"/>
              <a:ext cx="42046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  <a:r>
                <a:rPr lang="en-US" altLang="ko-KR" sz="600" dirty="0">
                  <a:solidFill>
                    <a:schemeClr val="dk1"/>
                  </a:solidFill>
                </a:rPr>
                <a:t>(</a:t>
              </a:r>
              <a:r>
                <a:rPr lang="ko-KR" altLang="en-US" sz="600" dirty="0">
                  <a:solidFill>
                    <a:schemeClr val="dk1"/>
                  </a:solidFill>
                </a:rPr>
                <a:t>내자</a:t>
              </a:r>
              <a:r>
                <a:rPr lang="en-US" altLang="ko-KR" sz="600" dirty="0">
                  <a:solidFill>
                    <a:schemeClr val="dk1"/>
                  </a:solidFill>
                </a:rPr>
                <a:t>)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224" name="모서리가 둥근 직사각형 223"/>
            <p:cNvSpPr/>
            <p:nvPr/>
          </p:nvSpPr>
          <p:spPr>
            <a:xfrm>
              <a:off x="5176751" y="2178612"/>
              <a:ext cx="266612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공사</a:t>
              </a:r>
            </a:p>
          </p:txBody>
        </p:sp>
        <p:sp>
          <p:nvSpPr>
            <p:cNvPr id="225" name="모서리가 둥근 직사각형 224"/>
            <p:cNvSpPr/>
            <p:nvPr/>
          </p:nvSpPr>
          <p:spPr>
            <a:xfrm>
              <a:off x="5496884" y="2178612"/>
              <a:ext cx="254002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/>
                <a:t>용역</a:t>
              </a:r>
              <a:endParaRPr lang="ko-KR" altLang="en-US" sz="600" dirty="0"/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118961" y="2644450"/>
              <a:ext cx="179536" cy="10772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시설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484042" y="2644450"/>
              <a:ext cx="53884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latin typeface="+mn-ea"/>
                </a:rPr>
                <a:t>국내소재상사</a:t>
              </a:r>
            </a:p>
          </p:txBody>
        </p:sp>
        <p:sp>
          <p:nvSpPr>
            <p:cNvPr id="228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4012024" y="2164911"/>
              <a:ext cx="307777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사업구분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업체코드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229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6325919" y="2149522"/>
              <a:ext cx="163571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100F</a:t>
              </a:r>
            </a:p>
          </p:txBody>
        </p:sp>
        <p:sp>
          <p:nvSpPr>
            <p:cNvPr id="230" name="모서리가 둥근 직사각형 229"/>
            <p:cNvSpPr/>
            <p:nvPr/>
          </p:nvSpPr>
          <p:spPr>
            <a:xfrm>
              <a:off x="5804407" y="2178612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일반용역</a:t>
              </a:r>
            </a:p>
          </p:txBody>
        </p:sp>
        <p:sp>
          <p:nvSpPr>
            <p:cNvPr id="231" name="모서리가 둥근 직사각형 230"/>
            <p:cNvSpPr/>
            <p:nvPr/>
          </p:nvSpPr>
          <p:spPr>
            <a:xfrm>
              <a:off x="6248225" y="2178612"/>
              <a:ext cx="254002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외자</a:t>
              </a:r>
            </a:p>
          </p:txBody>
        </p:sp>
      </p:grpSp>
      <p:grpSp>
        <p:nvGrpSpPr>
          <p:cNvPr id="287" name="그룹 286"/>
          <p:cNvGrpSpPr/>
          <p:nvPr/>
        </p:nvGrpSpPr>
        <p:grpSpPr>
          <a:xfrm>
            <a:off x="3836701" y="3580837"/>
            <a:ext cx="2630093" cy="2274245"/>
            <a:chOff x="720490" y="4465173"/>
            <a:chExt cx="2630093" cy="2274245"/>
          </a:xfrm>
        </p:grpSpPr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91" name="그룹 290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321" name="직선 연결선 3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2" name="직선 연결선 3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92" name="직사각형 291"/>
            <p:cNvSpPr/>
            <p:nvPr/>
          </p:nvSpPr>
          <p:spPr>
            <a:xfrm>
              <a:off x="722583" y="4772658"/>
              <a:ext cx="792000" cy="196676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연간매출액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자산규모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여신한도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주거래은행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지점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군납최초</a:t>
              </a:r>
              <a:r>
                <a:rPr lang="ko-KR" altLang="en-US" sz="700" dirty="0">
                  <a:latin typeface="+mn-ea"/>
                </a:rPr>
                <a:t> 참여일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거래기간</a:t>
              </a:r>
              <a:r>
                <a:rPr lang="en-US" altLang="ko-KR" sz="700" dirty="0">
                  <a:latin typeface="+mn-ea"/>
                </a:rPr>
                <a:t>(F)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거래기간</a:t>
              </a:r>
              <a:r>
                <a:rPr lang="en-US" altLang="ko-KR" sz="700" dirty="0">
                  <a:latin typeface="+mn-ea"/>
                </a:rPr>
                <a:t>(T)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Dun`s </a:t>
              </a:r>
              <a:r>
                <a:rPr lang="en-US" altLang="ko-KR" sz="700" dirty="0" smtClean="0">
                  <a:latin typeface="+mn-ea"/>
                </a:rPr>
                <a:t>Number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300,000,000 </a:t>
              </a:r>
              <a:r>
                <a:rPr lang="ko-KR" altLang="en-US" sz="700" dirty="0" smtClean="0">
                  <a:latin typeface="+mn-ea"/>
                </a:rPr>
                <a:t>천원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 </a:t>
              </a:r>
              <a:r>
                <a:rPr lang="ko-KR" altLang="en-US" sz="700" dirty="0" smtClean="0">
                  <a:latin typeface="+mn-ea"/>
                </a:rPr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 </a:t>
              </a:r>
              <a:r>
                <a:rPr lang="ko-KR" altLang="en-US" sz="700" dirty="0">
                  <a:latin typeface="+mn-ea"/>
                </a:rPr>
                <a:t>천원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한국외환은행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2020-01-01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2023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123-45-67890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298" name="직선 연결선 2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9" name="직선 연결선 2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0" name="직선 연결선 2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1" name="직선 연결선 3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30297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5166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8" name="직선 연결선 2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7307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50664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264445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업체일반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09496" y="2644450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901721" y="2644450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6802" y="2644450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국내소재상사</a:t>
            </a:r>
          </a:p>
        </p:txBody>
      </p:sp>
      <p:grpSp>
        <p:nvGrpSpPr>
          <p:cNvPr id="121" name="그룹 120"/>
          <p:cNvGrpSpPr/>
          <p:nvPr/>
        </p:nvGrpSpPr>
        <p:grpSpPr>
          <a:xfrm>
            <a:off x="670228" y="2861112"/>
            <a:ext cx="2717198" cy="303979"/>
            <a:chOff x="675399" y="1846937"/>
            <a:chExt cx="2717198" cy="303979"/>
          </a:xfrm>
        </p:grpSpPr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69340" y="1891204"/>
              <a:ext cx="220200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나라장터</a:t>
              </a:r>
              <a:r>
                <a:rPr lang="en-US" altLang="ko-KR" sz="700" dirty="0">
                  <a:solidFill>
                    <a:prstClr val="black"/>
                  </a:solidFill>
                </a:rPr>
                <a:t>(G2B) </a:t>
              </a:r>
              <a:r>
                <a:rPr lang="ko-KR" altLang="en-US" sz="700" dirty="0">
                  <a:solidFill>
                    <a:prstClr val="black"/>
                  </a:solidFill>
                </a:rPr>
                <a:t>조달업체정보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최근 수신</a:t>
              </a:r>
              <a:r>
                <a:rPr lang="en-US" altLang="ko-KR" sz="700" dirty="0">
                  <a:solidFill>
                    <a:prstClr val="black"/>
                  </a:solidFill>
                </a:rPr>
                <a:t>(</a:t>
              </a:r>
              <a:r>
                <a:rPr lang="ko-KR" altLang="en-US" sz="700" dirty="0">
                  <a:solidFill>
                    <a:prstClr val="black"/>
                  </a:solidFill>
                </a:rPr>
                <a:t>갱신</a:t>
              </a:r>
              <a:r>
                <a:rPr lang="en-US" altLang="ko-KR" sz="700" dirty="0">
                  <a:solidFill>
                    <a:prstClr val="black"/>
                  </a:solidFill>
                </a:rPr>
                <a:t>)</a:t>
              </a:r>
              <a:r>
                <a:rPr lang="ko-KR" altLang="en-US" sz="700" dirty="0">
                  <a:solidFill>
                    <a:prstClr val="black"/>
                  </a:solidFill>
                </a:rPr>
                <a:t>일시 </a:t>
              </a:r>
              <a:r>
                <a:rPr lang="en-US" altLang="ko-KR" sz="700" dirty="0">
                  <a:solidFill>
                    <a:prstClr val="black"/>
                  </a:solidFill>
                </a:rPr>
                <a:t>: 2000-12-31 12:00</a:t>
              </a:r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15091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861883" y="1920467"/>
              <a:ext cx="421867" cy="156920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갱신하기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6105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2226123" y="2861057"/>
            <a:ext cx="579528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3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613843" y="3261658"/>
            <a:ext cx="421867" cy="15692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latin typeface="맑은 고딕"/>
                <a:ea typeface="맑은 고딕" panose="020B0503020000020004" pitchFamily="50" charset="-127"/>
              </a:rPr>
              <a:t>개인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grpSp>
        <p:nvGrpSpPr>
          <p:cNvPr id="159" name="그룹 158"/>
          <p:cNvGrpSpPr/>
          <p:nvPr/>
        </p:nvGrpSpPr>
        <p:grpSpPr>
          <a:xfrm>
            <a:off x="3836701" y="2585092"/>
            <a:ext cx="2630093" cy="756958"/>
            <a:chOff x="720490" y="2967388"/>
            <a:chExt cx="2630093" cy="756958"/>
          </a:xfrm>
        </p:grpSpPr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0" y="2967388"/>
              <a:ext cx="214870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FSC Codes (Federal Supply Classification Codes)</a:t>
              </a:r>
            </a:p>
          </p:txBody>
        </p:sp>
        <p:grpSp>
          <p:nvGrpSpPr>
            <p:cNvPr id="167" name="그룹 166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77" name="직선 연결선 17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0" name="직선 연결선 17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0" name="직사각형 169"/>
            <p:cNvSpPr/>
            <p:nvPr/>
          </p:nvSpPr>
          <p:spPr>
            <a:xfrm>
              <a:off x="722583" y="3274873"/>
              <a:ext cx="792000" cy="44947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FSC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군급명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기타 항공기 </a:t>
              </a:r>
              <a:r>
                <a:rPr lang="ko-KR" altLang="en-US" sz="700" dirty="0" err="1" smtClean="0">
                  <a:latin typeface="+mn-ea"/>
                </a:rPr>
                <a:t>부수품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74" name="직선 연결선 1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2" name="그룹 181"/>
          <p:cNvGrpSpPr/>
          <p:nvPr/>
        </p:nvGrpSpPr>
        <p:grpSpPr>
          <a:xfrm>
            <a:off x="716366" y="3222207"/>
            <a:ext cx="2630093" cy="2255186"/>
            <a:chOff x="720490" y="4465173"/>
            <a:chExt cx="2630093" cy="2255186"/>
          </a:xfrm>
        </p:grpSpPr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개인 구분 </a:t>
              </a:r>
            </a:p>
          </p:txBody>
        </p:sp>
        <p:grpSp>
          <p:nvGrpSpPr>
            <p:cNvPr id="184" name="그룹 183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1" name="직선 연결선 20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2" name="직선 연결선 20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6" name="직사각형 185"/>
            <p:cNvSpPr/>
            <p:nvPr/>
          </p:nvSpPr>
          <p:spPr>
            <a:xfrm>
              <a:off x="722583" y="4772657"/>
              <a:ext cx="792000" cy="19477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법인등기기관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법인등기일자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법인등기목적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사업자등록기관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취급품목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보안측정부대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보안측정일자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보안측정점수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방위사업청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2020-01-01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개업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방위사업청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무기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제조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보안부대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2020-01-01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90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8" name="직선 연결선 1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9" name="직선 연결선 1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30297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5166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7203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7306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61916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1963651444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국외조달원등록증 신청 </a:t>
            </a:r>
            <a:r>
              <a:rPr lang="ko-KR" altLang="en-US" dirty="0" smtClean="0"/>
              <a:t>안내 팝업 호출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</a:t>
            </a:r>
            <a:r>
              <a:rPr lang="ko-KR" altLang="en-US" dirty="0" smtClean="0">
                <a:latin typeface="+mn-ea"/>
              </a:rPr>
              <a:t>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상세 구성 화면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smtClean="0">
                <a:solidFill>
                  <a:prstClr val="black"/>
                </a:solidFill>
                <a:latin typeface="맑은 고딕" panose="020B0503020000020004" pitchFamily="50" charset="-127"/>
              </a:rPr>
              <a:t>국내소재상사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MUI-CM-01-M02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23" name="그룹 122"/>
          <p:cNvGrpSpPr/>
          <p:nvPr/>
        </p:nvGrpSpPr>
        <p:grpSpPr>
          <a:xfrm>
            <a:off x="675399" y="1493927"/>
            <a:ext cx="2717198" cy="1014120"/>
            <a:chOff x="3892639" y="1846937"/>
            <a:chExt cx="2717198" cy="1014120"/>
          </a:xfrm>
        </p:grpSpPr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9781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3998701" y="1928876"/>
              <a:ext cx="2473257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b="1" dirty="0">
                  <a:latin typeface="+mn-ea"/>
                </a:rPr>
                <a:t>업체 정보 조회</a:t>
              </a:r>
            </a:p>
          </p:txBody>
        </p:sp>
        <p:grpSp>
          <p:nvGrpSpPr>
            <p:cNvPr id="126" name="그룹 125"/>
            <p:cNvGrpSpPr/>
            <p:nvPr/>
          </p:nvGrpSpPr>
          <p:grpSpPr>
            <a:xfrm>
              <a:off x="6143280" y="1931567"/>
              <a:ext cx="387478" cy="144000"/>
              <a:chOff x="2926040" y="2261650"/>
              <a:chExt cx="387478" cy="144000"/>
            </a:xfrm>
          </p:grpSpPr>
          <p:sp>
            <p:nvSpPr>
              <p:cNvPr id="144" name="타원 143"/>
              <p:cNvSpPr/>
              <p:nvPr/>
            </p:nvSpPr>
            <p:spPr>
              <a:xfrm>
                <a:off x="2926040" y="2261650"/>
                <a:ext cx="144000" cy="1440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5" name="모서리가 둥근 직사각형 144"/>
              <p:cNvSpPr/>
              <p:nvPr/>
            </p:nvSpPr>
            <p:spPr>
              <a:xfrm>
                <a:off x="3070040" y="2278058"/>
                <a:ext cx="243478" cy="119400"/>
              </a:xfrm>
              <a:prstGeom prst="roundRect">
                <a:avLst>
                  <a:gd name="adj" fmla="val 23409"/>
                </a:avLst>
              </a:prstGeom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lIns="36000" rIns="36000" rtlCol="0" anchor="ctr"/>
              <a:lstStyle/>
              <a:p>
                <a:pPr algn="ctr"/>
                <a:r>
                  <a:rPr lang="ko-KR" altLang="en-US" sz="600" dirty="0">
                    <a:solidFill>
                      <a:schemeClr val="dk1"/>
                    </a:solidFill>
                  </a:rPr>
                  <a:t>출력</a:t>
                </a:r>
              </a:p>
            </p:txBody>
          </p:sp>
        </p:grp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92639" y="250664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92639" y="286105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81409" y="2644450"/>
              <a:ext cx="3597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>
                  <a:latin typeface="+mn-ea"/>
                </a:rPr>
                <a:t>업체일반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526736" y="2644450"/>
              <a:ext cx="40668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물품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내자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5443363" y="2861057"/>
              <a:ext cx="579528" cy="0"/>
            </a:xfrm>
            <a:prstGeom prst="line">
              <a:avLst/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4" name="모서리가 둥근 직사각형 133"/>
            <p:cNvSpPr/>
            <p:nvPr/>
          </p:nvSpPr>
          <p:spPr>
            <a:xfrm>
              <a:off x="4699171" y="2178612"/>
              <a:ext cx="42046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  <a:r>
                <a:rPr lang="en-US" altLang="ko-KR" sz="600" dirty="0">
                  <a:solidFill>
                    <a:schemeClr val="dk1"/>
                  </a:solidFill>
                </a:rPr>
                <a:t>(</a:t>
              </a:r>
              <a:r>
                <a:rPr lang="ko-KR" altLang="en-US" sz="600" dirty="0">
                  <a:solidFill>
                    <a:schemeClr val="dk1"/>
                  </a:solidFill>
                </a:rPr>
                <a:t>내자</a:t>
              </a:r>
              <a:r>
                <a:rPr lang="en-US" altLang="ko-KR" sz="600" dirty="0">
                  <a:solidFill>
                    <a:schemeClr val="dk1"/>
                  </a:solidFill>
                </a:rPr>
                <a:t>)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135" name="모서리가 둥근 직사각형 134"/>
            <p:cNvSpPr/>
            <p:nvPr/>
          </p:nvSpPr>
          <p:spPr>
            <a:xfrm>
              <a:off x="5176751" y="2178612"/>
              <a:ext cx="266612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공사</a:t>
              </a:r>
            </a:p>
          </p:txBody>
        </p:sp>
        <p:sp>
          <p:nvSpPr>
            <p:cNvPr id="136" name="모서리가 둥근 직사각형 135"/>
            <p:cNvSpPr/>
            <p:nvPr/>
          </p:nvSpPr>
          <p:spPr>
            <a:xfrm>
              <a:off x="5496884" y="2178612"/>
              <a:ext cx="254002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/>
                <a:t>용역</a:t>
              </a:r>
              <a:endParaRPr lang="ko-KR" altLang="en-US" sz="600" dirty="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118961" y="2644450"/>
              <a:ext cx="179536" cy="10772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시설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484042" y="2644450"/>
              <a:ext cx="53884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latin typeface="+mn-ea"/>
                </a:rPr>
                <a:t>국내소재상사</a:t>
              </a:r>
            </a:p>
          </p:txBody>
        </p:sp>
        <p:sp>
          <p:nvSpPr>
            <p:cNvPr id="140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4012024" y="2164911"/>
              <a:ext cx="307777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사업구분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업체코드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41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6325919" y="2149522"/>
              <a:ext cx="163571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100F</a:t>
              </a:r>
            </a:p>
          </p:txBody>
        </p:sp>
        <p:sp>
          <p:nvSpPr>
            <p:cNvPr id="142" name="모서리가 둥근 직사각형 141"/>
            <p:cNvSpPr/>
            <p:nvPr/>
          </p:nvSpPr>
          <p:spPr>
            <a:xfrm>
              <a:off x="5804407" y="2178612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일반용역</a:t>
              </a:r>
            </a:p>
          </p:txBody>
        </p:sp>
        <p:sp>
          <p:nvSpPr>
            <p:cNvPr id="143" name="모서리가 둥근 직사각형 142"/>
            <p:cNvSpPr/>
            <p:nvPr/>
          </p:nvSpPr>
          <p:spPr>
            <a:xfrm>
              <a:off x="6248225" y="2178612"/>
              <a:ext cx="254002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외자</a:t>
              </a:r>
            </a:p>
          </p:txBody>
        </p:sp>
      </p:grpSp>
      <p:grpSp>
        <p:nvGrpSpPr>
          <p:cNvPr id="146" name="그룹 145"/>
          <p:cNvGrpSpPr/>
          <p:nvPr/>
        </p:nvGrpSpPr>
        <p:grpSpPr>
          <a:xfrm>
            <a:off x="716366" y="2585092"/>
            <a:ext cx="2630093" cy="1169259"/>
            <a:chOff x="720490" y="4465173"/>
            <a:chExt cx="2630093" cy="1169259"/>
          </a:xfrm>
        </p:grpSpPr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해외관련</a:t>
              </a:r>
              <a:r>
                <a:rPr lang="ko-KR" altLang="en-US" sz="700" dirty="0">
                  <a:latin typeface="+mn-ea"/>
                </a:rPr>
                <a:t> 업체정보</a:t>
              </a:r>
            </a:p>
          </p:txBody>
        </p:sp>
        <p:grpSp>
          <p:nvGrpSpPr>
            <p:cNvPr id="149" name="그룹 148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15" name="직선 연결선 21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6" name="직선 연결선 21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0" name="직사각형 149"/>
            <p:cNvSpPr/>
            <p:nvPr/>
          </p:nvSpPr>
          <p:spPr>
            <a:xfrm>
              <a:off x="722583" y="4772658"/>
              <a:ext cx="792000" cy="84859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업체코드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국적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Test Corp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프랑스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+33-1-34-88-30-00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9" name="직선 연결선 2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43" name="직선 연결선 2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471" y="383781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44" name="모서리가 둥근 직사각형 243"/>
          <p:cNvSpPr/>
          <p:nvPr/>
        </p:nvSpPr>
        <p:spPr>
          <a:xfrm>
            <a:off x="764771" y="3914362"/>
            <a:ext cx="2543426" cy="485210"/>
          </a:xfrm>
          <a:prstGeom prst="roundRect">
            <a:avLst>
              <a:gd name="adj" fmla="val 8245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5" name="TextBox 2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67851" y="3976180"/>
            <a:ext cx="2154318" cy="3231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b="1" dirty="0">
                <a:latin typeface="Consolas" panose="020B0609020204030204" pitchFamily="49" charset="0"/>
              </a:rPr>
              <a:t>국내소재상사 제출서류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보안측정결과서 </a:t>
            </a:r>
            <a:r>
              <a:rPr lang="en-US" altLang="ko-KR" sz="700" dirty="0">
                <a:latin typeface="Consolas" panose="020B0609020204030204" pitchFamily="49" charset="0"/>
              </a:rPr>
              <a:t>- 1</a:t>
            </a:r>
            <a:r>
              <a:rPr lang="ko-KR" altLang="en-US" sz="700" dirty="0">
                <a:latin typeface="Consolas" panose="020B0609020204030204" pitchFamily="49" charset="0"/>
              </a:rPr>
              <a:t>부</a:t>
            </a:r>
            <a:endParaRPr lang="ko-KR" altLang="en-US" sz="700" b="1" dirty="0">
              <a:latin typeface="맑은 고딕" panose="020B0503020000020004" pitchFamily="50" charset="-127"/>
            </a:endParaRPr>
          </a:p>
        </p:txBody>
      </p:sp>
      <p:sp>
        <p:nvSpPr>
          <p:cNvPr id="246" name="타원 245"/>
          <p:cNvSpPr/>
          <p:nvPr/>
        </p:nvSpPr>
        <p:spPr>
          <a:xfrm>
            <a:off x="837910" y="3980916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13178" y="4510925"/>
            <a:ext cx="2446613" cy="279492"/>
          </a:xfrm>
          <a:prstGeom prst="roundRect">
            <a:avLst/>
          </a:prstGeom>
          <a:solidFill>
            <a:srgbClr val="0070C0"/>
          </a:solidFill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1000" kern="0" dirty="0">
                <a:solidFill>
                  <a:schemeClr val="bg1"/>
                </a:solidFill>
              </a:rPr>
              <a:t>국외조달원등록증 신청 안내</a:t>
            </a:r>
          </a:p>
        </p:txBody>
      </p:sp>
      <p:sp>
        <p:nvSpPr>
          <p:cNvPr id="248" name="타원 24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5519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524235261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2D5E7BC-2F20-E769-ABD1-A1599668D8AB}"/>
              </a:ext>
            </a:extLst>
          </p:cNvPr>
          <p:cNvSpPr txBox="1"/>
          <p:nvPr/>
        </p:nvSpPr>
        <p:spPr>
          <a:xfrm>
            <a:off x="458117" y="810854"/>
            <a:ext cx="346305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법인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개인 구분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dm_bzentyDmstLctnColInfo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CC65F83-4317-B2AC-2278-7907C354C35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29291"/>
          <a:ext cx="8994883" cy="2255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corpYn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736458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법인등기목적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rgRegPrpsNm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법인등기목적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02070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regInstNm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7394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취급품목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hndlItemNm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취급품목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488806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bzstatNm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(’11’)/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(‘12’)/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조합및단체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(‘13’)/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(‘14’)/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벤처제조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(‘15’)/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벤처판매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(‘16’)/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(‘17’)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25121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보안측정부대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scrtyMsrmtDeptNm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보안측정부대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kern="1200" noProof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324165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scrtyMsrmtYmd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kern="1200" noProof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329466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보안측정점수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scrtyMsrmtScr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보안측정점수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kern="1200" noProof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3,1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155222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D2B55895-1826-4B4A-ACFB-AC296EFA55E0}"/>
              </a:ext>
            </a:extLst>
          </p:cNvPr>
          <p:cNvSpPr txBox="1"/>
          <p:nvPr/>
        </p:nvSpPr>
        <p:spPr>
          <a:xfrm>
            <a:off x="454738" y="3303474"/>
            <a:ext cx="215981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FSC Codes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dl_fscList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1937E17B-C201-E238-9E2D-3808BCD3B49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3523957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36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366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19366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6" name="슬라이드 번호 개체 틀 2">
            <a:extLst>
              <a:ext uri="{FF2B5EF4-FFF2-40B4-BE49-F238E27FC236}">
                <a16:creationId xmlns:a16="http://schemas.microsoft.com/office/drawing/2014/main" id="{7DC5BC1B-3BF8-AE98-6489-9A230033BAF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118</a:t>
            </a:fld>
            <a:endParaRPr lang="ko-KR" altLang="en-US" dirty="0"/>
          </a:p>
        </p:txBody>
      </p:sp>
      <p:sp>
        <p:nvSpPr>
          <p:cNvPr id="12" name="Text Box 73">
            <a:extLst>
              <a:ext uri="{FF2B5EF4-FFF2-40B4-BE49-F238E27FC236}">
                <a16:creationId xmlns:a16="http://schemas.microsoft.com/office/drawing/2014/main" id="{67FBFABC-E371-E401-4A89-DA12D13DB3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7343ACF-5BC3-E425-3D2D-99FD5BAE7747}"/>
              </a:ext>
            </a:extLst>
          </p:cNvPr>
          <p:cNvSpPr txBox="1"/>
          <p:nvPr/>
        </p:nvSpPr>
        <p:spPr>
          <a:xfrm>
            <a:off x="460676" y="4187679"/>
            <a:ext cx="258300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영업정보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dm_bzentySalsInfo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623424BA-7526-CE95-2C32-8EB6AC874394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4412056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연간매출액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anlSlsAmt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연간매출액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자산규모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tastAmt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자산규모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여신한도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crlnLimAmt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여신한도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60502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dlngFnstNm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773829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fnstBrnchNm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517837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군납최초 참여일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frstSgsmilPtcpYmd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군납최초 참여일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6629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dlngPrdBgngYmd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63281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dlngPrdEndYmd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6760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Dun’s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Number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crdtExmnRegNo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Dun’s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Number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56419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45303846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119</a:t>
            </a:fld>
            <a:endParaRPr lang="ko-KR" altLang="en-US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A0B1330-1965-F7B3-6343-F3DFC320FABC}"/>
              </a:ext>
            </a:extLst>
          </p:cNvPr>
          <p:cNvSpPr txBox="1"/>
          <p:nvPr/>
        </p:nvSpPr>
        <p:spPr>
          <a:xfrm>
            <a:off x="455559" y="810880"/>
            <a:ext cx="288918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>
                <a:solidFill>
                  <a:prstClr val="black"/>
                </a:solidFill>
              </a:rPr>
              <a:t>해외관련 업체정보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dl_rltBzentyList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3AF40061-64B0-F241-8E6C-7410FA619430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0441" y="1031361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36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366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relBzentyCd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19366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relBzentyNm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366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bzentyNtnNm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8670465"/>
                  </a:ext>
                </a:extLst>
              </a:tr>
              <a:tr h="19366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7842940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A44A396A-9808-139A-7902-BB55FB3F41B5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FEBA482D-2159-14A9-177A-11A52856A1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63328358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120</a:t>
            </a:fld>
            <a:endParaRPr lang="ko-KR" altLang="en-US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E336181E-20DF-7FEF-8E97-4499D0663810}"/>
              </a:ext>
            </a:extLst>
          </p:cNvPr>
          <p:cNvSpPr txBox="1"/>
          <p:nvPr/>
        </p:nvSpPr>
        <p:spPr>
          <a:xfrm>
            <a:off x="460322" y="58821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0AB1A6D0-A54B-6213-F6C8-3BE1C47DEC0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204" y="824839"/>
          <a:ext cx="8995591" cy="825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0710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7469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 국내소재상사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국외조달원등록증 신청 안내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scwin.btn_ovsSosAplyGd_onclick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국외조달원 등록증 신청서 안내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UI-CM-01-P07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3869035"/>
                  </a:ext>
                </a:extLst>
              </a:tr>
            </a:tbl>
          </a:graphicData>
        </a:graphic>
      </p:graphicFrame>
      <p:sp>
        <p:nvSpPr>
          <p:cNvPr id="9" name="Text Box 73">
            <a:extLst>
              <a:ext uri="{FF2B5EF4-FFF2-40B4-BE49-F238E27FC236}">
                <a16:creationId xmlns:a16="http://schemas.microsoft.com/office/drawing/2014/main" id="{AC03E5E3-1A31-5A2B-C8FA-042670147D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2" y="706967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750217049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기 신청한 내역 목록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클릭 시 </a:t>
            </a:r>
            <a:r>
              <a:rPr lang="en-US" altLang="ko-KR" dirty="0" smtClean="0"/>
              <a:t>OZ </a:t>
            </a:r>
            <a:r>
              <a:rPr lang="ko-KR" altLang="en-US" dirty="0" smtClean="0"/>
              <a:t>리포트 조달원 확인서 연결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서류 출력 확인 팝업 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신청 즉시 발급 레이블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신청 사유 타이틀 사용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신청 팝업 호출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조달원 확인서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조달원 </a:t>
            </a:r>
            <a:r>
              <a:rPr lang="ko-KR" altLang="en-US" dirty="0" smtClean="0">
                <a:latin typeface="+mn-ea"/>
              </a:rPr>
              <a:t>확인서</a:t>
            </a:r>
            <a:r>
              <a:rPr lang="en-US" altLang="ko-KR" dirty="0" smtClean="0">
                <a:latin typeface="+mn-ea"/>
              </a:rPr>
              <a:t> </a:t>
            </a:r>
            <a:r>
              <a:rPr lang="ko-KR" altLang="en-US" dirty="0" smtClean="0">
                <a:latin typeface="+mn-ea"/>
              </a:rPr>
              <a:t>신청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 smtClean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조달원 </a:t>
            </a:r>
            <a:r>
              <a:rPr lang="ko-KR" altLang="en-US" dirty="0" smtClean="0">
                <a:latin typeface="+mn-ea"/>
              </a:rPr>
              <a:t>확인서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MUI-CM-01-M19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조달원 확인서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727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5" y="1909786"/>
            <a:ext cx="42578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검색필터</a:t>
            </a:r>
            <a:endParaRPr lang="ko-KR" altLang="en-US" sz="700" dirty="0">
              <a:latin typeface="+mn-ea"/>
            </a:endParaRPr>
          </a:p>
        </p:txBody>
      </p:sp>
      <p:sp>
        <p:nvSpPr>
          <p:cNvPr id="40" name="타원 39"/>
          <p:cNvSpPr/>
          <p:nvPr/>
        </p:nvSpPr>
        <p:spPr>
          <a:xfrm>
            <a:off x="783686" y="194113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49" name="그룹 48"/>
          <p:cNvGrpSpPr/>
          <p:nvPr/>
        </p:nvGrpSpPr>
        <p:grpSpPr>
          <a:xfrm>
            <a:off x="781461" y="2395645"/>
            <a:ext cx="2473257" cy="960061"/>
            <a:chOff x="781461" y="2610063"/>
            <a:chExt cx="2473257" cy="960061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smtClean="0"/>
                <a:t>접수번호 </a:t>
              </a:r>
              <a:r>
                <a:rPr lang="en-US" altLang="ko-KR" sz="700" dirty="0" smtClean="0"/>
                <a:t>2020101010</a:t>
              </a:r>
              <a:endParaRPr lang="en-US" altLang="ko-KR" sz="700" dirty="0"/>
            </a:p>
            <a:p>
              <a:r>
                <a:rPr lang="ko-KR" altLang="en-US" sz="900" b="1" dirty="0" err="1" smtClean="0"/>
                <a:t>입찰참가용</a:t>
              </a:r>
              <a:endParaRPr lang="ko-KR" altLang="en-US" sz="900" b="1" dirty="0"/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신청인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연락처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신청날짜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612269" y="3139237"/>
              <a:ext cx="522643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홍길동</a:t>
              </a:r>
              <a:endParaRPr lang="en-US" altLang="ko-KR" sz="600" dirty="0" smtClean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010-1234-5678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발급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86194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67" name="그룹 66"/>
          <p:cNvGrpSpPr/>
          <p:nvPr/>
        </p:nvGrpSpPr>
        <p:grpSpPr>
          <a:xfrm>
            <a:off x="781461" y="3592072"/>
            <a:ext cx="2473257" cy="942236"/>
            <a:chOff x="781461" y="2610063"/>
            <a:chExt cx="2473257" cy="942236"/>
          </a:xfrm>
        </p:grpSpPr>
        <p:sp>
          <p:nvSpPr>
            <p:cNvPr id="6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접수번호 </a:t>
              </a:r>
              <a:r>
                <a:rPr lang="en-US" altLang="ko-KR" sz="700" dirty="0">
                  <a:solidFill>
                    <a:prstClr val="black"/>
                  </a:solidFill>
                </a:rPr>
                <a:t>2020101010</a:t>
              </a:r>
            </a:p>
            <a:p>
              <a:pPr lvl="0"/>
              <a:r>
                <a:rPr lang="ko-KR" altLang="en-US" sz="900" b="1" dirty="0" smtClean="0">
                  <a:solidFill>
                    <a:prstClr val="black"/>
                  </a:solidFill>
                </a:rPr>
                <a:t>확인용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6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397673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신청인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연락처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신청날짜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46609" y="3139237"/>
              <a:ext cx="522580" cy="397673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홍길동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010-1234-5678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80" name="모서리가 둥근 직사각형 79"/>
            <p:cNvSpPr/>
            <p:nvPr/>
          </p:nvSpPr>
          <p:spPr>
            <a:xfrm>
              <a:off x="781461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발급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47016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5" name="그룹 84"/>
          <p:cNvGrpSpPr/>
          <p:nvPr/>
        </p:nvGrpSpPr>
        <p:grpSpPr>
          <a:xfrm>
            <a:off x="6255425" y="1650089"/>
            <a:ext cx="94010" cy="94010"/>
            <a:chOff x="6812560" y="3297172"/>
            <a:chExt cx="94010" cy="94010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8" name="타원 87"/>
          <p:cNvSpPr/>
          <p:nvPr/>
        </p:nvSpPr>
        <p:spPr>
          <a:xfrm>
            <a:off x="5890147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5563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4505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grpSp>
        <p:nvGrpSpPr>
          <p:cNvPr id="106" name="그룹 105"/>
          <p:cNvGrpSpPr/>
          <p:nvPr/>
        </p:nvGrpSpPr>
        <p:grpSpPr>
          <a:xfrm>
            <a:off x="3792447" y="1974264"/>
            <a:ext cx="2712027" cy="797589"/>
            <a:chOff x="675399" y="3490553"/>
            <a:chExt cx="2712027" cy="797589"/>
          </a:xfrm>
        </p:grpSpPr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490553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기간 </a:t>
              </a:r>
              <a:r>
                <a:rPr lang="ko-KR" altLang="en-US" sz="700" b="1" dirty="0" smtClean="0">
                  <a:latin typeface="+mn-ea"/>
                </a:rPr>
                <a:t>설정 </a:t>
              </a:r>
              <a:r>
                <a:rPr lang="en-US" altLang="ko-KR" sz="700" b="1" dirty="0" smtClean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713091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검색 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빠른 설정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 flipV="1">
              <a:off x="3140949" y="3588243"/>
              <a:ext cx="91438" cy="45719"/>
              <a:chOff x="6812560" y="3297172"/>
              <a:chExt cx="94010" cy="47005"/>
            </a:xfrm>
          </p:grpSpPr>
          <p:cxnSp>
            <p:nvCxnSpPr>
              <p:cNvPr id="137" name="직선 연결선 13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25" name="그룹 124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1464781" y="3740722"/>
              <a:ext cx="859319" cy="188244"/>
              <a:chOff x="5613534" y="2854836"/>
              <a:chExt cx="804671" cy="188244"/>
            </a:xfrm>
          </p:grpSpPr>
          <p:sp>
            <p:nvSpPr>
              <p:cNvPr id="135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2025-12-15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36" name="그림 135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sp>
          <p:nvSpPr>
            <p:cNvPr id="126" name="TextBox 91">
              <a:extLst>
                <a:ext uri="{FF2B5EF4-FFF2-40B4-BE49-F238E27FC236}">
                  <a16:creationId xmlns:a16="http://schemas.microsoft.com/office/drawing/2014/main" id="{02490888-B81F-0F94-5D5F-078AEEB39DDB}"/>
                </a:ext>
              </a:extLst>
            </p:cNvPr>
            <p:cNvSpPr txBox="1"/>
            <p:nvPr/>
          </p:nvSpPr>
          <p:spPr>
            <a:xfrm>
              <a:off x="2347279" y="3760669"/>
              <a:ext cx="80150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 dirty="0">
                  <a:solidFill>
                    <a:prstClr val="black"/>
                  </a:solidFill>
                  <a:cs typeface="Pretendard Medium" panose="02000603000000020004" pitchFamily="50" charset="-127"/>
                </a:rPr>
                <a:t>~</a:t>
              </a:r>
              <a:endParaRPr lang="ko-KR" altLang="en-US" sz="900" dirty="0">
                <a:solidFill>
                  <a:prstClr val="black"/>
                </a:solidFill>
                <a:cs typeface="Pretendard Medium" panose="02000603000000020004" pitchFamily="50" charset="-127"/>
              </a:endParaRPr>
            </a:p>
          </p:txBody>
        </p:sp>
        <p:grpSp>
          <p:nvGrpSpPr>
            <p:cNvPr id="127" name="그룹 126"/>
            <p:cNvGrpSpPr/>
            <p:nvPr/>
          </p:nvGrpSpPr>
          <p:grpSpPr>
            <a:xfrm>
              <a:off x="1464781" y="3971391"/>
              <a:ext cx="1845146" cy="188135"/>
              <a:chOff x="1430277" y="4057651"/>
              <a:chExt cx="1845146" cy="188135"/>
            </a:xfrm>
          </p:grpSpPr>
          <p:sp>
            <p:nvSpPr>
              <p:cNvPr id="132" name="사각형: 둥근 모서리 169">
                <a:extLst>
                  <a:ext uri="{FF2B5EF4-FFF2-40B4-BE49-F238E27FC236}">
                    <a16:creationId xmlns:a16="http://schemas.microsoft.com/office/drawing/2014/main" id="{A28DD831-0E4B-31EE-CB08-9E188754698D}"/>
                  </a:ext>
                </a:extLst>
              </p:cNvPr>
              <p:cNvSpPr/>
              <p:nvPr/>
            </p:nvSpPr>
            <p:spPr>
              <a:xfrm>
                <a:off x="1430277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최근 </a:t>
                </a:r>
                <a:r>
                  <a:rPr kumimoji="1" lang="en-US" altLang="ko-KR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개월</a:t>
                </a:r>
                <a:endParaRPr kumimoji="1" 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3" name="사각형: 둥근 모서리 171">
                <a:extLst>
                  <a:ext uri="{FF2B5EF4-FFF2-40B4-BE49-F238E27FC236}">
                    <a16:creationId xmlns:a16="http://schemas.microsoft.com/office/drawing/2014/main" id="{75BECEC6-4045-95B1-98C2-242CA0FC5A06}"/>
                  </a:ext>
                </a:extLst>
              </p:cNvPr>
              <p:cNvSpPr/>
              <p:nvPr/>
            </p:nvSpPr>
            <p:spPr>
              <a:xfrm>
                <a:off x="2061841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latin typeface="+mn-ea"/>
                  </a:rPr>
                  <a:t>최근 </a:t>
                </a:r>
                <a:r>
                  <a:rPr kumimoji="1" lang="en-US" altLang="ko-KR" sz="700" kern="0" dirty="0">
                    <a:latin typeface="+mn-ea"/>
                  </a:rPr>
                  <a:t>3</a:t>
                </a:r>
                <a:r>
                  <a:rPr kumimoji="1" lang="ko-KR" altLang="en-US" sz="700" kern="0" dirty="0">
                    <a:latin typeface="+mn-ea"/>
                  </a:rPr>
                  <a:t>개월</a:t>
                </a:r>
                <a:endParaRPr kumimoji="1" lang="en-US" altLang="ko-KR" sz="700" kern="0" dirty="0">
                  <a:latin typeface="+mn-ea"/>
                </a:endParaRPr>
              </a:p>
            </p:txBody>
          </p:sp>
          <p:sp>
            <p:nvSpPr>
              <p:cNvPr id="134" name="사각형: 둥근 모서리 172">
                <a:extLst>
                  <a:ext uri="{FF2B5EF4-FFF2-40B4-BE49-F238E27FC236}">
                    <a16:creationId xmlns:a16="http://schemas.microsoft.com/office/drawing/2014/main" id="{7F182F00-C81F-5F02-6A1E-826222B231A9}"/>
                  </a:ext>
                </a:extLst>
              </p:cNvPr>
              <p:cNvSpPr/>
              <p:nvPr/>
            </p:nvSpPr>
            <p:spPr>
              <a:xfrm>
                <a:off x="2693406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최근 </a:t>
                </a:r>
                <a:r>
                  <a:rPr kumimoji="1" lang="en-US" altLang="ko-KR" sz="700" kern="0" dirty="0">
                    <a:solidFill>
                      <a:prstClr val="black"/>
                    </a:solidFill>
                    <a:latin typeface="+mn-ea"/>
                  </a:rPr>
                  <a:t>6</a:t>
                </a: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개월</a:t>
                </a:r>
                <a:endParaRPr kumimoji="1" lang="en-US" altLang="ko-KR" sz="7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2450608" y="3740722"/>
              <a:ext cx="859319" cy="188244"/>
              <a:chOff x="5613534" y="2854836"/>
              <a:chExt cx="804671" cy="188244"/>
            </a:xfrm>
          </p:grpSpPr>
          <p:sp>
            <p:nvSpPr>
              <p:cNvPr id="130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2026-01-15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31" name="그림 130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28814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58" name="직선 연결선 1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647853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99" name="그룹 98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100" name="직사각형 99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1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1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592167"/>
            <a:ext cx="2446613" cy="206419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9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675399" y="5750826"/>
            <a:ext cx="2712027" cy="481472"/>
            <a:chOff x="675399" y="5750826"/>
            <a:chExt cx="2712027" cy="481472"/>
          </a:xfrm>
        </p:grpSpPr>
        <p:sp>
          <p:nvSpPr>
            <p:cNvPr id="114" name="직사각형 11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750826"/>
              <a:ext cx="2712027" cy="48147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7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808106" y="5828262"/>
              <a:ext cx="2446613" cy="279492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356424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9" name="타원 1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6588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164" name="그룹 163"/>
          <p:cNvGrpSpPr/>
          <p:nvPr/>
        </p:nvGrpSpPr>
        <p:grpSpPr>
          <a:xfrm>
            <a:off x="3903622" y="2883409"/>
            <a:ext cx="2516607" cy="467691"/>
            <a:chOff x="778515" y="4388257"/>
            <a:chExt cx="2516607" cy="467691"/>
          </a:xfrm>
        </p:grpSpPr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38825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err="1">
                  <a:latin typeface="+mn-ea"/>
                </a:rPr>
                <a:t>검색어</a:t>
              </a:r>
              <a:r>
                <a:rPr lang="ko-KR" altLang="en-US" sz="700" b="1" dirty="0">
                  <a:latin typeface="+mn-ea"/>
                </a:rPr>
                <a:t> </a:t>
              </a:r>
              <a:r>
                <a:rPr lang="en-US" altLang="ko-KR" sz="700" b="1" dirty="0">
                  <a:latin typeface="+mn-ea"/>
                </a:rPr>
                <a:t>(</a:t>
              </a:r>
              <a:r>
                <a:rPr lang="ko-KR" altLang="en-US" sz="700" b="1" dirty="0">
                  <a:latin typeface="+mn-ea"/>
                </a:rPr>
                <a:t>일부 입력 가능</a:t>
              </a:r>
              <a:r>
                <a:rPr lang="en-US" altLang="ko-KR" sz="700" b="1" dirty="0">
                  <a:latin typeface="+mn-ea"/>
                </a:rPr>
                <a:t>)</a:t>
              </a:r>
              <a:endParaRPr lang="ko-KR" altLang="en-US" sz="700" b="1" dirty="0">
                <a:latin typeface="+mn-ea"/>
              </a:endParaRPr>
            </a:p>
          </p:txBody>
        </p:sp>
        <p:grpSp>
          <p:nvGrpSpPr>
            <p:cNvPr id="166" name="그룹 165"/>
            <p:cNvGrpSpPr/>
            <p:nvPr/>
          </p:nvGrpSpPr>
          <p:grpSpPr>
            <a:xfrm flipV="1">
              <a:off x="3140949" y="4485947"/>
              <a:ext cx="91438" cy="45719"/>
              <a:chOff x="6812560" y="3297172"/>
              <a:chExt cx="94010" cy="47005"/>
            </a:xfrm>
          </p:grpSpPr>
          <p:cxnSp>
            <p:nvCxnSpPr>
              <p:cNvPr id="179" name="직선 연결선 17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0" name="직선 연결선 17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7" name="모서리가 둥근 직사각형 166"/>
            <p:cNvSpPr/>
            <p:nvPr/>
          </p:nvSpPr>
          <p:spPr>
            <a:xfrm>
              <a:off x="1449284" y="466874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 smtClean="0">
                  <a:solidFill>
                    <a:schemeClr val="bg1">
                      <a:lumMod val="65000"/>
                    </a:schemeClr>
                  </a:solidFill>
                </a:rPr>
                <a:t>신청인을 </a:t>
              </a:r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655417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신청인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91" name="모서리가 둥근 직사각형 90"/>
          <p:cNvSpPr/>
          <p:nvPr/>
        </p:nvSpPr>
        <p:spPr>
          <a:xfrm>
            <a:off x="6605470" y="4649724"/>
            <a:ext cx="2579992" cy="1200743"/>
          </a:xfrm>
          <a:prstGeom prst="roundRect">
            <a:avLst>
              <a:gd name="adj" fmla="val 4663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2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7948308" y="5408886"/>
            <a:ext cx="1080000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확인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9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723164" y="5408886"/>
            <a:ext cx="1080000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723164" y="4796454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서류 출력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742894" y="5028963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OZ </a:t>
            </a:r>
            <a:r>
              <a:rPr lang="ko-KR" altLang="en-US" sz="700" dirty="0">
                <a:latin typeface="+mn-ea"/>
              </a:rPr>
              <a:t>리포트가 실행되며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로딩에 약간의 시간이 소요됩니다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ko-KR" altLang="en-US" sz="700" dirty="0">
                <a:latin typeface="+mn-ea"/>
              </a:rPr>
              <a:t>서류 출력을 진행할까요</a:t>
            </a:r>
            <a:r>
              <a:rPr lang="en-US" altLang="ko-KR" sz="700" dirty="0">
                <a:latin typeface="+mn-ea"/>
              </a:rPr>
              <a:t>?</a:t>
            </a:r>
          </a:p>
        </p:txBody>
      </p:sp>
      <p:grpSp>
        <p:nvGrpSpPr>
          <p:cNvPr id="97" name="그룹 96"/>
          <p:cNvGrpSpPr/>
          <p:nvPr/>
        </p:nvGrpSpPr>
        <p:grpSpPr>
          <a:xfrm>
            <a:off x="8934298" y="4796454"/>
            <a:ext cx="94010" cy="94010"/>
            <a:chOff x="6812560" y="3297172"/>
            <a:chExt cx="94010" cy="94010"/>
          </a:xfrm>
        </p:grpSpPr>
        <p:cxnSp>
          <p:nvCxnSpPr>
            <p:cNvPr id="98" name="직선 연결선 9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1" name="직선 연결선 100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2" name="직사각형 101"/>
          <p:cNvSpPr/>
          <p:nvPr/>
        </p:nvSpPr>
        <p:spPr>
          <a:xfrm>
            <a:off x="6541384" y="4418892"/>
            <a:ext cx="1043876" cy="230832"/>
          </a:xfrm>
          <a:prstGeom prst="rect">
            <a:avLst/>
          </a:prstGeom>
        </p:spPr>
        <p:txBody>
          <a:bodyPr lIns="72000" tIns="36000" rIns="72000" bIns="36000"/>
          <a:lstStyle/>
          <a:p>
            <a:pPr>
              <a:buFont typeface="Arial" panose="020B0604020202020204" pitchFamily="34" charset="0"/>
              <a:buNone/>
            </a:pPr>
            <a:r>
              <a:rPr lang="en-US" altLang="ko-KR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MUI-BD-01-P14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03" name="직사각형 102"/>
          <p:cNvSpPr/>
          <p:nvPr/>
        </p:nvSpPr>
        <p:spPr>
          <a:xfrm>
            <a:off x="8075444" y="4418892"/>
            <a:ext cx="1177967" cy="230832"/>
          </a:xfrm>
          <a:prstGeom prst="rect">
            <a:avLst/>
          </a:prstGeom>
        </p:spPr>
        <p:txBody>
          <a:bodyPr lIns="72000" tIns="36000" rIns="72000" bIns="36000"/>
          <a:lstStyle/>
          <a:p>
            <a:pPr algn="r">
              <a:buFont typeface="Arial" panose="020B0604020202020204" pitchFamily="34" charset="0"/>
              <a:buNone/>
            </a:pPr>
            <a:r>
              <a:rPr lang="ko-KR" altLang="en-US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서류 출력 확인</a:t>
            </a:r>
          </a:p>
        </p:txBody>
      </p:sp>
    </p:spTree>
    <p:extLst>
      <p:ext uri="{BB962C8B-B14F-4D97-AF65-F5344CB8AC3E}">
        <p14:creationId xmlns:p14="http://schemas.microsoft.com/office/powerpoint/2010/main" val="1224457309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신청인 정보는 자동완성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신청 사유 필수 작성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팝업 진입 시 포커스 이동 및 가상 </a:t>
            </a:r>
            <a:r>
              <a:rPr lang="ko-KR" altLang="en-US" dirty="0" err="1" smtClean="0"/>
              <a:t>키패드</a:t>
            </a:r>
            <a:r>
              <a:rPr lang="ko-KR" altLang="en-US" dirty="0" smtClean="0"/>
              <a:t> 활성화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신청하기 클릭 시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팝업 닫기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완료 토스트 메시지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신청 내역 발급 가능 상태로 신청 목록 </a:t>
            </a:r>
            <a:r>
              <a:rPr lang="ko-KR" altLang="en-US" dirty="0" err="1" smtClean="0"/>
              <a:t>리프래시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취소 클릭 시 팝업 닫기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조달원 확인서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조달원 확인서 </a:t>
            </a:r>
            <a:r>
              <a:rPr lang="ko-KR" altLang="en-US" dirty="0" smtClean="0">
                <a:latin typeface="+mn-ea"/>
              </a:rPr>
              <a:t>신청 팝업 </a:t>
            </a:r>
            <a:r>
              <a:rPr lang="ko-KR" altLang="en-US" dirty="0">
                <a:latin typeface="+mn-ea"/>
              </a:rPr>
              <a:t>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조달원 </a:t>
            </a:r>
            <a:r>
              <a:rPr lang="ko-KR" altLang="en-US" dirty="0" smtClean="0">
                <a:latin typeface="+mn-ea"/>
              </a:rPr>
              <a:t>확인서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신청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MUI-CM-01-P20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0" name="양쪽 모서리가 둥근 사각형 109"/>
          <p:cNvSpPr/>
          <p:nvPr/>
        </p:nvSpPr>
        <p:spPr>
          <a:xfrm>
            <a:off x="679854" y="2953467"/>
            <a:ext cx="2712027" cy="3278832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1765867" y="2990094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12" name="그룹 111"/>
          <p:cNvGrpSpPr/>
          <p:nvPr/>
        </p:nvGrpSpPr>
        <p:grpSpPr>
          <a:xfrm>
            <a:off x="3168793" y="3124510"/>
            <a:ext cx="94010" cy="94010"/>
            <a:chOff x="6812560" y="3297172"/>
            <a:chExt cx="94010" cy="94010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3105189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조달원 확인서 신청서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336658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4893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46" name="그룹 45"/>
          <p:cNvGrpSpPr/>
          <p:nvPr/>
        </p:nvGrpSpPr>
        <p:grpSpPr>
          <a:xfrm>
            <a:off x="903581" y="4433682"/>
            <a:ext cx="2255663" cy="306146"/>
            <a:chOff x="3982951" y="3679873"/>
            <a:chExt cx="2255663" cy="306146"/>
          </a:xfrm>
        </p:grpSpPr>
        <p:sp>
          <p:nvSpPr>
            <p:cNvPr id="47" name="모서리가 둥근 직사각형 46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 smtClean="0">
                  <a:latin typeface="+mn-ea"/>
                </a:rPr>
                <a:t>010-1234-5678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50" name="TextBox 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294747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신청인 연락처</a:t>
            </a:r>
          </a:p>
        </p:txBody>
      </p:sp>
      <p:grpSp>
        <p:nvGrpSpPr>
          <p:cNvPr id="52" name="그룹 51"/>
          <p:cNvGrpSpPr/>
          <p:nvPr/>
        </p:nvGrpSpPr>
        <p:grpSpPr>
          <a:xfrm>
            <a:off x="903581" y="5065353"/>
            <a:ext cx="2255663" cy="306146"/>
            <a:chOff x="3982951" y="3679873"/>
            <a:chExt cx="2255663" cy="306146"/>
          </a:xfrm>
        </p:grpSpPr>
        <p:sp>
          <p:nvSpPr>
            <p:cNvPr id="53" name="모서리가 둥근 직사각형 52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신청사유를</a:t>
              </a:r>
              <a:r>
                <a:rPr lang="ko-KR" altLang="en-US" sz="700" dirty="0" smtClean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 작성해주세요</a:t>
              </a:r>
              <a:r>
                <a:rPr lang="en-US" altLang="ko-KR" sz="700" dirty="0" smtClean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endParaRPr>
            </a:p>
          </p:txBody>
        </p: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926418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신청사유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 smtClean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4926418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648834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신청인 성명</a:t>
            </a:r>
          </a:p>
        </p:txBody>
      </p:sp>
      <p:grpSp>
        <p:nvGrpSpPr>
          <p:cNvPr id="58" name="그룹 57"/>
          <p:cNvGrpSpPr/>
          <p:nvPr/>
        </p:nvGrpSpPr>
        <p:grpSpPr>
          <a:xfrm>
            <a:off x="903581" y="3795966"/>
            <a:ext cx="2255663" cy="306146"/>
            <a:chOff x="3982951" y="3679873"/>
            <a:chExt cx="2255663" cy="306146"/>
          </a:xfrm>
        </p:grpSpPr>
        <p:sp>
          <p:nvSpPr>
            <p:cNvPr id="59" name="모서리가 둥근 직사각형 5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홍길동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61" name="그룹 60"/>
          <p:cNvGrpSpPr/>
          <p:nvPr/>
        </p:nvGrpSpPr>
        <p:grpSpPr>
          <a:xfrm>
            <a:off x="679854" y="5614711"/>
            <a:ext cx="2712027" cy="617588"/>
            <a:chOff x="675399" y="5614711"/>
            <a:chExt cx="2712027" cy="617588"/>
          </a:xfrm>
        </p:grpSpPr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smtClean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신청하기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6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67" name="타원 1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모서리가 둥근 직사각형 65"/>
          <p:cNvSpPr/>
          <p:nvPr/>
        </p:nvSpPr>
        <p:spPr>
          <a:xfrm>
            <a:off x="4482273" y="5491535"/>
            <a:ext cx="1338948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solidFill>
                  <a:schemeClr val="bg1"/>
                </a:solidFill>
                <a:latin typeface="+mn-ea"/>
              </a:rPr>
              <a:t>신청 되었습니다</a:t>
            </a:r>
            <a:r>
              <a:rPr lang="en-US" altLang="ko-KR" sz="700" dirty="0" smtClean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124162994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2D5E7BC-2F20-E769-ABD1-A1599668D8AB}"/>
              </a:ext>
            </a:extLst>
          </p:cNvPr>
          <p:cNvSpPr txBox="1"/>
          <p:nvPr/>
        </p:nvSpPr>
        <p:spPr>
          <a:xfrm>
            <a:off x="522093" y="3760674"/>
            <a:ext cx="347106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조달원 확인서 신청서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dm_sosCnfdocAplyInfo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CC65F83-4317-B2AC-2278-7907C354C35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22801" y="3984986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aplcntNm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성명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aplcntTelno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신청사유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78B2212E-EACF-2FEC-3C17-024016BD85B5}"/>
              </a:ext>
            </a:extLst>
          </p:cNvPr>
          <p:cNvSpPr txBox="1"/>
          <p:nvPr/>
        </p:nvSpPr>
        <p:spPr>
          <a:xfrm>
            <a:off x="463235" y="502526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BE982B75-03ED-2F22-5FB5-61DE604C9F42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8117" y="5255952"/>
          <a:ext cx="8995591" cy="1263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0710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7469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en-US" altLang="ko-KR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국내조달원확인서 신청 정보를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28396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검색 클릭</a:t>
                      </a:r>
                      <a:endParaRPr lang="en-US" altLang="ko-KR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scwin.btn_sosCndfdocSrch_onclick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검색조건으로 국내조달원확인서 신청 정보를 검색한다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9401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scwin.btn_aply_onclick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신청사유를 입력하고 신청 버튼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클릭시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국내조달원 확인서 팝업을 호출한다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UI-CM-01-P04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신청시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승인 없이 바로 국내조달원 확인서 정보 출력 가능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3869035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7182860-4B9B-70CE-622F-13259DE865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5118" y="5142337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85507F8-28E0-D2CA-01CD-17DF2435587F}"/>
              </a:ext>
            </a:extLst>
          </p:cNvPr>
          <p:cNvSpPr txBox="1"/>
          <p:nvPr/>
        </p:nvSpPr>
        <p:spPr>
          <a:xfrm>
            <a:off x="458117" y="803113"/>
            <a:ext cx="273689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조달원확인서 신청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0FE81E11-11C2-8458-E644-A59A8353417A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22801" y="1014316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신청날짜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edpPrcsYmdFrom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신청날짜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865433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신청날짜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edpPrcsYmdTo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신청날짜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66668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aplcntNm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1AA0CC25-8071-DF85-A256-E63F30ED3979}"/>
              </a:ext>
            </a:extLst>
          </p:cNvPr>
          <p:cNvSpPr txBox="1"/>
          <p:nvPr/>
        </p:nvSpPr>
        <p:spPr>
          <a:xfrm>
            <a:off x="462690" y="1915388"/>
            <a:ext cx="270483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조달원확인서 신청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82E04866-3FC5-182D-95B7-506561A0BF7E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22801" y="2135892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03423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aplcntNm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aplyRsn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신청사유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신청날짜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edpPrcsYmd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신청날짜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570806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aplcntTelno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1700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aplyRcptStts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상태는 발급으로 고정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 시 바로 발급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093218"/>
                  </a:ext>
                </a:extLst>
              </a:tr>
            </a:tbl>
          </a:graphicData>
        </a:graphic>
      </p:graphicFrame>
      <p:sp>
        <p:nvSpPr>
          <p:cNvPr id="13" name="Text Box 73">
            <a:extLst>
              <a:ext uri="{FF2B5EF4-FFF2-40B4-BE49-F238E27FC236}">
                <a16:creationId xmlns:a16="http://schemas.microsoft.com/office/drawing/2014/main" id="{2FD39B29-B133-C3EF-9680-05C8D964B0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311086545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124</a:t>
            </a:fld>
            <a:endParaRPr lang="ko-KR" altLang="en-US" dirty="0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C42720F-AF70-E4AE-D8B4-96C457197793}"/>
              </a:ext>
            </a:extLst>
          </p:cNvPr>
          <p:cNvSpPr txBox="1"/>
          <p:nvPr/>
        </p:nvSpPr>
        <p:spPr>
          <a:xfrm>
            <a:off x="460322" y="62031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08D655E8-CDC4-162F-5F06-66C766C37F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49774719"/>
              </p:ext>
            </p:extLst>
          </p:nvPr>
        </p:nvGraphicFramePr>
        <p:xfrm>
          <a:off x="455204" y="851006"/>
          <a:ext cx="8995591" cy="157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0710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7469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en-US" altLang="ko-KR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국내조달원확인서 신청 정보를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28396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검색 클릭</a:t>
                      </a:r>
                      <a:endParaRPr lang="en-US" altLang="ko-KR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scwin.btn_sosCndfdocSrch_onclick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검색조건으로 국내조달원확인서 신청 정보를 검색한다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38021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scwin.btn_aply_onclick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신청사유를 입력하고 신청 버튼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클릭시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국내조달원 확인서 팝업을 호출한다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UI-CM-01-P04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신청시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승인 없이 바로 국내조달원 확인서 정보 출력 가능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90797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카드 </a:t>
                      </a:r>
                      <a:r>
                        <a:rPr lang="ko-KR" altLang="en-US" sz="800" dirty="0"/>
                        <a:t>클릭</a:t>
                      </a:r>
                      <a:endParaRPr lang="en-US" altLang="ko-KR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scwin.btn_otpt_onclick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국내조달원확인서를 </a:t>
                      </a:r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출력한다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OZ 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리포트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7302419"/>
                  </a:ext>
                </a:extLst>
              </a:tr>
            </a:tbl>
          </a:graphicData>
        </a:graphic>
      </p:graphicFrame>
      <p:sp>
        <p:nvSpPr>
          <p:cNvPr id="11" name="Text Box 73">
            <a:extLst>
              <a:ext uri="{FF2B5EF4-FFF2-40B4-BE49-F238E27FC236}">
                <a16:creationId xmlns:a16="http://schemas.microsoft.com/office/drawing/2014/main" id="{80C0FEC0-EB0B-0C17-7551-2AEA97E980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2205" y="73739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125787716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파일명 정보 표시</a:t>
            </a:r>
            <a:r>
              <a:rPr lang="en-US" altLang="ko-KR" dirty="0"/>
              <a:t>,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다운로드 실행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경로 </a:t>
            </a:r>
            <a:r>
              <a:rPr lang="en-US" altLang="ko-KR" dirty="0"/>
              <a:t>/download/manual/AppCertOfRegi.pdf </a:t>
            </a:r>
            <a:r>
              <a:rPr lang="ko-KR" altLang="en-US" dirty="0"/>
              <a:t>파일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닫기 버튼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 조달원등록증 </a:t>
            </a:r>
            <a:r>
              <a:rPr lang="ko-KR" altLang="en-US" dirty="0" smtClean="0">
                <a:latin typeface="+mn-ea"/>
              </a:rPr>
              <a:t>신청안내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 조달원등록증 신청안내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국외 조달원등록증 신청안내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MUI-CM-01-P21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0" name="양쪽 모서리가 둥근 사각형 109"/>
          <p:cNvSpPr/>
          <p:nvPr/>
        </p:nvSpPr>
        <p:spPr>
          <a:xfrm>
            <a:off x="679854" y="1908439"/>
            <a:ext cx="2712027" cy="4314854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1765867" y="1945066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12" name="그룹 111"/>
          <p:cNvGrpSpPr/>
          <p:nvPr/>
        </p:nvGrpSpPr>
        <p:grpSpPr>
          <a:xfrm>
            <a:off x="3168793" y="2079482"/>
            <a:ext cx="94010" cy="94010"/>
            <a:chOff x="6812560" y="3297172"/>
            <a:chExt cx="94010" cy="94010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2060161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국외 조달원등록증 신청안내</a:t>
            </a:r>
          </a:p>
        </p:txBody>
      </p: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232156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6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930" y="5828262"/>
            <a:ext cx="2453873" cy="27949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noProof="0">
                <a:latin typeface="맑은 고딕"/>
                <a:ea typeface="맑은 고딕" panose="020B0503020000020004" pitchFamily="50" charset="-127"/>
              </a:rPr>
              <a:t>닫기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67" name="타원 1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140165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처리절자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0331" y="3922514"/>
            <a:ext cx="2532688" cy="172354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1. </a:t>
            </a:r>
            <a:r>
              <a:rPr lang="ko-KR" altLang="en-US" sz="700" b="1" dirty="0" err="1">
                <a:latin typeface="+mn-ea"/>
              </a:rPr>
              <a:t>마이페이지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latin typeface="+mn-ea"/>
              </a:rPr>
              <a:t>&gt; </a:t>
            </a:r>
            <a:r>
              <a:rPr lang="ko-KR" altLang="en-US" sz="700" b="1" dirty="0">
                <a:latin typeface="+mn-ea"/>
              </a:rPr>
              <a:t>업체정보관리 </a:t>
            </a:r>
            <a:r>
              <a:rPr lang="en-US" altLang="ko-KR" sz="700" b="1" dirty="0">
                <a:latin typeface="+mn-ea"/>
              </a:rPr>
              <a:t>&gt; </a:t>
            </a:r>
            <a:r>
              <a:rPr lang="ko-KR" altLang="en-US" sz="700" b="1" dirty="0">
                <a:latin typeface="+mn-ea"/>
              </a:rPr>
              <a:t>업체정보 조회</a:t>
            </a:r>
            <a:r>
              <a:rPr lang="ko-KR" altLang="en-US" sz="700" dirty="0">
                <a:latin typeface="+mn-ea"/>
              </a:rPr>
              <a:t> 에서 영문상호명이 있어야 하며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빈 값인 경우 조달청에서 등록하세요</a:t>
            </a:r>
            <a:r>
              <a:rPr lang="en-US" altLang="ko-KR" sz="700" dirty="0">
                <a:latin typeface="+mn-ea"/>
              </a:rPr>
              <a:t>.</a:t>
            </a:r>
          </a:p>
          <a:p>
            <a:pPr marL="171450" indent="-171450">
              <a:lnSpc>
                <a:spcPct val="200000"/>
              </a:lnSpc>
              <a:buFontTx/>
              <a:buChar char="-"/>
            </a:pPr>
            <a:r>
              <a:rPr lang="ko-KR" altLang="en-US" sz="700" dirty="0">
                <a:latin typeface="+mn-ea"/>
              </a:rPr>
              <a:t>업체정보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대표자 주소 등</a:t>
            </a:r>
            <a:r>
              <a:rPr lang="en-US" altLang="ko-KR" sz="700" dirty="0">
                <a:latin typeface="+mn-ea"/>
              </a:rPr>
              <a:t>) </a:t>
            </a:r>
            <a:r>
              <a:rPr lang="ko-KR" altLang="en-US" sz="700" dirty="0">
                <a:latin typeface="+mn-ea"/>
              </a:rPr>
              <a:t>변경사항이 있는 경우 나라장터</a:t>
            </a:r>
            <a:r>
              <a:rPr lang="en-US" altLang="ko-KR" sz="700" dirty="0">
                <a:latin typeface="+mn-ea"/>
              </a:rPr>
              <a:t>(www.g2b.go.kr)</a:t>
            </a:r>
            <a:r>
              <a:rPr lang="ko-KR" altLang="en-US" sz="700" dirty="0">
                <a:latin typeface="+mn-ea"/>
              </a:rPr>
              <a:t>에 변경 요청하여 승인 처리되면  다음 날 국방전자조달</a:t>
            </a:r>
            <a:r>
              <a:rPr lang="en-US" altLang="ko-KR" sz="700" dirty="0">
                <a:latin typeface="+mn-ea"/>
              </a:rPr>
              <a:t>(www.d2b.go.kr)</a:t>
            </a:r>
            <a:r>
              <a:rPr lang="ko-KR" altLang="en-US" sz="700" dirty="0">
                <a:latin typeface="+mn-ea"/>
              </a:rPr>
              <a:t>에 자동 반영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2. </a:t>
            </a:r>
            <a:r>
              <a:rPr lang="ko-KR" altLang="en-US" sz="700" b="1" dirty="0" err="1">
                <a:latin typeface="+mn-ea"/>
              </a:rPr>
              <a:t>마이페이지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latin typeface="+mn-ea"/>
              </a:rPr>
              <a:t>&gt; </a:t>
            </a:r>
            <a:r>
              <a:rPr lang="ko-KR" altLang="en-US" sz="700" b="1" dirty="0">
                <a:latin typeface="+mn-ea"/>
              </a:rPr>
              <a:t>업체정보관리 </a:t>
            </a:r>
            <a:r>
              <a:rPr lang="en-US" altLang="ko-KR" sz="700" b="1" dirty="0">
                <a:latin typeface="+mn-ea"/>
              </a:rPr>
              <a:t>&gt; </a:t>
            </a:r>
            <a:r>
              <a:rPr lang="ko-KR" altLang="en-US" sz="700" b="1" dirty="0">
                <a:latin typeface="+mn-ea"/>
              </a:rPr>
              <a:t>업체정보 추가정보 </a:t>
            </a:r>
            <a:r>
              <a:rPr lang="en-US" altLang="ko-KR" sz="700" b="1" dirty="0">
                <a:latin typeface="+mn-ea"/>
              </a:rPr>
              <a:t>&gt; </a:t>
            </a:r>
            <a:r>
              <a:rPr lang="ko-KR" altLang="en-US" sz="700" b="1" dirty="0">
                <a:latin typeface="+mn-ea"/>
              </a:rPr>
              <a:t>신청 버튼</a:t>
            </a:r>
            <a:r>
              <a:rPr lang="ko-KR" altLang="en-US" sz="700" dirty="0">
                <a:latin typeface="+mn-ea"/>
              </a:rPr>
              <a:t> 클릭 후 </a:t>
            </a:r>
            <a:r>
              <a:rPr lang="ko-KR" altLang="en-US" sz="700" dirty="0" err="1">
                <a:latin typeface="+mn-ea"/>
              </a:rPr>
              <a:t>일반정보에</a:t>
            </a:r>
            <a:r>
              <a:rPr lang="ko-KR" altLang="en-US" sz="700" dirty="0">
                <a:latin typeface="+mn-ea"/>
              </a:rPr>
              <a:t>  대표자명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영문</a:t>
            </a:r>
            <a:r>
              <a:rPr lang="en-US" altLang="ko-KR" sz="700" dirty="0">
                <a:latin typeface="+mn-ea"/>
              </a:rPr>
              <a:t>), </a:t>
            </a:r>
            <a:r>
              <a:rPr lang="ko-KR" altLang="en-US" sz="700" dirty="0">
                <a:latin typeface="+mn-ea"/>
              </a:rPr>
              <a:t>주소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영문</a:t>
            </a:r>
            <a:r>
              <a:rPr lang="en-US" altLang="ko-KR" sz="700" dirty="0">
                <a:latin typeface="+mn-ea"/>
              </a:rPr>
              <a:t>)</a:t>
            </a:r>
            <a:r>
              <a:rPr lang="ko-KR" altLang="en-US" sz="700" dirty="0">
                <a:latin typeface="+mn-ea"/>
              </a:rPr>
              <a:t>은 필수입니다</a:t>
            </a:r>
            <a:r>
              <a:rPr lang="en-US" altLang="ko-KR" sz="700" dirty="0">
                <a:latin typeface="+mn-ea"/>
              </a:rPr>
              <a:t>. </a:t>
            </a:r>
            <a:r>
              <a:rPr lang="ko-KR" altLang="en-US" sz="700" dirty="0" err="1">
                <a:latin typeface="+mn-ea"/>
              </a:rPr>
              <a:t>빈값인경우</a:t>
            </a:r>
            <a:r>
              <a:rPr lang="ko-KR" altLang="en-US" sz="700" dirty="0">
                <a:latin typeface="+mn-ea"/>
              </a:rPr>
              <a:t> 추가정보등록 후 신청하세요</a:t>
            </a:r>
            <a:r>
              <a:rPr lang="en-US" altLang="ko-KR" sz="700" dirty="0">
                <a:latin typeface="+mn-ea"/>
              </a:rPr>
              <a:t>.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245731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양식 다운로드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6" y="3341961"/>
            <a:ext cx="248428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국외조달원</a:t>
            </a:r>
            <a:r>
              <a:rPr lang="ko-KR" altLang="en-US" sz="800" dirty="0">
                <a:latin typeface="+mn-ea"/>
              </a:rPr>
              <a:t> 등록증 발급 신청서 양식을 출력하여 수기로 작성 후 팩스 또는 직접 방문 접수합니다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711703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신청서 </a:t>
            </a:r>
            <a:r>
              <a:rPr lang="ko-KR" altLang="en-US" sz="700" b="1" dirty="0" err="1">
                <a:latin typeface="+mn-ea"/>
              </a:rPr>
              <a:t>확인사항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37" name="직선 연결선 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68038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21376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2415" y="573579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" name="모서리가 둥근 직사각형 30"/>
          <p:cNvSpPr/>
          <p:nvPr/>
        </p:nvSpPr>
        <p:spPr>
          <a:xfrm>
            <a:off x="718021" y="2666463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28698" y="2740984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국외조달원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등록증 신청서 양식</a:t>
            </a:r>
          </a:p>
          <a:p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AppCertOfRegi.pdf 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: </a:t>
            </a:r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[51KB]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42" name="타원 41"/>
          <p:cNvSpPr/>
          <p:nvPr/>
        </p:nvSpPr>
        <p:spPr>
          <a:xfrm>
            <a:off x="3078140" y="2776706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82497654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현재 업체 정보 표시 영역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추가등록</a:t>
            </a:r>
            <a:r>
              <a:rPr lang="ko-KR" altLang="en-US" dirty="0" smtClean="0"/>
              <a:t> 내역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클릭 시 상세 내역 이동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업체정보 </a:t>
            </a:r>
            <a:r>
              <a:rPr lang="ko-KR" altLang="en-US" dirty="0" err="1" smtClean="0"/>
              <a:t>추가등록</a:t>
            </a:r>
            <a:r>
              <a:rPr lang="ko-KR" altLang="en-US" dirty="0" smtClean="0"/>
              <a:t> 버튼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클릭시</a:t>
            </a:r>
            <a:r>
              <a:rPr lang="ko-KR" altLang="en-US" dirty="0" smtClean="0"/>
              <a:t> 업체정보 </a:t>
            </a:r>
            <a:r>
              <a:rPr lang="ko-KR" altLang="en-US" dirty="0" err="1" smtClean="0"/>
              <a:t>추가등록</a:t>
            </a:r>
            <a:r>
              <a:rPr lang="ko-KR" altLang="en-US" dirty="0" smtClean="0"/>
              <a:t> 이동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추가정보 신청 목록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추가정보 신청 </a:t>
            </a:r>
            <a:r>
              <a:rPr lang="ko-KR" altLang="en-US" dirty="0" smtClean="0">
                <a:latin typeface="+mn-ea"/>
              </a:rPr>
              <a:t>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 smtClean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추가정보 신청 목록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MUI-CM-01-M03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추가정보 신청 목록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5649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78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5" y="3070829"/>
            <a:ext cx="42578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검색필터</a:t>
            </a:r>
            <a:endParaRPr lang="ko-KR" altLang="en-US" sz="700" dirty="0">
              <a:latin typeface="+mn-ea"/>
            </a:endParaRPr>
          </a:p>
        </p:txBody>
      </p:sp>
      <p:sp>
        <p:nvSpPr>
          <p:cNvPr id="40" name="타원 39"/>
          <p:cNvSpPr/>
          <p:nvPr/>
        </p:nvSpPr>
        <p:spPr>
          <a:xfrm>
            <a:off x="783686" y="3102174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3070829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3070829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3172652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49" name="그룹 48"/>
          <p:cNvGrpSpPr/>
          <p:nvPr/>
        </p:nvGrpSpPr>
        <p:grpSpPr>
          <a:xfrm>
            <a:off x="781461" y="3556688"/>
            <a:ext cx="2473257" cy="960061"/>
            <a:chOff x="781461" y="2610063"/>
            <a:chExt cx="2473257" cy="960061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smtClean="0"/>
                <a:t>접수번호 </a:t>
              </a:r>
              <a:r>
                <a:rPr lang="en-US" altLang="ko-KR" sz="700" dirty="0" smtClean="0"/>
                <a:t>2020101010</a:t>
              </a:r>
              <a:endParaRPr lang="en-US" altLang="ko-KR" sz="700" dirty="0"/>
            </a:p>
            <a:p>
              <a:r>
                <a:rPr lang="ko-KR" altLang="en-US" sz="900" b="1" dirty="0" smtClean="0"/>
                <a:t>추가정보구분 </a:t>
              </a:r>
              <a:r>
                <a:rPr lang="en-US" altLang="ko-KR" sz="900" b="1" dirty="0" smtClean="0"/>
                <a:t>- </a:t>
              </a:r>
              <a:r>
                <a:rPr lang="ko-KR" altLang="en-US" sz="900" b="1" dirty="0"/>
                <a:t>물품</a:t>
              </a:r>
              <a:r>
                <a:rPr lang="en-US" altLang="ko-KR" sz="900" b="1" dirty="0"/>
                <a:t>(</a:t>
              </a:r>
              <a:r>
                <a:rPr lang="ko-KR" altLang="en-US" sz="900" b="1" dirty="0"/>
                <a:t>내자</a:t>
              </a:r>
              <a:r>
                <a:rPr lang="en-US" altLang="ko-KR" sz="900" b="1" dirty="0"/>
                <a:t>)</a:t>
              </a:r>
              <a:endParaRPr lang="ko-KR" altLang="en-US" sz="900" b="1" dirty="0"/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업무구분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전화번호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신청일자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1818649" y="3139237"/>
              <a:ext cx="1413849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물품</a:t>
              </a:r>
              <a:r>
                <a:rPr lang="en-US" altLang="ko-KR" sz="600" dirty="0">
                  <a:latin typeface="+mn-ea"/>
                </a:rPr>
                <a:t>(</a:t>
              </a:r>
              <a:r>
                <a:rPr lang="ko-KR" altLang="en-US" sz="600" dirty="0">
                  <a:latin typeface="+mn-ea"/>
                </a:rPr>
                <a:t>내자</a:t>
              </a:r>
              <a:r>
                <a:rPr lang="en-US" altLang="ko-KR" sz="600" dirty="0">
                  <a:latin typeface="+mn-ea"/>
                </a:rPr>
                <a:t>) | </a:t>
              </a:r>
              <a:r>
                <a:rPr lang="ko-KR" altLang="en-US" sz="600" dirty="0">
                  <a:latin typeface="+mn-ea"/>
                </a:rPr>
                <a:t>공사 </a:t>
              </a:r>
              <a:r>
                <a:rPr lang="en-US" altLang="ko-KR" sz="600" dirty="0">
                  <a:latin typeface="+mn-ea"/>
                </a:rPr>
                <a:t>| </a:t>
              </a:r>
              <a:r>
                <a:rPr lang="ko-KR" altLang="en-US" sz="600" dirty="0">
                  <a:latin typeface="+mn-ea"/>
                </a:rPr>
                <a:t>용역 </a:t>
              </a:r>
              <a:r>
                <a:rPr lang="en-US" altLang="ko-KR" sz="600" dirty="0">
                  <a:latin typeface="+mn-ea"/>
                </a:rPr>
                <a:t>| </a:t>
              </a:r>
              <a:r>
                <a:rPr lang="ko-KR" altLang="en-US" sz="600" dirty="0">
                  <a:latin typeface="+mn-ea"/>
                </a:rPr>
                <a:t>일반용역 </a:t>
              </a:r>
              <a:r>
                <a:rPr lang="en-US" altLang="ko-KR" sz="600" dirty="0">
                  <a:latin typeface="+mn-ea"/>
                </a:rPr>
                <a:t>| </a:t>
              </a:r>
              <a:r>
                <a:rPr lang="ko-KR" altLang="en-US" sz="600" dirty="0" smtClean="0">
                  <a:latin typeface="+mn-ea"/>
                </a:rPr>
                <a:t>외자</a:t>
              </a:r>
              <a:endParaRPr lang="en-US" altLang="ko-KR" sz="600" dirty="0" smtClean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02-1234-5678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접수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86194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63121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5" name="그룹 84"/>
          <p:cNvGrpSpPr/>
          <p:nvPr/>
        </p:nvGrpSpPr>
        <p:grpSpPr>
          <a:xfrm>
            <a:off x="6255425" y="1650089"/>
            <a:ext cx="94010" cy="94010"/>
            <a:chOff x="6812560" y="3297172"/>
            <a:chExt cx="94010" cy="94010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8" name="타원 87"/>
          <p:cNvSpPr/>
          <p:nvPr/>
        </p:nvSpPr>
        <p:spPr>
          <a:xfrm>
            <a:off x="5890147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5563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4505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grpSp>
        <p:nvGrpSpPr>
          <p:cNvPr id="106" name="그룹 105"/>
          <p:cNvGrpSpPr/>
          <p:nvPr/>
        </p:nvGrpSpPr>
        <p:grpSpPr>
          <a:xfrm>
            <a:off x="3792447" y="1974264"/>
            <a:ext cx="2712027" cy="797589"/>
            <a:chOff x="675399" y="3490553"/>
            <a:chExt cx="2712027" cy="797589"/>
          </a:xfrm>
        </p:grpSpPr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490553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기간 </a:t>
              </a:r>
              <a:r>
                <a:rPr lang="ko-KR" altLang="en-US" sz="700" b="1" dirty="0" smtClean="0">
                  <a:latin typeface="+mn-ea"/>
                </a:rPr>
                <a:t>설정 </a:t>
              </a:r>
              <a:r>
                <a:rPr lang="en-US" altLang="ko-KR" sz="700" b="1" dirty="0" smtClean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713091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검색 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빠른 설정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 flipV="1">
              <a:off x="3140949" y="3588243"/>
              <a:ext cx="91438" cy="45719"/>
              <a:chOff x="6812560" y="3297172"/>
              <a:chExt cx="94010" cy="47005"/>
            </a:xfrm>
          </p:grpSpPr>
          <p:cxnSp>
            <p:nvCxnSpPr>
              <p:cNvPr id="137" name="직선 연결선 13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25" name="그룹 124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1464781" y="3740722"/>
              <a:ext cx="859319" cy="188244"/>
              <a:chOff x="5613534" y="2854836"/>
              <a:chExt cx="804671" cy="188244"/>
            </a:xfrm>
          </p:grpSpPr>
          <p:sp>
            <p:nvSpPr>
              <p:cNvPr id="135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2025-12-15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36" name="그림 135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sp>
          <p:nvSpPr>
            <p:cNvPr id="126" name="TextBox 91">
              <a:extLst>
                <a:ext uri="{FF2B5EF4-FFF2-40B4-BE49-F238E27FC236}">
                  <a16:creationId xmlns:a16="http://schemas.microsoft.com/office/drawing/2014/main" id="{02490888-B81F-0F94-5D5F-078AEEB39DDB}"/>
                </a:ext>
              </a:extLst>
            </p:cNvPr>
            <p:cNvSpPr txBox="1"/>
            <p:nvPr/>
          </p:nvSpPr>
          <p:spPr>
            <a:xfrm>
              <a:off x="2347279" y="3760669"/>
              <a:ext cx="80150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 dirty="0">
                  <a:solidFill>
                    <a:prstClr val="black"/>
                  </a:solidFill>
                  <a:cs typeface="Pretendard Medium" panose="02000603000000020004" pitchFamily="50" charset="-127"/>
                </a:rPr>
                <a:t>~</a:t>
              </a:r>
              <a:endParaRPr lang="ko-KR" altLang="en-US" sz="900" dirty="0">
                <a:solidFill>
                  <a:prstClr val="black"/>
                </a:solidFill>
                <a:cs typeface="Pretendard Medium" panose="02000603000000020004" pitchFamily="50" charset="-127"/>
              </a:endParaRPr>
            </a:p>
          </p:txBody>
        </p:sp>
        <p:grpSp>
          <p:nvGrpSpPr>
            <p:cNvPr id="127" name="그룹 126"/>
            <p:cNvGrpSpPr/>
            <p:nvPr/>
          </p:nvGrpSpPr>
          <p:grpSpPr>
            <a:xfrm>
              <a:off x="1464781" y="3971391"/>
              <a:ext cx="1845146" cy="188135"/>
              <a:chOff x="1430277" y="4057651"/>
              <a:chExt cx="1845146" cy="188135"/>
            </a:xfrm>
          </p:grpSpPr>
          <p:sp>
            <p:nvSpPr>
              <p:cNvPr id="132" name="사각형: 둥근 모서리 169">
                <a:extLst>
                  <a:ext uri="{FF2B5EF4-FFF2-40B4-BE49-F238E27FC236}">
                    <a16:creationId xmlns:a16="http://schemas.microsoft.com/office/drawing/2014/main" id="{A28DD831-0E4B-31EE-CB08-9E188754698D}"/>
                  </a:ext>
                </a:extLst>
              </p:cNvPr>
              <p:cNvSpPr/>
              <p:nvPr/>
            </p:nvSpPr>
            <p:spPr>
              <a:xfrm>
                <a:off x="1430277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최근 </a:t>
                </a:r>
                <a:r>
                  <a:rPr kumimoji="1" lang="en-US" altLang="ko-KR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개월</a:t>
                </a:r>
                <a:endParaRPr kumimoji="1" 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3" name="사각형: 둥근 모서리 171">
                <a:extLst>
                  <a:ext uri="{FF2B5EF4-FFF2-40B4-BE49-F238E27FC236}">
                    <a16:creationId xmlns:a16="http://schemas.microsoft.com/office/drawing/2014/main" id="{75BECEC6-4045-95B1-98C2-242CA0FC5A06}"/>
                  </a:ext>
                </a:extLst>
              </p:cNvPr>
              <p:cNvSpPr/>
              <p:nvPr/>
            </p:nvSpPr>
            <p:spPr>
              <a:xfrm>
                <a:off x="2061841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latin typeface="+mn-ea"/>
                  </a:rPr>
                  <a:t>최근 </a:t>
                </a:r>
                <a:r>
                  <a:rPr kumimoji="1" lang="en-US" altLang="ko-KR" sz="700" kern="0" dirty="0">
                    <a:latin typeface="+mn-ea"/>
                  </a:rPr>
                  <a:t>3</a:t>
                </a:r>
                <a:r>
                  <a:rPr kumimoji="1" lang="ko-KR" altLang="en-US" sz="700" kern="0" dirty="0">
                    <a:latin typeface="+mn-ea"/>
                  </a:rPr>
                  <a:t>개월</a:t>
                </a:r>
                <a:endParaRPr kumimoji="1" lang="en-US" altLang="ko-KR" sz="700" kern="0" dirty="0">
                  <a:latin typeface="+mn-ea"/>
                </a:endParaRPr>
              </a:p>
            </p:txBody>
          </p:sp>
          <p:sp>
            <p:nvSpPr>
              <p:cNvPr id="134" name="사각형: 둥근 모서리 172">
                <a:extLst>
                  <a:ext uri="{FF2B5EF4-FFF2-40B4-BE49-F238E27FC236}">
                    <a16:creationId xmlns:a16="http://schemas.microsoft.com/office/drawing/2014/main" id="{7F182F00-C81F-5F02-6A1E-826222B231A9}"/>
                  </a:ext>
                </a:extLst>
              </p:cNvPr>
              <p:cNvSpPr/>
              <p:nvPr/>
            </p:nvSpPr>
            <p:spPr>
              <a:xfrm>
                <a:off x="2693406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최근 </a:t>
                </a:r>
                <a:r>
                  <a:rPr kumimoji="1" lang="en-US" altLang="ko-KR" sz="700" kern="0" dirty="0">
                    <a:solidFill>
                      <a:prstClr val="black"/>
                    </a:solidFill>
                    <a:latin typeface="+mn-ea"/>
                  </a:rPr>
                  <a:t>6</a:t>
                </a: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개월</a:t>
                </a:r>
                <a:endParaRPr kumimoji="1" lang="en-US" altLang="ko-KR" sz="7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2450608" y="3740722"/>
              <a:ext cx="859319" cy="188244"/>
              <a:chOff x="5613534" y="2854836"/>
              <a:chExt cx="804671" cy="188244"/>
            </a:xfrm>
          </p:grpSpPr>
          <p:sp>
            <p:nvSpPr>
              <p:cNvPr id="130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2026-01-15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31" name="그림 130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28814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9" name="그룹 98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100" name="직사각형 99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1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1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592167"/>
            <a:ext cx="2446613" cy="206419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9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675399" y="5750826"/>
            <a:ext cx="2712027" cy="481472"/>
            <a:chOff x="675399" y="5750826"/>
            <a:chExt cx="2712027" cy="481472"/>
          </a:xfrm>
        </p:grpSpPr>
        <p:sp>
          <p:nvSpPr>
            <p:cNvPr id="114" name="직사각형 11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750826"/>
              <a:ext cx="2712027" cy="48147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7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808106" y="5828262"/>
              <a:ext cx="2446613" cy="279492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schemeClr val="bg1"/>
                  </a:solidFill>
                </a:rPr>
                <a:t>업체정보 </a:t>
              </a:r>
              <a:r>
                <a:rPr kumimoji="1" lang="ko-KR" altLang="en-US" sz="1000" kern="0" dirty="0" err="1">
                  <a:solidFill>
                    <a:schemeClr val="bg1"/>
                  </a:solidFill>
                </a:rPr>
                <a:t>추가등록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59" name="타원 1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6588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grpSp>
        <p:nvGrpSpPr>
          <p:cNvPr id="6" name="그룹 5"/>
          <p:cNvGrpSpPr/>
          <p:nvPr/>
        </p:nvGrpSpPr>
        <p:grpSpPr>
          <a:xfrm>
            <a:off x="3795734" y="3581561"/>
            <a:ext cx="2712027" cy="505089"/>
            <a:chOff x="3795734" y="4353857"/>
            <a:chExt cx="2712027" cy="505089"/>
          </a:xfrm>
        </p:grpSpPr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391255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구분 설정</a:t>
              </a:r>
            </a:p>
          </p:txBody>
        </p:sp>
        <p:grpSp>
          <p:nvGrpSpPr>
            <p:cNvPr id="91" name="그룹 90"/>
            <p:cNvGrpSpPr/>
            <p:nvPr/>
          </p:nvGrpSpPr>
          <p:grpSpPr>
            <a:xfrm flipV="1">
              <a:off x="6261284" y="4488945"/>
              <a:ext cx="91438" cy="45719"/>
              <a:chOff x="6812560" y="3297172"/>
              <a:chExt cx="94010" cy="47005"/>
            </a:xfrm>
          </p:grpSpPr>
          <p:cxnSp>
            <p:nvCxnSpPr>
              <p:cNvPr id="92" name="직선 연결선 9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3" name="직선 연결선 9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4" name="모서리가 둥근 직사각형 93"/>
            <p:cNvSpPr/>
            <p:nvPr/>
          </p:nvSpPr>
          <p:spPr>
            <a:xfrm>
              <a:off x="4569619" y="4671746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tx1"/>
                  </a:solidFill>
                </a:rPr>
                <a:t>전체</a:t>
              </a: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619620"/>
              <a:ext cx="670770" cy="18921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10000"/>
                </a:lnSpc>
              </a:pPr>
              <a:r>
                <a:rPr lang="ko-KR" altLang="en-US" sz="700" dirty="0" err="1" smtClean="0">
                  <a:latin typeface="+mn-ea"/>
                </a:rPr>
                <a:t>처리상태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96" name="그룹 95"/>
            <p:cNvGrpSpPr/>
            <p:nvPr/>
          </p:nvGrpSpPr>
          <p:grpSpPr>
            <a:xfrm>
              <a:off x="6261284" y="4742486"/>
              <a:ext cx="91438" cy="45719"/>
              <a:chOff x="6812560" y="3297172"/>
              <a:chExt cx="94010" cy="47005"/>
            </a:xfrm>
          </p:grpSpPr>
          <p:cxnSp>
            <p:nvCxnSpPr>
              <p:cNvPr id="97" name="직선 연결선 9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8" name="직선 연결선 9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435385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02" name="그룹 101"/>
          <p:cNvGrpSpPr/>
          <p:nvPr/>
        </p:nvGrpSpPr>
        <p:grpSpPr>
          <a:xfrm>
            <a:off x="3903622" y="2893083"/>
            <a:ext cx="2516607" cy="467691"/>
            <a:chOff x="778515" y="4388257"/>
            <a:chExt cx="2516607" cy="467691"/>
          </a:xfrm>
        </p:grpSpPr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38825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err="1" smtClean="0">
                  <a:latin typeface="+mn-ea"/>
                </a:rPr>
                <a:t>검색어</a:t>
              </a:r>
              <a:endParaRPr lang="ko-KR" altLang="en-US" sz="700" b="1" dirty="0">
                <a:latin typeface="+mn-ea"/>
              </a:endParaRPr>
            </a:p>
          </p:txBody>
        </p:sp>
        <p:grpSp>
          <p:nvGrpSpPr>
            <p:cNvPr id="104" name="그룹 103"/>
            <p:cNvGrpSpPr/>
            <p:nvPr/>
          </p:nvGrpSpPr>
          <p:grpSpPr>
            <a:xfrm flipV="1">
              <a:off x="3140949" y="4485947"/>
              <a:ext cx="91438" cy="45719"/>
              <a:chOff x="6812560" y="3297172"/>
              <a:chExt cx="94010" cy="47005"/>
            </a:xfrm>
          </p:grpSpPr>
          <p:cxnSp>
            <p:nvCxnSpPr>
              <p:cNvPr id="146" name="직선 연결선 14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7" name="직선 연결선 14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05" name="모서리가 둥근 직사각형 104"/>
            <p:cNvSpPr/>
            <p:nvPr/>
          </p:nvSpPr>
          <p:spPr>
            <a:xfrm>
              <a:off x="1449284" y="466874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 smtClean="0">
                  <a:solidFill>
                    <a:schemeClr val="bg1">
                      <a:lumMod val="65000"/>
                    </a:schemeClr>
                  </a:solidFill>
                </a:rPr>
                <a:t>품명을 </a:t>
              </a:r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655417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</p:txBody>
        </p:sp>
      </p:grp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02203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49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1991086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 err="1" smtClean="0"/>
              <a:t>업체코드</a:t>
            </a:r>
            <a:r>
              <a:rPr lang="ko-KR" altLang="en-US" sz="700" dirty="0" smtClean="0"/>
              <a:t> </a:t>
            </a:r>
            <a:r>
              <a:rPr lang="en-US" altLang="ko-KR" sz="700" dirty="0" smtClean="0"/>
              <a:t>7004F</a:t>
            </a:r>
            <a:endParaRPr lang="en-US" altLang="ko-KR" sz="700" dirty="0"/>
          </a:p>
          <a:p>
            <a:r>
              <a:rPr lang="ko-KR" altLang="en-US" sz="900" b="1" dirty="0" smtClean="0"/>
              <a:t>주식회사 국방전자조달</a:t>
            </a:r>
            <a:endParaRPr lang="ko-KR" altLang="en-US" sz="900" b="1" dirty="0"/>
          </a:p>
        </p:txBody>
      </p:sp>
      <p:sp>
        <p:nvSpPr>
          <p:cNvPr id="150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326151"/>
            <a:ext cx="538609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smtClean="0">
                <a:latin typeface="+mn-ea"/>
              </a:rPr>
              <a:t>대표자</a:t>
            </a:r>
            <a:endParaRPr lang="en-US" altLang="ko-KR" sz="600" dirty="0" smtClean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 smtClean="0">
                <a:latin typeface="+mn-ea"/>
              </a:rPr>
              <a:t>사업자등록번호</a:t>
            </a:r>
            <a:endParaRPr lang="en-US" altLang="ko-KR" sz="600" dirty="0" smtClean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 smtClean="0">
                <a:latin typeface="+mn-ea"/>
              </a:rPr>
              <a:t>주소</a:t>
            </a:r>
            <a:endParaRPr lang="en-US" altLang="ko-KR" sz="600" dirty="0" smtClean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 err="1" smtClean="0">
                <a:latin typeface="+mn-ea"/>
              </a:rPr>
              <a:t>등록구분</a:t>
            </a:r>
            <a:endParaRPr lang="en-US" altLang="ko-KR" sz="600" dirty="0">
              <a:latin typeface="+mn-ea"/>
            </a:endParaRPr>
          </a:p>
        </p:txBody>
      </p:sp>
      <p:sp>
        <p:nvSpPr>
          <p:cNvPr id="151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1727214" y="2310762"/>
            <a:ext cx="15052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ko-KR" altLang="en-US" sz="600" dirty="0" smtClean="0">
                <a:latin typeface="+mn-ea"/>
              </a:rPr>
              <a:t>홍길동</a:t>
            </a:r>
            <a:endParaRPr lang="en-US" altLang="ko-KR" sz="600" dirty="0" smtClean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 smtClean="0">
                <a:latin typeface="+mn-ea"/>
              </a:rPr>
              <a:t>123-45-67890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 smtClean="0">
                <a:latin typeface="+mn-ea"/>
              </a:rPr>
              <a:t>서울특별시 중구 세종대로 </a:t>
            </a:r>
            <a:r>
              <a:rPr lang="en-US" altLang="ko-KR" sz="600" dirty="0" smtClean="0">
                <a:latin typeface="+mn-ea"/>
              </a:rPr>
              <a:t>110 (</a:t>
            </a:r>
            <a:r>
              <a:rPr lang="ko-KR" altLang="en-US" sz="600" dirty="0" smtClean="0">
                <a:latin typeface="+mn-ea"/>
              </a:rPr>
              <a:t>태평로 </a:t>
            </a:r>
            <a:r>
              <a:rPr lang="en-US" altLang="ko-KR" sz="600" dirty="0" smtClean="0">
                <a:latin typeface="+mn-ea"/>
              </a:rPr>
              <a:t>1</a:t>
            </a:r>
            <a:r>
              <a:rPr lang="ko-KR" altLang="en-US" sz="600" dirty="0" smtClean="0">
                <a:latin typeface="+mn-ea"/>
              </a:rPr>
              <a:t>가</a:t>
            </a:r>
            <a:r>
              <a:rPr lang="en-US" altLang="ko-KR" sz="600" dirty="0" smtClean="0">
                <a:latin typeface="+mn-ea"/>
              </a:rPr>
              <a:t>)</a:t>
            </a: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-</a:t>
            </a:r>
            <a:endParaRPr lang="ko-KR" altLang="en-US" sz="600" dirty="0">
              <a:latin typeface="+mn-ea"/>
            </a:endParaRPr>
          </a:p>
        </p:txBody>
      </p:sp>
      <p:sp>
        <p:nvSpPr>
          <p:cNvPr id="157" name="타원 15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37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615641412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296772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추가등록정보 신청 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1431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aplyYmdFrom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aplyYmdTo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21699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prgrsSttsNm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처리상태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(‘A’)/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(‘U’)/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(‘R’)/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(‘F’)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755449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7383151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52999" y="2198112"/>
            <a:ext cx="297574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추가등록정보 신청 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420630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bizCdNm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추가정보구분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addInfoCdNm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추가정보구분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국내소재상사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prgrsSttsNm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(‘U’)/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(‘R’)/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(‘F’)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F125368-2857-C82E-1284-3681067E57A2}"/>
              </a:ext>
            </a:extLst>
          </p:cNvPr>
          <p:cNvSpPr txBox="1"/>
          <p:nvPr/>
        </p:nvSpPr>
        <p:spPr>
          <a:xfrm>
            <a:off x="452999" y="399991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5A706DBE-0422-0FB5-452E-C5076DB397D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2207010"/>
              </p:ext>
            </p:extLst>
          </p:nvPr>
        </p:nvGraphicFramePr>
        <p:xfrm>
          <a:off x="455204" y="4191095"/>
          <a:ext cx="8995591" cy="1263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추가등록 신청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scwin.btn_bzentyInfoAddRegAplySrch_onclick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추가등록 신청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smtClean="0"/>
                        <a:t>카드 </a:t>
                      </a:r>
                      <a:r>
                        <a:rPr lang="ko-KR" altLang="en-US" sz="800" dirty="0"/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scwin.grd_bzentyInfoAddRegAplyList_oncellclick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클릭된 추가등록정보 신청 상세조회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0818794"/>
                  </a:ext>
                </a:extLst>
              </a:tr>
            </a:tbl>
          </a:graphicData>
        </a:graphic>
      </p:graphicFrame>
      <p:sp>
        <p:nvSpPr>
          <p:cNvPr id="13" name="Text Box 73">
            <a:extLst>
              <a:ext uri="{FF2B5EF4-FFF2-40B4-BE49-F238E27FC236}">
                <a16:creationId xmlns:a16="http://schemas.microsoft.com/office/drawing/2014/main" id="{9E9827DD-9569-58C6-A5A8-D5F9A0717F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2" y="405935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D3C2A901-2C93-18D5-49AD-6B86C606B7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817514368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추가정보 신청 접수한 데이터 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신청 내역 </a:t>
            </a:r>
            <a:r>
              <a:rPr lang="ko-KR" altLang="en-US" dirty="0" smtClean="0">
                <a:latin typeface="+mn-ea"/>
              </a:rPr>
              <a:t>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추가정보 신청 </a:t>
            </a:r>
            <a:r>
              <a:rPr lang="ko-KR" altLang="en-US" dirty="0" smtClean="0">
                <a:latin typeface="+mn-ea"/>
              </a:rPr>
              <a:t>내역 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 smtClean="0">
                <a:latin typeface="+mn-ea"/>
              </a:rPr>
              <a:t>물품</a:t>
            </a:r>
            <a:r>
              <a:rPr lang="en-US" altLang="ko-KR" dirty="0" smtClean="0">
                <a:latin typeface="+mn-ea"/>
              </a:rPr>
              <a:t>(</a:t>
            </a:r>
            <a:r>
              <a:rPr lang="ko-KR" altLang="en-US" dirty="0" smtClean="0">
                <a:latin typeface="+mn-ea"/>
              </a:rPr>
              <a:t>내자</a:t>
            </a:r>
            <a:r>
              <a:rPr lang="en-US" altLang="ko-KR" dirty="0" smtClean="0">
                <a:latin typeface="+mn-ea"/>
              </a:rPr>
              <a:t>)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추가정보 신청 </a:t>
            </a:r>
            <a:r>
              <a:rPr lang="ko-KR" altLang="en-US" dirty="0" smtClean="0">
                <a:latin typeface="+mn-ea"/>
              </a:rPr>
              <a:t>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MUI-CM-01-M04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신청 내역 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" name="그룹 7"/>
          <p:cNvGrpSpPr/>
          <p:nvPr/>
        </p:nvGrpSpPr>
        <p:grpSpPr>
          <a:xfrm>
            <a:off x="720490" y="1926939"/>
            <a:ext cx="2630093" cy="1600147"/>
            <a:chOff x="720490" y="4465173"/>
            <a:chExt cx="2630093" cy="1600147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접수정보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07" name="그룹 106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108" name="직선 연결선 1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9" name="직선 연결선 1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" name="직사각형 15"/>
            <p:cNvSpPr/>
            <p:nvPr/>
          </p:nvSpPr>
          <p:spPr>
            <a:xfrm>
              <a:off x="722583" y="4772658"/>
              <a:ext cx="792000" cy="12808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업체코드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접수번호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신청일자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진행상태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주식회사 </a:t>
              </a:r>
              <a:r>
                <a:rPr lang="ko-KR" altLang="en-US" sz="700" dirty="0" smtClean="0">
                  <a:latin typeface="+mn-ea"/>
                </a:rPr>
                <a:t>국방전자조달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7004F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202602027888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2026-02-02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접수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23" name="그룹 122"/>
          <p:cNvGrpSpPr/>
          <p:nvPr/>
        </p:nvGrpSpPr>
        <p:grpSpPr>
          <a:xfrm>
            <a:off x="3836701" y="4002480"/>
            <a:ext cx="2630093" cy="1600147"/>
            <a:chOff x="720490" y="4465173"/>
            <a:chExt cx="2630093" cy="1600147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등록품목명세</a:t>
              </a:r>
            </a:p>
          </p:txBody>
        </p:sp>
        <p:grpSp>
          <p:nvGrpSpPr>
            <p:cNvPr id="125" name="그룹 124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137" name="직선 연결선 13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6" name="직사각형 125"/>
            <p:cNvSpPr/>
            <p:nvPr/>
          </p:nvSpPr>
          <p:spPr>
            <a:xfrm>
              <a:off x="722583" y="4772658"/>
              <a:ext cx="792000" cy="12896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품목코드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품류코드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등록요건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품목적부판정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1001100001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60 / </a:t>
              </a:r>
              <a:r>
                <a:rPr lang="ko-KR" altLang="en-US" sz="700" dirty="0">
                  <a:latin typeface="+mn-ea"/>
                </a:rPr>
                <a:t>총탄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이불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해당업종</a:t>
              </a:r>
              <a:r>
                <a:rPr lang="ko-KR" altLang="en-US" sz="700" dirty="0">
                  <a:latin typeface="+mn-ea"/>
                </a:rPr>
                <a:t> 사업자</a:t>
              </a:r>
              <a:r>
                <a:rPr lang="en-US" altLang="ko-KR" sz="700" dirty="0">
                  <a:latin typeface="+mn-ea"/>
                </a:rPr>
                <a:t>/ </a:t>
              </a:r>
              <a:r>
                <a:rPr lang="ko-KR" altLang="en-US" sz="700" dirty="0">
                  <a:latin typeface="+mn-ea"/>
                </a:rPr>
                <a:t>공장 등록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40" name="그룹 139"/>
          <p:cNvGrpSpPr/>
          <p:nvPr/>
        </p:nvGrpSpPr>
        <p:grpSpPr>
          <a:xfrm>
            <a:off x="3847283" y="1573405"/>
            <a:ext cx="2630093" cy="1169259"/>
            <a:chOff x="720490" y="2967388"/>
            <a:chExt cx="2630093" cy="1169259"/>
          </a:xfrm>
        </p:grpSpPr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담당자정보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2" name="그룹 141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51" name="직선 연결선 15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2" name="직선 연결선 15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직사각형 142"/>
            <p:cNvSpPr/>
            <p:nvPr/>
          </p:nvSpPr>
          <p:spPr>
            <a:xfrm>
              <a:off x="722583" y="3274873"/>
              <a:ext cx="792000" cy="84997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담당자명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팩스번호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이메일주소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김길동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02-2345-6789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abcde@dapa.go.kr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282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53" name="그룹 152"/>
          <p:cNvGrpSpPr/>
          <p:nvPr/>
        </p:nvGrpSpPr>
        <p:grpSpPr>
          <a:xfrm>
            <a:off x="3847283" y="2869262"/>
            <a:ext cx="2630093" cy="966004"/>
            <a:chOff x="720490" y="2967388"/>
            <a:chExt cx="2630093" cy="966004"/>
          </a:xfrm>
        </p:grpSpPr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0" y="2967388"/>
              <a:ext cx="113625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대표품류</a:t>
              </a:r>
              <a:r>
                <a:rPr lang="ko-KR" altLang="en-US" sz="700" dirty="0">
                  <a:latin typeface="+mn-ea"/>
                </a:rPr>
                <a:t> 및 조합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단체</a:t>
              </a:r>
            </a:p>
          </p:txBody>
        </p:sp>
        <p:grpSp>
          <p:nvGrpSpPr>
            <p:cNvPr id="155" name="그룹 154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80" name="직선 연결선 17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9" name="직사각형 158"/>
            <p:cNvSpPr/>
            <p:nvPr/>
          </p:nvSpPr>
          <p:spPr>
            <a:xfrm>
              <a:off x="722583" y="3274873"/>
              <a:ext cx="792000" cy="6563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대표품류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조합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단체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6120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05 / </a:t>
              </a:r>
              <a:r>
                <a:rPr lang="ko-KR" altLang="en-US" sz="700" dirty="0">
                  <a:latin typeface="+mn-ea"/>
                </a:rPr>
                <a:t>피복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한국피복공업협동조합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5657181"/>
            <a:ext cx="76863" cy="292489"/>
            <a:chOff x="3750067" y="4683795"/>
            <a:chExt cx="76863" cy="292489"/>
          </a:xfrm>
        </p:grpSpPr>
        <p:sp>
          <p:nvSpPr>
            <p:cNvPr id="184" name="타원 18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6" name="타원 18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8" name="타원 18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632648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93" name="그룹 192"/>
          <p:cNvGrpSpPr/>
          <p:nvPr/>
        </p:nvGrpSpPr>
        <p:grpSpPr>
          <a:xfrm>
            <a:off x="720490" y="3760274"/>
            <a:ext cx="2630093" cy="1403096"/>
            <a:chOff x="720490" y="4465173"/>
            <a:chExt cx="2630093" cy="1403096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95" name="그룹 194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8" name="직선 연결선 2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9" name="직선 연결선 2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6" name="직사각형 195"/>
            <p:cNvSpPr/>
            <p:nvPr/>
          </p:nvSpPr>
          <p:spPr>
            <a:xfrm>
              <a:off x="722583" y="4772659"/>
              <a:ext cx="792000" cy="10956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본</a:t>
              </a:r>
              <a:r>
                <a:rPr lang="en-US" altLang="ko-KR" sz="700" dirty="0" smtClean="0">
                  <a:latin typeface="+mn-ea"/>
                </a:rPr>
                <a:t>/</a:t>
              </a:r>
              <a:r>
                <a:rPr lang="ko-KR" altLang="en-US" sz="700" dirty="0" smtClean="0">
                  <a:latin typeface="+mn-ea"/>
                </a:rPr>
                <a:t>지사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본사 </a:t>
              </a:r>
              <a:r>
                <a:rPr lang="ko-KR" altLang="en-US" sz="700" dirty="0" err="1" smtClean="0">
                  <a:latin typeface="+mn-ea"/>
                </a:rPr>
                <a:t>사업자번호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ISO </a:t>
              </a:r>
              <a:r>
                <a:rPr lang="ko-KR" altLang="en-US" sz="700" dirty="0" err="1" smtClean="0">
                  <a:latin typeface="+mn-ea"/>
                </a:rPr>
                <a:t>인증여부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대표자명</a:t>
              </a: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 smtClean="0">
                  <a:latin typeface="+mn-ea"/>
                </a:rPr>
                <a:t>영문</a:t>
              </a:r>
              <a:r>
                <a:rPr lang="en-US" altLang="ko-KR" sz="700" dirty="0" smtClean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 smtClean="0">
                  <a:latin typeface="+mn-ea"/>
                </a:rPr>
                <a:t>영문</a:t>
              </a:r>
              <a:r>
                <a:rPr lang="en-US" altLang="ko-KR" sz="700" dirty="0" smtClean="0">
                  <a:latin typeface="+mn-ea"/>
                </a:rPr>
                <a:t>)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1-</a:t>
              </a:r>
              <a:r>
                <a:rPr lang="ko-KR" altLang="en-US" sz="700" dirty="0" smtClean="0">
                  <a:latin typeface="+mn-ea"/>
                </a:rPr>
                <a:t>본사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kumimoji="1" lang="en-US" altLang="ko-KR" sz="700" spc="-60" dirty="0" smtClean="0">
                  <a:solidFill>
                    <a:srgbClr val="000000">
                      <a:lumMod val="65000"/>
                      <a:lumOff val="35000"/>
                    </a:srgbClr>
                  </a:solidFill>
                  <a:latin typeface="Verdana" panose="020B0604030504040204" pitchFamily="34" charset="0"/>
                </a:rPr>
                <a:t>Hong </a:t>
              </a:r>
              <a:r>
                <a:rPr kumimoji="1" lang="en-US" altLang="ko-KR" sz="700" spc="-60" dirty="0" err="1" smtClean="0">
                  <a:solidFill>
                    <a:srgbClr val="000000">
                      <a:lumMod val="65000"/>
                      <a:lumOff val="35000"/>
                    </a:srgbClr>
                  </a:solidFill>
                  <a:latin typeface="Verdana" panose="020B0604030504040204" pitchFamily="34" charset="0"/>
                </a:rPr>
                <a:t>Gildong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102, 11st, </a:t>
              </a:r>
              <a:r>
                <a:rPr lang="en-US" altLang="ko-KR" sz="700" dirty="0" err="1" smtClean="0">
                  <a:latin typeface="+mn-ea"/>
                </a:rPr>
                <a:t>jonglo-gu</a:t>
              </a:r>
              <a:r>
                <a:rPr lang="en-US" altLang="ko-KR" sz="700" dirty="0" smtClean="0">
                  <a:latin typeface="+mn-ea"/>
                </a:rPr>
                <a:t>, </a:t>
              </a:r>
              <a:r>
                <a:rPr lang="en-US" altLang="ko-KR" sz="700" dirty="0" err="1" smtClean="0">
                  <a:latin typeface="+mn-ea"/>
                </a:rPr>
                <a:t>seoul</a:t>
              </a:r>
              <a:r>
                <a:rPr lang="en-US" altLang="ko-KR" sz="700" dirty="0" smtClean="0">
                  <a:latin typeface="+mn-ea"/>
                </a:rPr>
                <a:t>, </a:t>
              </a:r>
              <a:r>
                <a:rPr lang="en-US" altLang="ko-KR" sz="700" dirty="0" err="1" smtClean="0">
                  <a:latin typeface="+mn-ea"/>
                </a:rPr>
                <a:t>korea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4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4" name="직선 연결선 2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6499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361454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529275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91015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78800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5" name="타원 214"/>
          <p:cNvSpPr/>
          <p:nvPr/>
        </p:nvSpPr>
        <p:spPr>
          <a:xfrm>
            <a:off x="1597442" y="4565752"/>
            <a:ext cx="90000" cy="90000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6" name="타원 215"/>
          <p:cNvSpPr/>
          <p:nvPr/>
        </p:nvSpPr>
        <p:spPr>
          <a:xfrm>
            <a:off x="2348738" y="4565752"/>
            <a:ext cx="90000" cy="90000"/>
          </a:xfrm>
          <a:prstGeom prst="ellipse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746956" y="4556891"/>
            <a:ext cx="8976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여</a:t>
            </a: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506466" y="4556891"/>
            <a:ext cx="8976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부</a:t>
            </a:r>
            <a:endParaRPr lang="ko-KR" altLang="en-US" sz="7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64155352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496321CF-EFC5-26E2-090C-8CF7B965CFBA}"/>
              </a:ext>
            </a:extLst>
          </p:cNvPr>
          <p:cNvSpPr txBox="1"/>
          <p:nvPr/>
        </p:nvSpPr>
        <p:spPr>
          <a:xfrm>
            <a:off x="474315" y="799547"/>
            <a:ext cx="290681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추가정보신청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dm_addInfoAplyInfo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CE1DDAE6-399C-5859-4E69-5305126997B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74315" y="1024937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prgrsSttsNm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(‘U’)/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(‘R’)/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(‘F’)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9CEC06C9-0FC7-2BF3-5CEB-CB78D451E6FB}"/>
              </a:ext>
            </a:extLst>
          </p:cNvPr>
          <p:cNvSpPr txBox="1"/>
          <p:nvPr/>
        </p:nvSpPr>
        <p:spPr>
          <a:xfrm>
            <a:off x="482823" y="4356619"/>
            <a:ext cx="227522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담당자정보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dm_picInfo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BCC68990-859E-3037-E963-31F8A2C42A4A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82823" y="4567822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9569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1781170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488BFD90-EEC4-AF19-B43C-80320D9DE0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E76E3AA-F395-D558-C9E9-19120457B5D8}"/>
              </a:ext>
            </a:extLst>
          </p:cNvPr>
          <p:cNvSpPr txBox="1"/>
          <p:nvPr/>
        </p:nvSpPr>
        <p:spPr>
          <a:xfrm>
            <a:off x="474315" y="2625601"/>
            <a:ext cx="260063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일반정보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dm_bzentyGnrlInfo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4ED29EF-B202-6F60-88C5-CFDB8D291C7E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82823" y="2847240"/>
          <a:ext cx="8994883" cy="1407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bplcSeNm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지사코드로 본사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대리점 구분</a:t>
                      </a:r>
                    </a:p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hdofcBrno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isoCertYn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rprsvEngNm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bzentyEngAddr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74697393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130</a:t>
            </a:fld>
            <a:endParaRPr lang="ko-KR" altLang="en-US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34B50EA-5906-EB6B-7138-D3E9BBE51945}"/>
              </a:ext>
            </a:extLst>
          </p:cNvPr>
          <p:cNvSpPr txBox="1"/>
          <p:nvPr/>
        </p:nvSpPr>
        <p:spPr>
          <a:xfrm>
            <a:off x="453000" y="2536597"/>
            <a:ext cx="278498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 </a:t>
            </a:r>
            <a:r>
              <a:rPr lang="ko-KR" altLang="en-US" sz="900" b="1" dirty="0">
                <a:solidFill>
                  <a:prstClr val="black"/>
                </a:solidFill>
              </a:rPr>
              <a:t>등록품목명세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dl_regTrgtItemList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6B578D07-5309-68EA-0BE0-60EAC189B14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2750280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aplySe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14950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29562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9569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itemRgstrtRqmtNm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등록요건코드로 등록요건명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7273129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18341192-35F9-FD22-371F-1BFB9813957E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01AA5351-B4D7-2A42-A2FD-535C648BA6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F33D6EF6-B35E-C07B-C39C-1AAFB1030A81}"/>
              </a:ext>
            </a:extLst>
          </p:cNvPr>
          <p:cNvSpPr txBox="1"/>
          <p:nvPr/>
        </p:nvSpPr>
        <p:spPr>
          <a:xfrm>
            <a:off x="455558" y="875109"/>
            <a:ext cx="367465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 err="1">
                <a:solidFill>
                  <a:prstClr val="black"/>
                </a:solidFill>
              </a:rPr>
              <a:t>대표품류및조합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단체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dm_knditmInfoAsctGrpInfo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F41A4CC9-2271-61B9-E859-7A8617C8C15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1086312"/>
          <a:ext cx="8994883" cy="1285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대표품류코드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knditmCdNm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대표품류코드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팝업에서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선택시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품류명이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자동 입력됨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knditmCdNm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   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(’11’)/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(‘12’)/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조합및단체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(‘13’)/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(‘14’)/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벤처제조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(‘15’)/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벤처판매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(‘16’)/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(‘17’)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9569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팝업에서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선택시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단체명이 자동 입력됨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17811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72731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9970028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131</a:t>
            </a:fld>
            <a:endParaRPr lang="ko-KR" altLang="en-US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170C8C92-A1A0-9A18-1192-672370EB4B24}"/>
              </a:ext>
            </a:extLst>
          </p:cNvPr>
          <p:cNvSpPr txBox="1"/>
          <p:nvPr/>
        </p:nvSpPr>
        <p:spPr>
          <a:xfrm>
            <a:off x="449379" y="644201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DC3447D6-2C6E-9D8B-15D4-E55C6F39B25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82506251"/>
              </p:ext>
            </p:extLst>
          </p:nvPr>
        </p:nvGraphicFramePr>
        <p:xfrm>
          <a:off x="455204" y="879986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추가등록정보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A85913A9-6A57-6952-B52D-4279CDAA9A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76307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09041406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132</a:t>
            </a:fld>
            <a:endParaRPr lang="ko-KR" altLang="en-US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170C8C92-A1A0-9A18-1192-672370EB4B24}"/>
              </a:ext>
            </a:extLst>
          </p:cNvPr>
          <p:cNvSpPr txBox="1"/>
          <p:nvPr/>
        </p:nvSpPr>
        <p:spPr>
          <a:xfrm>
            <a:off x="449379" y="644201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DC3447D6-2C6E-9D8B-15D4-E55C6F39B25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21471775"/>
              </p:ext>
            </p:extLst>
          </p:nvPr>
        </p:nvGraphicFramePr>
        <p:xfrm>
          <a:off x="455204" y="879986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추가등록정보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A85913A9-6A57-6952-B52D-4279CDAA9A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76307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182491510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추가정보 신청 접수한 데이터 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신청 내역 </a:t>
            </a:r>
            <a:r>
              <a:rPr lang="ko-KR" altLang="en-US" dirty="0" smtClean="0">
                <a:latin typeface="+mn-ea"/>
              </a:rPr>
              <a:t>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추가정보 신청 </a:t>
            </a:r>
            <a:r>
              <a:rPr lang="ko-KR" altLang="en-US" dirty="0" smtClean="0">
                <a:latin typeface="+mn-ea"/>
              </a:rPr>
              <a:t>내역 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국내소재상사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추가정보 신청 </a:t>
            </a:r>
            <a:r>
              <a:rPr lang="ko-KR" altLang="en-US" dirty="0" smtClean="0">
                <a:latin typeface="+mn-ea"/>
              </a:rPr>
              <a:t>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MUI-CM-01-M04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신청 내역 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" name="그룹 7"/>
          <p:cNvGrpSpPr/>
          <p:nvPr/>
        </p:nvGrpSpPr>
        <p:grpSpPr>
          <a:xfrm>
            <a:off x="720490" y="1926939"/>
            <a:ext cx="2630093" cy="1600147"/>
            <a:chOff x="720490" y="4465173"/>
            <a:chExt cx="2630093" cy="1600147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접수정보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07" name="그룹 106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108" name="직선 연결선 1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9" name="직선 연결선 1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" name="직사각형 15"/>
            <p:cNvSpPr/>
            <p:nvPr/>
          </p:nvSpPr>
          <p:spPr>
            <a:xfrm>
              <a:off x="722583" y="4772658"/>
              <a:ext cx="792000" cy="12808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업체코드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접수번호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신청일자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진행상태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주식회사 </a:t>
              </a:r>
              <a:r>
                <a:rPr lang="ko-KR" altLang="en-US" sz="700" dirty="0" smtClean="0">
                  <a:latin typeface="+mn-ea"/>
                </a:rPr>
                <a:t>국방전자조달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7004F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202602027888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2026-02-02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접수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23" name="그룹 122"/>
          <p:cNvGrpSpPr/>
          <p:nvPr/>
        </p:nvGrpSpPr>
        <p:grpSpPr>
          <a:xfrm>
            <a:off x="3836701" y="4002480"/>
            <a:ext cx="2630093" cy="1384704"/>
            <a:chOff x="720490" y="4465173"/>
            <a:chExt cx="2630093" cy="1384704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보안측정인원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5" name="그룹 124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137" name="직선 연결선 13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6" name="직사각형 125"/>
            <p:cNvSpPr/>
            <p:nvPr/>
          </p:nvSpPr>
          <p:spPr>
            <a:xfrm>
              <a:off x="722583" y="4772659"/>
              <a:ext cx="792000" cy="107721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성명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주민등록번호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적격여부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보안측정일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첨부파일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990101-1</a:t>
              </a:r>
              <a:r>
                <a:rPr lang="en-US" altLang="ko-KR" sz="700" dirty="0" smtClean="0">
                  <a:latin typeface="+mn-ea"/>
                </a:rPr>
                <a:t>******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2022-02-02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solidFill>
                    <a:srgbClr val="0070C0"/>
                  </a:solidFill>
                  <a:latin typeface="+mn-ea"/>
                </a:rPr>
                <a:t>증명서</a:t>
              </a: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.pdf</a:t>
              </a: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40" name="그룹 139"/>
          <p:cNvGrpSpPr/>
          <p:nvPr/>
        </p:nvGrpSpPr>
        <p:grpSpPr>
          <a:xfrm>
            <a:off x="3847283" y="1573405"/>
            <a:ext cx="2630093" cy="2261591"/>
            <a:chOff x="720490" y="2967388"/>
            <a:chExt cx="2630093" cy="2261591"/>
          </a:xfrm>
        </p:grpSpPr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법인</a:t>
              </a:r>
              <a:r>
                <a:rPr lang="en-US" altLang="ko-KR" sz="700" dirty="0" smtClean="0">
                  <a:latin typeface="+mn-ea"/>
                </a:rPr>
                <a:t>/</a:t>
              </a:r>
              <a:r>
                <a:rPr lang="ko-KR" altLang="en-US" sz="700" dirty="0" smtClean="0">
                  <a:latin typeface="+mn-ea"/>
                </a:rPr>
                <a:t>개인 구분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2" name="그룹 141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51" name="직선 연결선 15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2" name="직선 연결선 15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직사각형 142"/>
            <p:cNvSpPr/>
            <p:nvPr/>
          </p:nvSpPr>
          <p:spPr>
            <a:xfrm>
              <a:off x="722583" y="3274873"/>
              <a:ext cx="792000" cy="19541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72436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법인등기기관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법인등기일자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법인등기목적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사업등록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취급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종목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사업자등록기관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보안측정부대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보안측정일자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보안측정결과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기관명</a:t>
              </a:r>
              <a:r>
                <a:rPr lang="ko-KR" altLang="en-US" sz="700" dirty="0" smtClean="0">
                  <a:latin typeface="+mn-ea"/>
                </a:rPr>
                <a:t> 표시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등기일자</a:t>
              </a:r>
              <a:r>
                <a:rPr lang="ko-KR" altLang="en-US" sz="700" dirty="0" smtClean="0">
                  <a:latin typeface="+mn-ea"/>
                </a:rPr>
                <a:t> 표시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등기목적</a:t>
              </a:r>
              <a:r>
                <a:rPr lang="ko-KR" altLang="en-US" sz="700" dirty="0" smtClean="0">
                  <a:latin typeface="+mn-ea"/>
                </a:rPr>
                <a:t> 표시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물품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공급업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군수품 </a:t>
              </a:r>
              <a:r>
                <a:rPr lang="ko-KR" altLang="en-US" sz="700" dirty="0" err="1">
                  <a:latin typeface="+mn-ea"/>
                </a:rPr>
                <a:t>무역대리업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테스트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보안측정</a:t>
              </a:r>
              <a:r>
                <a:rPr lang="ko-KR" altLang="en-US" sz="700" dirty="0">
                  <a:latin typeface="+mn-ea"/>
                </a:rPr>
                <a:t> 비대상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2026-02-03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358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599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57362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78733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98977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2897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5657181"/>
            <a:ext cx="76863" cy="292489"/>
            <a:chOff x="3750067" y="4683795"/>
            <a:chExt cx="76863" cy="292489"/>
          </a:xfrm>
        </p:grpSpPr>
        <p:sp>
          <p:nvSpPr>
            <p:cNvPr id="184" name="타원 18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6" name="타원 18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8" name="타원 18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632648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93" name="그룹 192"/>
          <p:cNvGrpSpPr/>
          <p:nvPr/>
        </p:nvGrpSpPr>
        <p:grpSpPr>
          <a:xfrm>
            <a:off x="720490" y="3760274"/>
            <a:ext cx="2630093" cy="1403096"/>
            <a:chOff x="720490" y="4465173"/>
            <a:chExt cx="2630093" cy="1403096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95" name="그룹 194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8" name="직선 연결선 2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9" name="직선 연결선 2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6" name="직사각형 195"/>
            <p:cNvSpPr/>
            <p:nvPr/>
          </p:nvSpPr>
          <p:spPr>
            <a:xfrm>
              <a:off x="722583" y="4772659"/>
              <a:ext cx="792000" cy="10956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본</a:t>
              </a:r>
              <a:r>
                <a:rPr lang="en-US" altLang="ko-KR" sz="700" dirty="0" smtClean="0">
                  <a:latin typeface="+mn-ea"/>
                </a:rPr>
                <a:t>/</a:t>
              </a:r>
              <a:r>
                <a:rPr lang="ko-KR" altLang="en-US" sz="700" dirty="0" smtClean="0">
                  <a:latin typeface="+mn-ea"/>
                </a:rPr>
                <a:t>지사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본사 </a:t>
              </a:r>
              <a:r>
                <a:rPr lang="ko-KR" altLang="en-US" sz="700" dirty="0" err="1" smtClean="0">
                  <a:latin typeface="+mn-ea"/>
                </a:rPr>
                <a:t>사업자번호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ISO </a:t>
              </a:r>
              <a:r>
                <a:rPr lang="ko-KR" altLang="en-US" sz="700" dirty="0" err="1" smtClean="0">
                  <a:latin typeface="+mn-ea"/>
                </a:rPr>
                <a:t>인증여부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대표자명</a:t>
              </a: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 smtClean="0">
                  <a:latin typeface="+mn-ea"/>
                </a:rPr>
                <a:t>영문</a:t>
              </a:r>
              <a:r>
                <a:rPr lang="en-US" altLang="ko-KR" sz="700" dirty="0" smtClean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 smtClean="0">
                  <a:latin typeface="+mn-ea"/>
                </a:rPr>
                <a:t>영문</a:t>
              </a:r>
              <a:r>
                <a:rPr lang="en-US" altLang="ko-KR" sz="700" dirty="0" smtClean="0">
                  <a:latin typeface="+mn-ea"/>
                </a:rPr>
                <a:t>)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1-</a:t>
              </a:r>
              <a:r>
                <a:rPr lang="ko-KR" altLang="en-US" sz="700" dirty="0" smtClean="0">
                  <a:latin typeface="+mn-ea"/>
                </a:rPr>
                <a:t>본사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kumimoji="1" lang="en-US" altLang="ko-KR" sz="700" spc="-60" dirty="0" smtClean="0">
                  <a:solidFill>
                    <a:srgbClr val="000000">
                      <a:lumMod val="65000"/>
                      <a:lumOff val="35000"/>
                    </a:srgbClr>
                  </a:solidFill>
                  <a:latin typeface="Verdana" panose="020B0604030504040204" pitchFamily="34" charset="0"/>
                </a:rPr>
                <a:t>Hong </a:t>
              </a:r>
              <a:r>
                <a:rPr kumimoji="1" lang="en-US" altLang="ko-KR" sz="700" spc="-60" dirty="0" err="1" smtClean="0">
                  <a:solidFill>
                    <a:srgbClr val="000000">
                      <a:lumMod val="65000"/>
                      <a:lumOff val="35000"/>
                    </a:srgbClr>
                  </a:solidFill>
                  <a:latin typeface="Verdana" panose="020B0604030504040204" pitchFamily="34" charset="0"/>
                </a:rPr>
                <a:t>Gildong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102, 11st, </a:t>
              </a:r>
              <a:r>
                <a:rPr lang="en-US" altLang="ko-KR" sz="700" dirty="0" err="1" smtClean="0">
                  <a:latin typeface="+mn-ea"/>
                </a:rPr>
                <a:t>jonglo-gu</a:t>
              </a:r>
              <a:r>
                <a:rPr lang="en-US" altLang="ko-KR" sz="700" dirty="0" smtClean="0">
                  <a:latin typeface="+mn-ea"/>
                </a:rPr>
                <a:t>, </a:t>
              </a:r>
              <a:r>
                <a:rPr lang="en-US" altLang="ko-KR" sz="700" dirty="0" err="1" smtClean="0">
                  <a:latin typeface="+mn-ea"/>
                </a:rPr>
                <a:t>seoul</a:t>
              </a:r>
              <a:r>
                <a:rPr lang="en-US" altLang="ko-KR" sz="700" dirty="0" smtClean="0">
                  <a:latin typeface="+mn-ea"/>
                </a:rPr>
                <a:t>, </a:t>
              </a:r>
              <a:r>
                <a:rPr lang="en-US" altLang="ko-KR" sz="700" dirty="0" err="1" smtClean="0">
                  <a:latin typeface="+mn-ea"/>
                </a:rPr>
                <a:t>korea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4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4" name="직선 연결선 2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6499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361454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529275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91015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5" name="타원 214"/>
          <p:cNvSpPr/>
          <p:nvPr/>
        </p:nvSpPr>
        <p:spPr>
          <a:xfrm>
            <a:off x="1597442" y="4565752"/>
            <a:ext cx="90000" cy="90000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6" name="타원 215"/>
          <p:cNvSpPr/>
          <p:nvPr/>
        </p:nvSpPr>
        <p:spPr>
          <a:xfrm>
            <a:off x="2348738" y="4565752"/>
            <a:ext cx="90000" cy="90000"/>
          </a:xfrm>
          <a:prstGeom prst="ellipse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746956" y="4556891"/>
            <a:ext cx="8976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여</a:t>
            </a: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506466" y="4556891"/>
            <a:ext cx="8976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11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5729060" y="1613364"/>
            <a:ext cx="421867" cy="15692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latin typeface="맑은 고딕"/>
                <a:ea typeface="맑은 고딕" panose="020B0503020000020004" pitchFamily="50" charset="-127"/>
              </a:rPr>
              <a:t>법인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2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5939993" y="5195846"/>
            <a:ext cx="421867" cy="15692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latin typeface="맑은 고딕"/>
                <a:ea typeface="맑은 고딕" panose="020B0503020000020004" pitchFamily="50" charset="-127"/>
              </a:rPr>
              <a:t>다운로드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4230257964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추가정보 신청 접수한 데이터 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신청 내역 </a:t>
            </a:r>
            <a:r>
              <a:rPr lang="ko-KR" altLang="en-US" dirty="0" smtClean="0">
                <a:latin typeface="+mn-ea"/>
              </a:rPr>
              <a:t>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추가정보 신청 </a:t>
            </a:r>
            <a:r>
              <a:rPr lang="ko-KR" altLang="en-US" dirty="0" smtClean="0">
                <a:latin typeface="+mn-ea"/>
              </a:rPr>
              <a:t>내역 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국내소재상사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추가정보 신청 </a:t>
            </a:r>
            <a:r>
              <a:rPr lang="ko-KR" altLang="en-US" dirty="0" smtClean="0">
                <a:latin typeface="+mn-ea"/>
              </a:rPr>
              <a:t>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MUI-CM-01-M04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 </a:t>
            </a:r>
            <a:r>
              <a:rPr lang="ko-KR" altLang="en-US" sz="800" dirty="0" smtClean="0">
                <a:latin typeface="+mn-ea"/>
              </a:rPr>
              <a:t>추가 상세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" name="그룹 7"/>
          <p:cNvGrpSpPr/>
          <p:nvPr/>
        </p:nvGrpSpPr>
        <p:grpSpPr>
          <a:xfrm>
            <a:off x="720490" y="1926939"/>
            <a:ext cx="2630093" cy="756006"/>
            <a:chOff x="720490" y="4465173"/>
            <a:chExt cx="2630093" cy="756006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FSC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07" name="그룹 106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108" name="직선 연결선 1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9" name="직선 연결선 1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" name="직사각형 15"/>
            <p:cNvSpPr/>
            <p:nvPr/>
          </p:nvSpPr>
          <p:spPr>
            <a:xfrm>
              <a:off x="722583" y="4772659"/>
              <a:ext cx="792000" cy="4485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FSC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군급명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테스트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632648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93" name="그룹 192"/>
          <p:cNvGrpSpPr/>
          <p:nvPr/>
        </p:nvGrpSpPr>
        <p:grpSpPr>
          <a:xfrm>
            <a:off x="720490" y="2866974"/>
            <a:ext cx="2630093" cy="1847384"/>
            <a:chOff x="720490" y="4465173"/>
            <a:chExt cx="2630093" cy="1847384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영업정보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95" name="그룹 194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8" name="직선 연결선 2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9" name="직선 연결선 2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6" name="직사각형 195"/>
            <p:cNvSpPr/>
            <p:nvPr/>
          </p:nvSpPr>
          <p:spPr>
            <a:xfrm>
              <a:off x="722583" y="4772658"/>
              <a:ext cx="792000" cy="153989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연간매출액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자산규모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여신한도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주거래은행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군납최초참여일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거래기간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Dun’s </a:t>
              </a:r>
              <a:r>
                <a:rPr lang="en-US" altLang="ko-KR" sz="700" dirty="0" smtClean="0">
                  <a:latin typeface="+mn-ea"/>
                </a:rPr>
                <a:t>Number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 </a:t>
              </a:r>
              <a:r>
                <a:rPr lang="ko-KR" altLang="en-US" sz="700" dirty="0" smtClean="0">
                  <a:latin typeface="+mn-ea"/>
                </a:rPr>
                <a:t>천원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3,000,000 </a:t>
              </a:r>
              <a:r>
                <a:rPr lang="ko-KR" altLang="en-US" sz="700" dirty="0" smtClean="0">
                  <a:latin typeface="+mn-ea"/>
                </a:rPr>
                <a:t>천원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 </a:t>
              </a:r>
              <a:r>
                <a:rPr lang="ko-KR" altLang="en-US" sz="700" dirty="0" smtClean="0">
                  <a:latin typeface="+mn-ea"/>
                </a:rPr>
                <a:t>천원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농협은행 과천 지점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2020-03-01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2020-03-01 ~ 2025-12-31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123-45-67890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4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4" name="직선 연결선 2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6499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728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2966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27639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480978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1468407575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22CFD585-1033-4C5A-3046-40C4A14E6C3D}"/>
              </a:ext>
            </a:extLst>
          </p:cNvPr>
          <p:cNvSpPr txBox="1"/>
          <p:nvPr/>
        </p:nvSpPr>
        <p:spPr>
          <a:xfrm>
            <a:off x="447174" y="3909817"/>
            <a:ext cx="312001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법인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개인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dm_bzentyDmstLctnColInfo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DF2E64DD-C9B3-2069-464E-8BD9C096BA8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4121660"/>
          <a:ext cx="8994883" cy="2376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corpYn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21687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법인등기목적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rgRegPrpsNm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법인등기목적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6674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hndlItemNm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4654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bzstatNm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공급업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무역대리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(’20’)/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무역대리점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(‘23’)/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운송업체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(‘25’)/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보험업체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(‘26’)/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신용장개설은행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(‘27’)/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국내제작업체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(‘28’)/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공급업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(‘29’)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52684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regInstNm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599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보안측정부대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scrtyMsrmtDeptNm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보안측정부대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175768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scrtyMsrmtYmd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09033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taskHdlrRsltCd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보안측정결과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(‘Y’)/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(‘N’)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3178226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A59001AB-3C1D-A1C6-C68A-973F59FC48AB}"/>
              </a:ext>
            </a:extLst>
          </p:cNvPr>
          <p:cNvSpPr txBox="1"/>
          <p:nvPr/>
        </p:nvSpPr>
        <p:spPr>
          <a:xfrm>
            <a:off x="455558" y="799547"/>
            <a:ext cx="290681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추가정보신청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dm_addInfoAplyInfo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994AE86-154D-F53B-1EF4-052FC46164C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8117" y="1019760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prgrsSttsNm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(‘U’)/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(‘R’)/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(‘F’)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3EA6E52F-BCA3-96C8-67C6-5E72F655E2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C04E473-0C76-97CA-2568-CFE2A9FA3350}"/>
              </a:ext>
            </a:extLst>
          </p:cNvPr>
          <p:cNvSpPr txBox="1"/>
          <p:nvPr/>
        </p:nvSpPr>
        <p:spPr>
          <a:xfrm>
            <a:off x="455558" y="2386850"/>
            <a:ext cx="260063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일반정보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dm_bzentyGnrlInfo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BBCFB3BB-1666-4E22-E474-40FF6DDFA28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4066" y="2608489"/>
          <a:ext cx="8994883" cy="1285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bplcSeNm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지사코드로 본사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대리점 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hdofcBrno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isoCertYn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rprsvEngNm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bzentyEngAddr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5523429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136</a:t>
            </a:fld>
            <a:endParaRPr lang="ko-KR" alt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EC6C9223-6B36-72B2-E590-EA6F1BDF23A1}"/>
              </a:ext>
            </a:extLst>
          </p:cNvPr>
          <p:cNvSpPr txBox="1"/>
          <p:nvPr/>
        </p:nvSpPr>
        <p:spPr>
          <a:xfrm>
            <a:off x="452999" y="2453560"/>
            <a:ext cx="178471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 FSC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dl_fscList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01FD1C73-2B10-B728-AEA1-41D040F8CC8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667243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</a:tbl>
          </a:graphicData>
        </a:graphic>
      </p:graphicFrame>
      <p:sp>
        <p:nvSpPr>
          <p:cNvPr id="19" name="TextBox 18">
            <a:extLst>
              <a:ext uri="{FF2B5EF4-FFF2-40B4-BE49-F238E27FC236}">
                <a16:creationId xmlns:a16="http://schemas.microsoft.com/office/drawing/2014/main" id="{0E2433EC-83E1-AA99-16EC-8E7F3A34098B}"/>
              </a:ext>
            </a:extLst>
          </p:cNvPr>
          <p:cNvSpPr txBox="1"/>
          <p:nvPr/>
        </p:nvSpPr>
        <p:spPr>
          <a:xfrm>
            <a:off x="450440" y="3452123"/>
            <a:ext cx="258300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1.6. </a:t>
            </a:r>
            <a:r>
              <a:rPr lang="ko-KR" altLang="en-US" sz="900" b="1" dirty="0">
                <a:solidFill>
                  <a:prstClr val="black"/>
                </a:solidFill>
              </a:rPr>
              <a:t>영업정보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dm_bzentySalsInfo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BB98065F-80E8-B992-6DDD-013FDDB112C5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8" y="3665806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연간매출액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anlSlsAmt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연간매출액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자산규모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tastAmt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자산규모 입력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여신한도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crlnLimAmt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여신한도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533513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dlngFnstNm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74428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지점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fnstBrnchNm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지점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0544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군납최초참여일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frstSgsmilPtcpYmd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군납최초참여일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03900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dlngPrdBgngYmd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43794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dlngPrdEndYmd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8582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Dun`s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Numer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crdtExmnRegNo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Dun`s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Numer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6910970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502567EC-AC2D-D7F0-9930-7CFF5017627D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5C4B852D-8926-43DC-F609-972BFE9A88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866105B-EE72-9A35-138D-E979B30E8004}"/>
              </a:ext>
            </a:extLst>
          </p:cNvPr>
          <p:cNvSpPr txBox="1"/>
          <p:nvPr/>
        </p:nvSpPr>
        <p:spPr>
          <a:xfrm>
            <a:off x="452999" y="867634"/>
            <a:ext cx="301581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>
                <a:solidFill>
                  <a:prstClr val="black"/>
                </a:solidFill>
              </a:rPr>
              <a:t>보안측정인원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dl_scrtyMsrmtPrsnlList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A946394-CDEF-ED25-B2A5-A7B13889041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1078837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주민등록번호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taskHdlrEnrrno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주민등록번호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taskHdlrRsltCd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적격여부코드로 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부적격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6674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taskHndlYmd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4654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 첨부파일명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526841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09211054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137</a:t>
            </a:fld>
            <a:endParaRPr lang="ko-KR" altLang="en-US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EA09851-DB8A-5E75-D951-D3802196DB2B}"/>
              </a:ext>
            </a:extLst>
          </p:cNvPr>
          <p:cNvSpPr txBox="1"/>
          <p:nvPr/>
        </p:nvSpPr>
        <p:spPr>
          <a:xfrm>
            <a:off x="455204" y="59125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AF02EB9-4E0B-A76D-D6AA-BDE3E17622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8768327"/>
              </p:ext>
            </p:extLst>
          </p:nvPr>
        </p:nvGraphicFramePr>
        <p:xfrm>
          <a:off x="455204" y="827041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추가등록정보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7E3266B3-2502-5567-2F29-36F4DC570A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2" y="710125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27615057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추가 등록할 내용 탭 선택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개별 정보 입력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담당자 정보만 저장 시 즉시 완료 처리 </a:t>
            </a:r>
            <a:r>
              <a:rPr lang="en-US" altLang="ko-KR" dirty="0" smtClean="0"/>
              <a:t>&gt; </a:t>
            </a:r>
            <a:r>
              <a:rPr lang="ko-KR" altLang="en-US" dirty="0" smtClean="0"/>
              <a:t>목록 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완료 토스트 메시지 </a:t>
            </a:r>
            <a:r>
              <a:rPr lang="en-US" altLang="ko-KR" dirty="0" smtClean="0"/>
              <a:t>: </a:t>
            </a:r>
            <a:r>
              <a:rPr lang="ko-KR" altLang="en-US" dirty="0" smtClean="0"/>
              <a:t>저장되었습니다</a:t>
            </a:r>
            <a:r>
              <a:rPr lang="en-US" altLang="ko-KR" dirty="0" smtClean="0"/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각 정보 입력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대표품류</a:t>
            </a:r>
            <a:r>
              <a:rPr lang="ko-KR" altLang="en-US" dirty="0" smtClean="0"/>
              <a:t> </a:t>
            </a:r>
            <a:r>
              <a:rPr lang="en-US" altLang="ko-KR" dirty="0" smtClean="0"/>
              <a:t>: </a:t>
            </a:r>
            <a:r>
              <a:rPr lang="ko-KR" altLang="en-US" dirty="0" err="1" smtClean="0"/>
              <a:t>품류</a:t>
            </a:r>
            <a:r>
              <a:rPr lang="ko-KR" altLang="en-US" dirty="0" smtClean="0"/>
              <a:t> 선택 팝업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조합</a:t>
            </a:r>
            <a:r>
              <a:rPr lang="en-US" altLang="ko-KR" dirty="0" smtClean="0"/>
              <a:t>/</a:t>
            </a:r>
            <a:r>
              <a:rPr lang="ko-KR" altLang="en-US" dirty="0" smtClean="0"/>
              <a:t>단체 </a:t>
            </a:r>
            <a:r>
              <a:rPr lang="en-US" altLang="ko-KR" dirty="0" smtClean="0"/>
              <a:t>: </a:t>
            </a:r>
            <a:r>
              <a:rPr lang="ko-KR" altLang="en-US" dirty="0" smtClean="0"/>
              <a:t>조합</a:t>
            </a:r>
            <a:r>
              <a:rPr lang="en-US" altLang="ko-KR" dirty="0" smtClean="0"/>
              <a:t>/</a:t>
            </a:r>
            <a:r>
              <a:rPr lang="ko-KR" altLang="en-US" dirty="0" smtClean="0"/>
              <a:t>단체 선택 팝업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업태 선택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/>
              <a:t>제조</a:t>
            </a:r>
            <a:r>
              <a:rPr lang="en-US" altLang="ko-KR" dirty="0"/>
              <a:t>(’11’)/</a:t>
            </a:r>
            <a:r>
              <a:rPr lang="ko-KR" altLang="en-US" dirty="0"/>
              <a:t>판매</a:t>
            </a:r>
            <a:r>
              <a:rPr lang="en-US" altLang="ko-KR" dirty="0"/>
              <a:t>(‘12’)/</a:t>
            </a:r>
            <a:r>
              <a:rPr lang="ko-KR" altLang="en-US" dirty="0" err="1"/>
              <a:t>조합및단체</a:t>
            </a:r>
            <a:r>
              <a:rPr lang="en-US" altLang="ko-KR" dirty="0"/>
              <a:t>(‘13’)/</a:t>
            </a:r>
            <a:r>
              <a:rPr lang="ko-KR" altLang="en-US" dirty="0"/>
              <a:t>용역</a:t>
            </a:r>
            <a:r>
              <a:rPr lang="en-US" altLang="ko-KR" dirty="0"/>
              <a:t>(‘14’)/</a:t>
            </a:r>
            <a:r>
              <a:rPr lang="ko-KR" altLang="en-US" dirty="0" err="1"/>
              <a:t>벤처제조</a:t>
            </a:r>
            <a:r>
              <a:rPr lang="en-US" altLang="ko-KR" dirty="0"/>
              <a:t>(‘15’)/</a:t>
            </a:r>
            <a:r>
              <a:rPr lang="ko-KR" altLang="en-US" dirty="0" err="1"/>
              <a:t>벤처판매</a:t>
            </a:r>
            <a:r>
              <a:rPr lang="en-US" altLang="ko-KR" dirty="0"/>
              <a:t>(‘16’)/</a:t>
            </a:r>
            <a:r>
              <a:rPr lang="ko-KR" altLang="en-US" dirty="0" err="1"/>
              <a:t>벤처용역</a:t>
            </a:r>
            <a:r>
              <a:rPr lang="en-US" altLang="ko-KR" dirty="0"/>
              <a:t>(‘17’)</a:t>
            </a:r>
          </a:p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</a:t>
            </a:r>
            <a:r>
              <a:rPr lang="ko-KR" altLang="en-US" dirty="0" smtClean="0">
                <a:latin typeface="+mn-ea"/>
              </a:rPr>
              <a:t>추가 등록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</a:t>
            </a:r>
            <a:r>
              <a:rPr lang="ko-KR" altLang="en-US" dirty="0" smtClean="0">
                <a:latin typeface="+mn-ea"/>
              </a:rPr>
              <a:t>등록 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 smtClean="0">
                <a:latin typeface="+mn-ea"/>
              </a:rPr>
              <a:t>물품</a:t>
            </a:r>
            <a:r>
              <a:rPr lang="en-US" altLang="ko-KR" dirty="0" smtClean="0">
                <a:latin typeface="+mn-ea"/>
              </a:rPr>
              <a:t>(</a:t>
            </a:r>
            <a:r>
              <a:rPr lang="ko-KR" altLang="en-US" dirty="0" smtClean="0">
                <a:latin typeface="+mn-ea"/>
              </a:rPr>
              <a:t>내자</a:t>
            </a:r>
            <a:r>
              <a:rPr lang="en-US" altLang="ko-KR" dirty="0" smtClean="0">
                <a:latin typeface="+mn-ea"/>
              </a:rPr>
              <a:t>)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업체정보 추가 </a:t>
            </a:r>
            <a:r>
              <a:rPr lang="ko-KR" altLang="en-US" dirty="0" smtClean="0">
                <a:latin typeface="+mn-ea"/>
              </a:rPr>
              <a:t>등록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MUI-CM-01-M05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 추가 </a:t>
            </a:r>
            <a:r>
              <a:rPr lang="ko-KR" altLang="en-US" sz="800" dirty="0" smtClean="0">
                <a:latin typeface="+mn-ea"/>
              </a:rPr>
              <a:t>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40" name="그룹 139"/>
          <p:cNvGrpSpPr/>
          <p:nvPr/>
        </p:nvGrpSpPr>
        <p:grpSpPr>
          <a:xfrm>
            <a:off x="716366" y="3842031"/>
            <a:ext cx="2630093" cy="1169259"/>
            <a:chOff x="720490" y="2967388"/>
            <a:chExt cx="2630093" cy="1169259"/>
          </a:xfrm>
        </p:grpSpPr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담당자정보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2" name="그룹 141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51" name="직선 연결선 15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2" name="직선 연결선 15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직사각형 142"/>
            <p:cNvSpPr/>
            <p:nvPr/>
          </p:nvSpPr>
          <p:spPr>
            <a:xfrm>
              <a:off x="722583" y="3274873"/>
              <a:ext cx="792000" cy="84997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담당자명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팩스번호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이메일주소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 err="1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ko-KR" altLang="en-US" sz="700" dirty="0" err="1">
                <a:latin typeface="+mn-ea"/>
              </a:endParaRP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282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53" name="그룹 152"/>
          <p:cNvGrpSpPr/>
          <p:nvPr/>
        </p:nvGrpSpPr>
        <p:grpSpPr>
          <a:xfrm>
            <a:off x="3832576" y="1573405"/>
            <a:ext cx="2630093" cy="966004"/>
            <a:chOff x="720490" y="2967388"/>
            <a:chExt cx="2630093" cy="966004"/>
          </a:xfrm>
        </p:grpSpPr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0" y="2967388"/>
              <a:ext cx="113625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대표품류</a:t>
              </a:r>
              <a:r>
                <a:rPr lang="ko-KR" altLang="en-US" sz="700" dirty="0">
                  <a:latin typeface="+mn-ea"/>
                </a:rPr>
                <a:t> 및 조합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단체</a:t>
              </a:r>
            </a:p>
          </p:txBody>
        </p:sp>
        <p:grpSp>
          <p:nvGrpSpPr>
            <p:cNvPr id="155" name="그룹 154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80" name="직선 연결선 17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9" name="직사각형 158"/>
            <p:cNvSpPr/>
            <p:nvPr/>
          </p:nvSpPr>
          <p:spPr>
            <a:xfrm>
              <a:off x="722583" y="3274873"/>
              <a:ext cx="792000" cy="6563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대표품류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조합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단체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61734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93" name="그룹 192"/>
          <p:cNvGrpSpPr/>
          <p:nvPr/>
        </p:nvGrpSpPr>
        <p:grpSpPr>
          <a:xfrm>
            <a:off x="720490" y="2297845"/>
            <a:ext cx="2630093" cy="1403096"/>
            <a:chOff x="720490" y="4465173"/>
            <a:chExt cx="2630093" cy="1403096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95" name="그룹 194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8" name="직선 연결선 2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9" name="직선 연결선 2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6" name="직사각형 195"/>
            <p:cNvSpPr/>
            <p:nvPr/>
          </p:nvSpPr>
          <p:spPr>
            <a:xfrm>
              <a:off x="722583" y="4772659"/>
              <a:ext cx="792000" cy="10956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40473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본</a:t>
              </a:r>
              <a:r>
                <a:rPr lang="en-US" altLang="ko-KR" sz="700" dirty="0" smtClean="0">
                  <a:latin typeface="+mn-ea"/>
                </a:rPr>
                <a:t>/</a:t>
              </a:r>
              <a:r>
                <a:rPr lang="ko-KR" altLang="en-US" sz="700" dirty="0" smtClean="0">
                  <a:latin typeface="+mn-ea"/>
                </a:rPr>
                <a:t>지사 </a:t>
              </a:r>
              <a:r>
                <a:rPr lang="en-US" altLang="ko-KR" sz="700" dirty="0" smtClean="0">
                  <a:solidFill>
                    <a:srgbClr val="FF0000"/>
                  </a:solidFill>
                  <a:latin typeface="+mn-ea"/>
                </a:rPr>
                <a:t>*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본사 </a:t>
              </a:r>
              <a:r>
                <a:rPr lang="ko-KR" altLang="en-US" sz="700" dirty="0" err="1">
                  <a:latin typeface="+mn-ea"/>
                </a:rPr>
                <a:t>사업자번호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ISO </a:t>
              </a:r>
              <a:r>
                <a:rPr lang="ko-KR" altLang="en-US" sz="700" dirty="0" err="1">
                  <a:latin typeface="+mn-ea"/>
                </a:rPr>
                <a:t>인증여부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대표자명</a:t>
              </a: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 smtClean="0">
                  <a:latin typeface="+mn-ea"/>
                </a:rPr>
                <a:t>영문</a:t>
              </a:r>
              <a:r>
                <a:rPr lang="en-US" altLang="ko-KR" sz="700" dirty="0" smtClean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 smtClean="0">
                  <a:latin typeface="+mn-ea"/>
                </a:rPr>
                <a:t>영문</a:t>
              </a:r>
              <a:r>
                <a:rPr lang="en-US" altLang="ko-KR" sz="700" dirty="0" smtClean="0">
                  <a:latin typeface="+mn-ea"/>
                </a:rPr>
                <a:t>)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4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4" name="직선 연결선 2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6499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375660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553803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5" name="타원 214"/>
          <p:cNvSpPr/>
          <p:nvPr/>
        </p:nvSpPr>
        <p:spPr>
          <a:xfrm>
            <a:off x="1597442" y="3113912"/>
            <a:ext cx="90000" cy="90000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6" name="타원 215"/>
          <p:cNvSpPr/>
          <p:nvPr/>
        </p:nvSpPr>
        <p:spPr>
          <a:xfrm>
            <a:off x="2348738" y="3113912"/>
            <a:ext cx="90000" cy="90000"/>
          </a:xfrm>
          <a:prstGeom prst="ellipse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746956" y="3105051"/>
            <a:ext cx="8976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여</a:t>
            </a: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506466" y="3105051"/>
            <a:ext cx="8976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부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12" name="직선 연결선 11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0147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8" name="TextBox 11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151882" y="1984863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물품</a:t>
            </a:r>
            <a:r>
              <a:rPr lang="en-US" altLang="ko-KR" sz="700" b="1" dirty="0">
                <a:latin typeface="+mn-ea"/>
              </a:rPr>
              <a:t>(</a:t>
            </a:r>
            <a:r>
              <a:rPr lang="ko-KR" altLang="en-US" sz="700" b="1" dirty="0">
                <a:latin typeface="+mn-ea"/>
              </a:rPr>
              <a:t>내자</a:t>
            </a:r>
            <a:r>
              <a:rPr lang="en-US" altLang="ko-KR" sz="700" b="1" dirty="0">
                <a:latin typeface="+mn-ea"/>
              </a:rPr>
              <a:t>)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45442" y="1984863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01470"/>
            <a:ext cx="1359644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263982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156" name="그룹 155"/>
          <p:cNvGrpSpPr/>
          <p:nvPr/>
        </p:nvGrpSpPr>
        <p:grpSpPr>
          <a:xfrm>
            <a:off x="3138674" y="2697327"/>
            <a:ext cx="94010" cy="47005"/>
            <a:chOff x="6812560" y="3297172"/>
            <a:chExt cx="94010" cy="47005"/>
          </a:xfrm>
        </p:grpSpPr>
        <p:cxnSp>
          <p:nvCxnSpPr>
            <p:cNvPr id="157" name="직선 연결선 15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8" name="직선 연결선 15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6" y="2865405"/>
            <a:ext cx="51060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자리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6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196224" y="2865405"/>
            <a:ext cx="51060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자리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7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831383" y="2865405"/>
            <a:ext cx="51060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5</a:t>
            </a: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자리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7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328878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7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350325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7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419228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7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440674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8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461990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8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4" y="4822709"/>
            <a:ext cx="794473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04754" y="4844711"/>
            <a:ext cx="8976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700" dirty="0" smtClean="0">
                <a:latin typeface="+mn-ea"/>
              </a:rPr>
              <a:t>@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543739" y="4822709"/>
            <a:ext cx="794471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2" name="TextBox 1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22730" y="5078643"/>
            <a:ext cx="261547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담당자정보는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저장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>
                <a:latin typeface="+mn-ea"/>
              </a:rPr>
              <a:t>버튼 클릭 시 승인 없이 변경됩니다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20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255054"/>
            <a:ext cx="2446613" cy="206419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담당자 정보 저장</a:t>
            </a:r>
            <a:endParaRPr kumimoji="1" lang="en-US" sz="9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115510" y="2892544"/>
            <a:ext cx="3687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700" dirty="0" smtClean="0">
                <a:latin typeface="+mn-ea"/>
              </a:rPr>
              <a:t>-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50668" y="2892544"/>
            <a:ext cx="3687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700" dirty="0" smtClean="0">
                <a:latin typeface="+mn-ea"/>
              </a:rPr>
              <a:t>-</a:t>
            </a:r>
            <a:endParaRPr lang="ko-KR" altLang="en-US" sz="700" dirty="0">
              <a:latin typeface="+mn-ea"/>
            </a:endParaRPr>
          </a:p>
        </p:txBody>
      </p:sp>
      <p:sp>
        <p:nvSpPr>
          <p:cNvPr id="24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9906" y="213751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6257515" y="2195010"/>
            <a:ext cx="94010" cy="47005"/>
            <a:chOff x="6812560" y="3297172"/>
            <a:chExt cx="94010" cy="47005"/>
          </a:xfrm>
        </p:grpSpPr>
        <p:cxnSp>
          <p:nvCxnSpPr>
            <p:cNvPr id="242" name="직선 연결선 24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43" name="직선 연결선 24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4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9906" y="191711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4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9906" y="235761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46" name="타원 245"/>
          <p:cNvSpPr/>
          <p:nvPr/>
        </p:nvSpPr>
        <p:spPr>
          <a:xfrm>
            <a:off x="6249717" y="1930795"/>
            <a:ext cx="126000" cy="126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타원 246"/>
          <p:cNvSpPr/>
          <p:nvPr/>
        </p:nvSpPr>
        <p:spPr>
          <a:xfrm>
            <a:off x="6249717" y="2372863"/>
            <a:ext cx="126000" cy="126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0" name="타원 2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2321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61" name="타원 26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18599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64" name="타원 26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4498" y="162642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454522325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등록품목</a:t>
            </a:r>
            <a:r>
              <a:rPr lang="ko-KR" altLang="en-US" dirty="0" smtClean="0"/>
              <a:t> 명세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신규 추가</a:t>
            </a:r>
            <a:r>
              <a:rPr lang="en-US" altLang="ko-KR" dirty="0" smtClean="0"/>
              <a:t>, </a:t>
            </a:r>
            <a:r>
              <a:rPr lang="ko-KR" altLang="en-US" dirty="0" smtClean="0"/>
              <a:t>변경</a:t>
            </a:r>
            <a:r>
              <a:rPr lang="en-US" altLang="ko-KR" dirty="0" smtClean="0"/>
              <a:t>, </a:t>
            </a:r>
            <a:r>
              <a:rPr lang="ko-KR" altLang="en-US" dirty="0" smtClean="0"/>
              <a:t>삭제한 내역을 초기상태로 되돌림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품목 명세 내역 중에서 검색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품목 버튼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신규 추가 </a:t>
            </a:r>
            <a:r>
              <a:rPr lang="en-US" altLang="ko-KR" dirty="0" smtClean="0"/>
              <a:t>: </a:t>
            </a:r>
            <a:r>
              <a:rPr lang="ko-KR" altLang="en-US" dirty="0" smtClean="0"/>
              <a:t>등록대상 품목 선택 팝업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선택 삭제 </a:t>
            </a:r>
            <a:r>
              <a:rPr lang="en-US" altLang="ko-KR" dirty="0" smtClean="0"/>
              <a:t>: </a:t>
            </a:r>
            <a:r>
              <a:rPr lang="ko-KR" altLang="en-US" dirty="0" smtClean="0"/>
              <a:t>선택된 품목 삭제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선택 갱신 </a:t>
            </a:r>
            <a:r>
              <a:rPr lang="en-US" altLang="ko-KR" dirty="0" smtClean="0"/>
              <a:t>: </a:t>
            </a:r>
            <a:r>
              <a:rPr lang="ko-KR" altLang="en-US" dirty="0" smtClean="0"/>
              <a:t>선택된 품목 만료 갱신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선택하여 갱신 시 </a:t>
            </a:r>
            <a:r>
              <a:rPr lang="en-US" altLang="ko-KR" dirty="0" smtClean="0"/>
              <a:t>[</a:t>
            </a:r>
            <a:r>
              <a:rPr lang="ko-KR" altLang="en-US" dirty="0" err="1" smtClean="0"/>
              <a:t>접수상태</a:t>
            </a:r>
            <a:r>
              <a:rPr lang="en-US" altLang="ko-KR" dirty="0" smtClean="0"/>
              <a:t>]</a:t>
            </a:r>
            <a:r>
              <a:rPr lang="ko-KR" altLang="en-US" dirty="0" smtClean="0"/>
              <a:t> </a:t>
            </a:r>
            <a:r>
              <a:rPr lang="ko-KR" altLang="en-US" dirty="0" err="1" smtClean="0"/>
              <a:t>상태값</a:t>
            </a:r>
            <a:r>
              <a:rPr lang="ko-KR" altLang="en-US" dirty="0" smtClean="0"/>
              <a:t> 임시 변경 </a:t>
            </a:r>
            <a:r>
              <a:rPr lang="en-US" altLang="ko-KR" dirty="0" smtClean="0"/>
              <a:t>- </a:t>
            </a:r>
            <a:r>
              <a:rPr lang="ko-KR" altLang="en-US" dirty="0" smtClean="0"/>
              <a:t>갱신 접수 신청 필요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다음 페이지의 </a:t>
            </a:r>
            <a:r>
              <a:rPr lang="ko-KR" altLang="en-US" dirty="0" err="1" smtClean="0"/>
              <a:t>설명글에</a:t>
            </a:r>
            <a:r>
              <a:rPr lang="ko-KR" altLang="en-US" dirty="0" smtClean="0"/>
              <a:t> 해당 내용 존재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  o </a:t>
            </a:r>
            <a:r>
              <a:rPr lang="ko-KR" altLang="en-US" dirty="0" smtClean="0"/>
              <a:t>만료되기 전 </a:t>
            </a:r>
            <a:r>
              <a:rPr lang="en-US" altLang="ko-KR" dirty="0" smtClean="0"/>
              <a:t>90</a:t>
            </a:r>
            <a:r>
              <a:rPr lang="ko-KR" altLang="en-US" dirty="0" smtClean="0"/>
              <a:t>일 이내 갱신 신청 가능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/>
              <a:t> </a:t>
            </a:r>
            <a:r>
              <a:rPr lang="en-US" altLang="ko-KR" dirty="0" smtClean="0"/>
              <a:t>   o </a:t>
            </a:r>
            <a:r>
              <a:rPr lang="ko-KR" altLang="en-US" dirty="0" smtClean="0"/>
              <a:t>만료된 이후는 만료 품목 삭제 후 조달청 승인 이후에 별도 신규 추가 필요</a:t>
            </a:r>
            <a:r>
              <a:rPr lang="en-US" altLang="ko-KR" dirty="0" smtClean="0"/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선택 삭제</a:t>
            </a:r>
            <a:r>
              <a:rPr lang="en-US" altLang="ko-KR" dirty="0" smtClean="0"/>
              <a:t>, </a:t>
            </a:r>
            <a:r>
              <a:rPr lang="ko-KR" altLang="en-US" dirty="0" smtClean="0"/>
              <a:t>선택 갱신을 위한 선택 버튼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품목 코드 클릭 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>
                <a:latin typeface="+mn-ea"/>
              </a:rPr>
              <a:t>품목 조회 </a:t>
            </a:r>
            <a:r>
              <a:rPr lang="ko-KR" altLang="en-US" dirty="0" smtClean="0">
                <a:latin typeface="+mn-ea"/>
              </a:rPr>
              <a:t>팝업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</a:t>
            </a:r>
            <a:r>
              <a:rPr lang="ko-KR" altLang="en-US" dirty="0" smtClean="0">
                <a:latin typeface="+mn-ea"/>
              </a:rPr>
              <a:t>추가 등록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</a:t>
            </a:r>
            <a:r>
              <a:rPr lang="ko-KR" altLang="en-US" dirty="0" smtClean="0">
                <a:latin typeface="+mn-ea"/>
              </a:rPr>
              <a:t>등록 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 smtClean="0">
                <a:latin typeface="+mn-ea"/>
              </a:rPr>
              <a:t>물품</a:t>
            </a:r>
            <a:r>
              <a:rPr lang="en-US" altLang="ko-KR" dirty="0" smtClean="0">
                <a:latin typeface="+mn-ea"/>
              </a:rPr>
              <a:t>(</a:t>
            </a:r>
            <a:r>
              <a:rPr lang="ko-KR" altLang="en-US" dirty="0" smtClean="0">
                <a:latin typeface="+mn-ea"/>
              </a:rPr>
              <a:t>내자</a:t>
            </a:r>
            <a:r>
              <a:rPr lang="en-US" altLang="ko-KR" dirty="0" smtClean="0">
                <a:latin typeface="+mn-ea"/>
              </a:rPr>
              <a:t>)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업체정보 추가 </a:t>
            </a:r>
            <a:r>
              <a:rPr lang="ko-KR" altLang="en-US" dirty="0" smtClean="0">
                <a:latin typeface="+mn-ea"/>
              </a:rPr>
              <a:t>등록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MUI-CM-01-M05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 추가 </a:t>
            </a:r>
            <a:r>
              <a:rPr lang="ko-KR" altLang="en-US" sz="800" dirty="0" smtClean="0">
                <a:latin typeface="+mn-ea"/>
              </a:rPr>
              <a:t>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166" y="1903473"/>
            <a:ext cx="118217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등록품목명세</a:t>
            </a:r>
          </a:p>
        </p:txBody>
      </p:sp>
      <p:grpSp>
        <p:nvGrpSpPr>
          <p:cNvPr id="125" name="그룹 124"/>
          <p:cNvGrpSpPr/>
          <p:nvPr/>
        </p:nvGrpSpPr>
        <p:grpSpPr>
          <a:xfrm flipV="1">
            <a:off x="3134253" y="2016804"/>
            <a:ext cx="94010" cy="47005"/>
            <a:chOff x="6812560" y="3297172"/>
            <a:chExt cx="94010" cy="47005"/>
          </a:xfrm>
        </p:grpSpPr>
        <p:cxnSp>
          <p:nvCxnSpPr>
            <p:cNvPr id="137" name="직선 연결선 13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8" name="직선 연결선 13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4723300"/>
            <a:ext cx="76863" cy="292489"/>
            <a:chOff x="3750067" y="4683795"/>
            <a:chExt cx="76863" cy="292489"/>
          </a:xfrm>
        </p:grpSpPr>
        <p:sp>
          <p:nvSpPr>
            <p:cNvPr id="184" name="타원 18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6" name="타원 18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8" name="타원 18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48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28441" y="5925428"/>
            <a:ext cx="2446613" cy="206419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 err="1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9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9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9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cxnSp>
        <p:nvCxnSpPr>
          <p:cNvPr id="250" name="직선 연결선 24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0228" y="221095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2" name="TextBox 2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18502" y="2614195"/>
            <a:ext cx="261547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회 </a:t>
            </a:r>
            <a:r>
              <a:rPr lang="ko-KR" altLang="en-US" sz="700" dirty="0" err="1">
                <a:solidFill>
                  <a:srgbClr val="0070C0"/>
                </a:solidFill>
                <a:latin typeface="+mn-ea"/>
              </a:rPr>
              <a:t>등록품목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 신청은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30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개 이내로 신청해주시기 </a:t>
            </a:r>
            <a:r>
              <a:rPr lang="ko-KR" altLang="en-US" sz="700" dirty="0" smtClean="0">
                <a:solidFill>
                  <a:srgbClr val="0070C0"/>
                </a:solidFill>
                <a:latin typeface="+mn-ea"/>
              </a:rPr>
              <a:t>바랍니다</a:t>
            </a:r>
            <a:r>
              <a:rPr lang="en-US" altLang="ko-KR" sz="700" dirty="0" smtClean="0">
                <a:solidFill>
                  <a:srgbClr val="0070C0"/>
                </a:solidFill>
                <a:latin typeface="+mn-ea"/>
              </a:rPr>
              <a:t>.</a:t>
            </a:r>
            <a:endParaRPr lang="ko-KR" altLang="en-US" sz="700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53" name="모서리가 둥근 직사각형 252"/>
          <p:cNvSpPr/>
          <p:nvPr/>
        </p:nvSpPr>
        <p:spPr>
          <a:xfrm>
            <a:off x="1423023" y="2253441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smtClean="0">
                <a:solidFill>
                  <a:schemeClr val="bg1">
                    <a:lumMod val="65000"/>
                  </a:schemeClr>
                </a:solidFill>
              </a:rPr>
              <a:t>검색 코드를 입력해주세요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254" name="TextBox 2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621" y="232175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품목 코드</a:t>
            </a:r>
            <a:endParaRPr lang="en-US" altLang="ko-KR" sz="700" dirty="0">
              <a:latin typeface="+mn-ea"/>
            </a:endParaRPr>
          </a:p>
        </p:txBody>
      </p:sp>
      <p:sp>
        <p:nvSpPr>
          <p:cNvPr id="255" name="타원 254"/>
          <p:cNvSpPr/>
          <p:nvPr/>
        </p:nvSpPr>
        <p:spPr>
          <a:xfrm>
            <a:off x="3091939" y="2302674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59" name="직선 연결선 2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0228" y="253102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5" name="그룹 14"/>
          <p:cNvGrpSpPr/>
          <p:nvPr/>
        </p:nvGrpSpPr>
        <p:grpSpPr>
          <a:xfrm>
            <a:off x="711195" y="2937990"/>
            <a:ext cx="2630093" cy="2684352"/>
            <a:chOff x="3836701" y="2666788"/>
            <a:chExt cx="2630093" cy="2684352"/>
          </a:xfrm>
        </p:grpSpPr>
        <p:sp>
          <p:nvSpPr>
            <p:cNvPr id="126" name="직사각형 125"/>
            <p:cNvSpPr/>
            <p:nvPr/>
          </p:nvSpPr>
          <p:spPr>
            <a:xfrm>
              <a:off x="3838794" y="2981260"/>
              <a:ext cx="792000" cy="23698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981260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981260"/>
              <a:ext cx="715881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순번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품목코드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품류코드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smtClean="0">
                  <a:latin typeface="+mn-ea"/>
                </a:rPr>
                <a:t>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등록요건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적격여부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승인일자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만료일자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갱신요청일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접수상태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981260"/>
              <a:ext cx="1784088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srgbClr val="0070C0"/>
                  </a:solidFill>
                  <a:latin typeface="+mn-ea"/>
                </a:rPr>
                <a:t>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소시지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제조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공장등록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9999-12-31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9999-12-31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9999-12-31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신청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2123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42607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63977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8346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04837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26207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1" name="직선 연결선 2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4851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4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72447" y="3019186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 smtClean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선택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21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3844008" y="2666788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 smtClean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신규 추가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21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394565" y="2666788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 smtClean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선택 삭제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22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933880" y="2666788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 smtClean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선택 갱신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cxnSp>
          <p:nvCxnSpPr>
            <p:cNvPr id="230" name="직선 연결선 2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9659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1" name="직선 연결선 2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91030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2" name="직선 연결선 2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1240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0" name="직선 연결선 2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3470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72447" y="3238219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 smtClean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보기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205" name="TextBox 2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289046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적격상태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206" name="TextBox 2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90466"/>
            <a:ext cx="36855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전체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07" name="그룹 206"/>
          <p:cNvGrpSpPr/>
          <p:nvPr/>
        </p:nvGrpSpPr>
        <p:grpSpPr>
          <a:xfrm>
            <a:off x="3143548" y="2992289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549865" y="1966849"/>
            <a:ext cx="494347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맑은 고딕"/>
              </a:rPr>
              <a:t>초기화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0228" y="28005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" name="그룹 4"/>
          <p:cNvGrpSpPr/>
          <p:nvPr/>
        </p:nvGrpSpPr>
        <p:grpSpPr>
          <a:xfrm>
            <a:off x="2913383" y="2312615"/>
            <a:ext cx="126000" cy="126000"/>
            <a:chOff x="2913383" y="2291727"/>
            <a:chExt cx="145884" cy="145882"/>
          </a:xfrm>
        </p:grpSpPr>
        <p:sp>
          <p:nvSpPr>
            <p:cNvPr id="226" name="타원 225"/>
            <p:cNvSpPr/>
            <p:nvPr/>
          </p:nvSpPr>
          <p:spPr>
            <a:xfrm>
              <a:off x="2913383" y="2291727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27" name="그룹 226"/>
            <p:cNvGrpSpPr/>
            <p:nvPr/>
          </p:nvGrpSpPr>
          <p:grpSpPr>
            <a:xfrm>
              <a:off x="2957288" y="2335631"/>
              <a:ext cx="58075" cy="58074"/>
              <a:chOff x="6812560" y="3297172"/>
              <a:chExt cx="94010" cy="94010"/>
            </a:xfrm>
          </p:grpSpPr>
          <p:cxnSp>
            <p:nvCxnSpPr>
              <p:cNvPr id="228" name="직선 연결선 227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9" name="직선 연결선 228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" name="그룹 5"/>
          <p:cNvGrpSpPr/>
          <p:nvPr/>
        </p:nvGrpSpPr>
        <p:grpSpPr>
          <a:xfrm>
            <a:off x="3823529" y="1568325"/>
            <a:ext cx="2630093" cy="2369880"/>
            <a:chOff x="3823529" y="2016849"/>
            <a:chExt cx="2630093" cy="2369880"/>
          </a:xfrm>
        </p:grpSpPr>
        <p:sp>
          <p:nvSpPr>
            <p:cNvPr id="271" name="직사각형 270"/>
            <p:cNvSpPr/>
            <p:nvPr/>
          </p:nvSpPr>
          <p:spPr>
            <a:xfrm>
              <a:off x="3825622" y="2016849"/>
              <a:ext cx="792000" cy="23698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72" name="직선 연결선 2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3529" y="201684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12686" y="2016849"/>
              <a:ext cx="715881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순번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품목코드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품류코드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smtClean="0">
                  <a:latin typeface="+mn-ea"/>
                </a:rPr>
                <a:t>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등록요건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적격여부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승인일자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만료일자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갱신요청일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접수상태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74" name="TextBox 2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69534" y="2016849"/>
              <a:ext cx="1784088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srgbClr val="0070C0"/>
                  </a:solidFill>
                  <a:latin typeface="+mn-ea"/>
                </a:rPr>
                <a:t>2222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소시지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제조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공장등록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9999-12-31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9999-12-31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9999-12-31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신청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75" name="직선 연결선 2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22479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6" name="직선 연결선 2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24616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8" name="직선 연결선 2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267536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28702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30839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329766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35207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8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59275" y="2054775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 smtClean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선택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37321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394589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415960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43826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59275" y="2280152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 smtClean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보기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37" name="타원 33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6906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2547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8485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5145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624107164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기본 닫힘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조회 동의 체크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미체크한</a:t>
            </a:r>
            <a:r>
              <a:rPr lang="ko-KR" altLang="en-US" dirty="0" smtClean="0"/>
              <a:t> 상태로 등록 신청 클릭 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 smtClean="0"/>
              <a:t>모달</a:t>
            </a:r>
            <a:r>
              <a:rPr lang="ko-KR" altLang="en-US" dirty="0" smtClean="0"/>
              <a:t> </a:t>
            </a:r>
            <a:r>
              <a:rPr lang="ko-KR" altLang="en-US" dirty="0"/>
              <a:t>확인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메시지 </a:t>
            </a:r>
            <a:r>
              <a:rPr lang="en-US" altLang="ko-KR" dirty="0" smtClean="0"/>
              <a:t>: </a:t>
            </a:r>
            <a:r>
              <a:rPr lang="ko-KR" altLang="en-US" dirty="0" smtClean="0"/>
              <a:t>동의여부에 </a:t>
            </a:r>
            <a:r>
              <a:rPr lang="ko-KR" altLang="en-US" dirty="0"/>
              <a:t>체크하지 않는 경우 오프라인으로 서류를 제출하셔야 합니다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그대로 신청</a:t>
            </a:r>
            <a:r>
              <a:rPr lang="en-US" altLang="ko-KR" dirty="0" smtClean="0"/>
              <a:t>, </a:t>
            </a:r>
            <a:r>
              <a:rPr lang="ko-KR" altLang="en-US" dirty="0" smtClean="0"/>
              <a:t>닫기 버튼 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그대로 신청 시 다음 프로세스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  o </a:t>
            </a:r>
            <a:r>
              <a:rPr lang="ko-KR" altLang="en-US" dirty="0"/>
              <a:t>행정정보공동이용 </a:t>
            </a:r>
            <a:r>
              <a:rPr lang="ko-KR" altLang="en-US" dirty="0" err="1" smtClean="0"/>
              <a:t>사전동의서</a:t>
            </a:r>
            <a:r>
              <a:rPr lang="ko-KR" altLang="en-US" dirty="0" smtClean="0"/>
              <a:t> 호출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기본 닫힘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</a:t>
            </a:r>
            <a:r>
              <a:rPr lang="ko-KR" altLang="en-US" dirty="0" smtClean="0">
                <a:latin typeface="+mn-ea"/>
              </a:rPr>
              <a:t>추가 등록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</a:t>
            </a:r>
            <a:r>
              <a:rPr lang="ko-KR" altLang="en-US" dirty="0" smtClean="0">
                <a:latin typeface="+mn-ea"/>
              </a:rPr>
              <a:t>등록 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 smtClean="0">
                <a:latin typeface="+mn-ea"/>
              </a:rPr>
              <a:t>물품</a:t>
            </a:r>
            <a:r>
              <a:rPr lang="en-US" altLang="ko-KR" dirty="0" smtClean="0">
                <a:latin typeface="+mn-ea"/>
              </a:rPr>
              <a:t>(</a:t>
            </a:r>
            <a:r>
              <a:rPr lang="ko-KR" altLang="en-US" dirty="0" smtClean="0">
                <a:latin typeface="+mn-ea"/>
              </a:rPr>
              <a:t>내자</a:t>
            </a:r>
            <a:r>
              <a:rPr lang="en-US" altLang="ko-KR" dirty="0" smtClean="0">
                <a:latin typeface="+mn-ea"/>
              </a:rPr>
              <a:t>)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업체정보 추가 </a:t>
            </a:r>
            <a:r>
              <a:rPr lang="ko-KR" altLang="en-US" dirty="0" smtClean="0">
                <a:latin typeface="+mn-ea"/>
              </a:rPr>
              <a:t>등록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MUI-CM-01-M05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 추가 </a:t>
            </a:r>
            <a:r>
              <a:rPr lang="ko-KR" altLang="en-US" sz="800" dirty="0" smtClean="0">
                <a:latin typeface="+mn-ea"/>
              </a:rPr>
              <a:t>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740592" y="1919057"/>
            <a:ext cx="2543426" cy="4002058"/>
          </a:xfrm>
          <a:prstGeom prst="roundRect">
            <a:avLst>
              <a:gd name="adj" fmla="val 3825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8" name="TextBox 2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43672" y="1980876"/>
            <a:ext cx="2154318" cy="387798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b="1" dirty="0">
                <a:latin typeface="Consolas" panose="020B0609020204030204" pitchFamily="49" charset="0"/>
              </a:rPr>
              <a:t>유의사항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등록하시려는 품목이 상단에 이미 등록되어진 상태라면 별도로 추가하실 필요가 없습니다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신규 품목은 우측의 추가 버튼을 이용해 리스트에 추가 후 접수해 주시면 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삭제</a:t>
            </a:r>
            <a:r>
              <a:rPr lang="en-US" altLang="ko-KR" sz="700" dirty="0">
                <a:latin typeface="Consolas" panose="020B0609020204030204" pitchFamily="49" charset="0"/>
              </a:rPr>
              <a:t>,</a:t>
            </a:r>
            <a:r>
              <a:rPr lang="ko-KR" altLang="en-US" sz="700" dirty="0">
                <a:latin typeface="Consolas" panose="020B0609020204030204" pitchFamily="49" charset="0"/>
              </a:rPr>
              <a:t>갱신이 필요한 경우에는 선택에 체크 후 우측의 해당업무</a:t>
            </a: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삭제 혹은 갱신</a:t>
            </a:r>
            <a:r>
              <a:rPr lang="en-US" altLang="ko-KR" sz="700" dirty="0">
                <a:latin typeface="Consolas" panose="020B0609020204030204" pitchFamily="49" charset="0"/>
              </a:rPr>
              <a:t>) </a:t>
            </a:r>
            <a:r>
              <a:rPr lang="ko-KR" altLang="en-US" sz="700" dirty="0">
                <a:latin typeface="Consolas" panose="020B0609020204030204" pitchFamily="49" charset="0"/>
              </a:rPr>
              <a:t>버튼을 꼭 클릭하신 후 접수해 주시기 바랍니다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부적격 품목을 </a:t>
            </a:r>
            <a:r>
              <a:rPr lang="ko-KR" altLang="en-US" sz="700" dirty="0" err="1">
                <a:latin typeface="Consolas" panose="020B0609020204030204" pitchFamily="49" charset="0"/>
              </a:rPr>
              <a:t>재신청</a:t>
            </a:r>
            <a:r>
              <a:rPr lang="ko-KR" altLang="en-US" sz="700" dirty="0">
                <a:latin typeface="Consolas" panose="020B0609020204030204" pitchFamily="49" charset="0"/>
              </a:rPr>
              <a:t> 하실 경우는 먼저 해당 품목을 삭제하신 후 저장하시고 조달담당자의 승인을 받으신 다음 </a:t>
            </a:r>
            <a:r>
              <a:rPr lang="ko-KR" altLang="en-US" sz="700" dirty="0" err="1">
                <a:latin typeface="Consolas" panose="020B0609020204030204" pitchFamily="49" charset="0"/>
              </a:rPr>
              <a:t>재신청</a:t>
            </a:r>
            <a:r>
              <a:rPr lang="ko-KR" altLang="en-US" sz="700" dirty="0">
                <a:latin typeface="Consolas" panose="020B0609020204030204" pitchFamily="49" charset="0"/>
              </a:rPr>
              <a:t> 하셔야 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좌측메뉴 중 </a:t>
            </a:r>
            <a:r>
              <a:rPr lang="ko-KR" altLang="en-US" sz="700" dirty="0" err="1">
                <a:latin typeface="Consolas" panose="020B0609020204030204" pitchFamily="49" charset="0"/>
              </a:rPr>
              <a:t>등록품목</a:t>
            </a:r>
            <a:r>
              <a:rPr lang="ko-KR" altLang="en-US" sz="700" dirty="0">
                <a:latin typeface="Consolas" panose="020B0609020204030204" pitchFamily="49" charset="0"/>
              </a:rPr>
              <a:t> </a:t>
            </a:r>
            <a:r>
              <a:rPr lang="ko-KR" altLang="en-US" sz="700" dirty="0" err="1">
                <a:latin typeface="Consolas" panose="020B0609020204030204" pitchFamily="49" charset="0"/>
              </a:rPr>
              <a:t>신청조회</a:t>
            </a:r>
            <a:r>
              <a:rPr lang="ko-KR" altLang="en-US" sz="700" dirty="0">
                <a:latin typeface="Consolas" panose="020B0609020204030204" pitchFamily="49" charset="0"/>
              </a:rPr>
              <a:t> 코너에서 </a:t>
            </a:r>
            <a:r>
              <a:rPr lang="ko-KR" altLang="en-US" sz="700" dirty="0" err="1">
                <a:latin typeface="Consolas" panose="020B0609020204030204" pitchFamily="49" charset="0"/>
              </a:rPr>
              <a:t>품목삭제</a:t>
            </a:r>
            <a:r>
              <a:rPr lang="ko-KR" altLang="en-US" sz="700" dirty="0">
                <a:latin typeface="Consolas" panose="020B0609020204030204" pitchFamily="49" charset="0"/>
              </a:rPr>
              <a:t> 신청서의 </a:t>
            </a:r>
            <a:r>
              <a:rPr lang="ko-KR" altLang="en-US" sz="700" dirty="0" err="1">
                <a:latin typeface="Consolas" panose="020B0609020204030204" pitchFamily="49" charset="0"/>
              </a:rPr>
              <a:t>진행상태가</a:t>
            </a:r>
            <a:r>
              <a:rPr lang="ko-KR" altLang="en-US" sz="700" dirty="0">
                <a:latin typeface="Consolas" panose="020B0609020204030204" pitchFamily="49" charset="0"/>
              </a:rPr>
              <a:t> </a:t>
            </a:r>
            <a:r>
              <a:rPr lang="en-US" altLang="ko-KR" sz="700" dirty="0">
                <a:latin typeface="Consolas" panose="020B0609020204030204" pitchFamily="49" charset="0"/>
              </a:rPr>
              <a:t>[</a:t>
            </a:r>
            <a:r>
              <a:rPr lang="ko-KR" altLang="en-US" sz="700" dirty="0">
                <a:latin typeface="Consolas" panose="020B0609020204030204" pitchFamily="49" charset="0"/>
              </a:rPr>
              <a:t>승인</a:t>
            </a:r>
            <a:r>
              <a:rPr lang="en-US" altLang="ko-KR" sz="700" dirty="0">
                <a:latin typeface="Consolas" panose="020B0609020204030204" pitchFamily="49" charset="0"/>
              </a:rPr>
              <a:t>]</a:t>
            </a:r>
            <a:r>
              <a:rPr lang="ko-KR" altLang="en-US" sz="700" dirty="0">
                <a:latin typeface="Consolas" panose="020B0609020204030204" pitchFamily="49" charset="0"/>
              </a:rPr>
              <a:t>으로 확정된 후에 </a:t>
            </a:r>
            <a:r>
              <a:rPr lang="ko-KR" altLang="en-US" sz="700" dirty="0" err="1">
                <a:latin typeface="Consolas" panose="020B0609020204030204" pitchFamily="49" charset="0"/>
              </a:rPr>
              <a:t>재신청</a:t>
            </a:r>
            <a:r>
              <a:rPr lang="ko-KR" altLang="en-US" sz="700" dirty="0">
                <a:latin typeface="Consolas" panose="020B0609020204030204" pitchFamily="49" charset="0"/>
              </a:rPr>
              <a:t> 하셔야 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만료된 품목을 </a:t>
            </a:r>
            <a:r>
              <a:rPr lang="ko-KR" altLang="en-US" sz="700" dirty="0" err="1">
                <a:latin typeface="Consolas" panose="020B0609020204030204" pitchFamily="49" charset="0"/>
              </a:rPr>
              <a:t>재신청</a:t>
            </a:r>
            <a:r>
              <a:rPr lang="ko-KR" altLang="en-US" sz="700" dirty="0">
                <a:latin typeface="Consolas" panose="020B0609020204030204" pitchFamily="49" charset="0"/>
              </a:rPr>
              <a:t> 하실 경우는 먼저 해당 품목을 삭제하신 후 저장하시고 조달담당자의 승인을 받으신 다음 </a:t>
            </a:r>
            <a:r>
              <a:rPr lang="ko-KR" altLang="en-US" sz="700" dirty="0" err="1">
                <a:latin typeface="Consolas" panose="020B0609020204030204" pitchFamily="49" charset="0"/>
              </a:rPr>
              <a:t>재신청</a:t>
            </a:r>
            <a:r>
              <a:rPr lang="ko-KR" altLang="en-US" sz="700" dirty="0">
                <a:latin typeface="Consolas" panose="020B0609020204030204" pitchFamily="49" charset="0"/>
              </a:rPr>
              <a:t> 하셔야 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좌측메뉴 중 추가정보신청조회 코너에서 </a:t>
            </a:r>
            <a:r>
              <a:rPr lang="ko-KR" altLang="en-US" sz="700" dirty="0" err="1">
                <a:latin typeface="Consolas" panose="020B0609020204030204" pitchFamily="49" charset="0"/>
              </a:rPr>
              <a:t>품목삭제</a:t>
            </a:r>
            <a:r>
              <a:rPr lang="ko-KR" altLang="en-US" sz="700" dirty="0">
                <a:latin typeface="Consolas" panose="020B0609020204030204" pitchFamily="49" charset="0"/>
              </a:rPr>
              <a:t> 신청서의 </a:t>
            </a:r>
            <a:r>
              <a:rPr lang="ko-KR" altLang="en-US" sz="700" dirty="0" err="1">
                <a:latin typeface="Consolas" panose="020B0609020204030204" pitchFamily="49" charset="0"/>
              </a:rPr>
              <a:t>진행상태가</a:t>
            </a:r>
            <a:r>
              <a:rPr lang="ko-KR" altLang="en-US" sz="700" dirty="0">
                <a:latin typeface="Consolas" panose="020B0609020204030204" pitchFamily="49" charset="0"/>
              </a:rPr>
              <a:t> </a:t>
            </a:r>
            <a:r>
              <a:rPr lang="en-US" altLang="ko-KR" sz="700" dirty="0">
                <a:latin typeface="Consolas" panose="020B0609020204030204" pitchFamily="49" charset="0"/>
              </a:rPr>
              <a:t>[</a:t>
            </a:r>
            <a:r>
              <a:rPr lang="ko-KR" altLang="en-US" sz="700" dirty="0">
                <a:latin typeface="Consolas" panose="020B0609020204030204" pitchFamily="49" charset="0"/>
              </a:rPr>
              <a:t>승인</a:t>
            </a:r>
            <a:r>
              <a:rPr lang="en-US" altLang="ko-KR" sz="700" dirty="0">
                <a:latin typeface="Consolas" panose="020B0609020204030204" pitchFamily="49" charset="0"/>
              </a:rPr>
              <a:t>]</a:t>
            </a:r>
            <a:r>
              <a:rPr lang="ko-KR" altLang="en-US" sz="700" dirty="0">
                <a:latin typeface="Consolas" panose="020B0609020204030204" pitchFamily="49" charset="0"/>
              </a:rPr>
              <a:t>으로 확정된 후에 </a:t>
            </a:r>
            <a:r>
              <a:rPr lang="ko-KR" altLang="en-US" sz="700" dirty="0" err="1">
                <a:latin typeface="Consolas" panose="020B0609020204030204" pitchFamily="49" charset="0"/>
              </a:rPr>
              <a:t>재신청</a:t>
            </a:r>
            <a:r>
              <a:rPr lang="ko-KR" altLang="en-US" sz="700" dirty="0">
                <a:latin typeface="Consolas" panose="020B0609020204030204" pitchFamily="49" charset="0"/>
              </a:rPr>
              <a:t> 하셔야 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2016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년 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11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월 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30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일까지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유예기간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)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는 </a:t>
            </a:r>
            <a:r>
              <a:rPr lang="ko-KR" altLang="en-US" sz="700" dirty="0" err="1">
                <a:solidFill>
                  <a:srgbClr val="FF0000"/>
                </a:solidFill>
                <a:latin typeface="Consolas" panose="020B0609020204030204" pitchFamily="49" charset="0"/>
              </a:rPr>
              <a:t>만료일자와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 상관없이 </a:t>
            </a:r>
            <a:r>
              <a:rPr lang="ko-KR" altLang="en-US" sz="700" dirty="0" err="1">
                <a:solidFill>
                  <a:srgbClr val="FF0000"/>
                </a:solidFill>
                <a:latin typeface="Consolas" panose="020B0609020204030204" pitchFamily="49" charset="0"/>
              </a:rPr>
              <a:t>갱신신청이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 가능합니다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갱신은 </a:t>
            </a:r>
            <a:r>
              <a:rPr lang="ko-KR" altLang="en-US" sz="700" dirty="0" err="1">
                <a:solidFill>
                  <a:srgbClr val="FF0000"/>
                </a:solidFill>
                <a:latin typeface="Consolas" panose="020B0609020204030204" pitchFamily="49" charset="0"/>
              </a:rPr>
              <a:t>만료전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 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90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일부터 가능하며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, 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만료된 건은 삭제 후 추가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(</a:t>
            </a:r>
            <a:r>
              <a:rPr lang="ko-KR" altLang="en-US" sz="700" dirty="0" err="1">
                <a:solidFill>
                  <a:srgbClr val="FF0000"/>
                </a:solidFill>
                <a:latin typeface="Consolas" panose="020B0609020204030204" pitchFamily="49" charset="0"/>
              </a:rPr>
              <a:t>신규신청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)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해 주시기 바랍니다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.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299" name="타원 298"/>
          <p:cNvSpPr/>
          <p:nvPr/>
        </p:nvSpPr>
        <p:spPr>
          <a:xfrm>
            <a:off x="813731" y="1985612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34" name="그룹 233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235" name="직사각형 23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추가 등록</a:t>
              </a:r>
              <a:r>
                <a:rPr kumimoji="1" lang="en-US" altLang="ko-KR" sz="10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10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23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03" name="모서리가 둥근 직사각형 102"/>
          <p:cNvSpPr/>
          <p:nvPr/>
        </p:nvSpPr>
        <p:spPr>
          <a:xfrm>
            <a:off x="3880034" y="2372951"/>
            <a:ext cx="2543426" cy="2071729"/>
          </a:xfrm>
          <a:prstGeom prst="roundRect">
            <a:avLst>
              <a:gd name="adj" fmla="val 2456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3114" y="2434770"/>
            <a:ext cx="2154318" cy="193899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b="1" dirty="0" err="1" smtClean="0">
                <a:latin typeface="Consolas" panose="020B0609020204030204" pitchFamily="49" charset="0"/>
              </a:rPr>
              <a:t>내자업체</a:t>
            </a:r>
            <a:r>
              <a:rPr lang="ko-KR" altLang="en-US" sz="700" b="1" dirty="0" smtClean="0">
                <a:latin typeface="Consolas" panose="020B0609020204030204" pitchFamily="49" charset="0"/>
              </a:rPr>
              <a:t> 제출서류 안내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전화</a:t>
            </a:r>
            <a:r>
              <a:rPr lang="en-US" altLang="ko-KR" sz="700" dirty="0">
                <a:latin typeface="Consolas" panose="020B0609020204030204" pitchFamily="49" charset="0"/>
              </a:rPr>
              <a:t>) </a:t>
            </a:r>
            <a:r>
              <a:rPr lang="en-US" altLang="ko-KR" sz="700" dirty="0" smtClean="0">
                <a:latin typeface="Consolas" panose="020B0609020204030204" pitchFamily="49" charset="0"/>
              </a:rPr>
              <a:t>02-2079-6915,6925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en-US" altLang="ko-KR" sz="700" dirty="0" smtClean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팩스번호</a:t>
            </a:r>
            <a:r>
              <a:rPr lang="en-US" altLang="ko-KR" sz="700" dirty="0">
                <a:latin typeface="Consolas" panose="020B0609020204030204" pitchFamily="49" charset="0"/>
              </a:rPr>
              <a:t>) 02-773-7587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endParaRPr lang="en-US" altLang="ko-KR" sz="700" dirty="0" smtClean="0">
              <a:latin typeface="Consolas" panose="020B0609020204030204" pitchFamily="49" charset="0"/>
            </a:endParaRPr>
          </a:p>
          <a:p>
            <a:pPr marL="179388" indent="-179388">
              <a:lnSpc>
                <a:spcPct val="150000"/>
              </a:lnSpc>
              <a:buFont typeface="+mj-lt"/>
              <a:buAutoNum type="arabicPeriod"/>
            </a:pPr>
            <a:r>
              <a:rPr lang="ko-KR" altLang="en-US" sz="700" b="1" dirty="0" smtClean="0">
                <a:latin typeface="Consolas" panose="020B0609020204030204" pitchFamily="49" charset="0"/>
              </a:rPr>
              <a:t>공장등록증명서 </a:t>
            </a:r>
            <a:r>
              <a:rPr lang="ko-KR" altLang="en-US" sz="700" b="1" dirty="0">
                <a:latin typeface="Consolas" panose="020B0609020204030204" pitchFamily="49" charset="0"/>
              </a:rPr>
              <a:t>또는 사업자등록증명원 조회 </a:t>
            </a:r>
            <a:r>
              <a:rPr lang="ko-KR" altLang="en-US" sz="700" b="1" dirty="0" smtClean="0">
                <a:latin typeface="Consolas" panose="020B0609020204030204" pitchFamily="49" charset="0"/>
              </a:rPr>
              <a:t>동의여부</a:t>
            </a:r>
            <a:endParaRPr lang="en-US" altLang="ko-KR" sz="700" b="1" dirty="0" smtClean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b="1" dirty="0" smtClean="0">
                <a:solidFill>
                  <a:srgbClr val="FF0000"/>
                </a:solidFill>
                <a:latin typeface="맑은 고딕" panose="020B0503020000020004" pitchFamily="50" charset="-127"/>
              </a:rPr>
              <a:t>동의여부에 </a:t>
            </a:r>
            <a:r>
              <a:rPr lang="ko-KR" altLang="en-US" sz="700" b="1" dirty="0">
                <a:solidFill>
                  <a:srgbClr val="FF0000"/>
                </a:solidFill>
                <a:latin typeface="맑은 고딕" panose="020B0503020000020004" pitchFamily="50" charset="-127"/>
              </a:rPr>
              <a:t>체크하지 않는 경우 오프라인으로 서류를 제출하셔야 합니다</a:t>
            </a:r>
            <a:r>
              <a:rPr lang="en-US" altLang="ko-KR" sz="700" b="1" dirty="0" smtClean="0">
                <a:solidFill>
                  <a:srgbClr val="FF0000"/>
                </a:solidFill>
                <a:latin typeface="맑은 고딕" panose="020B0503020000020004" pitchFamily="50" charset="-127"/>
              </a:rPr>
              <a:t>.</a:t>
            </a:r>
          </a:p>
          <a:p>
            <a:pPr marL="179388" indent="-179388">
              <a:lnSpc>
                <a:spcPct val="150000"/>
              </a:lnSpc>
              <a:buFont typeface="+mj-lt"/>
              <a:buAutoNum type="arabicPeriod" startAt="2"/>
            </a:pPr>
            <a:r>
              <a:rPr lang="ko-KR" altLang="en-US" sz="700" b="1" dirty="0">
                <a:latin typeface="맑은 고딕" panose="020B0503020000020004" pitchFamily="50" charset="-127"/>
              </a:rPr>
              <a:t>인</a:t>
            </a:r>
            <a:r>
              <a:rPr lang="en-US" altLang="ko-KR" sz="700" b="1" dirty="0">
                <a:latin typeface="맑은 고딕" panose="020B0503020000020004" pitchFamily="50" charset="-127"/>
              </a:rPr>
              <a:t>,</a:t>
            </a:r>
            <a:r>
              <a:rPr lang="ko-KR" altLang="en-US" sz="700" b="1" dirty="0">
                <a:latin typeface="맑은 고딕" panose="020B0503020000020004" pitchFamily="50" charset="-127"/>
              </a:rPr>
              <a:t>허가증 사본 </a:t>
            </a:r>
            <a:r>
              <a:rPr lang="en-US" altLang="ko-KR" sz="700" b="1" dirty="0">
                <a:latin typeface="맑은 고딕" panose="020B0503020000020004" pitchFamily="50" charset="-127"/>
              </a:rPr>
              <a:t>- 1</a:t>
            </a:r>
            <a:r>
              <a:rPr lang="ko-KR" altLang="en-US" sz="700" b="1" dirty="0">
                <a:latin typeface="맑은 고딕" panose="020B0503020000020004" pitchFamily="50" charset="-127"/>
              </a:rPr>
              <a:t>부 </a:t>
            </a:r>
            <a:r>
              <a:rPr lang="en-US" altLang="ko-KR" sz="700" b="1" dirty="0">
                <a:latin typeface="맑은 고딕" panose="020B0503020000020004" pitchFamily="50" charset="-127"/>
              </a:rPr>
              <a:t>(</a:t>
            </a:r>
            <a:r>
              <a:rPr lang="ko-KR" altLang="en-US" sz="700" b="1" dirty="0">
                <a:latin typeface="맑은 고딕" panose="020B0503020000020004" pitchFamily="50" charset="-127"/>
              </a:rPr>
              <a:t>해당품목 제출</a:t>
            </a:r>
            <a:r>
              <a:rPr lang="en-US" altLang="ko-KR" sz="700" b="1" dirty="0" smtClean="0">
                <a:latin typeface="맑은 고딕" panose="020B0503020000020004" pitchFamily="50" charset="-127"/>
              </a:rPr>
              <a:t>)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b="1" dirty="0">
                <a:solidFill>
                  <a:srgbClr val="0070C0"/>
                </a:solidFill>
                <a:latin typeface="맑은 고딕" panose="020B0503020000020004" pitchFamily="50" charset="-127"/>
              </a:rPr>
              <a:t>해당 공무원이 </a:t>
            </a:r>
            <a:r>
              <a:rPr lang="ko-KR" altLang="en-US" sz="700" b="1" dirty="0" err="1">
                <a:solidFill>
                  <a:srgbClr val="0070C0"/>
                </a:solidFill>
                <a:latin typeface="맑은 고딕" panose="020B0503020000020004" pitchFamily="50" charset="-127"/>
              </a:rPr>
              <a:t>행정정보공동이용센터</a:t>
            </a:r>
            <a:r>
              <a:rPr lang="en-US" altLang="ko-KR" sz="700" b="1" dirty="0">
                <a:solidFill>
                  <a:srgbClr val="0070C0"/>
                </a:solidFill>
                <a:latin typeface="맑은 고딕" panose="020B0503020000020004" pitchFamily="50" charset="-127"/>
              </a:rPr>
              <a:t>(www.share.go.kr)</a:t>
            </a:r>
            <a:r>
              <a:rPr lang="ko-KR" altLang="en-US" sz="700" b="1" dirty="0">
                <a:solidFill>
                  <a:srgbClr val="0070C0"/>
                </a:solidFill>
                <a:latin typeface="맑은 고딕" panose="020B0503020000020004" pitchFamily="50" charset="-127"/>
              </a:rPr>
              <a:t>에서 직접 조회가 가능한 업체는 별도 제출 불필요</a:t>
            </a:r>
          </a:p>
        </p:txBody>
      </p:sp>
      <p:sp>
        <p:nvSpPr>
          <p:cNvPr id="105" name="타원 104"/>
          <p:cNvSpPr/>
          <p:nvPr/>
        </p:nvSpPr>
        <p:spPr>
          <a:xfrm>
            <a:off x="3953173" y="2439506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6" name="그룹 105"/>
          <p:cNvGrpSpPr/>
          <p:nvPr/>
        </p:nvGrpSpPr>
        <p:grpSpPr>
          <a:xfrm flipV="1">
            <a:off x="6259047" y="2509984"/>
            <a:ext cx="94010" cy="47005"/>
            <a:chOff x="6812560" y="3297172"/>
            <a:chExt cx="94010" cy="47005"/>
          </a:xfrm>
        </p:grpSpPr>
        <p:cxnSp>
          <p:nvCxnSpPr>
            <p:cNvPr id="107" name="직선 연결선 10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8" name="직선 연결선 10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09" name="그룹 108"/>
          <p:cNvGrpSpPr/>
          <p:nvPr/>
        </p:nvGrpSpPr>
        <p:grpSpPr>
          <a:xfrm flipV="1">
            <a:off x="3091512" y="2056090"/>
            <a:ext cx="94010" cy="47005"/>
            <a:chOff x="6812560" y="3297172"/>
            <a:chExt cx="94010" cy="47005"/>
          </a:xfrm>
        </p:grpSpPr>
        <p:cxnSp>
          <p:nvCxnSpPr>
            <p:cNvPr id="110" name="직선 연결선 10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1" name="직선 연결선 11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7" name="그룹 6"/>
          <p:cNvGrpSpPr/>
          <p:nvPr/>
        </p:nvGrpSpPr>
        <p:grpSpPr>
          <a:xfrm>
            <a:off x="3888037" y="1899559"/>
            <a:ext cx="2522014" cy="342712"/>
            <a:chOff x="3888037" y="3794514"/>
            <a:chExt cx="2522014" cy="342712"/>
          </a:xfrm>
        </p:grpSpPr>
        <p:sp>
          <p:nvSpPr>
            <p:cNvPr id="11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3888037" y="3794514"/>
              <a:ext cx="2522014" cy="34271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endParaRPr kumimoji="1" lang="en-US" sz="700" kern="0" dirty="0">
                <a:solidFill>
                  <a:srgbClr val="0070C0"/>
                </a:solidFill>
                <a:latin typeface="맑은 고딕"/>
              </a:endParaRPr>
            </a:p>
          </p:txBody>
        </p:sp>
        <p:sp>
          <p:nvSpPr>
            <p:cNvPr id="113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3985874" y="3904315"/>
              <a:ext cx="56106" cy="12311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/>
                <a:t>1</a:t>
              </a:r>
              <a:endParaRPr lang="ko-KR" altLang="en-US" sz="800" b="1" dirty="0"/>
            </a:p>
          </p:txBody>
        </p:sp>
        <p:sp>
          <p:nvSpPr>
            <p:cNvPr id="11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4161661" y="3842760"/>
              <a:ext cx="1304844" cy="24622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dirty="0">
                  <a:latin typeface="맑은 고딕" panose="020B0503020000020004" pitchFamily="50" charset="-127"/>
                </a:rPr>
                <a:t>공장등록증명서 </a:t>
              </a:r>
              <a:r>
                <a:rPr lang="ko-KR" altLang="en-US" sz="800" dirty="0" smtClean="0">
                  <a:latin typeface="맑은 고딕" panose="020B0503020000020004" pitchFamily="50" charset="-127"/>
                </a:rPr>
                <a:t>또는</a:t>
              </a:r>
              <a:endParaRPr lang="en-US" altLang="ko-KR" sz="800" dirty="0" smtClean="0">
                <a:latin typeface="맑은 고딕" panose="020B0503020000020004" pitchFamily="50" charset="-127"/>
              </a:endParaRPr>
            </a:p>
            <a:p>
              <a:r>
                <a:rPr lang="ko-KR" altLang="en-US" sz="800" dirty="0" smtClean="0">
                  <a:latin typeface="맑은 고딕" panose="020B0503020000020004" pitchFamily="50" charset="-127"/>
                </a:rPr>
                <a:t>사업자등록증명원 </a:t>
              </a:r>
              <a:r>
                <a:rPr lang="ko-KR" altLang="en-US" sz="800" dirty="0">
                  <a:latin typeface="맑은 고딕" panose="020B0503020000020004" pitchFamily="50" charset="-127"/>
                </a:rPr>
                <a:t>조회 동의</a:t>
              </a:r>
              <a:endParaRPr lang="en-US" altLang="ko-KR" sz="800" dirty="0">
                <a:latin typeface="맑은 고딕" panose="020B0503020000020004" pitchFamily="50" charset="-127"/>
              </a:endParaRPr>
            </a:p>
          </p:txBody>
        </p:sp>
        <p:sp>
          <p:nvSpPr>
            <p:cNvPr id="115" name="모서리가 둥근 직사각형 114"/>
            <p:cNvSpPr/>
            <p:nvPr/>
          </p:nvSpPr>
          <p:spPr>
            <a:xfrm>
              <a:off x="6079244" y="3906170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동의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116" name="타원 115"/>
            <p:cNvSpPr/>
            <p:nvPr/>
          </p:nvSpPr>
          <p:spPr>
            <a:xfrm>
              <a:off x="5884665" y="3908013"/>
              <a:ext cx="115715" cy="115715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 dirty="0">
                  <a:solidFill>
                    <a:schemeClr val="accent6"/>
                  </a:solidFill>
                </a:rPr>
                <a:t>V</a:t>
              </a:r>
              <a:endParaRPr lang="ko-KR" altLang="en-US" sz="800" dirty="0">
                <a:solidFill>
                  <a:schemeClr val="accent6"/>
                </a:solidFill>
              </a:endParaRPr>
            </a:p>
          </p:txBody>
        </p:sp>
      </p:grpSp>
      <p:sp>
        <p:nvSpPr>
          <p:cNvPr id="119" name="TextBox 1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3546" y="1573405"/>
            <a:ext cx="1136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조회 동의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20" name="그룹 119"/>
          <p:cNvGrpSpPr/>
          <p:nvPr/>
        </p:nvGrpSpPr>
        <p:grpSpPr>
          <a:xfrm flipV="1">
            <a:off x="6255634" y="1686736"/>
            <a:ext cx="94010" cy="47005"/>
            <a:chOff x="6812560" y="3297172"/>
            <a:chExt cx="94010" cy="47005"/>
          </a:xfrm>
        </p:grpSpPr>
        <p:cxnSp>
          <p:nvCxnSpPr>
            <p:cNvPr id="143" name="직선 연결선 14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4" name="직선 연결선 14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45" name="타원 1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27011" y="160835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46" name="타원 14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27011" y="245533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116413446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141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28252" y="811137"/>
            <a:ext cx="310879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등록품목명세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dm_regTrgtItemSearchInfo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23134" y="1022340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 입력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28252" y="3183315"/>
            <a:ext cx="227522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담당자정보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dm_picInfo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23134" y="3401754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9569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1781170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9CBA9035-2FE4-43FC-851D-ACB8514226FD}"/>
              </a:ext>
            </a:extLst>
          </p:cNvPr>
          <p:cNvSpPr txBox="1"/>
          <p:nvPr/>
        </p:nvSpPr>
        <p:spPr>
          <a:xfrm>
            <a:off x="428252" y="4481928"/>
            <a:ext cx="364098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 err="1">
                <a:solidFill>
                  <a:prstClr val="black"/>
                </a:solidFill>
              </a:rPr>
              <a:t>대표품류및조합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단체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dm_knditmListAsctGrpList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676D32D8-6D11-9959-CAB9-BEFE1941BB6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23134" y="4694428"/>
          <a:ext cx="8994883" cy="1285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대표품류코드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knditmCdNm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대표품류코드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팝업에서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선택시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품류명이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자동 입력됨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knditmCdNm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   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bzstatNm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(’11’)/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(‘12’)/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조합및단체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(‘13’)/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(‘14’)/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벤처제조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(‘15’)/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벤처판매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(‘16’)/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(‘17’)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9569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팝업에서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선택시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단체명이 자동 입력됨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17811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7273129"/>
                  </a:ext>
                </a:extLst>
              </a:tr>
            </a:tbl>
          </a:graphicData>
        </a:graphic>
      </p:graphicFrame>
      <p:sp>
        <p:nvSpPr>
          <p:cNvPr id="11" name="Text Box 73">
            <a:extLst>
              <a:ext uri="{FF2B5EF4-FFF2-40B4-BE49-F238E27FC236}">
                <a16:creationId xmlns:a16="http://schemas.microsoft.com/office/drawing/2014/main" id="{0C5FB957-A45F-4B4F-2640-D8567226CE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9AA4D52-15F1-C1B7-19DD-B51414D0715F}"/>
              </a:ext>
            </a:extLst>
          </p:cNvPr>
          <p:cNvSpPr txBox="1"/>
          <p:nvPr/>
        </p:nvSpPr>
        <p:spPr>
          <a:xfrm>
            <a:off x="428252" y="1569936"/>
            <a:ext cx="260063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일반정보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dm_bzentyGnrlInfo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C694037-F3B9-2054-5F07-92A12737A99B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23134" y="1794312"/>
          <a:ext cx="8994883" cy="1285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bplcSeNm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지사코드로 본사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대리점 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hdofcBrno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 압력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80512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isoCertYn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13505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rprsvEngNm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38051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bzentyEngAddr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5939883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35655330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extBox 14">
            <a:extLst>
              <a:ext uri="{FF2B5EF4-FFF2-40B4-BE49-F238E27FC236}">
                <a16:creationId xmlns:a16="http://schemas.microsoft.com/office/drawing/2014/main" id="{78400772-3B60-9124-A735-5290802322DE}"/>
              </a:ext>
            </a:extLst>
          </p:cNvPr>
          <p:cNvSpPr txBox="1"/>
          <p:nvPr/>
        </p:nvSpPr>
        <p:spPr>
          <a:xfrm>
            <a:off x="500368" y="863475"/>
            <a:ext cx="27545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 </a:t>
            </a:r>
            <a:r>
              <a:rPr lang="ko-KR" altLang="en-US" sz="900" b="1" dirty="0">
                <a:solidFill>
                  <a:prstClr val="black"/>
                </a:solidFill>
              </a:rPr>
              <a:t>등록품목명세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dl_regTrgtItemList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3303F721-3421-5776-2FB7-04CBF1253BEC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00368" y="1091804"/>
          <a:ext cx="883572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520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9569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itemRgstrtSecdNm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(`’1’) 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(‘2’) 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(‘3’)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17811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itemRgstrtRqmtNm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등록요건코드로 등록요건명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7273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itemRvwRsltYn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568690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itemRgstrtYmd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729112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만료일자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rgstrtItemDelYmd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만료일자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484087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갱싱요청일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lastChgYmd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갱싱요청일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4461623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rcptStts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접수상태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2674162"/>
                  </a:ext>
                </a:extLst>
              </a:tr>
            </a:tbl>
          </a:graphicData>
        </a:graphic>
      </p:graphicFrame>
      <p:sp>
        <p:nvSpPr>
          <p:cNvPr id="20" name="슬라이드 번호 개체 틀 2">
            <a:extLst>
              <a:ext uri="{FF2B5EF4-FFF2-40B4-BE49-F238E27FC236}">
                <a16:creationId xmlns:a16="http://schemas.microsoft.com/office/drawing/2014/main" id="{B8A40E36-9474-F1DA-5DF3-B847F71AE8C8}"/>
              </a:ext>
            </a:extLst>
          </p:cNvPr>
          <p:cNvSpPr txBox="1">
            <a:spLocks/>
          </p:cNvSpPr>
          <p:nvPr/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ko-KR"/>
            </a:defPPr>
            <a:lvl1pPr marL="0" algn="ctr" defTabSz="914400" rtl="0" eaLnBrk="1" latinLnBrk="1" hangingPunct="1"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DF8E3FD-B4FB-473B-BCAD-C4534B9A9D97}" type="slidenum">
              <a:rPr lang="ko-KR" altLang="en-US" smtClean="0"/>
              <a:pPr/>
              <a:t>142</a:t>
            </a:fld>
            <a:endParaRPr lang="ko-KR" altLang="en-US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2E873DA-3FA4-E42A-8661-789027343A34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3" name="Text Box 73">
            <a:extLst>
              <a:ext uri="{FF2B5EF4-FFF2-40B4-BE49-F238E27FC236}">
                <a16:creationId xmlns:a16="http://schemas.microsoft.com/office/drawing/2014/main" id="{91366235-70F1-95B2-0D00-97A6E64603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25942196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슬라이드 번호 개체 틀 2">
            <a:extLst>
              <a:ext uri="{FF2B5EF4-FFF2-40B4-BE49-F238E27FC236}">
                <a16:creationId xmlns:a16="http://schemas.microsoft.com/office/drawing/2014/main" id="{B8A40E36-9474-F1DA-5DF3-B847F71AE8C8}"/>
              </a:ext>
            </a:extLst>
          </p:cNvPr>
          <p:cNvSpPr txBox="1">
            <a:spLocks/>
          </p:cNvSpPr>
          <p:nvPr/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ko-KR"/>
            </a:defPPr>
            <a:lvl1pPr marL="0" algn="ctr" defTabSz="914400" rtl="0" eaLnBrk="1" latinLnBrk="1" hangingPunct="1"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DF8E3FD-B4FB-473B-BCAD-C4534B9A9D97}" type="slidenum">
              <a:rPr lang="ko-KR" altLang="en-US" smtClean="0"/>
              <a:pPr/>
              <a:t>143</a:t>
            </a:fld>
            <a:endParaRPr lang="ko-KR" altLang="en-US" dirty="0"/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57B819BD-609A-92E3-FF98-CA2AAE2373C2}"/>
              </a:ext>
            </a:extLst>
          </p:cNvPr>
          <p:cNvSpPr txBox="1"/>
          <p:nvPr/>
        </p:nvSpPr>
        <p:spPr>
          <a:xfrm>
            <a:off x="528410" y="61805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1E0B8B68-4462-5720-2F41-CE4CD60912F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11079505"/>
              </p:ext>
            </p:extLst>
          </p:nvPr>
        </p:nvGraphicFramePr>
        <p:xfrm>
          <a:off x="523292" y="854685"/>
          <a:ext cx="8995591" cy="32304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 업체일반 정보와 물품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smtClean="0"/>
                        <a:t>담당자 정보 저장 </a:t>
                      </a:r>
                      <a:r>
                        <a:rPr lang="ko-KR" altLang="en-US" sz="800" dirty="0"/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scwin.btn_strg_onclick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담당자정보를 변경한다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승인없이 반영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730241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err="1"/>
                        <a:t>대표품류</a:t>
                      </a:r>
                      <a:r>
                        <a:rPr lang="ko-KR" altLang="en-US" sz="800" dirty="0"/>
                        <a:t> 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scwin.btn_rprsKnditmSrch_onclick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UI-CM-01-P10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조합</a:t>
                      </a:r>
                      <a:r>
                        <a:rPr lang="en-US" altLang="ko-KR" sz="800" dirty="0"/>
                        <a:t>/</a:t>
                      </a:r>
                      <a:r>
                        <a:rPr lang="ko-KR" altLang="en-US" sz="800" dirty="0"/>
                        <a:t>단체 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scwin.btn_asctGrpSrch_onclick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 정보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UI-CM-01-P11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922238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smtClean="0"/>
                        <a:t>품목 코드 검색 </a:t>
                      </a:r>
                      <a:r>
                        <a:rPr lang="ko-KR" altLang="en-US" sz="800" dirty="0"/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scwin.btn_regTrgtItemSrch_onclick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등록품목명세 목록을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2450081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smtClean="0"/>
                        <a:t>신규 추가 </a:t>
                      </a:r>
                      <a:r>
                        <a:rPr lang="ko-KR" altLang="en-US" sz="800" dirty="0"/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scwin.btn_regTrgtItemAdd_onclick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등록품목명세 추가를 위한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UI-CM-01-P12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060562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smtClean="0"/>
                        <a:t>선택 삭제 </a:t>
                      </a:r>
                      <a:r>
                        <a:rPr lang="ko-KR" altLang="en-US" sz="800" dirty="0"/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scwin.btn_regTrgtItemDel_onclick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등록품목명세 목록에서 선택한 등록품목명세를 삭제한다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9114054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smtClean="0"/>
                        <a:t>선택 갱신 </a:t>
                      </a:r>
                      <a:r>
                        <a:rPr lang="ko-KR" altLang="en-US" sz="800" dirty="0"/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scwin.btn_regTrgtItemUpdt_onclick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등록품목명세 목록에서 선택한 등록품목명세를 갱신 요청한다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914105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등록품목명세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품목코드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scwin.grd_regTrgtItemList_oncellclick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 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조회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UI-CM-01-P13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306562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smtClean="0"/>
                        <a:t>추가 등록 신청 </a:t>
                      </a:r>
                      <a:r>
                        <a:rPr lang="ko-KR" altLang="en-US" sz="800" dirty="0"/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scwin.btn_aply_onclick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행정정보공동이용 사전동의서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UI-CM-01-P14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0584524"/>
                  </a:ext>
                </a:extLst>
              </a:tr>
            </a:tbl>
          </a:graphicData>
        </a:graphic>
      </p:graphicFrame>
      <p:sp>
        <p:nvSpPr>
          <p:cNvPr id="3" name="Text Box 73">
            <a:extLst>
              <a:ext uri="{FF2B5EF4-FFF2-40B4-BE49-F238E27FC236}">
                <a16:creationId xmlns:a16="http://schemas.microsoft.com/office/drawing/2014/main" id="{D81CD3F1-A5D8-37E1-591B-2AC7425F10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1117" y="73693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76446092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추가 등록할 내용 탭 선택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개별 정보 입력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보안측정인원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초기화 </a:t>
            </a:r>
            <a:r>
              <a:rPr lang="en-US" altLang="ko-KR" dirty="0" smtClean="0"/>
              <a:t>: </a:t>
            </a:r>
            <a:r>
              <a:rPr lang="ko-KR" altLang="en-US" dirty="0" smtClean="0"/>
              <a:t>입력된 내역을 </a:t>
            </a:r>
            <a:r>
              <a:rPr lang="ko-KR" altLang="en-US" dirty="0" err="1" smtClean="0"/>
              <a:t>최초상태로</a:t>
            </a:r>
            <a:r>
              <a:rPr lang="ko-KR" altLang="en-US" dirty="0" smtClean="0"/>
              <a:t> 되돌림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신규 추가 </a:t>
            </a:r>
            <a:r>
              <a:rPr lang="en-US" altLang="ko-KR" dirty="0" smtClean="0"/>
              <a:t>: </a:t>
            </a:r>
            <a:r>
              <a:rPr lang="ko-KR" altLang="en-US" dirty="0" smtClean="0"/>
              <a:t>보안측정인원 등록 팝업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선택 삭제 </a:t>
            </a:r>
            <a:r>
              <a:rPr lang="en-US" altLang="ko-KR" dirty="0" smtClean="0"/>
              <a:t>: </a:t>
            </a:r>
            <a:r>
              <a:rPr lang="ko-KR" altLang="en-US" dirty="0" smtClean="0"/>
              <a:t>선택된 항목 삭제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</a:t>
            </a:r>
            <a:r>
              <a:rPr lang="ko-KR" altLang="en-US" dirty="0" smtClean="0">
                <a:latin typeface="+mn-ea"/>
              </a:rPr>
              <a:t>추가 등록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국내소재상사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업체정보 추가 </a:t>
            </a:r>
            <a:r>
              <a:rPr lang="ko-KR" altLang="en-US" dirty="0" smtClean="0">
                <a:latin typeface="+mn-ea"/>
              </a:rPr>
              <a:t>등록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MUI-CM-01-M05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 추가 </a:t>
            </a:r>
            <a:r>
              <a:rPr lang="ko-KR" altLang="en-US" sz="800" dirty="0" smtClean="0">
                <a:latin typeface="+mn-ea"/>
              </a:rPr>
              <a:t>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93" name="그룹 192"/>
          <p:cNvGrpSpPr/>
          <p:nvPr/>
        </p:nvGrpSpPr>
        <p:grpSpPr>
          <a:xfrm>
            <a:off x="720490" y="2297845"/>
            <a:ext cx="2630093" cy="1403096"/>
            <a:chOff x="720490" y="4465173"/>
            <a:chExt cx="2630093" cy="1403096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일반정보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95" name="그룹 194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8" name="직선 연결선 2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9" name="직선 연결선 2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6" name="직사각형 195"/>
            <p:cNvSpPr/>
            <p:nvPr/>
          </p:nvSpPr>
          <p:spPr>
            <a:xfrm>
              <a:off x="722583" y="4772659"/>
              <a:ext cx="792000" cy="10956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40473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본</a:t>
              </a:r>
              <a:r>
                <a:rPr lang="en-US" altLang="ko-KR" sz="700" dirty="0" smtClean="0">
                  <a:latin typeface="+mn-ea"/>
                </a:rPr>
                <a:t>/</a:t>
              </a:r>
              <a:r>
                <a:rPr lang="ko-KR" altLang="en-US" sz="700" dirty="0" smtClean="0">
                  <a:latin typeface="+mn-ea"/>
                </a:rPr>
                <a:t>지사 </a:t>
              </a:r>
              <a:r>
                <a:rPr lang="en-US" altLang="ko-KR" sz="700" dirty="0" smtClean="0">
                  <a:solidFill>
                    <a:srgbClr val="FF0000"/>
                  </a:solidFill>
                  <a:latin typeface="+mn-ea"/>
                </a:rPr>
                <a:t>*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본사 </a:t>
              </a:r>
              <a:r>
                <a:rPr lang="ko-KR" altLang="en-US" sz="700" dirty="0" err="1">
                  <a:latin typeface="+mn-ea"/>
                </a:rPr>
                <a:t>사업자번호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ISO </a:t>
              </a:r>
              <a:r>
                <a:rPr lang="ko-KR" altLang="en-US" sz="700" dirty="0" err="1">
                  <a:latin typeface="+mn-ea"/>
                </a:rPr>
                <a:t>인증여부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대표자명</a:t>
              </a: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 smtClean="0">
                  <a:latin typeface="+mn-ea"/>
                </a:rPr>
                <a:t>영문</a:t>
              </a:r>
              <a:r>
                <a:rPr lang="en-US" altLang="ko-KR" sz="700" dirty="0" smtClean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 smtClean="0">
                  <a:latin typeface="+mn-ea"/>
                </a:rPr>
                <a:t>영문</a:t>
              </a:r>
              <a:r>
                <a:rPr lang="en-US" altLang="ko-KR" sz="700" dirty="0" smtClean="0">
                  <a:latin typeface="+mn-ea"/>
                </a:rPr>
                <a:t>)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4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4" name="직선 연결선 2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6499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375660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5" name="타원 214"/>
          <p:cNvSpPr/>
          <p:nvPr/>
        </p:nvSpPr>
        <p:spPr>
          <a:xfrm>
            <a:off x="1597442" y="3113912"/>
            <a:ext cx="90000" cy="90000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6" name="타원 215"/>
          <p:cNvSpPr/>
          <p:nvPr/>
        </p:nvSpPr>
        <p:spPr>
          <a:xfrm>
            <a:off x="2348738" y="3113912"/>
            <a:ext cx="90000" cy="90000"/>
          </a:xfrm>
          <a:prstGeom prst="ellipse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746956" y="3105051"/>
            <a:ext cx="8976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여</a:t>
            </a: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506466" y="3105051"/>
            <a:ext cx="8976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263982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156" name="그룹 155"/>
          <p:cNvGrpSpPr/>
          <p:nvPr/>
        </p:nvGrpSpPr>
        <p:grpSpPr>
          <a:xfrm>
            <a:off x="3138674" y="2697327"/>
            <a:ext cx="94010" cy="47005"/>
            <a:chOff x="6812560" y="3297172"/>
            <a:chExt cx="94010" cy="47005"/>
          </a:xfrm>
        </p:grpSpPr>
        <p:cxnSp>
          <p:nvCxnSpPr>
            <p:cNvPr id="157" name="직선 연결선 15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8" name="직선 연결선 15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6" y="2865405"/>
            <a:ext cx="51060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자리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6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196224" y="2865405"/>
            <a:ext cx="51060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자리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7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831383" y="2865405"/>
            <a:ext cx="51060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5</a:t>
            </a: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자리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7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328878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7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350325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115510" y="2892544"/>
            <a:ext cx="3687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700" dirty="0" smtClean="0">
                <a:latin typeface="+mn-ea"/>
              </a:rPr>
              <a:t>-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50668" y="2892544"/>
            <a:ext cx="3687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700" dirty="0" smtClean="0">
                <a:latin typeface="+mn-ea"/>
              </a:rPr>
              <a:t>-</a:t>
            </a:r>
            <a:endParaRPr lang="ko-KR" altLang="en-US" sz="700" dirty="0">
              <a:latin typeface="+mn-ea"/>
            </a:endParaRPr>
          </a:p>
        </p:txBody>
      </p:sp>
      <p:sp>
        <p:nvSpPr>
          <p:cNvPr id="260" name="타원 2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2321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64" name="타원 26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4498" y="208012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grpSp>
        <p:nvGrpSpPr>
          <p:cNvPr id="265" name="그룹 264"/>
          <p:cNvGrpSpPr/>
          <p:nvPr/>
        </p:nvGrpSpPr>
        <p:grpSpPr>
          <a:xfrm>
            <a:off x="720490" y="3805640"/>
            <a:ext cx="2630093" cy="2261591"/>
            <a:chOff x="720490" y="2967388"/>
            <a:chExt cx="2630093" cy="2261591"/>
          </a:xfrm>
        </p:grpSpPr>
        <p:sp>
          <p:nvSpPr>
            <p:cNvPr id="266" name="TextBox 2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법인</a:t>
              </a:r>
              <a:r>
                <a:rPr lang="en-US" altLang="ko-KR" sz="700" dirty="0" smtClean="0">
                  <a:latin typeface="+mn-ea"/>
                </a:rPr>
                <a:t>/</a:t>
              </a:r>
              <a:r>
                <a:rPr lang="ko-KR" altLang="en-US" sz="700" dirty="0" smtClean="0">
                  <a:latin typeface="+mn-ea"/>
                </a:rPr>
                <a:t>개인 구분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67" name="그룹 266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286" name="직선 연결선 28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87" name="직선 연결선 28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68" name="직사각형 267"/>
            <p:cNvSpPr/>
            <p:nvPr/>
          </p:nvSpPr>
          <p:spPr>
            <a:xfrm>
              <a:off x="722583" y="3274873"/>
              <a:ext cx="792000" cy="19541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69" name="직선 연결선 2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6" y="3274873"/>
              <a:ext cx="877795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법인등기기관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법인등기일자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법인등기목적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사업등록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취급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 smtClean="0">
                  <a:latin typeface="+mn-ea"/>
                </a:rPr>
                <a:t>종목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업태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사업자등록기관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보안측정부대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보안측정일자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보안측정결과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71" name="TextBox 2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 err="1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ko-KR" altLang="en-US" sz="700" dirty="0" err="1" smtClean="0">
                <a:latin typeface="+mn-ea"/>
              </a:endParaRPr>
            </a:p>
          </p:txBody>
        </p:sp>
        <p:cxnSp>
          <p:nvCxnSpPr>
            <p:cNvPr id="272" name="직선 연결선 2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3" name="직선 연결선 2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4" name="직선 연결선 2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5" name="직선 연결선 2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358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6" name="직선 연결선 2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599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8" name="직선 연결선 2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57362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78733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98977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2897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9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501052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91" name="그룹 290"/>
          <p:cNvGrpSpPr/>
          <p:nvPr/>
        </p:nvGrpSpPr>
        <p:grpSpPr>
          <a:xfrm>
            <a:off x="3138674" y="5068021"/>
            <a:ext cx="94010" cy="47005"/>
            <a:chOff x="6812560" y="3297172"/>
            <a:chExt cx="94010" cy="47005"/>
          </a:xfrm>
        </p:grpSpPr>
        <p:cxnSp>
          <p:nvCxnSpPr>
            <p:cNvPr id="292" name="직선 연결선 29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3" name="직선 연결선 29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9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586460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95" name="그룹 294"/>
          <p:cNvGrpSpPr/>
          <p:nvPr/>
        </p:nvGrpSpPr>
        <p:grpSpPr>
          <a:xfrm>
            <a:off x="3138674" y="5922100"/>
            <a:ext cx="94010" cy="47005"/>
            <a:chOff x="6812560" y="3297172"/>
            <a:chExt cx="94010" cy="47005"/>
          </a:xfrm>
        </p:grpSpPr>
        <p:cxnSp>
          <p:nvCxnSpPr>
            <p:cNvPr id="296" name="직선 연결선 29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7" name="직선 연결선 29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9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414899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9" name="모서리가 둥근 직사각형 298"/>
          <p:cNvSpPr/>
          <p:nvPr/>
        </p:nvSpPr>
        <p:spPr>
          <a:xfrm>
            <a:off x="1558562" y="3861164"/>
            <a:ext cx="920382" cy="149124"/>
          </a:xfrm>
          <a:prstGeom prst="roundRect">
            <a:avLst>
              <a:gd name="adj" fmla="val 50000"/>
            </a:avLst>
          </a:prstGeom>
          <a:solidFill>
            <a:schemeClr val="bg1">
              <a:lumMod val="50000"/>
            </a:schemeClr>
          </a:solidFill>
          <a:ln w="1270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/>
          </a:p>
        </p:txBody>
      </p:sp>
      <p:sp>
        <p:nvSpPr>
          <p:cNvPr id="300" name="모서리가 둥근 직사각형 299"/>
          <p:cNvSpPr/>
          <p:nvPr/>
        </p:nvSpPr>
        <p:spPr>
          <a:xfrm>
            <a:off x="1558563" y="3861164"/>
            <a:ext cx="462756" cy="149124"/>
          </a:xfrm>
          <a:prstGeom prst="roundRect">
            <a:avLst>
              <a:gd name="adj" fmla="val 50000"/>
            </a:avLst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800" kern="0">
              <a:solidFill>
                <a:prstClr val="white"/>
              </a:solidFill>
              <a:latin typeface="맑은 고딕"/>
            </a:endParaRPr>
          </a:p>
        </p:txBody>
      </p: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94333" y="3887704"/>
            <a:ext cx="38880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solidFill>
                  <a:schemeClr val="bg1"/>
                </a:solidFill>
                <a:latin typeface="+mn-ea"/>
              </a:rPr>
              <a:t>법인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02" name="TextBox 3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057089" y="3887704"/>
            <a:ext cx="3631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solidFill>
                  <a:schemeClr val="bg1"/>
                </a:solidFill>
                <a:latin typeface="+mn-ea"/>
              </a:rPr>
              <a:t>개인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0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458399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479376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522009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543737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437307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err="1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yyyy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-MM-</a:t>
            </a:r>
            <a:r>
              <a:rPr kumimoji="1" lang="en-US" altLang="ko-KR" sz="700" kern="0" dirty="0" err="1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dd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564706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</a:rPr>
              <a:t>yyyy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-MM-</a:t>
            </a: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</a:rPr>
              <a:t>dd</a:t>
            </a:r>
            <a:endParaRPr kumimoji="1" lang="en-US" altLang="ko-KR" sz="700" kern="0" dirty="0">
              <a:solidFill>
                <a:schemeClr val="bg1">
                  <a:lumMod val="75000"/>
                </a:schemeClr>
              </a:solidFill>
            </a:endParaRPr>
          </a:p>
        </p:txBody>
      </p:sp>
      <p:pic>
        <p:nvPicPr>
          <p:cNvPr id="309" name="그림 30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47010" y="4385438"/>
            <a:ext cx="134873" cy="137278"/>
          </a:xfrm>
          <a:prstGeom prst="rect">
            <a:avLst/>
          </a:prstGeom>
        </p:spPr>
      </p:pic>
      <p:pic>
        <p:nvPicPr>
          <p:cNvPr id="310" name="그림 309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47010" y="5659425"/>
            <a:ext cx="134873" cy="137278"/>
          </a:xfrm>
          <a:prstGeom prst="rect">
            <a:avLst/>
          </a:prstGeom>
        </p:spPr>
      </p:pic>
      <p:cxnSp>
        <p:nvCxnSpPr>
          <p:cNvPr id="311" name="직선 연결선 3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93229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2" name="TextBox 31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34669" y="1589286"/>
            <a:ext cx="261975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solidFill>
                  <a:srgbClr val="0070C0"/>
                </a:solidFill>
                <a:latin typeface="+mn-ea"/>
              </a:rPr>
              <a:t>보안측정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 비대상 품목 </a:t>
            </a:r>
            <a:r>
              <a:rPr lang="ko-KR" altLang="en-US" sz="700" dirty="0" err="1">
                <a:solidFill>
                  <a:srgbClr val="0070C0"/>
                </a:solidFill>
                <a:latin typeface="+mn-ea"/>
              </a:rPr>
              <a:t>취급업체는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 </a:t>
            </a:r>
            <a:r>
              <a:rPr lang="ko-KR" altLang="en-US" sz="700" dirty="0" err="1">
                <a:solidFill>
                  <a:srgbClr val="0070C0"/>
                </a:solidFill>
                <a:latin typeface="+mn-ea"/>
              </a:rPr>
              <a:t>부대명란에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 “</a:t>
            </a:r>
            <a:r>
              <a:rPr lang="ko-KR" altLang="en-US" sz="700" dirty="0" err="1">
                <a:solidFill>
                  <a:srgbClr val="0070C0"/>
                </a:solidFill>
                <a:latin typeface="+mn-ea"/>
              </a:rPr>
              <a:t>보안측정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 비대상”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측정일자란은 “입력당일일자” 로 입력해 </a:t>
            </a:r>
            <a:r>
              <a:rPr lang="ko-KR" altLang="en-US" sz="700" dirty="0" err="1">
                <a:solidFill>
                  <a:srgbClr val="0070C0"/>
                </a:solidFill>
                <a:latin typeface="+mn-ea"/>
              </a:rPr>
              <a:t>주십시요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.</a:t>
            </a:r>
            <a:endParaRPr lang="ko-KR" altLang="en-US" sz="700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313" name="TextBox 3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1" y="2031920"/>
            <a:ext cx="118217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보안측정인원</a:t>
            </a:r>
          </a:p>
        </p:txBody>
      </p:sp>
      <p:grpSp>
        <p:nvGrpSpPr>
          <p:cNvPr id="314" name="그룹 313"/>
          <p:cNvGrpSpPr/>
          <p:nvPr/>
        </p:nvGrpSpPr>
        <p:grpSpPr>
          <a:xfrm flipV="1">
            <a:off x="6259758" y="2145251"/>
            <a:ext cx="94010" cy="47005"/>
            <a:chOff x="6812560" y="3297172"/>
            <a:chExt cx="94010" cy="47005"/>
          </a:xfrm>
        </p:grpSpPr>
        <p:cxnSp>
          <p:nvCxnSpPr>
            <p:cNvPr id="315" name="직선 연결선 31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6" name="직선 연결선 31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317" name="직선 연결선 3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3" y="233940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2" name="그룹 21"/>
          <p:cNvGrpSpPr/>
          <p:nvPr/>
        </p:nvGrpSpPr>
        <p:grpSpPr>
          <a:xfrm>
            <a:off x="3836700" y="2469336"/>
            <a:ext cx="2630093" cy="1607134"/>
            <a:chOff x="3836700" y="3066437"/>
            <a:chExt cx="2630093" cy="1607134"/>
          </a:xfrm>
        </p:grpSpPr>
        <p:sp>
          <p:nvSpPr>
            <p:cNvPr id="331" name="직사각형 330"/>
            <p:cNvSpPr/>
            <p:nvPr/>
          </p:nvSpPr>
          <p:spPr>
            <a:xfrm>
              <a:off x="3838793" y="3380909"/>
              <a:ext cx="792000" cy="12808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0" y="338090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7" y="3380909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순번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성명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주민등록번호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적격여부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보안측정일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첨부파일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5" y="3380909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990101-1******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2022-02-02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solidFill>
                    <a:srgbClr val="0070C0"/>
                  </a:solidFill>
                  <a:latin typeface="+mn-ea"/>
                </a:rPr>
                <a:t>증명서</a:t>
              </a: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.pdf</a:t>
              </a:r>
            </a:p>
          </p:txBody>
        </p: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6120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8257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0394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2343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4480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40" name="직선 연결선 3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6617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4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72446" y="3418835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 smtClean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선택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grpSp>
          <p:nvGrpSpPr>
            <p:cNvPr id="21" name="그룹 20"/>
            <p:cNvGrpSpPr/>
            <p:nvPr/>
          </p:nvGrpSpPr>
          <p:grpSpPr>
            <a:xfrm>
              <a:off x="3844006" y="3066437"/>
              <a:ext cx="2610413" cy="162000"/>
              <a:chOff x="3844007" y="3066437"/>
              <a:chExt cx="1044904" cy="162000"/>
            </a:xfrm>
          </p:grpSpPr>
          <p:sp>
            <p:nvSpPr>
              <p:cNvPr id="343" name="사각형: 둥근 모서리 15">
                <a:extLst>
                  <a:ext uri="{FF2B5EF4-FFF2-40B4-BE49-F238E27FC236}">
                    <a16:creationId xmlns:a16="http://schemas.microsoft.com/office/drawing/2014/main" id="{E2B61CFB-AD16-68D0-8752-50D9C5E01971}"/>
                  </a:ext>
                </a:extLst>
              </p:cNvPr>
              <p:cNvSpPr/>
              <p:nvPr/>
            </p:nvSpPr>
            <p:spPr>
              <a:xfrm>
                <a:off x="3844007" y="3066437"/>
                <a:ext cx="494347" cy="162000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0" cap="none" spc="0" normalizeH="0" baseline="0" noProof="0" dirty="0" smtClean="0">
                    <a:ln>
                      <a:noFill/>
                    </a:ln>
                    <a:effectLst/>
                    <a:uLnTx/>
                    <a:uFillTx/>
                    <a:latin typeface="맑은 고딕"/>
                  </a:rPr>
                  <a:t>신규 추가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sp>
            <p:nvSpPr>
              <p:cNvPr id="344" name="사각형: 둥근 모서리 15">
                <a:extLst>
                  <a:ext uri="{FF2B5EF4-FFF2-40B4-BE49-F238E27FC236}">
                    <a16:creationId xmlns:a16="http://schemas.microsoft.com/office/drawing/2014/main" id="{E2B61CFB-AD16-68D0-8752-50D9C5E01971}"/>
                  </a:ext>
                </a:extLst>
              </p:cNvPr>
              <p:cNvSpPr/>
              <p:nvPr/>
            </p:nvSpPr>
            <p:spPr>
              <a:xfrm>
                <a:off x="4394564" y="3066437"/>
                <a:ext cx="494347" cy="162000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0" cap="none" spc="0" normalizeH="0" baseline="0" noProof="0" dirty="0" smtClean="0">
                    <a:ln>
                      <a:noFill/>
                    </a:ln>
                    <a:effectLst/>
                    <a:uLnTx/>
                    <a:uFillTx/>
                    <a:latin typeface="맑은 고딕"/>
                  </a:rPr>
                  <a:t>선택 삭제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</p:grpSp>
        <p:sp>
          <p:nvSpPr>
            <p:cNvPr id="35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72446" y="4484849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 smtClean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보기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5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5675370" y="2095296"/>
            <a:ext cx="494347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맑은 고딕"/>
              </a:rPr>
              <a:t>초기화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cxnSp>
        <p:nvCxnSpPr>
          <p:cNvPr id="359" name="직선 연결선 3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0147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60" name="TextBox 3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151882" y="1984863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sp>
        <p:nvSpPr>
          <p:cNvPr id="361" name="TextBox 3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45442" y="1984863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국내소재상사</a:t>
            </a:r>
          </a:p>
        </p:txBody>
      </p:sp>
      <p:cxnSp>
        <p:nvCxnSpPr>
          <p:cNvPr id="362" name="직선 연결선 36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2027782" y="2201470"/>
            <a:ext cx="1359644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63" name="그룹 3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4723300"/>
            <a:ext cx="76863" cy="292489"/>
            <a:chOff x="3750067" y="4683795"/>
            <a:chExt cx="76863" cy="292489"/>
          </a:xfrm>
        </p:grpSpPr>
        <p:sp>
          <p:nvSpPr>
            <p:cNvPr id="364" name="타원 3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65" name="타원 3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66" name="타원 3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36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28441" y="5925428"/>
            <a:ext cx="2446613" cy="206419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 err="1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9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9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9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676343217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추가정보 신청 접수한 데이터 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국내소재상사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MUI-CM-01-M05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 추가 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2308191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FSC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2421522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3071310"/>
            <a:ext cx="792000" cy="64882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07131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3071310"/>
            <a:ext cx="715881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순번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FSC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군급명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3071310"/>
            <a:ext cx="1784088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0001</a:t>
            </a: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테스트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330241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351612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54" name="직선 연결선 5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372013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94" name="TextBox 1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6618" y="1583764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영업정보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5" name="그룹 194"/>
          <p:cNvGrpSpPr/>
          <p:nvPr/>
        </p:nvGrpSpPr>
        <p:grpSpPr>
          <a:xfrm flipV="1">
            <a:off x="6258705" y="1697095"/>
            <a:ext cx="94010" cy="47005"/>
            <a:chOff x="6812560" y="3297172"/>
            <a:chExt cx="94010" cy="47005"/>
          </a:xfrm>
        </p:grpSpPr>
        <p:cxnSp>
          <p:nvCxnSpPr>
            <p:cNvPr id="208" name="직선 연결선 2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09" name="직선 연결선 2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96" name="직사각형 195"/>
          <p:cNvSpPr/>
          <p:nvPr/>
        </p:nvSpPr>
        <p:spPr>
          <a:xfrm>
            <a:off x="3837740" y="1891249"/>
            <a:ext cx="792000" cy="15398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97" name="직선 연결선 19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5647" y="189124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98" name="TextBox 1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04" y="1891249"/>
            <a:ext cx="715881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연간매출액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자산규모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*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여신한도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주거래은행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*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군납최초참여일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거래기간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Dun’s </a:t>
            </a:r>
            <a:r>
              <a:rPr lang="en-US" altLang="ko-KR" sz="700" dirty="0" smtClean="0">
                <a:latin typeface="+mn-ea"/>
              </a:rPr>
              <a:t>Number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0" y="212235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1" name="직선 연결선 20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0" y="233606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0" y="254976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0" y="275976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4" name="직선 연결선 21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0" y="298358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0" y="319143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0" name="직선 연결선 1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0" y="341525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511227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7367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49" name="직선 연결선 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0147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0" name="TextBox 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151882" y="1984863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45442" y="1984863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국내소재상사</a:t>
            </a:r>
          </a:p>
        </p:txBody>
      </p: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2027782" y="2201470"/>
            <a:ext cx="1359644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856236" y="3110949"/>
            <a:ext cx="494347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맑은 고딕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5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27795" y="2758551"/>
            <a:ext cx="1265185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맑은 고딕"/>
              </a:rPr>
              <a:t>신규 추가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5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067062" y="2758551"/>
            <a:ext cx="1271147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맑은 고딕"/>
              </a:rPr>
              <a:t>선택 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59423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370454"/>
            <a:ext cx="76863" cy="292489"/>
            <a:chOff x="3750067" y="4683795"/>
            <a:chExt cx="76863" cy="292489"/>
          </a:xfrm>
        </p:grpSpPr>
        <p:sp>
          <p:nvSpPr>
            <p:cNvPr id="61" name="타원 60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2" name="타원 61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3" name="타원 62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6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0612" y="192215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9" name="TextBox 1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119141" y="1891249"/>
            <a:ext cx="1233574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천원</a:t>
            </a: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천원</a:t>
            </a: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천원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6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0612" y="213825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6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0612" y="236757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6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0612" y="2574967"/>
            <a:ext cx="66296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228815" y="2600907"/>
            <a:ext cx="32439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 smtClean="0">
                <a:latin typeface="+mn-ea"/>
              </a:rPr>
              <a:t>은행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127133" y="2600907"/>
            <a:ext cx="32439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 smtClean="0">
                <a:latin typeface="+mn-ea"/>
              </a:rPr>
              <a:t>지점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7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5575654" y="2574967"/>
            <a:ext cx="66296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8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68570" y="278820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err="1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yyyy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-MM-</a:t>
            </a:r>
            <a:r>
              <a:rPr kumimoji="1" lang="en-US" altLang="ko-KR" sz="700" kern="0" dirty="0" err="1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dd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81" name="그림 8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54515" y="2800568"/>
            <a:ext cx="134873" cy="137278"/>
          </a:xfrm>
          <a:prstGeom prst="rect">
            <a:avLst/>
          </a:prstGeom>
        </p:spPr>
      </p:pic>
      <p:sp>
        <p:nvSpPr>
          <p:cNvPr id="8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5643563" y="3003017"/>
            <a:ext cx="80592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err="1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yyyy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-MM-</a:t>
            </a:r>
            <a:r>
              <a:rPr kumimoji="1" lang="en-US" altLang="ko-KR" sz="700" kern="0" dirty="0" err="1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dd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83" name="그림 82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54515" y="3015378"/>
            <a:ext cx="134873" cy="137278"/>
          </a:xfrm>
          <a:prstGeom prst="rect">
            <a:avLst/>
          </a:prstGeom>
        </p:spPr>
      </p:pic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400539" y="3021907"/>
            <a:ext cx="32439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~</a:t>
            </a:r>
          </a:p>
        </p:txBody>
      </p:sp>
      <p:sp>
        <p:nvSpPr>
          <p:cNvPr id="8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0612" y="322475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8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1746" y="3003017"/>
            <a:ext cx="80592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err="1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yyyy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-MM-</a:t>
            </a:r>
            <a:r>
              <a:rPr kumimoji="1" lang="en-US" altLang="ko-KR" sz="700" kern="0" dirty="0" err="1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dd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89" name="그림 8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282698" y="3015378"/>
            <a:ext cx="134873" cy="137278"/>
          </a:xfrm>
          <a:prstGeom prst="rect">
            <a:avLst/>
          </a:prstGeom>
        </p:spPr>
      </p:pic>
      <p:sp>
        <p:nvSpPr>
          <p:cNvPr id="90" name="모서리가 둥근 직사각형 89"/>
          <p:cNvSpPr/>
          <p:nvPr/>
        </p:nvSpPr>
        <p:spPr>
          <a:xfrm>
            <a:off x="3880034" y="4335828"/>
            <a:ext cx="2543426" cy="1465365"/>
          </a:xfrm>
          <a:prstGeom prst="roundRect">
            <a:avLst>
              <a:gd name="adj" fmla="val 3479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3114" y="4397647"/>
            <a:ext cx="2154318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b="1" dirty="0" err="1" smtClean="0">
                <a:latin typeface="Consolas" panose="020B0609020204030204" pitchFamily="49" charset="0"/>
              </a:rPr>
              <a:t>내자업체</a:t>
            </a:r>
            <a:r>
              <a:rPr lang="ko-KR" altLang="en-US" sz="700" b="1" dirty="0" smtClean="0">
                <a:latin typeface="Consolas" panose="020B0609020204030204" pitchFamily="49" charset="0"/>
              </a:rPr>
              <a:t> 제출서류 안내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전화</a:t>
            </a:r>
            <a:r>
              <a:rPr lang="en-US" altLang="ko-KR" sz="700" dirty="0">
                <a:latin typeface="Consolas" panose="020B0609020204030204" pitchFamily="49" charset="0"/>
              </a:rPr>
              <a:t>) </a:t>
            </a:r>
            <a:r>
              <a:rPr lang="en-US" altLang="ko-KR" sz="700" dirty="0" smtClean="0">
                <a:latin typeface="Consolas" panose="020B0609020204030204" pitchFamily="49" charset="0"/>
              </a:rPr>
              <a:t>02-2079-6915,6925</a:t>
            </a:r>
          </a:p>
          <a:p>
            <a:pPr>
              <a:lnSpc>
                <a:spcPct val="150000"/>
              </a:lnSpc>
            </a:pPr>
            <a:endParaRPr lang="en-US" altLang="ko-KR" sz="700" dirty="0" smtClean="0">
              <a:latin typeface="Consolas" panose="020B0609020204030204" pitchFamily="49" charset="0"/>
            </a:endParaRPr>
          </a:p>
          <a:p>
            <a:pPr marL="179388" indent="-179388">
              <a:lnSpc>
                <a:spcPct val="150000"/>
              </a:lnSpc>
              <a:buFont typeface="+mj-lt"/>
              <a:buAutoNum type="arabicPeriod"/>
            </a:pPr>
            <a:r>
              <a:rPr lang="ko-KR" altLang="en-US" sz="700" b="1" dirty="0" smtClean="0">
                <a:latin typeface="Consolas" panose="020B0609020204030204" pitchFamily="49" charset="0"/>
              </a:rPr>
              <a:t>공장등록증명서 </a:t>
            </a:r>
            <a:r>
              <a:rPr lang="ko-KR" altLang="en-US" sz="700" b="1" dirty="0">
                <a:latin typeface="Consolas" panose="020B0609020204030204" pitchFamily="49" charset="0"/>
              </a:rPr>
              <a:t>또는 사업자등록증명원 조회 </a:t>
            </a:r>
            <a:r>
              <a:rPr lang="ko-KR" altLang="en-US" sz="700" b="1" dirty="0" smtClean="0">
                <a:latin typeface="Consolas" panose="020B0609020204030204" pitchFamily="49" charset="0"/>
              </a:rPr>
              <a:t>동의여부</a:t>
            </a:r>
            <a:endParaRPr lang="en-US" altLang="ko-KR" sz="700" b="1" dirty="0" smtClean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b="1" dirty="0" smtClean="0">
                <a:solidFill>
                  <a:srgbClr val="FF0000"/>
                </a:solidFill>
                <a:latin typeface="맑은 고딕" panose="020B0503020000020004" pitchFamily="50" charset="-127"/>
              </a:rPr>
              <a:t>동의여부에 </a:t>
            </a:r>
            <a:r>
              <a:rPr lang="ko-KR" altLang="en-US" sz="700" b="1" dirty="0">
                <a:solidFill>
                  <a:srgbClr val="FF0000"/>
                </a:solidFill>
                <a:latin typeface="맑은 고딕" panose="020B0503020000020004" pitchFamily="50" charset="-127"/>
              </a:rPr>
              <a:t>체크하지 않는 경우 오프라인으로 서류를 제출하셔야 합니다</a:t>
            </a:r>
            <a:r>
              <a:rPr lang="en-US" altLang="ko-KR" sz="700" b="1" dirty="0" smtClean="0">
                <a:solidFill>
                  <a:srgbClr val="FF0000"/>
                </a:solidFill>
                <a:latin typeface="맑은 고딕" panose="020B0503020000020004" pitchFamily="50" charset="-127"/>
              </a:rPr>
              <a:t>.</a:t>
            </a:r>
          </a:p>
          <a:p>
            <a:pPr marL="179388" indent="-179388">
              <a:lnSpc>
                <a:spcPct val="150000"/>
              </a:lnSpc>
              <a:buFont typeface="+mj-lt"/>
              <a:buAutoNum type="arabicPeriod" startAt="2"/>
            </a:pPr>
            <a:r>
              <a:rPr lang="ko-KR" altLang="en-US" sz="700" b="1" dirty="0" smtClean="0">
                <a:latin typeface="맑은 고딕" panose="020B0503020000020004" pitchFamily="50" charset="-127"/>
              </a:rPr>
              <a:t>보안측정결과서 </a:t>
            </a:r>
            <a:r>
              <a:rPr lang="en-US" altLang="ko-KR" sz="700" b="1" dirty="0" smtClean="0">
                <a:latin typeface="맑은 고딕" panose="020B0503020000020004" pitchFamily="50" charset="-127"/>
              </a:rPr>
              <a:t>- 1</a:t>
            </a:r>
            <a:r>
              <a:rPr lang="ko-KR" altLang="en-US" sz="700" b="1" dirty="0" smtClean="0">
                <a:latin typeface="맑은 고딕" panose="020B0503020000020004" pitchFamily="50" charset="-127"/>
              </a:rPr>
              <a:t>부</a:t>
            </a:r>
            <a:r>
              <a:rPr lang="en-US" altLang="ko-KR" sz="700" b="1" dirty="0" smtClean="0">
                <a:latin typeface="맑은 고딕" panose="020B0503020000020004" pitchFamily="50" charset="-127"/>
              </a:rPr>
              <a:t> (</a:t>
            </a:r>
            <a:r>
              <a:rPr lang="ko-KR" altLang="en-US" sz="700" b="1" dirty="0" smtClean="0">
                <a:latin typeface="맑은 고딕" panose="020B0503020000020004" pitchFamily="50" charset="-127"/>
              </a:rPr>
              <a:t>해당품목 제출</a:t>
            </a:r>
            <a:r>
              <a:rPr lang="en-US" altLang="ko-KR" sz="700" b="1" dirty="0" smtClean="0">
                <a:latin typeface="맑은 고딕" panose="020B0503020000020004" pitchFamily="50" charset="-127"/>
              </a:rPr>
              <a:t>)</a:t>
            </a:r>
            <a:endParaRPr lang="ko-KR" altLang="en-US" sz="700" b="1" dirty="0">
              <a:solidFill>
                <a:srgbClr val="0070C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92" name="타원 91"/>
          <p:cNvSpPr/>
          <p:nvPr/>
        </p:nvSpPr>
        <p:spPr>
          <a:xfrm>
            <a:off x="3953173" y="4402383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93" name="그룹 92"/>
          <p:cNvGrpSpPr/>
          <p:nvPr/>
        </p:nvGrpSpPr>
        <p:grpSpPr>
          <a:xfrm flipV="1">
            <a:off x="6259047" y="4472861"/>
            <a:ext cx="94010" cy="47005"/>
            <a:chOff x="6812560" y="3297172"/>
            <a:chExt cx="94010" cy="47005"/>
          </a:xfrm>
        </p:grpSpPr>
        <p:cxnSp>
          <p:nvCxnSpPr>
            <p:cNvPr id="94" name="직선 연결선 9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5" name="직선 연결선 9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6" name="그룹 95"/>
          <p:cNvGrpSpPr/>
          <p:nvPr/>
        </p:nvGrpSpPr>
        <p:grpSpPr>
          <a:xfrm>
            <a:off x="3888037" y="3862436"/>
            <a:ext cx="2522014" cy="342712"/>
            <a:chOff x="3888037" y="3794514"/>
            <a:chExt cx="2522014" cy="342712"/>
          </a:xfrm>
        </p:grpSpPr>
        <p:sp>
          <p:nvSpPr>
            <p:cNvPr id="9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3888037" y="3794514"/>
              <a:ext cx="2522014" cy="34271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endParaRPr kumimoji="1" lang="en-US" sz="700" kern="0" dirty="0">
                <a:solidFill>
                  <a:srgbClr val="0070C0"/>
                </a:solidFill>
                <a:latin typeface="맑은 고딕"/>
              </a:endParaRPr>
            </a:p>
          </p:txBody>
        </p:sp>
        <p:sp>
          <p:nvSpPr>
            <p:cNvPr id="9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3985874" y="3904315"/>
              <a:ext cx="56106" cy="12311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/>
                <a:t>1</a:t>
              </a:r>
              <a:endParaRPr lang="ko-KR" altLang="en-US" sz="800" b="1" dirty="0"/>
            </a:p>
          </p:txBody>
        </p:sp>
        <p:sp>
          <p:nvSpPr>
            <p:cNvPr id="99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4161661" y="3842760"/>
              <a:ext cx="1304844" cy="24622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dirty="0">
                  <a:latin typeface="맑은 고딕" panose="020B0503020000020004" pitchFamily="50" charset="-127"/>
                </a:rPr>
                <a:t>공장등록증명서 </a:t>
              </a:r>
              <a:r>
                <a:rPr lang="ko-KR" altLang="en-US" sz="800" dirty="0" smtClean="0">
                  <a:latin typeface="맑은 고딕" panose="020B0503020000020004" pitchFamily="50" charset="-127"/>
                </a:rPr>
                <a:t>또는</a:t>
              </a:r>
              <a:endParaRPr lang="en-US" altLang="ko-KR" sz="800" dirty="0" smtClean="0">
                <a:latin typeface="맑은 고딕" panose="020B0503020000020004" pitchFamily="50" charset="-127"/>
              </a:endParaRPr>
            </a:p>
            <a:p>
              <a:r>
                <a:rPr lang="ko-KR" altLang="en-US" sz="800" dirty="0" smtClean="0">
                  <a:latin typeface="맑은 고딕" panose="020B0503020000020004" pitchFamily="50" charset="-127"/>
                </a:rPr>
                <a:t>사업자등록증명원 </a:t>
              </a:r>
              <a:r>
                <a:rPr lang="ko-KR" altLang="en-US" sz="800" dirty="0">
                  <a:latin typeface="맑은 고딕" panose="020B0503020000020004" pitchFamily="50" charset="-127"/>
                </a:rPr>
                <a:t>조회 동의</a:t>
              </a:r>
              <a:endParaRPr lang="en-US" altLang="ko-KR" sz="800" dirty="0">
                <a:latin typeface="맑은 고딕" panose="020B0503020000020004" pitchFamily="50" charset="-127"/>
              </a:endParaRPr>
            </a:p>
          </p:txBody>
        </p:sp>
        <p:sp>
          <p:nvSpPr>
            <p:cNvPr id="100" name="모서리가 둥근 직사각형 99"/>
            <p:cNvSpPr/>
            <p:nvPr/>
          </p:nvSpPr>
          <p:spPr>
            <a:xfrm>
              <a:off x="6079244" y="3906170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동의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101" name="타원 100"/>
            <p:cNvSpPr/>
            <p:nvPr/>
          </p:nvSpPr>
          <p:spPr>
            <a:xfrm>
              <a:off x="5884665" y="3908013"/>
              <a:ext cx="115715" cy="115715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 dirty="0">
                  <a:solidFill>
                    <a:schemeClr val="accent6"/>
                  </a:solidFill>
                </a:rPr>
                <a:t>V</a:t>
              </a:r>
              <a:endParaRPr lang="ko-KR" altLang="en-US" sz="800" dirty="0">
                <a:solidFill>
                  <a:schemeClr val="accent6"/>
                </a:solidFill>
              </a:endParaRPr>
            </a:p>
          </p:txBody>
        </p:sp>
      </p:grp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3546" y="3536282"/>
            <a:ext cx="1136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조회 동의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3" name="그룹 102"/>
          <p:cNvGrpSpPr/>
          <p:nvPr/>
        </p:nvGrpSpPr>
        <p:grpSpPr>
          <a:xfrm flipV="1">
            <a:off x="6255634" y="3649613"/>
            <a:ext cx="94010" cy="47005"/>
            <a:chOff x="6812560" y="3297172"/>
            <a:chExt cx="94010" cy="47005"/>
          </a:xfrm>
        </p:grpSpPr>
        <p:cxnSp>
          <p:nvCxnSpPr>
            <p:cNvPr id="111" name="직선 연결선 11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2" name="직선 연결선 11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17" name="그룹 116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118" name="직사각형 117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추가 등록</a:t>
              </a:r>
              <a:r>
                <a:rPr kumimoji="1" lang="en-US" altLang="ko-KR" sz="10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10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2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21" name="타원 120"/>
          <p:cNvSpPr/>
          <p:nvPr/>
        </p:nvSpPr>
        <p:spPr>
          <a:xfrm>
            <a:off x="5169760" y="2592967"/>
            <a:ext cx="126000" cy="126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타원 121"/>
          <p:cNvSpPr/>
          <p:nvPr/>
        </p:nvSpPr>
        <p:spPr>
          <a:xfrm>
            <a:off x="6076492" y="2592967"/>
            <a:ext cx="126000" cy="126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11859337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146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65794" y="2450608"/>
            <a:ext cx="312001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법인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개인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dm_bzentyDmstLctnColInfo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8353" y="2689347"/>
          <a:ext cx="8994883" cy="2376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corpYn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219821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법인등기목적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rgRegPrpsNm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법인등기목적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6674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hndlItemNm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4654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공급업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무역대리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(’20’)/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무역대리점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(‘23’)/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운송업체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(‘25’)/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보험업체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(‘26’)/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신용장개설은행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(‘27’)/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국내제작업체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(‘28’)/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공급업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(‘29’)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52684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regInstNm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사업자등록기관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599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보안측정부대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scrtyMsrmtDeptNm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보안측정부대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kern="1200" noProof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175768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scrtyMsrmtYmd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kern="1200" noProof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09033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scrtyMsrmtRslt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보안측정결과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(‘Y’)/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(‘N’)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3178226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72466768-56E0-8CB1-74A1-23CD9C0360E1}"/>
              </a:ext>
            </a:extLst>
          </p:cNvPr>
          <p:cNvSpPr txBox="1"/>
          <p:nvPr/>
        </p:nvSpPr>
        <p:spPr>
          <a:xfrm>
            <a:off x="458117" y="5068054"/>
            <a:ext cx="301581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보안측정인원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dl_scrtyMsrmtPrsnlList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AD4F7E72-27F9-228D-50B4-AB30BCA05E8A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8117" y="5281004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주민등록번호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taskHdlrEnrrno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주민등록번호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taskHdlrRsltCdNm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적격여부코드로 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부적격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6674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taskHndlYmd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4654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5268412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051595A2-D8F5-2926-33B2-CCF0EB2489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8059D74-D4EA-34F7-19AD-4EB41F2EAAB7}"/>
              </a:ext>
            </a:extLst>
          </p:cNvPr>
          <p:cNvSpPr txBox="1"/>
          <p:nvPr/>
        </p:nvSpPr>
        <p:spPr>
          <a:xfrm>
            <a:off x="465794" y="891621"/>
            <a:ext cx="260063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일반정보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dm_bzentyGnrlInfo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556179DD-A3CE-1CE4-4FC8-371172AF62A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0676" y="1115997"/>
          <a:ext cx="8994883" cy="1285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bplcSeNm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지사코드로 본사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대리점 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hdofcBrno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 압력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80512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isoCertYn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13505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rprsvEngNm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38051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bzentyEngAddr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5939883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17259718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72466768-56E0-8CB1-74A1-23CD9C0360E1}"/>
              </a:ext>
            </a:extLst>
          </p:cNvPr>
          <p:cNvSpPr txBox="1"/>
          <p:nvPr/>
        </p:nvSpPr>
        <p:spPr>
          <a:xfrm>
            <a:off x="455559" y="771706"/>
            <a:ext cx="178471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FSC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dl_fscList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AD4F7E72-27F9-228D-50B4-AB30BCA05E8A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9" y="985389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75A1E6DD-0E0E-2CF0-D8EA-229A368A69E5}"/>
              </a:ext>
            </a:extLst>
          </p:cNvPr>
          <p:cNvSpPr txBox="1"/>
          <p:nvPr/>
        </p:nvSpPr>
        <p:spPr>
          <a:xfrm>
            <a:off x="455558" y="1750511"/>
            <a:ext cx="258300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 </a:t>
            </a:r>
            <a:r>
              <a:rPr lang="ko-KR" altLang="en-US" sz="900" b="1" dirty="0">
                <a:solidFill>
                  <a:prstClr val="black"/>
                </a:solidFill>
              </a:rPr>
              <a:t>영업정보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dm_bzentySalsInfo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FB06246B-78E5-9F4F-A0D1-AB612259FD85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9" y="1961714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연간매출액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anlSlsAmt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연간매출액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자산규모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tastAmt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자산규모 입력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여신한도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crlnLimAmt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여신한도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533513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dlngFnstNm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74428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지점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fnstBrnchNm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지점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0544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군납최초참여일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frstSgsmilPtcpYmd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군납최초참여일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03900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dlngPrdBgngYmd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43794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dlngPrdEndYmd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8582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Dun`s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Numer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crdtExmnRegNo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Dun`s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Numer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6910970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1AA11892-67D6-D975-F687-EACF685C812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8" name="슬라이드 번호 개체 틀 2">
            <a:extLst>
              <a:ext uri="{FF2B5EF4-FFF2-40B4-BE49-F238E27FC236}">
                <a16:creationId xmlns:a16="http://schemas.microsoft.com/office/drawing/2014/main" id="{91763952-0038-ACB5-0038-6E291733E52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147</a:t>
            </a:fld>
            <a:endParaRPr lang="ko-KR" altLang="en-US" dirty="0"/>
          </a:p>
        </p:txBody>
      </p:sp>
      <p:sp>
        <p:nvSpPr>
          <p:cNvPr id="3" name="Text Box 73">
            <a:extLst>
              <a:ext uri="{FF2B5EF4-FFF2-40B4-BE49-F238E27FC236}">
                <a16:creationId xmlns:a16="http://schemas.microsoft.com/office/drawing/2014/main" id="{1F6010CD-0871-4D71-9A54-5EAEF62D33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36391135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A8A3ED33-EB3B-311D-F1BA-9C062ED6DA05}"/>
              </a:ext>
            </a:extLst>
          </p:cNvPr>
          <p:cNvSpPr txBox="1"/>
          <p:nvPr/>
        </p:nvSpPr>
        <p:spPr>
          <a:xfrm>
            <a:off x="455204" y="67327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9D31076B-307A-A070-51E8-7DCC5611D92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204" y="909064"/>
          <a:ext cx="8995591" cy="22108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보안측정인원</a:t>
                      </a:r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/>
                        <a:t>추가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scwin.btn_scrtyMsrmtPrsnlAdd_onclick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보안측정인원 등록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UI-CM-01-P16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보안측정인원 삭제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scwin.btn_scrtyMsrmtPrsnlDel_onclick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보안측정인원 목록에서 선택된 열을 삭제한다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228309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altLang="ko-KR" sz="800" dirty="0"/>
                        <a:t>FSC </a:t>
                      </a:r>
                      <a:r>
                        <a:rPr lang="ko-KR" altLang="en-US" sz="800" dirty="0"/>
                        <a:t>추가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scwin.btn_fscAdd_onclick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UI-CM-01-P17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081879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altLang="ko-KR" sz="800" dirty="0"/>
                        <a:t>FSC </a:t>
                      </a:r>
                      <a:r>
                        <a:rPr lang="ko-KR" altLang="en-US" sz="800" dirty="0"/>
                        <a:t>삭제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scwin.btn_fscDel_onclick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목록에서 선택된 열을 삭제한다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764768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주거래은행 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scwin.btn_bankSrch_onclick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검색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UI-CM-01-P18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1111866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smtClean="0"/>
                        <a:t>추가 등록 신청 클릭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scwin.btn_aply_onclick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 및 변경된 조달업체 국내소재상사 정보를 신청한다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3953635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3720F39F-F732-38C9-13B7-2F90D5426C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2" y="79214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8" name="슬라이드 번호 개체 틀 2">
            <a:extLst>
              <a:ext uri="{FF2B5EF4-FFF2-40B4-BE49-F238E27FC236}">
                <a16:creationId xmlns:a16="http://schemas.microsoft.com/office/drawing/2014/main" id="{798056B3-B053-7055-7C75-1972FFCEB23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148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576393073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오픈 시 </a:t>
            </a:r>
            <a:r>
              <a:rPr lang="ko-KR" altLang="en-US" dirty="0"/>
              <a:t>포커스 </a:t>
            </a:r>
            <a:r>
              <a:rPr lang="ko-KR" altLang="en-US" dirty="0" err="1"/>
              <a:t>자동이동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입력이 있는 경우 내용 삭제 아이콘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입력 내용 기반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Like </a:t>
            </a:r>
            <a:r>
              <a:rPr lang="ko-KR" altLang="en-US" dirty="0"/>
              <a:t>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 버튼 클릭 시 가상 </a:t>
            </a:r>
            <a:r>
              <a:rPr lang="ko-KR" altLang="en-US" dirty="0" err="1"/>
              <a:t>키패드</a:t>
            </a:r>
            <a:r>
              <a:rPr lang="ko-KR" altLang="en-US" dirty="0"/>
              <a:t>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검색 버튼으로 동일 검색 기능 동작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 결과 </a:t>
            </a:r>
            <a:r>
              <a:rPr lang="ko-KR" altLang="en-US" dirty="0" smtClean="0"/>
              <a:t>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결과 </a:t>
            </a:r>
            <a:r>
              <a:rPr lang="ko-KR" altLang="en-US" dirty="0"/>
              <a:t>클릭을 </a:t>
            </a:r>
            <a:r>
              <a:rPr lang="ko-KR" altLang="en-US" dirty="0" smtClean="0"/>
              <a:t>통해 결과 </a:t>
            </a:r>
            <a:r>
              <a:rPr lang="ko-KR" altLang="en-US" dirty="0"/>
              <a:t>반영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선택 시 </a:t>
            </a:r>
            <a:r>
              <a:rPr lang="ko-KR" altLang="en-US" dirty="0" err="1"/>
              <a:t>바텀</a:t>
            </a:r>
            <a:r>
              <a:rPr lang="ko-KR" altLang="en-US" dirty="0"/>
              <a:t> 시트 </a:t>
            </a:r>
            <a:r>
              <a:rPr lang="ko-KR" altLang="en-US" dirty="0" smtClean="0"/>
              <a:t>닫힘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상위 페이지에 정보 반영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품류선택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 smtClean="0">
                <a:latin typeface="+mn-ea"/>
              </a:rPr>
              <a:t>품류선택</a:t>
            </a:r>
            <a:r>
              <a:rPr lang="ko-KR" altLang="en-US" dirty="0" err="1" smtClean="0"/>
              <a:t>을</a:t>
            </a:r>
            <a:r>
              <a:rPr lang="ko-KR" altLang="en-US" dirty="0" smtClean="0"/>
              <a:t> </a:t>
            </a:r>
            <a:r>
              <a:rPr lang="ko-KR" altLang="en-US" dirty="0"/>
              <a:t>선택하는 경우 뜨는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</a:t>
            </a:r>
            <a:r>
              <a:rPr lang="ko-KR" altLang="en-US" dirty="0" smtClean="0"/>
              <a:t>등록 </a:t>
            </a:r>
            <a:r>
              <a:rPr lang="en-US" altLang="ko-KR" dirty="0" smtClean="0"/>
              <a:t>&gt; </a:t>
            </a:r>
            <a:r>
              <a:rPr lang="ko-KR" altLang="en-US" dirty="0" err="1">
                <a:latin typeface="+mn-ea"/>
              </a:rPr>
              <a:t>품류선택</a:t>
            </a:r>
            <a:endParaRPr lang="ko-KR" altLang="en-US" dirty="0"/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MUI-CM-01-P06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3011654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304205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3176467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15714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품류</a:t>
            </a:r>
            <a:r>
              <a:rPr lang="ko-KR" altLang="en-US" sz="900" dirty="0">
                <a:latin typeface="+mn-ea"/>
              </a:rPr>
              <a:t> 선택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185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7" name="모서리가 둥근 직사각형 306"/>
          <p:cNvSpPr/>
          <p:nvPr/>
        </p:nvSpPr>
        <p:spPr>
          <a:xfrm>
            <a:off x="4564213" y="3557095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 smtClean="0">
                <a:solidFill>
                  <a:schemeClr val="tx1"/>
                </a:solidFill>
              </a:rPr>
              <a:t>품류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625408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품류명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30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88037" y="3890810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800" kern="0" dirty="0">
                <a:solidFill>
                  <a:srgbClr val="0070C0"/>
                </a:solidFill>
              </a:rPr>
              <a:t>검색</a:t>
            </a:r>
            <a:endParaRPr kumimoji="1" lang="en-US" altLang="ko-KR" sz="800" kern="0" dirty="0">
              <a:solidFill>
                <a:srgbClr val="0070C0"/>
              </a:solidFill>
            </a:endParaRP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31826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 smtClean="0">
                <a:latin typeface="+mn-ea"/>
              </a:rPr>
              <a:t>품류</a:t>
            </a:r>
            <a:r>
              <a:rPr lang="ko-KR" altLang="en-US" sz="900" dirty="0" smtClean="0">
                <a:latin typeface="+mn-ea"/>
              </a:rPr>
              <a:t> 선택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9" name="모서리가 둥근 직사각형 168"/>
          <p:cNvSpPr/>
          <p:nvPr/>
        </p:nvSpPr>
        <p:spPr>
          <a:xfrm>
            <a:off x="1443878" y="3563324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 smtClean="0">
                <a:solidFill>
                  <a:schemeClr val="bg1">
                    <a:lumMod val="65000"/>
                  </a:schemeClr>
                </a:solidFill>
              </a:rPr>
              <a:t>품류명을</a:t>
            </a:r>
            <a:r>
              <a:rPr lang="ko-KR" altLang="en-US" sz="700" dirty="0" smtClean="0">
                <a:solidFill>
                  <a:schemeClr val="tx1"/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입력해주세요</a:t>
            </a:r>
            <a:r>
              <a:rPr lang="en-US" altLang="ko-KR" sz="700" dirty="0">
                <a:solidFill>
                  <a:schemeClr val="tx1"/>
                </a:solidFill>
              </a:rPr>
              <a:t>.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631637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latin typeface="+mn-ea"/>
              </a:rPr>
              <a:t>품류명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17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67702" y="3897039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검색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0" name="타원 309"/>
          <p:cNvSpPr/>
          <p:nvPr/>
        </p:nvSpPr>
        <p:spPr>
          <a:xfrm>
            <a:off x="3112794" y="3601610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1" name="그룹 310"/>
          <p:cNvGrpSpPr/>
          <p:nvPr/>
        </p:nvGrpSpPr>
        <p:grpSpPr>
          <a:xfrm>
            <a:off x="3156699" y="3645514"/>
            <a:ext cx="58075" cy="58074"/>
            <a:chOff x="6812560" y="3297172"/>
            <a:chExt cx="94010" cy="94010"/>
          </a:xfrm>
        </p:grpSpPr>
        <p:cxnSp>
          <p:nvCxnSpPr>
            <p:cNvPr id="312" name="직선 연결선 31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3" name="직선 연결선 31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14" name="타원 313"/>
          <p:cNvSpPr/>
          <p:nvPr/>
        </p:nvSpPr>
        <p:spPr>
          <a:xfrm>
            <a:off x="6240768" y="359991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5" name="그룹 314"/>
          <p:cNvGrpSpPr/>
          <p:nvPr/>
        </p:nvGrpSpPr>
        <p:grpSpPr>
          <a:xfrm>
            <a:off x="6284673" y="3643820"/>
            <a:ext cx="58075" cy="58074"/>
            <a:chOff x="6812560" y="3297172"/>
            <a:chExt cx="94010" cy="94010"/>
          </a:xfrm>
        </p:grpSpPr>
        <p:cxnSp>
          <p:nvCxnSpPr>
            <p:cNvPr id="316" name="직선 연결선 31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7" name="직선 연결선 31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318" name="직선 연결선 3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7422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9" name="TextBox 3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38124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sp>
        <p:nvSpPr>
          <p:cNvPr id="320" name="TextBox 3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321" name="TextBox 3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 smtClean="0">
                <a:latin typeface="+mn-ea"/>
              </a:rPr>
              <a:t>품류명</a:t>
            </a:r>
            <a:endParaRPr lang="en-US" altLang="ko-KR" sz="700" b="1" dirty="0">
              <a:latin typeface="+mn-ea"/>
            </a:endParaRPr>
          </a:p>
        </p:txBody>
      </p:sp>
      <p:cxnSp>
        <p:nvCxnSpPr>
          <p:cNvPr id="322" name="직선 연결선 3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55678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3" name="직선 연결선 3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87548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4" name="TextBox 3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886876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96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95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94</a:t>
            </a:r>
            <a:endParaRPr lang="en-US" altLang="ko-KR" sz="700" dirty="0">
              <a:latin typeface="+mn-ea"/>
            </a:endParaRP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886876"/>
            <a:ext cx="1418465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품류명</a:t>
            </a:r>
            <a:r>
              <a:rPr lang="ko-KR" altLang="en-US" sz="700" dirty="0" smtClean="0">
                <a:latin typeface="+mn-ea"/>
              </a:rPr>
              <a:t> </a:t>
            </a:r>
            <a:r>
              <a:rPr lang="en-US" altLang="ko-KR" sz="700" dirty="0" smtClean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품류명</a:t>
            </a:r>
            <a:r>
              <a:rPr lang="ko-KR" altLang="en-US" sz="700" dirty="0" smtClean="0">
                <a:latin typeface="+mn-ea"/>
              </a:rPr>
              <a:t> </a:t>
            </a:r>
            <a:r>
              <a:rPr lang="en-US" altLang="ko-KR" sz="700" dirty="0" smtClean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품류명</a:t>
            </a:r>
            <a:r>
              <a:rPr lang="ko-KR" altLang="en-US" sz="700" dirty="0" smtClean="0">
                <a:latin typeface="+mn-ea"/>
              </a:rPr>
              <a:t> </a:t>
            </a:r>
            <a:r>
              <a:rPr lang="en-US" altLang="ko-KR" sz="700" dirty="0" smtClean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품류명</a:t>
            </a:r>
            <a:r>
              <a:rPr lang="ko-KR" altLang="en-US" sz="700" dirty="0" smtClean="0">
                <a:latin typeface="+mn-ea"/>
              </a:rPr>
              <a:t> </a:t>
            </a:r>
            <a:r>
              <a:rPr lang="en-US" altLang="ko-KR" sz="700" dirty="0" smtClean="0">
                <a:latin typeface="+mn-ea"/>
              </a:rPr>
              <a:t>96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품류명</a:t>
            </a:r>
            <a:r>
              <a:rPr lang="ko-KR" altLang="en-US" sz="700" dirty="0" smtClean="0">
                <a:latin typeface="+mn-ea"/>
              </a:rPr>
              <a:t> </a:t>
            </a:r>
            <a:r>
              <a:rPr lang="en-US" altLang="ko-KR" sz="700" dirty="0" smtClean="0">
                <a:latin typeface="+mn-ea"/>
              </a:rPr>
              <a:t>95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품류명</a:t>
            </a:r>
            <a:r>
              <a:rPr lang="ko-KR" altLang="en-US" sz="700" dirty="0" smtClean="0">
                <a:latin typeface="+mn-ea"/>
              </a:rPr>
              <a:t> </a:t>
            </a:r>
            <a:r>
              <a:rPr lang="en-US" altLang="ko-KR" sz="700" dirty="0" smtClean="0">
                <a:latin typeface="+mn-ea"/>
              </a:rPr>
              <a:t>94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326" name="직선 연결선 32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11798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7" name="직선 연결선 3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33168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8" name="직선 연결선 3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54539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9" name="직선 연결선 32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75910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0" name="직선 연결선 32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97280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1" name="직선 연결선 3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618651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149915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848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7" name="직사각형 33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90938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43445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5106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 smtClean="0">
                <a:latin typeface="+mn-ea"/>
              </a:rPr>
              <a:t>품류코드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886876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11000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11740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11140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11170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11200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11215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81" name="그룹 80"/>
          <p:cNvGrpSpPr/>
          <p:nvPr/>
        </p:nvGrpSpPr>
        <p:grpSpPr>
          <a:xfrm rot="16200000">
            <a:off x="6266705" y="4974013"/>
            <a:ext cx="94010" cy="47005"/>
            <a:chOff x="6812560" y="3297172"/>
            <a:chExt cx="94010" cy="47005"/>
          </a:xfrm>
        </p:grpSpPr>
        <p:cxnSp>
          <p:nvCxnSpPr>
            <p:cNvPr id="82" name="직선 연결선 8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4" name="직선 연결선 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5" name="그룹 84"/>
          <p:cNvGrpSpPr/>
          <p:nvPr/>
        </p:nvGrpSpPr>
        <p:grpSpPr>
          <a:xfrm rot="16200000">
            <a:off x="6266706" y="5199626"/>
            <a:ext cx="94010" cy="47005"/>
            <a:chOff x="6812560" y="3297172"/>
            <a:chExt cx="94010" cy="47005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8" name="그룹 87"/>
          <p:cNvGrpSpPr/>
          <p:nvPr/>
        </p:nvGrpSpPr>
        <p:grpSpPr>
          <a:xfrm rot="16200000">
            <a:off x="6266707" y="5417736"/>
            <a:ext cx="94010" cy="47005"/>
            <a:chOff x="6812560" y="3297172"/>
            <a:chExt cx="94010" cy="47005"/>
          </a:xfrm>
        </p:grpSpPr>
        <p:cxnSp>
          <p:nvCxnSpPr>
            <p:cNvPr id="89" name="직선 연결선 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0" name="직선 연결선 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1" name="그룹 90"/>
          <p:cNvGrpSpPr/>
          <p:nvPr/>
        </p:nvGrpSpPr>
        <p:grpSpPr>
          <a:xfrm rot="16200000">
            <a:off x="6266708" y="5627293"/>
            <a:ext cx="94010" cy="47005"/>
            <a:chOff x="6812560" y="3297172"/>
            <a:chExt cx="94010" cy="47005"/>
          </a:xfrm>
        </p:grpSpPr>
        <p:cxnSp>
          <p:nvCxnSpPr>
            <p:cNvPr id="92" name="직선 연결선 9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3" name="직선 연결선 9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4" name="그룹 93"/>
          <p:cNvGrpSpPr/>
          <p:nvPr/>
        </p:nvGrpSpPr>
        <p:grpSpPr>
          <a:xfrm rot="16200000">
            <a:off x="6266709" y="5837225"/>
            <a:ext cx="94010" cy="47005"/>
            <a:chOff x="6812560" y="3297172"/>
            <a:chExt cx="94010" cy="47005"/>
          </a:xfrm>
        </p:grpSpPr>
        <p:cxnSp>
          <p:nvCxnSpPr>
            <p:cNvPr id="95" name="직선 연결선 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6" name="직선 연결선 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01" name="그룹 100"/>
          <p:cNvGrpSpPr/>
          <p:nvPr/>
        </p:nvGrpSpPr>
        <p:grpSpPr>
          <a:xfrm rot="16200000">
            <a:off x="6266710" y="6060166"/>
            <a:ext cx="94010" cy="47005"/>
            <a:chOff x="6812560" y="3297172"/>
            <a:chExt cx="94010" cy="47005"/>
          </a:xfrm>
        </p:grpSpPr>
        <p:cxnSp>
          <p:nvCxnSpPr>
            <p:cNvPr id="102" name="직선 연결선 10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4" name="직선 연결선 10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41601" y="428508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smtClean="0">
                <a:latin typeface="+mn-ea"/>
              </a:rPr>
              <a:t>표시 개수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40987" y="4285080"/>
            <a:ext cx="36855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10</a:t>
            </a:r>
            <a:r>
              <a:rPr lang="ko-KR" altLang="en-US" sz="700" dirty="0" smtClean="0">
                <a:latin typeface="+mn-ea"/>
              </a:rPr>
              <a:t>개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>
            <a:off x="6256545" y="4386903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805772618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150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6" y="811812"/>
            <a:ext cx="196424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품류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8" y="1023015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58117" y="1639406"/>
            <a:ext cx="197226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품류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863780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08621A12-99E3-9DA9-DCAD-2536B3F37656}"/>
              </a:ext>
            </a:extLst>
          </p:cNvPr>
          <p:cNvSpPr txBox="1"/>
          <p:nvPr/>
        </p:nvSpPr>
        <p:spPr>
          <a:xfrm>
            <a:off x="460676" y="2663038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882D9C75-A45A-D84C-EEDE-5152CE71892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4078688"/>
              </p:ext>
            </p:extLst>
          </p:nvPr>
        </p:nvGraphicFramePr>
        <p:xfrm>
          <a:off x="455558" y="2899666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scwin.btn_knditmSrch_onclick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730241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err="1" smtClean="0"/>
                        <a:t>검색항목</a:t>
                      </a:r>
                      <a:r>
                        <a:rPr lang="ko-KR" altLang="en-US" sz="800" dirty="0" smtClean="0"/>
                        <a:t> </a:t>
                      </a:r>
                      <a:r>
                        <a:rPr lang="ko-KR" altLang="en-US" sz="800" dirty="0"/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목록 정보가 부모 화면에 입력되며 팝업창은 닫힌다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UI-CM-01-M09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9222388"/>
                  </a:ext>
                </a:extLst>
              </a:tr>
            </a:tbl>
          </a:graphicData>
        </a:graphic>
      </p:graphicFrame>
      <p:sp>
        <p:nvSpPr>
          <p:cNvPr id="12" name="Text Box 73">
            <a:extLst>
              <a:ext uri="{FF2B5EF4-FFF2-40B4-BE49-F238E27FC236}">
                <a16:creationId xmlns:a16="http://schemas.microsoft.com/office/drawing/2014/main" id="{D4162E81-8A34-0A70-B464-DE534D08CE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0000" y="278393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D878C8DF-CE95-0969-EF4C-146F0D1096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544017351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오픈 시 </a:t>
            </a:r>
            <a:r>
              <a:rPr lang="ko-KR" altLang="en-US" dirty="0"/>
              <a:t>포커스 </a:t>
            </a:r>
            <a:r>
              <a:rPr lang="ko-KR" altLang="en-US" dirty="0" err="1"/>
              <a:t>자동이동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입력이 있는 경우 내용 삭제 아이콘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입력 내용 기반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Like </a:t>
            </a:r>
            <a:r>
              <a:rPr lang="ko-KR" altLang="en-US" dirty="0"/>
              <a:t>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 버튼 클릭 시 가상 </a:t>
            </a:r>
            <a:r>
              <a:rPr lang="ko-KR" altLang="en-US" dirty="0" err="1"/>
              <a:t>키패드</a:t>
            </a:r>
            <a:r>
              <a:rPr lang="ko-KR" altLang="en-US" dirty="0"/>
              <a:t>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검색 버튼으로 동일 검색 기능 동작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 결과 </a:t>
            </a:r>
            <a:r>
              <a:rPr lang="ko-KR" altLang="en-US" dirty="0" smtClean="0"/>
              <a:t>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결과 </a:t>
            </a:r>
            <a:r>
              <a:rPr lang="ko-KR" altLang="en-US" dirty="0"/>
              <a:t>클릭을 </a:t>
            </a:r>
            <a:r>
              <a:rPr lang="ko-KR" altLang="en-US" dirty="0" smtClean="0"/>
              <a:t>통해 결과 </a:t>
            </a:r>
            <a:r>
              <a:rPr lang="ko-KR" altLang="en-US" dirty="0"/>
              <a:t>반영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선택 시 </a:t>
            </a:r>
            <a:r>
              <a:rPr lang="ko-KR" altLang="en-US" dirty="0" err="1"/>
              <a:t>바텀</a:t>
            </a:r>
            <a:r>
              <a:rPr lang="ko-KR" altLang="en-US" dirty="0"/>
              <a:t> 시트 </a:t>
            </a:r>
            <a:r>
              <a:rPr lang="ko-KR" altLang="en-US" dirty="0" smtClean="0"/>
              <a:t>닫힘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상위 페이지에 정보 반영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조합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단체 선택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조합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 smtClean="0">
                <a:latin typeface="+mn-ea"/>
              </a:rPr>
              <a:t>단체</a:t>
            </a:r>
            <a:r>
              <a:rPr lang="ko-KR" altLang="en-US" dirty="0" smtClean="0"/>
              <a:t> 선택하는 경우 뜨는 팝업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</a:t>
            </a:r>
            <a:r>
              <a:rPr lang="ko-KR" altLang="en-US" dirty="0" smtClean="0"/>
              <a:t>등록 </a:t>
            </a:r>
            <a:r>
              <a:rPr lang="en-US" altLang="ko-KR" dirty="0" smtClean="0"/>
              <a:t>&gt; </a:t>
            </a:r>
            <a:r>
              <a:rPr lang="ko-KR" altLang="en-US" dirty="0">
                <a:latin typeface="+mn-ea"/>
              </a:rPr>
              <a:t>조합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단체 </a:t>
            </a:r>
            <a:r>
              <a:rPr lang="ko-KR" altLang="en-US" dirty="0" smtClean="0">
                <a:latin typeface="+mn-ea"/>
              </a:rPr>
              <a:t>선택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MUI-CM-01-P07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3011654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304205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3176467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15714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조합</a:t>
            </a:r>
            <a:r>
              <a:rPr lang="en-US" altLang="ko-KR" sz="900" dirty="0">
                <a:latin typeface="+mn-ea"/>
              </a:rPr>
              <a:t>/</a:t>
            </a:r>
            <a:r>
              <a:rPr lang="ko-KR" altLang="en-US" sz="900" dirty="0">
                <a:latin typeface="+mn-ea"/>
              </a:rPr>
              <a:t>단체 선택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185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7" name="모서리가 둥근 직사각형 306"/>
          <p:cNvSpPr/>
          <p:nvPr/>
        </p:nvSpPr>
        <p:spPr>
          <a:xfrm>
            <a:off x="4564213" y="3557095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smtClean="0">
                <a:solidFill>
                  <a:schemeClr val="tx1"/>
                </a:solidFill>
              </a:rPr>
              <a:t>단체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625408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단체명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30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88037" y="3890810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800" kern="0" dirty="0">
                <a:solidFill>
                  <a:srgbClr val="0070C0"/>
                </a:solidFill>
              </a:rPr>
              <a:t>검색</a:t>
            </a:r>
            <a:endParaRPr kumimoji="1" lang="en-US" altLang="ko-KR" sz="800" kern="0" dirty="0">
              <a:solidFill>
                <a:srgbClr val="0070C0"/>
              </a:solidFill>
            </a:endParaRP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31826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조합</a:t>
            </a:r>
            <a:r>
              <a:rPr lang="en-US" altLang="ko-KR" sz="900" dirty="0">
                <a:latin typeface="+mn-ea"/>
              </a:rPr>
              <a:t>/</a:t>
            </a:r>
            <a:r>
              <a:rPr lang="ko-KR" altLang="en-US" sz="900" dirty="0">
                <a:latin typeface="+mn-ea"/>
              </a:rPr>
              <a:t>단체 선택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9" name="모서리가 둥근 직사각형 168"/>
          <p:cNvSpPr/>
          <p:nvPr/>
        </p:nvSpPr>
        <p:spPr>
          <a:xfrm>
            <a:off x="1443878" y="3563324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smtClean="0">
                <a:solidFill>
                  <a:schemeClr val="bg1">
                    <a:lumMod val="65000"/>
                  </a:schemeClr>
                </a:solidFill>
              </a:rPr>
              <a:t>단체명을</a:t>
            </a:r>
            <a:r>
              <a:rPr lang="ko-KR" altLang="en-US" sz="700" dirty="0" smtClean="0">
                <a:solidFill>
                  <a:schemeClr val="tx1"/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입력해주세요</a:t>
            </a:r>
            <a:r>
              <a:rPr lang="en-US" altLang="ko-KR" sz="700" dirty="0">
                <a:solidFill>
                  <a:schemeClr val="tx1"/>
                </a:solidFill>
              </a:rPr>
              <a:t>.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631637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단체명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17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67702" y="3897039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검색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0" name="타원 309"/>
          <p:cNvSpPr/>
          <p:nvPr/>
        </p:nvSpPr>
        <p:spPr>
          <a:xfrm>
            <a:off x="3112794" y="3601610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1" name="그룹 310"/>
          <p:cNvGrpSpPr/>
          <p:nvPr/>
        </p:nvGrpSpPr>
        <p:grpSpPr>
          <a:xfrm>
            <a:off x="3156699" y="3645514"/>
            <a:ext cx="58075" cy="58074"/>
            <a:chOff x="6812560" y="3297172"/>
            <a:chExt cx="94010" cy="94010"/>
          </a:xfrm>
        </p:grpSpPr>
        <p:cxnSp>
          <p:nvCxnSpPr>
            <p:cNvPr id="312" name="직선 연결선 31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3" name="직선 연결선 31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14" name="타원 313"/>
          <p:cNvSpPr/>
          <p:nvPr/>
        </p:nvSpPr>
        <p:spPr>
          <a:xfrm>
            <a:off x="6240768" y="359991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5" name="그룹 314"/>
          <p:cNvGrpSpPr/>
          <p:nvPr/>
        </p:nvGrpSpPr>
        <p:grpSpPr>
          <a:xfrm>
            <a:off x="6284673" y="3643820"/>
            <a:ext cx="58075" cy="58074"/>
            <a:chOff x="6812560" y="3297172"/>
            <a:chExt cx="94010" cy="94010"/>
          </a:xfrm>
        </p:grpSpPr>
        <p:cxnSp>
          <p:nvCxnSpPr>
            <p:cNvPr id="316" name="직선 연결선 31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7" name="직선 연결선 31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318" name="직선 연결선 3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7422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9" name="TextBox 3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38124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sp>
        <p:nvSpPr>
          <p:cNvPr id="320" name="TextBox 3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321" name="TextBox 3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단체명</a:t>
            </a:r>
            <a:endParaRPr lang="en-US" altLang="ko-KR" sz="700" b="1" dirty="0">
              <a:latin typeface="+mn-ea"/>
            </a:endParaRPr>
          </a:p>
        </p:txBody>
      </p:sp>
      <p:cxnSp>
        <p:nvCxnSpPr>
          <p:cNvPr id="322" name="직선 연결선 3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55678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3" name="직선 연결선 3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87548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4" name="TextBox 3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886876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96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95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94</a:t>
            </a:r>
            <a:endParaRPr lang="en-US" altLang="ko-KR" sz="700" dirty="0">
              <a:latin typeface="+mn-ea"/>
            </a:endParaRP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886876"/>
            <a:ext cx="1418465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품류명</a:t>
            </a:r>
            <a:r>
              <a:rPr lang="ko-KR" altLang="en-US" sz="700" dirty="0" smtClean="0">
                <a:latin typeface="+mn-ea"/>
              </a:rPr>
              <a:t> </a:t>
            </a:r>
            <a:r>
              <a:rPr lang="en-US" altLang="ko-KR" sz="700" dirty="0" smtClean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품류명</a:t>
            </a:r>
            <a:r>
              <a:rPr lang="ko-KR" altLang="en-US" sz="700" dirty="0" smtClean="0">
                <a:latin typeface="+mn-ea"/>
              </a:rPr>
              <a:t> </a:t>
            </a:r>
            <a:r>
              <a:rPr lang="en-US" altLang="ko-KR" sz="700" dirty="0" smtClean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품류명</a:t>
            </a:r>
            <a:r>
              <a:rPr lang="ko-KR" altLang="en-US" sz="700" dirty="0" smtClean="0">
                <a:latin typeface="+mn-ea"/>
              </a:rPr>
              <a:t> </a:t>
            </a:r>
            <a:r>
              <a:rPr lang="en-US" altLang="ko-KR" sz="700" dirty="0" smtClean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품류명</a:t>
            </a:r>
            <a:r>
              <a:rPr lang="ko-KR" altLang="en-US" sz="700" dirty="0" smtClean="0">
                <a:latin typeface="+mn-ea"/>
              </a:rPr>
              <a:t> </a:t>
            </a:r>
            <a:r>
              <a:rPr lang="en-US" altLang="ko-KR" sz="700" dirty="0" smtClean="0">
                <a:latin typeface="+mn-ea"/>
              </a:rPr>
              <a:t>96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품류명</a:t>
            </a:r>
            <a:r>
              <a:rPr lang="ko-KR" altLang="en-US" sz="700" dirty="0" smtClean="0">
                <a:latin typeface="+mn-ea"/>
              </a:rPr>
              <a:t> </a:t>
            </a:r>
            <a:r>
              <a:rPr lang="en-US" altLang="ko-KR" sz="700" dirty="0" smtClean="0">
                <a:latin typeface="+mn-ea"/>
              </a:rPr>
              <a:t>95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품류명</a:t>
            </a:r>
            <a:r>
              <a:rPr lang="ko-KR" altLang="en-US" sz="700" dirty="0" smtClean="0">
                <a:latin typeface="+mn-ea"/>
              </a:rPr>
              <a:t> </a:t>
            </a:r>
            <a:r>
              <a:rPr lang="en-US" altLang="ko-KR" sz="700" dirty="0" smtClean="0">
                <a:latin typeface="+mn-ea"/>
              </a:rPr>
              <a:t>94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326" name="직선 연결선 32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11798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7" name="직선 연결선 3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33168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8" name="직선 연결선 3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54539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9" name="직선 연결선 32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75910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0" name="직선 연결선 32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97280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1" name="직선 연결선 3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618651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149915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848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7" name="직사각형 33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90938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43445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5106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 smtClean="0">
                <a:latin typeface="+mn-ea"/>
              </a:rPr>
              <a:t>조합코드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886876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11000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11740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11140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11170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11200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11215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81" name="그룹 80"/>
          <p:cNvGrpSpPr/>
          <p:nvPr/>
        </p:nvGrpSpPr>
        <p:grpSpPr>
          <a:xfrm rot="16200000">
            <a:off x="6266705" y="4974013"/>
            <a:ext cx="94010" cy="47005"/>
            <a:chOff x="6812560" y="3297172"/>
            <a:chExt cx="94010" cy="47005"/>
          </a:xfrm>
        </p:grpSpPr>
        <p:cxnSp>
          <p:nvCxnSpPr>
            <p:cNvPr id="82" name="직선 연결선 8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4" name="직선 연결선 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5" name="그룹 84"/>
          <p:cNvGrpSpPr/>
          <p:nvPr/>
        </p:nvGrpSpPr>
        <p:grpSpPr>
          <a:xfrm rot="16200000">
            <a:off x="6266706" y="5199626"/>
            <a:ext cx="94010" cy="47005"/>
            <a:chOff x="6812560" y="3297172"/>
            <a:chExt cx="94010" cy="47005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8" name="그룹 87"/>
          <p:cNvGrpSpPr/>
          <p:nvPr/>
        </p:nvGrpSpPr>
        <p:grpSpPr>
          <a:xfrm rot="16200000">
            <a:off x="6266707" y="5417736"/>
            <a:ext cx="94010" cy="47005"/>
            <a:chOff x="6812560" y="3297172"/>
            <a:chExt cx="94010" cy="47005"/>
          </a:xfrm>
        </p:grpSpPr>
        <p:cxnSp>
          <p:nvCxnSpPr>
            <p:cNvPr id="89" name="직선 연결선 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0" name="직선 연결선 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1" name="그룹 90"/>
          <p:cNvGrpSpPr/>
          <p:nvPr/>
        </p:nvGrpSpPr>
        <p:grpSpPr>
          <a:xfrm rot="16200000">
            <a:off x="6266708" y="5627293"/>
            <a:ext cx="94010" cy="47005"/>
            <a:chOff x="6812560" y="3297172"/>
            <a:chExt cx="94010" cy="47005"/>
          </a:xfrm>
        </p:grpSpPr>
        <p:cxnSp>
          <p:nvCxnSpPr>
            <p:cNvPr id="92" name="직선 연결선 9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3" name="직선 연결선 9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4" name="그룹 93"/>
          <p:cNvGrpSpPr/>
          <p:nvPr/>
        </p:nvGrpSpPr>
        <p:grpSpPr>
          <a:xfrm rot="16200000">
            <a:off x="6266709" y="5837225"/>
            <a:ext cx="94010" cy="47005"/>
            <a:chOff x="6812560" y="3297172"/>
            <a:chExt cx="94010" cy="47005"/>
          </a:xfrm>
        </p:grpSpPr>
        <p:cxnSp>
          <p:nvCxnSpPr>
            <p:cNvPr id="95" name="직선 연결선 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6" name="직선 연결선 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01" name="그룹 100"/>
          <p:cNvGrpSpPr/>
          <p:nvPr/>
        </p:nvGrpSpPr>
        <p:grpSpPr>
          <a:xfrm rot="16200000">
            <a:off x="6266710" y="6060166"/>
            <a:ext cx="94010" cy="47005"/>
            <a:chOff x="6812560" y="3297172"/>
            <a:chExt cx="94010" cy="47005"/>
          </a:xfrm>
        </p:grpSpPr>
        <p:cxnSp>
          <p:nvCxnSpPr>
            <p:cNvPr id="102" name="직선 연결선 10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4" name="직선 연결선 10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41601" y="428508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smtClean="0">
                <a:latin typeface="+mn-ea"/>
              </a:rPr>
              <a:t>표시 개수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40987" y="4285080"/>
            <a:ext cx="36855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10</a:t>
            </a:r>
            <a:r>
              <a:rPr lang="ko-KR" altLang="en-US" sz="700" dirty="0" smtClean="0">
                <a:latin typeface="+mn-ea"/>
              </a:rPr>
              <a:t>개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>
            <a:off x="6256545" y="4386903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4205297923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152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224637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조합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단체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14316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asctGrdCdNm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 입력 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58117" y="1621594"/>
            <a:ext cx="225439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조합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단체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840033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asctGrdCd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asctGrdCdNm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08621A12-99E3-9DA9-DCAD-2536B3F37656}"/>
              </a:ext>
            </a:extLst>
          </p:cNvPr>
          <p:cNvSpPr txBox="1"/>
          <p:nvPr/>
        </p:nvSpPr>
        <p:spPr>
          <a:xfrm>
            <a:off x="460676" y="259178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882D9C75-A45A-D84C-EEDE-5152CE71892E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2828414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scwin.btn_asctGrdSrch_onclick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730241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err="1" smtClean="0"/>
                        <a:t>검색항목</a:t>
                      </a:r>
                      <a:r>
                        <a:rPr lang="ko-KR" altLang="en-US" sz="800" dirty="0" smtClean="0"/>
                        <a:t> 클릭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 목록 정보가 부모 화면에 입력되며 팝업창은 닫힌다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UI-CM-01-M09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9222388"/>
                  </a:ext>
                </a:extLst>
              </a:tr>
            </a:tbl>
          </a:graphicData>
        </a:graphic>
      </p:graphicFrame>
      <p:sp>
        <p:nvSpPr>
          <p:cNvPr id="13" name="Text Box 73">
            <a:extLst>
              <a:ext uri="{FF2B5EF4-FFF2-40B4-BE49-F238E27FC236}">
                <a16:creationId xmlns:a16="http://schemas.microsoft.com/office/drawing/2014/main" id="{7A9D0A13-E633-48CC-1B27-7E5B35798E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308" y="271226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1" name="Text Box 73">
            <a:extLst>
              <a:ext uri="{FF2B5EF4-FFF2-40B4-BE49-F238E27FC236}">
                <a16:creationId xmlns:a16="http://schemas.microsoft.com/office/drawing/2014/main" id="{17EF71F0-EA5E-971E-1F0F-9270878CED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58765328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품류</a:t>
            </a:r>
            <a:r>
              <a:rPr lang="en-US" altLang="ko-KR" dirty="0" smtClean="0"/>
              <a:t>, </a:t>
            </a:r>
            <a:r>
              <a:rPr lang="ko-KR" altLang="en-US" dirty="0" smtClean="0"/>
              <a:t>품명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업종코드</a:t>
            </a:r>
            <a:r>
              <a:rPr lang="ko-KR" altLang="en-US" dirty="0" smtClean="0"/>
              <a:t> 조건 설정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입력 내용 기반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Like </a:t>
            </a:r>
            <a:r>
              <a:rPr lang="ko-KR" altLang="en-US" dirty="0"/>
              <a:t>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 버튼 클릭 시 가상 </a:t>
            </a:r>
            <a:r>
              <a:rPr lang="ko-KR" altLang="en-US" dirty="0" err="1"/>
              <a:t>키패드</a:t>
            </a:r>
            <a:r>
              <a:rPr lang="ko-KR" altLang="en-US" dirty="0"/>
              <a:t>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검색 버튼으로 동일 검색 기능 </a:t>
            </a:r>
            <a:r>
              <a:rPr lang="ko-KR" altLang="en-US" dirty="0" smtClean="0"/>
              <a:t>동작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err="1" smtClean="0">
                <a:solidFill>
                  <a:srgbClr val="FF0000"/>
                </a:solidFill>
              </a:rPr>
              <a:t>품류의</a:t>
            </a:r>
            <a:r>
              <a:rPr lang="ko-KR" altLang="en-US" dirty="0" smtClean="0">
                <a:solidFill>
                  <a:srgbClr val="FF0000"/>
                </a:solidFill>
              </a:rPr>
              <a:t> 경우 </a:t>
            </a:r>
            <a:r>
              <a:rPr lang="ko-KR" altLang="en-US" dirty="0" err="1" smtClean="0">
                <a:solidFill>
                  <a:srgbClr val="FF0000"/>
                </a:solidFill>
              </a:rPr>
              <a:t>드롭다운</a:t>
            </a:r>
            <a:r>
              <a:rPr lang="ko-KR" altLang="en-US" dirty="0" smtClean="0">
                <a:solidFill>
                  <a:srgbClr val="FF0000"/>
                </a:solidFill>
              </a:rPr>
              <a:t> 선택</a:t>
            </a:r>
            <a:r>
              <a:rPr lang="en-US" altLang="ko-KR" dirty="0" smtClean="0">
                <a:solidFill>
                  <a:srgbClr val="FF0000"/>
                </a:solidFill>
              </a:rPr>
              <a:t/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품명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err="1" smtClean="0">
                <a:solidFill>
                  <a:srgbClr val="FF0000"/>
                </a:solidFill>
              </a:rPr>
              <a:t>업종코드는</a:t>
            </a:r>
            <a:r>
              <a:rPr lang="ko-KR" altLang="en-US" dirty="0" smtClean="0">
                <a:solidFill>
                  <a:srgbClr val="FF0000"/>
                </a:solidFill>
              </a:rPr>
              <a:t> 입력 검색</a:t>
            </a:r>
            <a:endParaRPr lang="en-US" altLang="ko-KR" dirty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 결과 </a:t>
            </a:r>
            <a:r>
              <a:rPr lang="ko-KR" altLang="en-US" dirty="0" smtClean="0"/>
              <a:t>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품목 조회 팝업 호출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적용하기 </a:t>
            </a:r>
            <a:r>
              <a:rPr lang="ko-KR" altLang="en-US" dirty="0"/>
              <a:t>클릭을 통해 결과 반영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선택 시 </a:t>
            </a:r>
            <a:r>
              <a:rPr lang="ko-KR" altLang="en-US" dirty="0" err="1"/>
              <a:t>바텀</a:t>
            </a:r>
            <a:r>
              <a:rPr lang="ko-KR" altLang="en-US" dirty="0"/>
              <a:t> 시트 닫힘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상위 페이지에 정보 반영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표시개수</a:t>
            </a:r>
            <a:r>
              <a:rPr lang="ko-KR" altLang="en-US" dirty="0" smtClean="0"/>
              <a:t> 이후 </a:t>
            </a:r>
            <a:r>
              <a:rPr lang="ko-KR" altLang="en-US" dirty="0" err="1" smtClean="0"/>
              <a:t>더보기</a:t>
            </a:r>
            <a:r>
              <a:rPr lang="ko-KR" altLang="en-US" dirty="0" smtClean="0"/>
              <a:t> 버튼으로 추가 로드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/>
              <a:t>등록대상 품목 선택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등록대상 품목 </a:t>
            </a:r>
            <a:r>
              <a:rPr lang="ko-KR" altLang="en-US" dirty="0" smtClean="0"/>
              <a:t>선택하는 경우 뜨는 팝업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</a:t>
            </a:r>
            <a:r>
              <a:rPr lang="ko-KR" altLang="en-US" dirty="0" smtClean="0"/>
              <a:t>등록 </a:t>
            </a:r>
            <a:r>
              <a:rPr lang="en-US" altLang="ko-KR" dirty="0" smtClean="0"/>
              <a:t>&gt; </a:t>
            </a:r>
            <a:r>
              <a:rPr lang="ko-KR" altLang="en-US" dirty="0"/>
              <a:t>등록대상 품목 </a:t>
            </a:r>
            <a:r>
              <a:rPr lang="ko-KR" altLang="en-US" dirty="0" smtClean="0"/>
              <a:t>선택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MUI-CM-01-P08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3011654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304205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3176467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15714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등록대상 품목 선택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185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7" name="모서리가 둥근 직사각형 306"/>
          <p:cNvSpPr/>
          <p:nvPr/>
        </p:nvSpPr>
        <p:spPr>
          <a:xfrm>
            <a:off x="4564213" y="3557095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 smtClean="0">
                <a:solidFill>
                  <a:schemeClr val="bg1">
                    <a:lumMod val="65000"/>
                  </a:schemeClr>
                </a:solidFill>
              </a:rPr>
              <a:t>검색어를</a:t>
            </a:r>
            <a:r>
              <a:rPr lang="ko-KR" altLang="en-US" sz="700" dirty="0" smtClean="0">
                <a:solidFill>
                  <a:schemeClr val="bg1">
                    <a:lumMod val="65000"/>
                  </a:schemeClr>
                </a:solidFill>
              </a:rPr>
              <a:t> 입력해주세요</a:t>
            </a:r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625408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검색어</a:t>
            </a:r>
            <a:endParaRPr lang="en-US" altLang="ko-KR" sz="700" dirty="0">
              <a:latin typeface="+mn-ea"/>
            </a:endParaRPr>
          </a:p>
        </p:txBody>
      </p:sp>
      <p:sp>
        <p:nvSpPr>
          <p:cNvPr id="30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88037" y="3890810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800" kern="0" dirty="0">
                <a:solidFill>
                  <a:srgbClr val="0070C0"/>
                </a:solidFill>
              </a:rPr>
              <a:t>검색</a:t>
            </a:r>
            <a:endParaRPr kumimoji="1" lang="en-US" altLang="ko-KR" sz="800" kern="0" dirty="0">
              <a:solidFill>
                <a:srgbClr val="0070C0"/>
              </a:solidFill>
            </a:endParaRP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31826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등록대상 품목 선택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631637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검색조건</a:t>
            </a:r>
            <a:endParaRPr lang="en-US" altLang="ko-KR" sz="700" dirty="0">
              <a:latin typeface="+mn-ea"/>
            </a:endParaRPr>
          </a:p>
        </p:txBody>
      </p:sp>
      <p:sp>
        <p:nvSpPr>
          <p:cNvPr id="17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67702" y="4178920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검색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4" name="타원 313"/>
          <p:cNvSpPr/>
          <p:nvPr/>
        </p:nvSpPr>
        <p:spPr>
          <a:xfrm>
            <a:off x="6240768" y="359991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5" name="그룹 314"/>
          <p:cNvGrpSpPr/>
          <p:nvPr/>
        </p:nvGrpSpPr>
        <p:grpSpPr>
          <a:xfrm>
            <a:off x="6284673" y="3643820"/>
            <a:ext cx="58075" cy="58074"/>
            <a:chOff x="6812560" y="3297172"/>
            <a:chExt cx="94010" cy="94010"/>
          </a:xfrm>
        </p:grpSpPr>
        <p:cxnSp>
          <p:nvCxnSpPr>
            <p:cNvPr id="316" name="직선 연결선 31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7" name="직선 연결선 31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318" name="직선 연결선 3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7422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9" name="TextBox 3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38124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322" name="직선 연결선 3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55678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149915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848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7" name="직사각형 33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90938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43445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41601" y="428508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smtClean="0">
                <a:latin typeface="+mn-ea"/>
              </a:rPr>
              <a:t>표시 개수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40987" y="4285080"/>
            <a:ext cx="36855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10</a:t>
            </a:r>
            <a:r>
              <a:rPr lang="ko-KR" altLang="en-US" sz="700" dirty="0" smtClean="0">
                <a:latin typeface="+mn-ea"/>
              </a:rPr>
              <a:t>개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>
            <a:off x="6256545" y="4386903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7" name="모서리가 둥근 직사각형 96"/>
          <p:cNvSpPr/>
          <p:nvPr/>
        </p:nvSpPr>
        <p:spPr>
          <a:xfrm>
            <a:off x="1443878" y="3878771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 smtClean="0">
                <a:solidFill>
                  <a:schemeClr val="bg1">
                    <a:lumMod val="65000"/>
                  </a:schemeClr>
                </a:solidFill>
              </a:rPr>
              <a:t>품류를</a:t>
            </a:r>
            <a:r>
              <a:rPr lang="ko-KR" altLang="en-US" sz="700" dirty="0" smtClean="0">
                <a:solidFill>
                  <a:schemeClr val="tx1"/>
                </a:solidFill>
              </a:rPr>
              <a:t> </a:t>
            </a:r>
            <a:r>
              <a:rPr lang="ko-KR" altLang="en-US" sz="700" dirty="0" smtClean="0">
                <a:solidFill>
                  <a:schemeClr val="bg1">
                    <a:lumMod val="65000"/>
                  </a:schemeClr>
                </a:solidFill>
              </a:rPr>
              <a:t>선택해주세요</a:t>
            </a:r>
            <a:r>
              <a:rPr lang="en-US" altLang="ko-KR" sz="700" dirty="0">
                <a:solidFill>
                  <a:schemeClr val="tx1"/>
                </a:solidFill>
              </a:rPr>
              <a:t>.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94708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latin typeface="+mn-ea"/>
              </a:rPr>
              <a:t>검색어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6" name="그룹 5"/>
          <p:cNvGrpSpPr/>
          <p:nvPr/>
        </p:nvGrpSpPr>
        <p:grpSpPr>
          <a:xfrm>
            <a:off x="1440240" y="3607819"/>
            <a:ext cx="1849475" cy="162000"/>
            <a:chOff x="1440240" y="3697863"/>
            <a:chExt cx="3983148" cy="162000"/>
          </a:xfrm>
        </p:grpSpPr>
        <p:sp>
          <p:nvSpPr>
            <p:cNvPr id="11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40240" y="3697863"/>
              <a:ext cx="1234994" cy="162000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 err="1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맑은 고딕"/>
                </a:rPr>
                <a:t>품류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815659" y="3697863"/>
              <a:ext cx="1234994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 smtClean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품명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188394" y="3697863"/>
              <a:ext cx="1234994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 err="1" smtClean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업종코드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20" name="그룹 119"/>
          <p:cNvGrpSpPr/>
          <p:nvPr/>
        </p:nvGrpSpPr>
        <p:grpSpPr>
          <a:xfrm>
            <a:off x="3086905" y="3975898"/>
            <a:ext cx="94010" cy="47005"/>
            <a:chOff x="6812560" y="3297172"/>
            <a:chExt cx="94010" cy="47005"/>
          </a:xfrm>
        </p:grpSpPr>
        <p:cxnSp>
          <p:nvCxnSpPr>
            <p:cNvPr id="121" name="직선 연결선 12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2" name="직선 연결선 12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23" name="그룹 122"/>
          <p:cNvGrpSpPr/>
          <p:nvPr/>
        </p:nvGrpSpPr>
        <p:grpSpPr>
          <a:xfrm>
            <a:off x="3836700" y="4599552"/>
            <a:ext cx="2630093" cy="1543815"/>
            <a:chOff x="3836700" y="3380909"/>
            <a:chExt cx="2630093" cy="1543815"/>
          </a:xfrm>
        </p:grpSpPr>
        <p:sp>
          <p:nvSpPr>
            <p:cNvPr id="124" name="직사각형 123"/>
            <p:cNvSpPr/>
            <p:nvPr/>
          </p:nvSpPr>
          <p:spPr>
            <a:xfrm>
              <a:off x="3838793" y="3380909"/>
              <a:ext cx="792000" cy="12808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0" y="338090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7" y="3380909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순번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삭제여부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품목코드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품명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품류코드</a:t>
              </a:r>
              <a:r>
                <a:rPr lang="en-US" altLang="ko-KR" sz="700" dirty="0" smtClean="0">
                  <a:latin typeface="+mn-ea"/>
                </a:rPr>
                <a:t>/</a:t>
              </a:r>
              <a:r>
                <a:rPr lang="ko-KR" altLang="en-US" sz="700" dirty="0" smtClean="0">
                  <a:latin typeface="+mn-ea"/>
                </a:rPr>
                <a:t>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등록요건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5" y="3380909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N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solidFill>
                    <a:srgbClr val="0070C0"/>
                  </a:solidFill>
                  <a:latin typeface="+mn-ea"/>
                </a:rPr>
                <a:t>1234567890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물컵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05 </a:t>
              </a:r>
              <a:r>
                <a:rPr lang="ko-KR" altLang="en-US" sz="700" dirty="0" smtClean="0">
                  <a:latin typeface="+mn-ea"/>
                </a:rPr>
                <a:t>피복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해당업종</a:t>
              </a:r>
              <a:r>
                <a:rPr lang="ko-KR" altLang="en-US" sz="700" dirty="0" smtClean="0">
                  <a:latin typeface="+mn-ea"/>
                </a:rPr>
                <a:t> 사업자 </a:t>
              </a:r>
              <a:r>
                <a:rPr lang="en-US" altLang="ko-KR" sz="700" dirty="0" smtClean="0">
                  <a:latin typeface="+mn-ea"/>
                </a:rPr>
                <a:t>/ </a:t>
              </a:r>
              <a:r>
                <a:rPr lang="ko-KR" altLang="en-US" sz="700" dirty="0" err="1" smtClean="0">
                  <a:latin typeface="+mn-ea"/>
                </a:rPr>
                <a:t>공장등록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6120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8257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0394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2343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4480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6617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72446" y="3860986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 smtClean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상세보기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4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3836700" y="4706456"/>
              <a:ext cx="2630093" cy="162000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맑은 고딕"/>
                </a:rPr>
                <a:t>적용하기 </a:t>
              </a:r>
              <a:r>
                <a:rPr kumimoji="1" lang="en-US" altLang="ko-KR" sz="700" b="0" i="0" u="none" strike="noStrike" kern="0" cap="none" spc="0" normalizeH="0" baseline="0" noProof="0" dirty="0" smtClean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맑은 고딕"/>
                </a:rPr>
                <a:t>&gt;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92472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9" name="그룹 13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35444" y="6172490"/>
            <a:ext cx="76863" cy="292489"/>
            <a:chOff x="3750067" y="4683795"/>
            <a:chExt cx="76863" cy="292489"/>
          </a:xfrm>
        </p:grpSpPr>
        <p:sp>
          <p:nvSpPr>
            <p:cNvPr id="140" name="타원 13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41" name="타원 14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42" name="타원 14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340" name="타원 3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5106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145" name="타원 1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589382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46" name="타원 14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614782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481746369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154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196424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품목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66502" y="1966289"/>
            <a:ext cx="197226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품목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14316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60624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tpbizCd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27419024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19066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삭제여부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6674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4654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knditmCdNm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52684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itemRgstrtRqmtCdNm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등재요건코드로 등록요건명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59916"/>
                  </a:ext>
                </a:extLst>
              </a:tr>
            </a:tbl>
          </a:graphicData>
        </a:graphic>
      </p:graphicFrame>
      <p:sp>
        <p:nvSpPr>
          <p:cNvPr id="19" name="TextBox 18">
            <a:extLst>
              <a:ext uri="{FF2B5EF4-FFF2-40B4-BE49-F238E27FC236}">
                <a16:creationId xmlns:a16="http://schemas.microsoft.com/office/drawing/2014/main" id="{C2F212A1-6EE7-4B40-928F-972A7770F5EA}"/>
              </a:ext>
            </a:extLst>
          </p:cNvPr>
          <p:cNvSpPr txBox="1"/>
          <p:nvPr/>
        </p:nvSpPr>
        <p:spPr>
          <a:xfrm>
            <a:off x="464231" y="444098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D71539F7-D719-E668-93D4-7070D49133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560215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E5A69B7C-03A3-91C1-352F-7D0E8D442A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29096486"/>
              </p:ext>
            </p:extLst>
          </p:nvPr>
        </p:nvGraphicFramePr>
        <p:xfrm>
          <a:off x="450728" y="4677609"/>
          <a:ext cx="8995591" cy="1335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scwin.btn_regTrgtItemSrch_onclick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품목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730241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err="1"/>
                        <a:t>품목코드</a:t>
                      </a:r>
                      <a:r>
                        <a:rPr lang="ko-KR" altLang="en-US" sz="800" dirty="0"/>
                        <a:t> </a:t>
                      </a:r>
                      <a:r>
                        <a:rPr lang="ko-KR" altLang="en-US" sz="800" dirty="0" smtClean="0"/>
                        <a:t>상세보기 클릭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scwin.grd_regTrgtItemList_oncellclick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클릭된 품목의 상세정보를 보여준다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624917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smtClean="0"/>
                        <a:t>적용하기 </a:t>
                      </a:r>
                      <a:r>
                        <a:rPr lang="ko-KR" altLang="en-US" sz="800" dirty="0"/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 목록 정보가 부모 화면에 입력되며 팝업창은 닫힌다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UI-CM-01-M09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9222388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CB1DDFE4-3EFD-C572-25BA-3E31DBC7D9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59188923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품목 조회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상위에서 선택한 품목 정보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품목 정보의 상세 정보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 smtClean="0"/>
              <a:t>업종코드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 smtClean="0"/>
              <a:t>업종명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품목 코드 값은 품목 정보를 통해 들어왔을 때 노출함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예를 들어 </a:t>
            </a:r>
            <a:r>
              <a:rPr lang="en-US" altLang="ko-KR" dirty="0" smtClean="0"/>
              <a:t>[</a:t>
            </a:r>
            <a:r>
              <a:rPr lang="ko-KR" altLang="en-US" dirty="0" smtClean="0"/>
              <a:t>등록대상 </a:t>
            </a:r>
            <a:r>
              <a:rPr lang="ko-KR" altLang="en-US" dirty="0"/>
              <a:t>품목 </a:t>
            </a:r>
            <a:r>
              <a:rPr lang="ko-KR" altLang="en-US" dirty="0" smtClean="0"/>
              <a:t>선택</a:t>
            </a:r>
            <a:r>
              <a:rPr lang="en-US" altLang="ko-KR" dirty="0" smtClean="0"/>
              <a:t>] </a:t>
            </a:r>
            <a:r>
              <a:rPr lang="ko-KR" altLang="en-US" dirty="0" smtClean="0"/>
              <a:t>품목 코드를 통해 접근했을 때 등</a:t>
            </a:r>
            <a:r>
              <a:rPr lang="en-US" altLang="ko-KR" dirty="0" smtClean="0"/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품목 조회 선택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품목 조회 </a:t>
            </a:r>
            <a:r>
              <a:rPr lang="ko-KR" altLang="en-US" dirty="0" smtClean="0"/>
              <a:t>선택하는 </a:t>
            </a:r>
            <a:r>
              <a:rPr lang="ko-KR" altLang="en-US" dirty="0"/>
              <a:t>경우 뜨는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ko-KR" altLang="en-US" dirty="0"/>
              <a:t>품목 조회 선택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MUI-CM-01-P08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4239138"/>
            <a:ext cx="2712027" cy="1993161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4275766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4410182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4390861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/>
              <a:t>품목 조회 선택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65226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437112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6" name="그룹 5"/>
          <p:cNvGrpSpPr/>
          <p:nvPr/>
        </p:nvGrpSpPr>
        <p:grpSpPr>
          <a:xfrm>
            <a:off x="716084" y="5131966"/>
            <a:ext cx="2630656" cy="452455"/>
            <a:chOff x="3824022" y="5160789"/>
            <a:chExt cx="2630656" cy="452455"/>
          </a:xfrm>
        </p:grpSpPr>
        <p:sp>
          <p:nvSpPr>
            <p:cNvPr id="75" name="직사각형 74"/>
            <p:cNvSpPr/>
            <p:nvPr/>
          </p:nvSpPr>
          <p:spPr>
            <a:xfrm>
              <a:off x="3826115" y="5160789"/>
              <a:ext cx="792000" cy="4524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4022" y="516078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13179" y="5160789"/>
              <a:ext cx="670770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업종코드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업종명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70028" y="5160789"/>
              <a:ext cx="1784650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12345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기타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6115" y="539189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6115" y="560560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0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 smtClean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닫기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2090" y="4829459"/>
            <a:ext cx="177583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900" b="1" dirty="0" smtClean="0">
                <a:latin typeface="+mn-ea"/>
              </a:rPr>
              <a:t>1234567890</a:t>
            </a:r>
            <a:endParaRPr lang="en-US" altLang="ko-KR" sz="900" b="1" dirty="0">
              <a:latin typeface="+mn-ea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829459"/>
            <a:ext cx="84376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 smtClean="0">
                <a:latin typeface="+mn-ea"/>
              </a:rPr>
              <a:t>품목 코드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478424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160396947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156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C2F212A1-6EE7-4B40-928F-972A7770F5EA}"/>
              </a:ext>
            </a:extLst>
          </p:cNvPr>
          <p:cNvSpPr txBox="1"/>
          <p:nvPr/>
        </p:nvSpPr>
        <p:spPr>
          <a:xfrm>
            <a:off x="460322" y="1795605"/>
            <a:ext cx="911074" cy="249250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E5A69B7C-03A3-91C1-352F-7D0E8D442ACD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204" y="2043563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품목 상세정보를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42F61A5C-A648-D9E6-5526-6D8BEEA5B061}"/>
              </a:ext>
            </a:extLst>
          </p:cNvPr>
          <p:cNvSpPr txBox="1"/>
          <p:nvPr/>
        </p:nvSpPr>
        <p:spPr>
          <a:xfrm>
            <a:off x="471620" y="839274"/>
            <a:ext cx="268078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품목 상세정보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dm_itemDtlInfo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B4B03EF8-44BD-58B1-6DF4-D0A6F76F08BC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6502" y="1063649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tpbizCd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업종명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tpbizCdNm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업종명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6632257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9872E36D-7EF0-0ED9-122D-F6E4C783DC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9902" y="1926722"/>
            <a:ext cx="1678016" cy="11849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C87A0C63-89B0-F26C-155A-035A23D62921}"/>
              </a:ext>
            </a:extLst>
          </p:cNvPr>
          <p:cNvSpPr/>
          <p:nvPr/>
        </p:nvSpPr>
        <p:spPr>
          <a:xfrm>
            <a:off x="6367463" y="634871"/>
            <a:ext cx="3157537" cy="226591"/>
          </a:xfrm>
          <a:prstGeom prst="rect">
            <a:avLst/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n>
                <a:solidFill>
                  <a:schemeClr val="bg1"/>
                </a:solidFill>
              </a:ln>
              <a:solidFill>
                <a:schemeClr val="bg1"/>
              </a:solidFill>
            </a:endParaRPr>
          </a:p>
        </p:txBody>
      </p:sp>
      <p:sp>
        <p:nvSpPr>
          <p:cNvPr id="15" name="Text Box 73">
            <a:extLst>
              <a:ext uri="{FF2B5EF4-FFF2-40B4-BE49-F238E27FC236}">
                <a16:creationId xmlns:a16="http://schemas.microsoft.com/office/drawing/2014/main" id="{2804CB70-CFA7-31A1-1A73-6F4C965722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08940320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보안측정인원 등록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적격여부 </a:t>
            </a:r>
            <a:r>
              <a:rPr lang="en-US" altLang="ko-KR" dirty="0" smtClean="0"/>
              <a:t>: </a:t>
            </a:r>
            <a:r>
              <a:rPr lang="ko-KR" altLang="en-US" dirty="0" smtClean="0"/>
              <a:t>적격</a:t>
            </a:r>
            <a:r>
              <a:rPr lang="en-US" altLang="ko-KR" dirty="0" smtClean="0"/>
              <a:t>, </a:t>
            </a:r>
            <a:r>
              <a:rPr lang="ko-KR" altLang="en-US" dirty="0" smtClean="0"/>
              <a:t>부적격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인원 정보는 필수 아님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>
                <a:latin typeface="+mn-ea"/>
              </a:rPr>
              <a:t>첨부파일</a:t>
            </a:r>
            <a:r>
              <a:rPr lang="en-US" altLang="ko-KR" dirty="0" smtClean="0">
                <a:latin typeface="+mn-ea"/>
              </a:rPr>
              <a:t/>
            </a:r>
            <a:br>
              <a:rPr lang="en-US" altLang="ko-KR" dirty="0" smtClean="0">
                <a:latin typeface="+mn-ea"/>
              </a:rPr>
            </a:b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파일 업로드 버튼 </a:t>
            </a:r>
            <a:r>
              <a:rPr lang="ko-KR" altLang="en-US" dirty="0" err="1" smtClean="0">
                <a:latin typeface="+mn-ea"/>
              </a:rPr>
              <a:t>클릭시</a:t>
            </a:r>
            <a:r>
              <a:rPr lang="en-US" altLang="ko-KR" dirty="0" smtClean="0">
                <a:latin typeface="+mn-ea"/>
              </a:rPr>
              <a:t/>
            </a:r>
            <a:br>
              <a:rPr lang="en-US" altLang="ko-KR" dirty="0" smtClean="0">
                <a:latin typeface="+mn-ea"/>
              </a:rPr>
            </a:br>
            <a:r>
              <a:rPr lang="en-US" altLang="ko-KR" dirty="0" smtClean="0">
                <a:latin typeface="+mn-ea"/>
              </a:rPr>
              <a:t>  &gt; </a:t>
            </a:r>
            <a:r>
              <a:rPr lang="ko-KR" altLang="en-US" dirty="0" smtClean="0">
                <a:latin typeface="+mn-ea"/>
              </a:rPr>
              <a:t>캐비닛 </a:t>
            </a:r>
            <a:r>
              <a:rPr lang="ko-KR" altLang="en-US" dirty="0">
                <a:latin typeface="+mn-ea"/>
              </a:rPr>
              <a:t>파일 선택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파일 업로드 선택 팝업 </a:t>
            </a:r>
            <a:r>
              <a:rPr lang="ko-KR" altLang="en-US" dirty="0" smtClean="0">
                <a:latin typeface="+mn-ea"/>
              </a:rPr>
              <a:t>호출</a:t>
            </a:r>
            <a:r>
              <a:rPr lang="en-US" altLang="ko-KR" dirty="0" smtClean="0">
                <a:latin typeface="+mn-ea"/>
              </a:rPr>
              <a:t/>
            </a:r>
            <a:br>
              <a:rPr lang="en-US" altLang="ko-KR" dirty="0" smtClean="0">
                <a:latin typeface="+mn-ea"/>
              </a:rPr>
            </a:b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첨부파일 명 입력</a:t>
            </a:r>
            <a:r>
              <a:rPr lang="en-US" altLang="ko-KR" dirty="0" smtClean="0">
                <a:latin typeface="+mn-ea"/>
              </a:rPr>
              <a:t/>
            </a:r>
            <a:br>
              <a:rPr lang="en-US" altLang="ko-KR" dirty="0" smtClean="0">
                <a:latin typeface="+mn-ea"/>
              </a:rPr>
            </a:b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업로드 파일 삭제</a:t>
            </a:r>
            <a:endParaRPr lang="ko-KR" altLang="en-US" dirty="0">
              <a:latin typeface="+mn-ea"/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보안측정인원 등록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보안측정인원 </a:t>
            </a:r>
            <a:r>
              <a:rPr lang="ko-KR" altLang="en-US" dirty="0" smtClean="0">
                <a:latin typeface="+mn-ea"/>
              </a:rPr>
              <a:t>등록</a:t>
            </a:r>
            <a:r>
              <a:rPr lang="ko-KR" altLang="en-US" dirty="0" smtClean="0"/>
              <a:t> 팝업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보안측정인원 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MUI-CM-01-P10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" name="양쪽 모서리가 둥근 사각형 28"/>
          <p:cNvSpPr/>
          <p:nvPr/>
        </p:nvSpPr>
        <p:spPr>
          <a:xfrm>
            <a:off x="675399" y="1609111"/>
            <a:ext cx="2712027" cy="4623188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30" name="모서리가 둥근 직사각형 29"/>
          <p:cNvSpPr/>
          <p:nvPr/>
        </p:nvSpPr>
        <p:spPr>
          <a:xfrm>
            <a:off x="1761412" y="163950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33" name="그룹 32"/>
          <p:cNvGrpSpPr/>
          <p:nvPr/>
        </p:nvGrpSpPr>
        <p:grpSpPr>
          <a:xfrm>
            <a:off x="3164338" y="1773925"/>
            <a:ext cx="94010" cy="94010"/>
            <a:chOff x="6812560" y="3297172"/>
            <a:chExt cx="94010" cy="94010"/>
          </a:xfrm>
        </p:grpSpPr>
        <p:cxnSp>
          <p:nvCxnSpPr>
            <p:cNvPr id="34" name="직선 연결선 33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5" name="직선 연결선 34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175460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보안측정인원 등록</a:t>
            </a:r>
          </a:p>
        </p:txBody>
      </p:sp>
      <p:cxnSp>
        <p:nvCxnSpPr>
          <p:cNvPr id="37" name="직선 연결선 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01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양쪽 모서리가 둥근 사각형 62"/>
          <p:cNvSpPr/>
          <p:nvPr/>
        </p:nvSpPr>
        <p:spPr>
          <a:xfrm>
            <a:off x="3795734" y="1609111"/>
            <a:ext cx="2712027" cy="4623188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4" name="모서리가 둥근 직사각형 63"/>
          <p:cNvSpPr/>
          <p:nvPr/>
        </p:nvSpPr>
        <p:spPr>
          <a:xfrm>
            <a:off x="4881747" y="163950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5" name="그룹 64"/>
          <p:cNvGrpSpPr/>
          <p:nvPr/>
        </p:nvGrpSpPr>
        <p:grpSpPr>
          <a:xfrm>
            <a:off x="6284673" y="1773925"/>
            <a:ext cx="94010" cy="94010"/>
            <a:chOff x="6812560" y="3297172"/>
            <a:chExt cx="94010" cy="94010"/>
          </a:xfrm>
        </p:grpSpPr>
        <p:cxnSp>
          <p:nvCxnSpPr>
            <p:cNvPr id="66" name="직선 연결선 6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7" name="직선 연결선 6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8" name="TextBox 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175460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보안측정인원 등록</a:t>
            </a:r>
          </a:p>
        </p:txBody>
      </p: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01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1" name="모서리가 둥근 직사각형 70"/>
          <p:cNvSpPr/>
          <p:nvPr/>
        </p:nvSpPr>
        <p:spPr>
          <a:xfrm rot="5400000">
            <a:off x="5782577" y="438977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86" name="그룹 85"/>
          <p:cNvGrpSpPr/>
          <p:nvPr/>
        </p:nvGrpSpPr>
        <p:grpSpPr>
          <a:xfrm>
            <a:off x="3795734" y="5613954"/>
            <a:ext cx="2712027" cy="617588"/>
            <a:chOff x="675399" y="5614711"/>
            <a:chExt cx="2712027" cy="617588"/>
          </a:xfrm>
        </p:grpSpPr>
        <p:sp>
          <p:nvSpPr>
            <p:cNvPr id="87" name="직사각형 86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 smtClean="0">
                  <a:solidFill>
                    <a:srgbClr val="0070C0"/>
                  </a:solidFill>
                </a:rPr>
                <a:t>등록</a:t>
              </a:r>
              <a:endParaRPr kumimoji="1" lang="en-US" altLang="ko-KR" sz="1000" kern="0" dirty="0">
                <a:solidFill>
                  <a:srgbClr val="0070C0"/>
                </a:solidFill>
              </a:endParaRPr>
            </a:p>
          </p:txBody>
        </p:sp>
        <p:sp>
          <p:nvSpPr>
            <p:cNvPr id="8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98" name="타원 9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171361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2132231"/>
            <a:ext cx="2154318" cy="16087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latin typeface="Consolas" panose="020B0609020204030204" pitchFamily="49" charset="0"/>
              </a:rPr>
              <a:t>보안측정인원</a:t>
            </a:r>
            <a:endParaRPr lang="ko-KR" altLang="en-US" sz="700" b="1" dirty="0">
              <a:solidFill>
                <a:srgbClr val="0070C0"/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72" name="직선 연결선 7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7412" y="332822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1571" y="3412216"/>
            <a:ext cx="1384615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800" b="1" dirty="0" smtClean="0">
                <a:latin typeface="+mn-ea"/>
              </a:rPr>
              <a:t>첨부파일</a:t>
            </a:r>
            <a:r>
              <a:rPr lang="ko-KR" altLang="en-US" sz="800" b="1" dirty="0" smtClean="0">
                <a:solidFill>
                  <a:srgbClr val="FF0000"/>
                </a:solidFill>
                <a:latin typeface="+mn-ea"/>
              </a:rPr>
              <a:t> </a:t>
            </a:r>
            <a:r>
              <a:rPr lang="en-US" altLang="ko-KR" sz="800" b="1" dirty="0" smtClean="0">
                <a:solidFill>
                  <a:srgbClr val="FF0000"/>
                </a:solidFill>
                <a:latin typeface="+mn-ea"/>
              </a:rPr>
              <a:t>*</a:t>
            </a:r>
            <a:r>
              <a:rPr lang="ko-KR" altLang="en-US" sz="800" spc="-52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8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– </a:t>
            </a:r>
            <a:r>
              <a:rPr lang="ko-KR" altLang="en-US" sz="8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총 </a:t>
            </a:r>
            <a:r>
              <a:rPr lang="en-US" altLang="ko-KR" sz="8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0</a:t>
            </a:r>
            <a:r>
              <a:rPr lang="ko-KR" altLang="en-US" sz="8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건</a:t>
            </a:r>
            <a:endParaRPr lang="ko-KR" altLang="en-US" sz="800" dirty="0">
              <a:latin typeface="+mn-ea"/>
            </a:endParaRPr>
          </a:p>
        </p:txBody>
      </p:sp>
      <p:sp>
        <p:nvSpPr>
          <p:cNvPr id="101" name="모서리가 둥근 직사각형 100"/>
          <p:cNvSpPr/>
          <p:nvPr/>
        </p:nvSpPr>
        <p:spPr>
          <a:xfrm>
            <a:off x="705041" y="4185759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709" y="4292030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237" y="4314141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</a:t>
            </a:r>
          </a:p>
        </p:txBody>
      </p:sp>
      <p:sp>
        <p:nvSpPr>
          <p:cNvPr id="104" name="모서리가 둥근 직사각형 103"/>
          <p:cNvSpPr/>
          <p:nvPr/>
        </p:nvSpPr>
        <p:spPr>
          <a:xfrm>
            <a:off x="705041" y="4592445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709" y="4698716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237" y="4720827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2</a:t>
            </a:r>
          </a:p>
        </p:txBody>
      </p:sp>
      <p:sp>
        <p:nvSpPr>
          <p:cNvPr id="10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05041" y="3729525"/>
            <a:ext cx="2652742" cy="207774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latin typeface="맑은 고딕"/>
                <a:ea typeface="맑은 고딕" panose="020B0503020000020004" pitchFamily="50" charset="-127"/>
              </a:rPr>
              <a:t>파일 추가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709" y="4050641"/>
            <a:ext cx="47434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첨부서류명</a:t>
            </a:r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600" dirty="0" smtClean="0">
                <a:solidFill>
                  <a:srgbClr val="FF0000"/>
                </a:solidFill>
                <a:latin typeface="맑은 고딕" panose="020B0503020000020004" pitchFamily="50" charset="-127"/>
              </a:rPr>
              <a:t>*</a:t>
            </a:r>
            <a:endParaRPr lang="en-US" altLang="ko-KR" sz="600" dirty="0">
              <a:solidFill>
                <a:srgbClr val="FF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944285" y="4050641"/>
            <a:ext cx="32496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삭제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11805" y="4050641"/>
            <a:ext cx="3906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항목번호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1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964706" y="4697246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1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964706" y="4280454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14" name="모서리가 둥근 직사각형 113"/>
          <p:cNvSpPr/>
          <p:nvPr/>
        </p:nvSpPr>
        <p:spPr>
          <a:xfrm>
            <a:off x="705041" y="4994456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709" y="5100727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237" y="5122838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3</a:t>
            </a:r>
          </a:p>
        </p:txBody>
      </p:sp>
      <p:sp>
        <p:nvSpPr>
          <p:cNvPr id="117" name="모서리가 둥근 직사각형 116"/>
          <p:cNvSpPr/>
          <p:nvPr/>
        </p:nvSpPr>
        <p:spPr>
          <a:xfrm>
            <a:off x="705041" y="5401142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709" y="5507413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endParaRPr lang="en-US" altLang="ko-KR" sz="700" dirty="0" smtClean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237" y="5529524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4</a:t>
            </a:r>
          </a:p>
        </p:txBody>
      </p:sp>
      <p:sp>
        <p:nvSpPr>
          <p:cNvPr id="12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964706" y="5505943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964706" y="5089151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grpSp>
        <p:nvGrpSpPr>
          <p:cNvPr id="123" name="그룹 122"/>
          <p:cNvGrpSpPr/>
          <p:nvPr/>
        </p:nvGrpSpPr>
        <p:grpSpPr>
          <a:xfrm>
            <a:off x="724173" y="2393975"/>
            <a:ext cx="2630093" cy="862197"/>
            <a:chOff x="3836700" y="3380909"/>
            <a:chExt cx="2630093" cy="862197"/>
          </a:xfrm>
        </p:grpSpPr>
        <p:sp>
          <p:nvSpPr>
            <p:cNvPr id="124" name="직사각형 123"/>
            <p:cNvSpPr/>
            <p:nvPr/>
          </p:nvSpPr>
          <p:spPr>
            <a:xfrm>
              <a:off x="3838793" y="3380909"/>
              <a:ext cx="792000" cy="86177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0" y="338090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7" y="3380909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성명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주민등록번호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적격여부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보안측정일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5" y="3380909"/>
              <a:ext cx="1784088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ko-KR" altLang="en-US" sz="700" dirty="0" smtClean="0">
                <a:latin typeface="+mn-ea"/>
              </a:endParaRPr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6120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8257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0394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24310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3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242113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4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7191" y="307062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err="1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yyyy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-MM-</a:t>
            </a:r>
            <a:r>
              <a:rPr kumimoji="1" lang="en-US" altLang="ko-KR" sz="700" kern="0" dirty="0" err="1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dd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141" name="그림 14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43136" y="3082988"/>
            <a:ext cx="134873" cy="137278"/>
          </a:xfrm>
          <a:prstGeom prst="rect">
            <a:avLst/>
          </a:prstGeom>
        </p:spPr>
      </p:pic>
      <p:sp>
        <p:nvSpPr>
          <p:cNvPr id="14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532184" y="2652237"/>
            <a:ext cx="80592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주민번호 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7</a:t>
            </a: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자리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89160" y="2671127"/>
            <a:ext cx="32439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~</a:t>
            </a:r>
          </a:p>
        </p:txBody>
      </p:sp>
      <p:sp>
        <p:nvSpPr>
          <p:cNvPr id="14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0367" y="2652237"/>
            <a:ext cx="80592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생년월일 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6</a:t>
            </a: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자리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4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286992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146" name="그룹 145"/>
          <p:cNvGrpSpPr/>
          <p:nvPr/>
        </p:nvGrpSpPr>
        <p:grpSpPr>
          <a:xfrm>
            <a:off x="3153204" y="2928192"/>
            <a:ext cx="94010" cy="47005"/>
            <a:chOff x="6812560" y="3297172"/>
            <a:chExt cx="94010" cy="47005"/>
          </a:xfrm>
        </p:grpSpPr>
        <p:cxnSp>
          <p:nvCxnSpPr>
            <p:cNvPr id="147" name="직선 연결선 14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8" name="직선 연결선 14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4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209174" y="4214795"/>
            <a:ext cx="1563656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err="1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서류명을</a:t>
            </a: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5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209174" y="4627742"/>
            <a:ext cx="1563656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 err="1">
                <a:solidFill>
                  <a:schemeClr val="bg1">
                    <a:lumMod val="75000"/>
                  </a:schemeClr>
                </a:solidFill>
              </a:rPr>
              <a:t>서류명을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5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209174" y="5021555"/>
            <a:ext cx="1563656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 err="1">
                <a:solidFill>
                  <a:schemeClr val="bg1">
                    <a:lumMod val="75000"/>
                  </a:schemeClr>
                </a:solidFill>
              </a:rPr>
              <a:t>서류명을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5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209174" y="5434502"/>
            <a:ext cx="1563656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 err="1">
                <a:solidFill>
                  <a:schemeClr val="bg1">
                    <a:lumMod val="75000"/>
                  </a:schemeClr>
                </a:solidFill>
              </a:rPr>
              <a:t>서류명을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58" name="타원 15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0647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9" name="직사각형 158"/>
          <p:cNvSpPr/>
          <p:nvPr/>
        </p:nvSpPr>
        <p:spPr>
          <a:xfrm>
            <a:off x="7072313" y="6061717"/>
            <a:ext cx="2370049" cy="223102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00" dirty="0" smtClean="0"/>
              <a:t>보안측정인원</a:t>
            </a:r>
            <a:endParaRPr lang="en-US" altLang="ko-KR" sz="400" dirty="0" smtClean="0"/>
          </a:p>
          <a:p>
            <a:pPr algn="ctr"/>
            <a:r>
              <a:rPr lang="en-US" altLang="ko-KR" sz="400" dirty="0" smtClean="0"/>
              <a:t>PC </a:t>
            </a:r>
            <a:r>
              <a:rPr lang="ko-KR" altLang="en-US" sz="400" dirty="0" smtClean="0"/>
              <a:t>버전 필수가 아닌데 확인 필요함</a:t>
            </a:r>
            <a:r>
              <a:rPr lang="en-US" altLang="ko-KR" sz="400" dirty="0" smtClean="0"/>
              <a:t>.</a:t>
            </a:r>
          </a:p>
          <a:p>
            <a:pPr algn="ctr"/>
            <a:r>
              <a:rPr lang="ko-KR" altLang="en-US" sz="400" dirty="0" smtClean="0"/>
              <a:t>인원 정보 없이 등록이 가능한가</a:t>
            </a:r>
            <a:r>
              <a:rPr lang="en-US" altLang="ko-KR" sz="400" dirty="0" smtClean="0"/>
              <a:t>?</a:t>
            </a:r>
            <a:endParaRPr lang="ko-KR" altLang="en-US" sz="400" dirty="0"/>
          </a:p>
        </p:txBody>
      </p:sp>
    </p:spTree>
    <p:extLst>
      <p:ext uri="{BB962C8B-B14F-4D97-AF65-F5344CB8AC3E}">
        <p14:creationId xmlns:p14="http://schemas.microsoft.com/office/powerpoint/2010/main" val="2365308085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158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53000" y="799547"/>
            <a:ext cx="30574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보안측정인원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dl_scrtyMsrmtPrsnlList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1013230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주민등록번호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taskHdlrEnrrno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주민등록번호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taskHdlrRsltCdNm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적격여부코드로 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부적격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6674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taskHndlYmd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465468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72466768-56E0-8CB1-74A1-23CD9C0360E1}"/>
              </a:ext>
            </a:extLst>
          </p:cNvPr>
          <p:cNvSpPr txBox="1"/>
          <p:nvPr/>
        </p:nvSpPr>
        <p:spPr>
          <a:xfrm>
            <a:off x="453864" y="2152029"/>
            <a:ext cx="231690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첨부파일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dl_atchFileList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AD4F7E72-27F9-228D-50B4-AB30BCA05E8A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6422" y="2371674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61AFF63E-A35D-26A9-40FD-6875A41F652C}"/>
              </a:ext>
            </a:extLst>
          </p:cNvPr>
          <p:cNvSpPr txBox="1"/>
          <p:nvPr/>
        </p:nvSpPr>
        <p:spPr>
          <a:xfrm>
            <a:off x="453000" y="315443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0A97748E-F98A-3B3A-B7BF-ECEA392F13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49148475"/>
              </p:ext>
            </p:extLst>
          </p:nvPr>
        </p:nvGraphicFramePr>
        <p:xfrm>
          <a:off x="453864" y="3385622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smtClean="0"/>
                        <a:t>등록 </a:t>
                      </a:r>
                      <a:r>
                        <a:rPr lang="ko-KR" altLang="en-US" sz="800" dirty="0"/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scwin.btn_strg_onclick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등록된 보안측정인원 정보가 부모 화면에 입력되며 팝업창은 닫힌다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UI-CM-01-M15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7647686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B0DEDB58-C0D1-7E30-B326-DB91708862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1439" y="326870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E9B17219-4ACD-B931-51CC-530FEAE19B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68255662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오픈 시 </a:t>
            </a:r>
            <a:r>
              <a:rPr lang="ko-KR" altLang="en-US" dirty="0"/>
              <a:t>포커스 </a:t>
            </a:r>
            <a:r>
              <a:rPr lang="ko-KR" altLang="en-US" dirty="0" err="1"/>
              <a:t>자동이동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입력이 있는 경우 내용 삭제 아이콘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입력 내용 기반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Like </a:t>
            </a:r>
            <a:r>
              <a:rPr lang="ko-KR" altLang="en-US" dirty="0"/>
              <a:t>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 버튼 클릭 시 가상 </a:t>
            </a:r>
            <a:r>
              <a:rPr lang="ko-KR" altLang="en-US" dirty="0" err="1"/>
              <a:t>키패드</a:t>
            </a:r>
            <a:r>
              <a:rPr lang="ko-KR" altLang="en-US" dirty="0"/>
              <a:t>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검색 버튼으로 동일 검색 기능 동작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 결과 </a:t>
            </a:r>
            <a:r>
              <a:rPr lang="ko-KR" altLang="en-US" dirty="0" smtClean="0"/>
              <a:t>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결과 선택</a:t>
            </a:r>
            <a:r>
              <a:rPr lang="en-US" altLang="ko-KR" dirty="0"/>
              <a:t> </a:t>
            </a:r>
            <a:r>
              <a:rPr lang="ko-KR" altLang="en-US" dirty="0" smtClean="0"/>
              <a:t>반영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복수 선택 가능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선택 </a:t>
            </a:r>
            <a:r>
              <a:rPr lang="ko-KR" altLang="en-US" dirty="0" smtClean="0"/>
              <a:t>등록 클릭 시 </a:t>
            </a:r>
            <a:r>
              <a:rPr lang="ko-KR" altLang="en-US" dirty="0" err="1"/>
              <a:t>바텀</a:t>
            </a:r>
            <a:r>
              <a:rPr lang="ko-KR" altLang="en-US" dirty="0"/>
              <a:t> 시트 </a:t>
            </a:r>
            <a:r>
              <a:rPr lang="ko-KR" altLang="en-US" dirty="0" smtClean="0"/>
              <a:t>닫힘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상위 페이지에 정보 반영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FSC </a:t>
            </a:r>
            <a:r>
              <a:rPr lang="ko-KR" altLang="en-US" dirty="0">
                <a:latin typeface="+mn-ea"/>
              </a:rPr>
              <a:t>선택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FSC </a:t>
            </a:r>
            <a:r>
              <a:rPr lang="ko-KR" altLang="en-US" dirty="0">
                <a:latin typeface="+mn-ea"/>
              </a:rPr>
              <a:t>선택</a:t>
            </a:r>
            <a:r>
              <a:rPr lang="ko-KR" altLang="en-US" dirty="0" smtClean="0"/>
              <a:t>하는 경우 뜨는 팝업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</a:t>
            </a:r>
            <a:r>
              <a:rPr lang="ko-KR" altLang="en-US" dirty="0" smtClean="0"/>
              <a:t>등록 </a:t>
            </a:r>
            <a:r>
              <a:rPr lang="en-US" altLang="ko-KR" dirty="0" smtClean="0"/>
              <a:t>&gt; </a:t>
            </a:r>
            <a:r>
              <a:rPr lang="en-US" altLang="ko-KR" dirty="0">
                <a:latin typeface="+mn-ea"/>
              </a:rPr>
              <a:t>FSC </a:t>
            </a:r>
            <a:r>
              <a:rPr lang="ko-KR" altLang="en-US" dirty="0">
                <a:latin typeface="+mn-ea"/>
              </a:rPr>
              <a:t>선택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MUI-CM-01-P11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3011654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304205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3176467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15714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900" dirty="0">
                <a:latin typeface="+mn-ea"/>
              </a:rPr>
              <a:t>FSC </a:t>
            </a:r>
            <a:r>
              <a:rPr lang="ko-KR" altLang="en-US" sz="900" dirty="0">
                <a:latin typeface="+mn-ea"/>
              </a:rPr>
              <a:t>선택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185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7" name="모서리가 둥근 직사각형 306"/>
          <p:cNvSpPr/>
          <p:nvPr/>
        </p:nvSpPr>
        <p:spPr>
          <a:xfrm>
            <a:off x="4564213" y="3557095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smtClean="0">
                <a:solidFill>
                  <a:schemeClr val="tx1"/>
                </a:solidFill>
              </a:rPr>
              <a:t>단체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625408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군급명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30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88037" y="3890810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800" kern="0" dirty="0">
                <a:solidFill>
                  <a:srgbClr val="0070C0"/>
                </a:solidFill>
              </a:rPr>
              <a:t>검색</a:t>
            </a:r>
            <a:endParaRPr kumimoji="1" lang="en-US" altLang="ko-KR" sz="800" kern="0" dirty="0">
              <a:solidFill>
                <a:srgbClr val="0070C0"/>
              </a:solidFill>
            </a:endParaRP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31826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900" dirty="0">
                <a:latin typeface="+mn-ea"/>
              </a:rPr>
              <a:t>FSC </a:t>
            </a:r>
            <a:r>
              <a:rPr lang="ko-KR" altLang="en-US" sz="900" dirty="0">
                <a:latin typeface="+mn-ea"/>
              </a:rPr>
              <a:t>선택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9" name="모서리가 둥근 직사각형 168"/>
          <p:cNvSpPr/>
          <p:nvPr/>
        </p:nvSpPr>
        <p:spPr>
          <a:xfrm>
            <a:off x="1443878" y="3563324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smtClean="0">
                <a:solidFill>
                  <a:schemeClr val="bg1">
                    <a:lumMod val="65000"/>
                  </a:schemeClr>
                </a:solidFill>
              </a:rPr>
              <a:t>단체명을</a:t>
            </a:r>
            <a:r>
              <a:rPr lang="ko-KR" altLang="en-US" sz="700" dirty="0" smtClean="0">
                <a:solidFill>
                  <a:schemeClr val="tx1"/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입력해주세요</a:t>
            </a:r>
            <a:r>
              <a:rPr lang="en-US" altLang="ko-KR" sz="700" dirty="0">
                <a:solidFill>
                  <a:schemeClr val="tx1"/>
                </a:solidFill>
              </a:rPr>
              <a:t>.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631637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latin typeface="+mn-ea"/>
              </a:rPr>
              <a:t>군급명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17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67702" y="3897039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검색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0" name="타원 309"/>
          <p:cNvSpPr/>
          <p:nvPr/>
        </p:nvSpPr>
        <p:spPr>
          <a:xfrm>
            <a:off x="3112794" y="3601610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1" name="그룹 310"/>
          <p:cNvGrpSpPr/>
          <p:nvPr/>
        </p:nvGrpSpPr>
        <p:grpSpPr>
          <a:xfrm>
            <a:off x="3156699" y="3645514"/>
            <a:ext cx="58075" cy="58074"/>
            <a:chOff x="6812560" y="3297172"/>
            <a:chExt cx="94010" cy="94010"/>
          </a:xfrm>
        </p:grpSpPr>
        <p:cxnSp>
          <p:nvCxnSpPr>
            <p:cNvPr id="312" name="직선 연결선 31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3" name="직선 연결선 31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14" name="타원 313"/>
          <p:cNvSpPr/>
          <p:nvPr/>
        </p:nvSpPr>
        <p:spPr>
          <a:xfrm>
            <a:off x="6240768" y="359991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5" name="그룹 314"/>
          <p:cNvGrpSpPr/>
          <p:nvPr/>
        </p:nvGrpSpPr>
        <p:grpSpPr>
          <a:xfrm>
            <a:off x="6284673" y="3643820"/>
            <a:ext cx="58075" cy="58074"/>
            <a:chOff x="6812560" y="3297172"/>
            <a:chExt cx="94010" cy="94010"/>
          </a:xfrm>
        </p:grpSpPr>
        <p:cxnSp>
          <p:nvCxnSpPr>
            <p:cNvPr id="316" name="직선 연결선 31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7" name="직선 연결선 31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318" name="직선 연결선 3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7422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9" name="TextBox 3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38124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sp>
        <p:nvSpPr>
          <p:cNvPr id="320" name="TextBox 3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321" name="TextBox 3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 smtClean="0">
                <a:latin typeface="+mn-ea"/>
              </a:rPr>
              <a:t>군급명</a:t>
            </a:r>
            <a:endParaRPr lang="en-US" altLang="ko-KR" sz="700" b="1" dirty="0">
              <a:latin typeface="+mn-ea"/>
            </a:endParaRPr>
          </a:p>
        </p:txBody>
      </p:sp>
      <p:cxnSp>
        <p:nvCxnSpPr>
          <p:cNvPr id="322" name="직선 연결선 3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55678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3" name="직선 연결선 3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87548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4" name="TextBox 3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886876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96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95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94</a:t>
            </a:r>
            <a:endParaRPr lang="en-US" altLang="ko-KR" sz="700" dirty="0">
              <a:latin typeface="+mn-ea"/>
            </a:endParaRP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886876"/>
            <a:ext cx="1418465" cy="86177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군급명</a:t>
            </a:r>
            <a:r>
              <a:rPr lang="ko-KR" altLang="en-US" sz="700" dirty="0" smtClean="0">
                <a:latin typeface="+mn-ea"/>
              </a:rPr>
              <a:t> </a:t>
            </a:r>
            <a:r>
              <a:rPr lang="en-US" altLang="ko-KR" sz="700" dirty="0" smtClean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군급명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 smtClean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군급명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 smtClean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군급명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 smtClean="0">
                <a:latin typeface="+mn-ea"/>
              </a:rPr>
              <a:t>96</a:t>
            </a:r>
          </a:p>
        </p:txBody>
      </p:sp>
      <p:cxnSp>
        <p:nvCxnSpPr>
          <p:cNvPr id="326" name="직선 연결선 32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11798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7" name="직선 연결선 3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33168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8" name="직선 연결선 3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54539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9" name="직선 연결선 32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75910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0" name="직선 연결선 32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97280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1" name="직선 연결선 3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618651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149915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848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7" name="직사각형 33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90938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43445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5106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 smtClean="0">
                <a:latin typeface="+mn-ea"/>
              </a:rPr>
              <a:t>군급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886876"/>
            <a:ext cx="670770" cy="86177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1000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1001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1002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1003</a:t>
            </a:r>
            <a:endParaRPr lang="en-US" altLang="ko-KR" sz="700" dirty="0">
              <a:latin typeface="+mn-ea"/>
            </a:endParaRP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41601" y="428508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smtClean="0">
                <a:latin typeface="+mn-ea"/>
              </a:rPr>
              <a:t>표시 개수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40987" y="4285080"/>
            <a:ext cx="36855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10</a:t>
            </a:r>
            <a:r>
              <a:rPr lang="ko-KR" altLang="en-US" sz="700" dirty="0" smtClean="0">
                <a:latin typeface="+mn-ea"/>
              </a:rPr>
              <a:t>개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>
            <a:off x="6256545" y="4386903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7" name="그룹 96"/>
          <p:cNvGrpSpPr/>
          <p:nvPr/>
        </p:nvGrpSpPr>
        <p:grpSpPr>
          <a:xfrm>
            <a:off x="3795734" y="5613954"/>
            <a:ext cx="2712027" cy="617588"/>
            <a:chOff x="675399" y="5614711"/>
            <a:chExt cx="2712027" cy="617588"/>
          </a:xfrm>
        </p:grpSpPr>
        <p:sp>
          <p:nvSpPr>
            <p:cNvPr id="98" name="직사각형 97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 smtClean="0">
                  <a:solidFill>
                    <a:srgbClr val="0070C0"/>
                  </a:solidFill>
                </a:rPr>
                <a:t>선택 등록</a:t>
              </a:r>
              <a:endParaRPr kumimoji="1" lang="en-US" altLang="ko-KR" sz="1000" kern="0" dirty="0">
                <a:solidFill>
                  <a:srgbClr val="0070C0"/>
                </a:solidFill>
              </a:endParaRPr>
            </a:p>
          </p:txBody>
        </p:sp>
        <p:sp>
          <p:nvSpPr>
            <p:cNvPr id="10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0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103067" y="4931402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latin typeface="맑은 고딕"/>
                <a:ea typeface="맑은 고딕" panose="020B0503020000020004" pitchFamily="50" charset="-127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1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103067" y="5142179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latin typeface="맑은 고딕"/>
                <a:ea typeface="맑은 고딕" panose="020B0503020000020004" pitchFamily="50" charset="-127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1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103067" y="5362868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latin typeface="맑은 고딕"/>
                <a:ea typeface="맑은 고딕" panose="020B0503020000020004" pitchFamily="50" charset="-127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3880535890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160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193379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FSC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14316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군급명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fscCdNm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60322" y="1613359"/>
            <a:ext cx="194180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FSC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204" y="1897113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61AFF63E-A35D-26A9-40FD-6875A41F652C}"/>
              </a:ext>
            </a:extLst>
          </p:cNvPr>
          <p:cNvSpPr txBox="1"/>
          <p:nvPr/>
        </p:nvSpPr>
        <p:spPr>
          <a:xfrm>
            <a:off x="460322" y="284361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0A97748E-F98A-3B3A-B7BF-ECEA392F13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6773285"/>
              </p:ext>
            </p:extLst>
          </p:nvPr>
        </p:nvGraphicFramePr>
        <p:xfrm>
          <a:off x="455204" y="3187121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scwin.btn_fscSrch_onclick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smtClean="0"/>
                        <a:t>선택 등록 </a:t>
                      </a:r>
                      <a:r>
                        <a:rPr lang="ko-KR" altLang="en-US" sz="800" dirty="0"/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정보가 부모 화면에 입력되며 팝업창은 닫힌다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UI-CM-01-M15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여러 개 선택 가능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7647686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692986A7-CA14-4045-6A5B-63863BF951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4" y="774564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0" name="Text Box 73">
            <a:extLst>
              <a:ext uri="{FF2B5EF4-FFF2-40B4-BE49-F238E27FC236}">
                <a16:creationId xmlns:a16="http://schemas.microsoft.com/office/drawing/2014/main" id="{9B842BCE-D8EB-6471-148E-0CD16C89A6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290304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82455430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오픈 시 </a:t>
            </a:r>
            <a:r>
              <a:rPr lang="ko-KR" altLang="en-US" dirty="0"/>
              <a:t>포커스 </a:t>
            </a:r>
            <a:r>
              <a:rPr lang="ko-KR" altLang="en-US" dirty="0" err="1"/>
              <a:t>자동이동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입력이 있는 경우 내용 삭제 아이콘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입력 내용 기반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Like </a:t>
            </a:r>
            <a:r>
              <a:rPr lang="ko-KR" altLang="en-US" dirty="0"/>
              <a:t>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 버튼 클릭 시 가상 </a:t>
            </a:r>
            <a:r>
              <a:rPr lang="ko-KR" altLang="en-US" dirty="0" err="1"/>
              <a:t>키패드</a:t>
            </a:r>
            <a:r>
              <a:rPr lang="ko-KR" altLang="en-US" dirty="0"/>
              <a:t>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검색 버튼으로 동일 검색 기능 동작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 결과 </a:t>
            </a:r>
            <a:r>
              <a:rPr lang="ko-KR" altLang="en-US" dirty="0" smtClean="0"/>
              <a:t>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결과 </a:t>
            </a:r>
            <a:r>
              <a:rPr lang="ko-KR" altLang="en-US" dirty="0"/>
              <a:t>클릭을 </a:t>
            </a:r>
            <a:r>
              <a:rPr lang="ko-KR" altLang="en-US" dirty="0" smtClean="0"/>
              <a:t>통해 결과 </a:t>
            </a:r>
            <a:r>
              <a:rPr lang="ko-KR" altLang="en-US" dirty="0"/>
              <a:t>반영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선택 시 </a:t>
            </a:r>
            <a:r>
              <a:rPr lang="ko-KR" altLang="en-US" dirty="0" err="1"/>
              <a:t>바텀</a:t>
            </a:r>
            <a:r>
              <a:rPr lang="ko-KR" altLang="en-US" dirty="0"/>
              <a:t> 시트 </a:t>
            </a:r>
            <a:r>
              <a:rPr lang="ko-KR" altLang="en-US" dirty="0" smtClean="0"/>
              <a:t>닫힘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상위 페이지에 정보 반영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주거래은행 선택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주거래은행 선택</a:t>
            </a:r>
            <a:r>
              <a:rPr lang="ko-KR" altLang="en-US" dirty="0" smtClean="0"/>
              <a:t>하는 팝업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</a:t>
            </a:r>
            <a:r>
              <a:rPr lang="ko-KR" altLang="en-US" dirty="0" smtClean="0"/>
              <a:t>등록 </a:t>
            </a:r>
            <a:r>
              <a:rPr lang="en-US" altLang="ko-KR" dirty="0" smtClean="0"/>
              <a:t>&gt; </a:t>
            </a:r>
            <a:r>
              <a:rPr lang="ko-KR" altLang="en-US" dirty="0">
                <a:latin typeface="+mn-ea"/>
              </a:rPr>
              <a:t>주거래은행 선택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MUI-CM-01-P12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3011654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304205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3176467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15714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주거래은행 선택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185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7" name="모서리가 둥근 직사각형 306"/>
          <p:cNvSpPr/>
          <p:nvPr/>
        </p:nvSpPr>
        <p:spPr>
          <a:xfrm>
            <a:off x="4564213" y="3557095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smtClean="0">
                <a:solidFill>
                  <a:schemeClr val="tx1"/>
                </a:solidFill>
              </a:rPr>
              <a:t>단체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625408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은행명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30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88037" y="3890810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800" kern="0" dirty="0">
                <a:solidFill>
                  <a:srgbClr val="0070C0"/>
                </a:solidFill>
              </a:rPr>
              <a:t>검색</a:t>
            </a:r>
            <a:endParaRPr kumimoji="1" lang="en-US" altLang="ko-KR" sz="800" kern="0" dirty="0">
              <a:solidFill>
                <a:srgbClr val="0070C0"/>
              </a:solidFill>
            </a:endParaRP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31826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주거래은행 선택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9" name="모서리가 둥근 직사각형 168"/>
          <p:cNvSpPr/>
          <p:nvPr/>
        </p:nvSpPr>
        <p:spPr>
          <a:xfrm>
            <a:off x="1443878" y="3563324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smtClean="0">
                <a:solidFill>
                  <a:schemeClr val="bg1">
                    <a:lumMod val="65000"/>
                  </a:schemeClr>
                </a:solidFill>
              </a:rPr>
              <a:t>단체명을</a:t>
            </a:r>
            <a:r>
              <a:rPr lang="ko-KR" altLang="en-US" sz="700" dirty="0" smtClean="0">
                <a:solidFill>
                  <a:schemeClr val="tx1"/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입력해주세요</a:t>
            </a:r>
            <a:r>
              <a:rPr lang="en-US" altLang="ko-KR" sz="700" dirty="0">
                <a:solidFill>
                  <a:schemeClr val="tx1"/>
                </a:solidFill>
              </a:rPr>
              <a:t>.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631637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latin typeface="+mn-ea"/>
              </a:rPr>
              <a:t>은행명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17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67702" y="3897039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검색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0" name="타원 309"/>
          <p:cNvSpPr/>
          <p:nvPr/>
        </p:nvSpPr>
        <p:spPr>
          <a:xfrm>
            <a:off x="3112794" y="3601610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1" name="그룹 310"/>
          <p:cNvGrpSpPr/>
          <p:nvPr/>
        </p:nvGrpSpPr>
        <p:grpSpPr>
          <a:xfrm>
            <a:off x="3156699" y="3645514"/>
            <a:ext cx="58075" cy="58074"/>
            <a:chOff x="6812560" y="3297172"/>
            <a:chExt cx="94010" cy="94010"/>
          </a:xfrm>
        </p:grpSpPr>
        <p:cxnSp>
          <p:nvCxnSpPr>
            <p:cNvPr id="312" name="직선 연결선 31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3" name="직선 연결선 31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14" name="타원 313"/>
          <p:cNvSpPr/>
          <p:nvPr/>
        </p:nvSpPr>
        <p:spPr>
          <a:xfrm>
            <a:off x="6240768" y="359991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5" name="그룹 314"/>
          <p:cNvGrpSpPr/>
          <p:nvPr/>
        </p:nvGrpSpPr>
        <p:grpSpPr>
          <a:xfrm>
            <a:off x="6284673" y="3643820"/>
            <a:ext cx="58075" cy="58074"/>
            <a:chOff x="6812560" y="3297172"/>
            <a:chExt cx="94010" cy="94010"/>
          </a:xfrm>
        </p:grpSpPr>
        <p:cxnSp>
          <p:nvCxnSpPr>
            <p:cNvPr id="316" name="직선 연결선 31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7" name="직선 연결선 31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318" name="직선 연결선 3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7422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9" name="TextBox 3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38124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sp>
        <p:nvSpPr>
          <p:cNvPr id="320" name="TextBox 3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321" name="TextBox 3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 smtClean="0">
                <a:latin typeface="+mn-ea"/>
              </a:rPr>
              <a:t>은행명</a:t>
            </a:r>
            <a:endParaRPr lang="en-US" altLang="ko-KR" sz="700" b="1" dirty="0">
              <a:latin typeface="+mn-ea"/>
            </a:endParaRPr>
          </a:p>
        </p:txBody>
      </p:sp>
      <p:cxnSp>
        <p:nvCxnSpPr>
          <p:cNvPr id="322" name="직선 연결선 3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55678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3" name="직선 연결선 3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87548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4" name="TextBox 3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886876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96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95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94</a:t>
            </a:r>
            <a:endParaRPr lang="en-US" altLang="ko-KR" sz="700" dirty="0">
              <a:latin typeface="+mn-ea"/>
            </a:endParaRP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886876"/>
            <a:ext cx="1418465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은행명</a:t>
            </a:r>
            <a:r>
              <a:rPr lang="ko-KR" altLang="en-US" sz="700" dirty="0" smtClean="0">
                <a:latin typeface="+mn-ea"/>
              </a:rPr>
              <a:t> </a:t>
            </a:r>
            <a:r>
              <a:rPr lang="en-US" altLang="ko-KR" sz="700" dirty="0" smtClean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은행명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 smtClean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은행명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 smtClean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은행명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 smtClean="0">
                <a:latin typeface="+mn-ea"/>
              </a:rPr>
              <a:t>96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은행명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 smtClean="0">
                <a:latin typeface="+mn-ea"/>
              </a:rPr>
              <a:t>95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은행명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 smtClean="0">
                <a:latin typeface="+mn-ea"/>
              </a:rPr>
              <a:t>94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326" name="직선 연결선 32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11798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7" name="직선 연결선 3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33168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8" name="직선 연결선 3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54539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9" name="직선 연결선 32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75910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0" name="직선 연결선 32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97280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1" name="직선 연결선 3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618651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149915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848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7" name="직사각형 33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90938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43445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5106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코드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886876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00100000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00200000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00300000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00400000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00500000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00600000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81" name="그룹 80"/>
          <p:cNvGrpSpPr/>
          <p:nvPr/>
        </p:nvGrpSpPr>
        <p:grpSpPr>
          <a:xfrm rot="16200000">
            <a:off x="6266705" y="4974013"/>
            <a:ext cx="94010" cy="47005"/>
            <a:chOff x="6812560" y="3297172"/>
            <a:chExt cx="94010" cy="47005"/>
          </a:xfrm>
        </p:grpSpPr>
        <p:cxnSp>
          <p:nvCxnSpPr>
            <p:cNvPr id="82" name="직선 연결선 8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4" name="직선 연결선 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5" name="그룹 84"/>
          <p:cNvGrpSpPr/>
          <p:nvPr/>
        </p:nvGrpSpPr>
        <p:grpSpPr>
          <a:xfrm rot="16200000">
            <a:off x="6266706" y="5199626"/>
            <a:ext cx="94010" cy="47005"/>
            <a:chOff x="6812560" y="3297172"/>
            <a:chExt cx="94010" cy="47005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8" name="그룹 87"/>
          <p:cNvGrpSpPr/>
          <p:nvPr/>
        </p:nvGrpSpPr>
        <p:grpSpPr>
          <a:xfrm rot="16200000">
            <a:off x="6266707" y="5417736"/>
            <a:ext cx="94010" cy="47005"/>
            <a:chOff x="6812560" y="3297172"/>
            <a:chExt cx="94010" cy="47005"/>
          </a:xfrm>
        </p:grpSpPr>
        <p:cxnSp>
          <p:nvCxnSpPr>
            <p:cNvPr id="89" name="직선 연결선 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0" name="직선 연결선 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1" name="그룹 90"/>
          <p:cNvGrpSpPr/>
          <p:nvPr/>
        </p:nvGrpSpPr>
        <p:grpSpPr>
          <a:xfrm rot="16200000">
            <a:off x="6266708" y="5627293"/>
            <a:ext cx="94010" cy="47005"/>
            <a:chOff x="6812560" y="3297172"/>
            <a:chExt cx="94010" cy="47005"/>
          </a:xfrm>
        </p:grpSpPr>
        <p:cxnSp>
          <p:nvCxnSpPr>
            <p:cNvPr id="92" name="직선 연결선 9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3" name="직선 연결선 9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4" name="그룹 93"/>
          <p:cNvGrpSpPr/>
          <p:nvPr/>
        </p:nvGrpSpPr>
        <p:grpSpPr>
          <a:xfrm rot="16200000">
            <a:off x="6266709" y="5837225"/>
            <a:ext cx="94010" cy="47005"/>
            <a:chOff x="6812560" y="3297172"/>
            <a:chExt cx="94010" cy="47005"/>
          </a:xfrm>
        </p:grpSpPr>
        <p:cxnSp>
          <p:nvCxnSpPr>
            <p:cNvPr id="95" name="직선 연결선 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6" name="직선 연결선 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01" name="그룹 100"/>
          <p:cNvGrpSpPr/>
          <p:nvPr/>
        </p:nvGrpSpPr>
        <p:grpSpPr>
          <a:xfrm rot="16200000">
            <a:off x="6266710" y="6060166"/>
            <a:ext cx="94010" cy="47005"/>
            <a:chOff x="6812560" y="3297172"/>
            <a:chExt cx="94010" cy="47005"/>
          </a:xfrm>
        </p:grpSpPr>
        <p:cxnSp>
          <p:nvCxnSpPr>
            <p:cNvPr id="102" name="직선 연결선 10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4" name="직선 연결선 10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41601" y="428508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smtClean="0">
                <a:latin typeface="+mn-ea"/>
              </a:rPr>
              <a:t>표시 개수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40987" y="4285080"/>
            <a:ext cx="36855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10</a:t>
            </a:r>
            <a:r>
              <a:rPr lang="ko-KR" altLang="en-US" sz="700" dirty="0" smtClean="0">
                <a:latin typeface="+mn-ea"/>
              </a:rPr>
              <a:t>개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>
            <a:off x="6256545" y="4386903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643969358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162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8" y="795708"/>
            <a:ext cx="23104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주거래은행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1006911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은행명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은행명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52999" y="1639299"/>
            <a:ext cx="23185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주거래은행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861817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은행코드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fnstCd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은행코드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은행명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fnstNm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은행명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은행구분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fnstSecd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은행구분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71285932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61AFF63E-A35D-26A9-40FD-6875A41F652C}"/>
              </a:ext>
            </a:extLst>
          </p:cNvPr>
          <p:cNvSpPr txBox="1"/>
          <p:nvPr/>
        </p:nvSpPr>
        <p:spPr>
          <a:xfrm>
            <a:off x="448316" y="281626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0A97748E-F98A-3B3A-B7BF-ECEA392F1325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291" y="3045154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scwin.btn_bankSrch_onclick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주거래은행 정보를 검색한다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err="1" smtClean="0"/>
                        <a:t>검색항목</a:t>
                      </a:r>
                      <a:r>
                        <a:rPr lang="ko-KR" altLang="en-US" sz="800" dirty="0" smtClean="0"/>
                        <a:t> </a:t>
                      </a:r>
                      <a:r>
                        <a:rPr lang="ko-KR" altLang="en-US" sz="800" dirty="0"/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주거래은행 정보가 부모 화면에 입력되며 팝업창은 닫힌다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UI-CM-01-M15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7647686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2070BEE7-E5D7-71A9-5361-75AADFD373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2932835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884461B8-F59F-50CE-4437-D13ED6ED9A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3626321"/>
      </p:ext>
    </p:extLst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행정정보공동이용 </a:t>
            </a:r>
            <a:r>
              <a:rPr lang="ko-KR" altLang="en-US" dirty="0" err="1" smtClean="0"/>
              <a:t>사전동의서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물품등록</a:t>
            </a:r>
            <a:r>
              <a:rPr lang="en-US" altLang="ko-KR" dirty="0" smtClean="0"/>
              <a:t>(</a:t>
            </a:r>
            <a:r>
              <a:rPr lang="ko-KR" altLang="en-US" dirty="0" smtClean="0"/>
              <a:t>내자</a:t>
            </a:r>
            <a:r>
              <a:rPr lang="en-US" altLang="ko-KR" dirty="0" smtClean="0"/>
              <a:t>)</a:t>
            </a:r>
            <a:r>
              <a:rPr lang="ko-KR" altLang="en-US" dirty="0" smtClean="0"/>
              <a:t>인 경우만 노출</a:t>
            </a:r>
            <a:r>
              <a:rPr lang="en-US" altLang="ko-KR" dirty="0" smtClean="0"/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행정정보공동이용 </a:t>
            </a:r>
            <a:r>
              <a:rPr lang="ko-KR" altLang="en-US" dirty="0" err="1"/>
              <a:t>사전동의서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 smtClean="0"/>
              <a:t>추가등록</a:t>
            </a:r>
            <a:r>
              <a:rPr lang="ko-KR" altLang="en-US" dirty="0"/>
              <a:t> 신청 시 행정정보공동이용 </a:t>
            </a:r>
            <a:r>
              <a:rPr lang="ko-KR" altLang="en-US" dirty="0" err="1" smtClean="0"/>
              <a:t>사전동의서</a:t>
            </a:r>
            <a:r>
              <a:rPr lang="ko-KR" altLang="en-US" dirty="0" smtClean="0"/>
              <a:t> 확인 팝업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55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ko-KR" altLang="en-US" dirty="0"/>
              <a:t>행정정보공동이용 </a:t>
            </a:r>
            <a:r>
              <a:rPr lang="ko-KR" altLang="en-US" dirty="0" err="1"/>
              <a:t>사전동의서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MUI-CM-01-P13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" name="양쪽 모서리가 둥근 사각형 28"/>
          <p:cNvSpPr/>
          <p:nvPr/>
        </p:nvSpPr>
        <p:spPr>
          <a:xfrm>
            <a:off x="675399" y="1609111"/>
            <a:ext cx="2712027" cy="4623188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30" name="모서리가 둥근 직사각형 29"/>
          <p:cNvSpPr/>
          <p:nvPr/>
        </p:nvSpPr>
        <p:spPr>
          <a:xfrm>
            <a:off x="1761412" y="163950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33" name="그룹 32"/>
          <p:cNvGrpSpPr/>
          <p:nvPr/>
        </p:nvGrpSpPr>
        <p:grpSpPr>
          <a:xfrm>
            <a:off x="3164338" y="1773925"/>
            <a:ext cx="94010" cy="94010"/>
            <a:chOff x="6812560" y="3297172"/>
            <a:chExt cx="94010" cy="94010"/>
          </a:xfrm>
        </p:grpSpPr>
        <p:cxnSp>
          <p:nvCxnSpPr>
            <p:cNvPr id="34" name="직선 연결선 33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5" name="직선 연결선 34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175460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행정정보공동이용 </a:t>
            </a:r>
            <a:r>
              <a:rPr lang="ko-KR" altLang="en-US" sz="900" dirty="0" err="1">
                <a:latin typeface="+mn-ea"/>
              </a:rPr>
              <a:t>사전동의서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37" name="직선 연결선 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01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8" name="모서리가 둥근 직사각형 37"/>
          <p:cNvSpPr/>
          <p:nvPr/>
        </p:nvSpPr>
        <p:spPr>
          <a:xfrm rot="5400000">
            <a:off x="2662242" y="274737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43" name="직선 연결선 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7412" y="503768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6" name="모서리가 둥근 직사각형 55"/>
          <p:cNvSpPr/>
          <p:nvPr/>
        </p:nvSpPr>
        <p:spPr>
          <a:xfrm>
            <a:off x="759026" y="2140522"/>
            <a:ext cx="2543426" cy="2725586"/>
          </a:xfrm>
          <a:prstGeom prst="roundRect">
            <a:avLst>
              <a:gd name="adj" fmla="val 3479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62106" y="2202341"/>
            <a:ext cx="2154318" cy="276998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latin typeface="Consolas" panose="020B0609020204030204" pitchFamily="49" charset="0"/>
              </a:rPr>
              <a:t>행정정보공동이용 </a:t>
            </a:r>
            <a:r>
              <a:rPr lang="ko-KR" altLang="en-US" sz="800" b="1" dirty="0" err="1" smtClean="0">
                <a:latin typeface="Consolas" panose="020B0609020204030204" pitchFamily="49" charset="0"/>
              </a:rPr>
              <a:t>사전동의서</a:t>
            </a:r>
            <a:r>
              <a:rPr lang="ko-KR" altLang="en-US" sz="800" b="1" dirty="0" smtClean="0">
                <a:latin typeface="Consolas" panose="020B0609020204030204" pitchFamily="49" charset="0"/>
              </a:rPr>
              <a:t> 안내</a:t>
            </a:r>
            <a:endParaRPr lang="ko-KR" altLang="en-US" sz="8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en-US" altLang="ko-KR" sz="700" dirty="0" smtClean="0">
                <a:latin typeface="Consolas" panose="020B0609020204030204" pitchFamily="49" charset="0"/>
              </a:rPr>
              <a:t>(</a:t>
            </a:r>
            <a:r>
              <a:rPr lang="ko-KR" altLang="en-US" sz="700" dirty="0" err="1">
                <a:latin typeface="Consolas" panose="020B0609020204030204" pitchFamily="49" charset="0"/>
              </a:rPr>
              <a:t>전자정부법</a:t>
            </a:r>
            <a:r>
              <a:rPr lang="ko-KR" altLang="en-US" sz="700" dirty="0">
                <a:latin typeface="Consolas" panose="020B0609020204030204" pitchFamily="49" charset="0"/>
              </a:rPr>
              <a:t> 제</a:t>
            </a:r>
            <a:r>
              <a:rPr lang="en-US" altLang="ko-KR" sz="700" dirty="0">
                <a:latin typeface="Consolas" panose="020B0609020204030204" pitchFamily="49" charset="0"/>
              </a:rPr>
              <a:t>42</a:t>
            </a:r>
            <a:r>
              <a:rPr lang="ko-KR" altLang="en-US" sz="700" dirty="0">
                <a:latin typeface="Consolas" panose="020B0609020204030204" pitchFamily="49" charset="0"/>
              </a:rPr>
              <a:t>조 제</a:t>
            </a:r>
            <a:r>
              <a:rPr lang="en-US" altLang="ko-KR" sz="700" dirty="0">
                <a:latin typeface="Consolas" panose="020B0609020204030204" pitchFamily="49" charset="0"/>
              </a:rPr>
              <a:t>1</a:t>
            </a:r>
            <a:r>
              <a:rPr lang="ko-KR" altLang="en-US" sz="700" dirty="0">
                <a:latin typeface="Consolas" panose="020B0609020204030204" pitchFamily="49" charset="0"/>
              </a:rPr>
              <a:t>항에 따라 행정정보 공동이용센터를 통하여 개인정보가 포함된 행정정보를 이용할 때에는 정보주체의 사전동의를 받도록 하고 있습니다</a:t>
            </a:r>
            <a:r>
              <a:rPr lang="en-US" altLang="ko-KR" sz="700" dirty="0">
                <a:latin typeface="Consolas" panose="020B0609020204030204" pitchFamily="49" charset="0"/>
              </a:rPr>
              <a:t>. 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현재 사무를 처리하기 위하여 </a:t>
            </a:r>
            <a:r>
              <a:rPr lang="ko-KR" altLang="en-US" sz="700" dirty="0" err="1">
                <a:latin typeface="Consolas" panose="020B0609020204030204" pitchFamily="49" charset="0"/>
              </a:rPr>
              <a:t>방위사업청</a:t>
            </a:r>
            <a:r>
              <a:rPr lang="ko-KR" altLang="en-US" sz="700" dirty="0">
                <a:latin typeface="Consolas" panose="020B0609020204030204" pitchFamily="49" charset="0"/>
              </a:rPr>
              <a:t> 민원담당자가 본인의 정보</a:t>
            </a: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이름</a:t>
            </a:r>
            <a:r>
              <a:rPr lang="en-US" altLang="ko-KR" sz="700" dirty="0">
                <a:latin typeface="Consolas" panose="020B0609020204030204" pitchFamily="49" charset="0"/>
              </a:rPr>
              <a:t>, </a:t>
            </a:r>
            <a:r>
              <a:rPr lang="ko-KR" altLang="en-US" sz="700" dirty="0">
                <a:latin typeface="Consolas" panose="020B0609020204030204" pitchFamily="49" charset="0"/>
              </a:rPr>
              <a:t>주민등록번호</a:t>
            </a:r>
            <a:r>
              <a:rPr lang="en-US" altLang="ko-KR" sz="700" dirty="0">
                <a:latin typeface="Consolas" panose="020B0609020204030204" pitchFamily="49" charset="0"/>
              </a:rPr>
              <a:t>, </a:t>
            </a:r>
            <a:r>
              <a:rPr lang="ko-KR" altLang="en-US" sz="700" dirty="0">
                <a:latin typeface="Consolas" panose="020B0609020204030204" pitchFamily="49" charset="0"/>
              </a:rPr>
              <a:t>사업자등록번호</a:t>
            </a:r>
            <a:r>
              <a:rPr lang="en-US" altLang="ko-KR" sz="700" dirty="0">
                <a:latin typeface="Consolas" panose="020B0609020204030204" pitchFamily="49" charset="0"/>
              </a:rPr>
              <a:t>)</a:t>
            </a:r>
            <a:r>
              <a:rPr lang="ko-KR" altLang="en-US" sz="700" dirty="0">
                <a:latin typeface="Consolas" panose="020B0609020204030204" pitchFamily="49" charset="0"/>
              </a:rPr>
              <a:t>를 활용하여 행정정보를 열람합니다</a:t>
            </a:r>
            <a:r>
              <a:rPr lang="en-US" altLang="ko-KR" sz="700" dirty="0">
                <a:latin typeface="Consolas" panose="020B0609020204030204" pitchFamily="49" charset="0"/>
              </a:rPr>
              <a:t>. 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본인은 이 건 사무의 처리와 관련하여 </a:t>
            </a:r>
            <a:r>
              <a:rPr lang="en-US" altLang="ko-KR" sz="700" dirty="0">
                <a:latin typeface="Consolas" panose="020B0609020204030204" pitchFamily="49" charset="0"/>
              </a:rPr>
              <a:t>『</a:t>
            </a:r>
            <a:r>
              <a:rPr lang="ko-KR" altLang="en-US" sz="700" dirty="0" err="1">
                <a:latin typeface="Consolas" panose="020B0609020204030204" pitchFamily="49" charset="0"/>
              </a:rPr>
              <a:t>전자정부법</a:t>
            </a:r>
            <a:r>
              <a:rPr lang="en-US" altLang="ko-KR" sz="700" dirty="0">
                <a:latin typeface="Consolas" panose="020B0609020204030204" pitchFamily="49" charset="0"/>
              </a:rPr>
              <a:t>』 </a:t>
            </a:r>
            <a:r>
              <a:rPr lang="ko-KR" altLang="en-US" sz="700" dirty="0">
                <a:latin typeface="Consolas" panose="020B0609020204030204" pitchFamily="49" charset="0"/>
              </a:rPr>
              <a:t>제</a:t>
            </a:r>
            <a:r>
              <a:rPr lang="en-US" altLang="ko-KR" sz="700" dirty="0">
                <a:latin typeface="Consolas" panose="020B0609020204030204" pitchFamily="49" charset="0"/>
              </a:rPr>
              <a:t>36</a:t>
            </a:r>
            <a:r>
              <a:rPr lang="ko-KR" altLang="en-US" sz="700" dirty="0">
                <a:latin typeface="Consolas" panose="020B0609020204030204" pitchFamily="49" charset="0"/>
              </a:rPr>
              <a:t>조에 따른 행정정보 공동이용을 통하여 </a:t>
            </a:r>
            <a:r>
              <a:rPr lang="ko-KR" altLang="en-US" sz="700" dirty="0" err="1">
                <a:latin typeface="Consolas" panose="020B0609020204030204" pitchFamily="49" charset="0"/>
              </a:rPr>
              <a:t>이용기관의</a:t>
            </a:r>
            <a:r>
              <a:rPr lang="ko-KR" altLang="en-US" sz="700" dirty="0">
                <a:latin typeface="Consolas" panose="020B0609020204030204" pitchFamily="49" charset="0"/>
              </a:rPr>
              <a:t> 업무처리 담당자가 전자적으로 본인의 구비서류를 확인 하는 것에 동의합니다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아래에 기재된 </a:t>
            </a:r>
            <a:r>
              <a:rPr lang="ko-KR" altLang="en-US" sz="700" dirty="0" err="1">
                <a:latin typeface="Consolas" panose="020B0609020204030204" pitchFamily="49" charset="0"/>
              </a:rPr>
              <a:t>행정정보는</a:t>
            </a:r>
            <a:r>
              <a:rPr lang="ko-KR" altLang="en-US" sz="700" dirty="0">
                <a:latin typeface="Consolas" panose="020B0609020204030204" pitchFamily="49" charset="0"/>
              </a:rPr>
              <a:t> 목적 외의 용도로 사용할 수 없으며</a:t>
            </a:r>
            <a:r>
              <a:rPr lang="en-US" altLang="ko-KR" sz="700" dirty="0">
                <a:latin typeface="Consolas" panose="020B0609020204030204" pitchFamily="49" charset="0"/>
              </a:rPr>
              <a:t>, </a:t>
            </a:r>
            <a:r>
              <a:rPr lang="ko-KR" altLang="en-US" sz="700" dirty="0">
                <a:latin typeface="Consolas" panose="020B0609020204030204" pitchFamily="49" charset="0"/>
              </a:rPr>
              <a:t>동의하지 않는 경우 본인의 선택에 따라 서류로 대신 제출 할 수 있음</a:t>
            </a:r>
            <a:r>
              <a:rPr lang="en-US" altLang="ko-KR" sz="700" dirty="0">
                <a:latin typeface="Consolas" panose="020B0609020204030204" pitchFamily="49" charset="0"/>
              </a:rPr>
              <a:t>)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endParaRPr lang="ko-KR" altLang="en-US" sz="700" b="1" dirty="0">
              <a:solidFill>
                <a:srgbClr val="0070C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58" name="타원 57"/>
          <p:cNvSpPr/>
          <p:nvPr/>
        </p:nvSpPr>
        <p:spPr>
          <a:xfrm>
            <a:off x="832165" y="22070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59" name="그룹 58"/>
          <p:cNvGrpSpPr/>
          <p:nvPr/>
        </p:nvGrpSpPr>
        <p:grpSpPr>
          <a:xfrm flipV="1">
            <a:off x="3138039" y="2277555"/>
            <a:ext cx="94010" cy="47005"/>
            <a:chOff x="6812560" y="3297172"/>
            <a:chExt cx="94010" cy="47005"/>
          </a:xfrm>
        </p:grpSpPr>
        <p:cxnSp>
          <p:nvCxnSpPr>
            <p:cNvPr id="60" name="직선 연결선 5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1" name="직선 연결선 6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양쪽 모서리가 둥근 사각형 62"/>
          <p:cNvSpPr/>
          <p:nvPr/>
        </p:nvSpPr>
        <p:spPr>
          <a:xfrm>
            <a:off x="3795734" y="1609111"/>
            <a:ext cx="2712027" cy="4623188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4" name="모서리가 둥근 직사각형 63"/>
          <p:cNvSpPr/>
          <p:nvPr/>
        </p:nvSpPr>
        <p:spPr>
          <a:xfrm>
            <a:off x="4881747" y="163950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5" name="그룹 64"/>
          <p:cNvGrpSpPr/>
          <p:nvPr/>
        </p:nvGrpSpPr>
        <p:grpSpPr>
          <a:xfrm>
            <a:off x="6284673" y="1773925"/>
            <a:ext cx="94010" cy="94010"/>
            <a:chOff x="6812560" y="3297172"/>
            <a:chExt cx="94010" cy="94010"/>
          </a:xfrm>
        </p:grpSpPr>
        <p:cxnSp>
          <p:nvCxnSpPr>
            <p:cNvPr id="66" name="직선 연결선 6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7" name="직선 연결선 6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8" name="TextBox 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175460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행정정보공동이용 </a:t>
            </a:r>
            <a:r>
              <a:rPr lang="ko-KR" altLang="en-US" sz="900" dirty="0" err="1">
                <a:latin typeface="+mn-ea"/>
              </a:rPr>
              <a:t>사전동의서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01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1" name="모서리가 둥근 직사각형 70"/>
          <p:cNvSpPr/>
          <p:nvPr/>
        </p:nvSpPr>
        <p:spPr>
          <a:xfrm rot="5400000">
            <a:off x="5782577" y="438977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72" name="직선 연결선 7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22629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3" name="TextBox 7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2642914"/>
            <a:ext cx="2473940" cy="117051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228600" indent="-228600">
              <a:lnSpc>
                <a:spcPct val="120000"/>
              </a:lnSpc>
              <a:buAutoNum type="arabicPeriod"/>
            </a:pPr>
            <a:r>
              <a:rPr lang="ko-KR" altLang="en-US" sz="8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공동이용의 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목적 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: 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국내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,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외 경쟁입찰에 참여하고자 하는 자의 </a:t>
            </a:r>
            <a:r>
              <a:rPr lang="ko-KR" altLang="en-US" sz="800" dirty="0" err="1">
                <a:solidFill>
                  <a:srgbClr val="000000"/>
                </a:solidFill>
                <a:latin typeface="Consolas" panose="020B0609020204030204" pitchFamily="49" charset="0"/>
              </a:rPr>
              <a:t>업체등록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ko-KR" altLang="en-US" sz="800" dirty="0" err="1">
                <a:solidFill>
                  <a:srgbClr val="000000"/>
                </a:solidFill>
                <a:latin typeface="Consolas" panose="020B0609020204030204" pitchFamily="49" charset="0"/>
              </a:rPr>
              <a:t>품목등록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/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추가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) 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및 입찰참가자격 확인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/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계약을 위해 제출하는 </a:t>
            </a:r>
            <a:r>
              <a:rPr lang="ko-KR" altLang="en-US" sz="8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민원</a:t>
            </a:r>
            <a:endParaRPr lang="en-US" altLang="ko-KR" sz="800" dirty="0" smtClean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pPr marL="228600" indent="-228600">
              <a:lnSpc>
                <a:spcPct val="120000"/>
              </a:lnSpc>
              <a:buAutoNum type="arabicPeriod"/>
            </a:pPr>
            <a:endParaRPr lang="en-US" altLang="ko-KR" sz="8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pPr marL="228600" indent="-228600">
              <a:lnSpc>
                <a:spcPct val="120000"/>
              </a:lnSpc>
              <a:buAutoNum type="arabicPeriod"/>
            </a:pPr>
            <a:r>
              <a:rPr lang="ko-KR" altLang="en-US" sz="8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공동이용 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대상 행정정보 및 </a:t>
            </a:r>
            <a:r>
              <a:rPr lang="ko-KR" altLang="en-US" sz="800" dirty="0" err="1">
                <a:solidFill>
                  <a:srgbClr val="000000"/>
                </a:solidFill>
                <a:latin typeface="Consolas" panose="020B0609020204030204" pitchFamily="49" charset="0"/>
              </a:rPr>
              <a:t>이용범위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: 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국내업체품목등록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사업자등록증명원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)1</a:t>
            </a:r>
            <a:r>
              <a:rPr lang="ko-KR" altLang="en-US" sz="8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종</a:t>
            </a:r>
            <a:endParaRPr lang="en-US" altLang="ko-KR" sz="800" dirty="0" smtClean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pPr marL="228600" indent="-228600">
              <a:lnSpc>
                <a:spcPct val="120000"/>
              </a:lnSpc>
              <a:buAutoNum type="arabicPeriod"/>
            </a:pPr>
            <a:endParaRPr lang="en-US" altLang="ko-KR" sz="8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pPr marL="228600" indent="-228600">
              <a:lnSpc>
                <a:spcPct val="120000"/>
              </a:lnSpc>
              <a:buAutoNum type="arabicPeriod"/>
            </a:pPr>
            <a:r>
              <a:rPr lang="ko-KR" altLang="en-US" sz="800" dirty="0" smtClean="0">
                <a:solidFill>
                  <a:srgbClr val="000000"/>
                </a:solidFill>
                <a:latin typeface="Consolas" panose="020B0609020204030204" pitchFamily="49" charset="0"/>
              </a:rPr>
              <a:t>공동이용 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대상 </a:t>
            </a:r>
            <a:r>
              <a:rPr lang="ko-KR" altLang="en-US" sz="800" dirty="0" err="1">
                <a:solidFill>
                  <a:srgbClr val="000000"/>
                </a:solidFill>
                <a:latin typeface="Consolas" panose="020B0609020204030204" pitchFamily="49" charset="0"/>
              </a:rPr>
              <a:t>이용기관의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 명칭 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: </a:t>
            </a:r>
            <a:r>
              <a:rPr lang="ko-KR" altLang="en-US" sz="800" dirty="0" err="1">
                <a:solidFill>
                  <a:srgbClr val="000000"/>
                </a:solidFill>
                <a:latin typeface="Consolas" panose="020B0609020204030204" pitchFamily="49" charset="0"/>
              </a:rPr>
              <a:t>방위사업청</a:t>
            </a:r>
            <a:endParaRPr lang="ko-KR" altLang="en-US" sz="800" dirty="0">
              <a:solidFill>
                <a:srgbClr val="000000"/>
              </a:solidFill>
              <a:latin typeface="Consolas" panose="020B0609020204030204" pitchFamily="49" charset="0"/>
            </a:endParaRPr>
          </a:p>
        </p:txBody>
      </p:sp>
      <p:cxnSp>
        <p:nvCxnSpPr>
          <p:cNvPr id="74" name="직선 연결선 7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398657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8" name="그룹 77"/>
          <p:cNvGrpSpPr/>
          <p:nvPr/>
        </p:nvGrpSpPr>
        <p:grpSpPr>
          <a:xfrm>
            <a:off x="4553124" y="4360817"/>
            <a:ext cx="1197246" cy="107722"/>
            <a:chOff x="4526323" y="5902014"/>
            <a:chExt cx="1197246" cy="107722"/>
          </a:xfrm>
        </p:grpSpPr>
        <p:sp>
          <p:nvSpPr>
            <p:cNvPr id="79" name="타원 78"/>
            <p:cNvSpPr/>
            <p:nvPr/>
          </p:nvSpPr>
          <p:spPr>
            <a:xfrm>
              <a:off x="4526323" y="5907195"/>
              <a:ext cx="106031" cy="973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3" name="타원 82"/>
            <p:cNvSpPr/>
            <p:nvPr/>
          </p:nvSpPr>
          <p:spPr>
            <a:xfrm>
              <a:off x="5277619" y="5907195"/>
              <a:ext cx="106031" cy="97360"/>
            </a:xfrm>
            <a:prstGeom prst="ellipse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94755" y="5902014"/>
              <a:ext cx="391133" cy="10772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동의 안함</a:t>
              </a:r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454265" y="5902014"/>
              <a:ext cx="269304" cy="10772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동의함</a:t>
              </a:r>
            </a:p>
          </p:txBody>
        </p:sp>
      </p:grpSp>
      <p:grpSp>
        <p:nvGrpSpPr>
          <p:cNvPr id="86" name="그룹 85"/>
          <p:cNvGrpSpPr/>
          <p:nvPr/>
        </p:nvGrpSpPr>
        <p:grpSpPr>
          <a:xfrm>
            <a:off x="3795734" y="5613954"/>
            <a:ext cx="2712027" cy="617588"/>
            <a:chOff x="675399" y="5614711"/>
            <a:chExt cx="2712027" cy="617588"/>
          </a:xfrm>
        </p:grpSpPr>
        <p:sp>
          <p:nvSpPr>
            <p:cNvPr id="87" name="직사각형 86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</a:rPr>
                <a:t>추가 등록</a:t>
              </a:r>
              <a:r>
                <a:rPr kumimoji="1" lang="en-US" altLang="ko-KR" sz="1000" kern="0" dirty="0">
                  <a:solidFill>
                    <a:srgbClr val="0070C0"/>
                  </a:solidFill>
                </a:rPr>
                <a:t> </a:t>
              </a:r>
              <a:r>
                <a:rPr kumimoji="1" lang="ko-KR" altLang="en-US" sz="1000" kern="0" dirty="0">
                  <a:solidFill>
                    <a:srgbClr val="0070C0"/>
                  </a:solidFill>
                </a:rPr>
                <a:t>신청</a:t>
              </a:r>
              <a:endParaRPr kumimoji="1" lang="en-US" altLang="ko-KR" sz="1000" kern="0" dirty="0">
                <a:solidFill>
                  <a:srgbClr val="0070C0"/>
                </a:solidFill>
              </a:endParaRPr>
            </a:p>
          </p:txBody>
        </p:sp>
        <p:sp>
          <p:nvSpPr>
            <p:cNvPr id="8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107186"/>
            <a:ext cx="2473940" cy="13638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800" b="1" spc="-87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행정정보 공동 이용</a:t>
            </a:r>
            <a:endParaRPr lang="ko-KR" altLang="en-US" sz="800" b="1" dirty="0">
              <a:solidFill>
                <a:srgbClr val="000000"/>
              </a:solidFill>
              <a:latin typeface="Consolas" panose="020B0609020204030204" pitchFamily="49" charset="0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2350548"/>
            <a:ext cx="2154318" cy="16408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latin typeface="Consolas" panose="020B0609020204030204" pitchFamily="49" charset="0"/>
              </a:rPr>
              <a:t>행정정보공동이용 </a:t>
            </a:r>
            <a:r>
              <a:rPr lang="ko-KR" altLang="en-US" sz="800" b="1" dirty="0" err="1" smtClean="0">
                <a:latin typeface="Consolas" panose="020B0609020204030204" pitchFamily="49" charset="0"/>
              </a:rPr>
              <a:t>사전동의서</a:t>
            </a:r>
            <a:endParaRPr lang="ko-KR" altLang="en-US" sz="700" b="1" dirty="0">
              <a:solidFill>
                <a:srgbClr val="0070C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98" name="타원 9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171361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99" name="직선 연결선 9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461962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1109121350"/>
      </p:ext>
    </p:extLst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164</a:t>
            </a:fld>
            <a:endParaRPr lang="ko-KR" altLang="en-US" dirty="0"/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C2F212A1-6EE7-4B40-928F-972A7770F5EA}"/>
              </a:ext>
            </a:extLst>
          </p:cNvPr>
          <p:cNvSpPr txBox="1"/>
          <p:nvPr/>
        </p:nvSpPr>
        <p:spPr>
          <a:xfrm>
            <a:off x="455204" y="73402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1.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E5A69B7C-03A3-91C1-352F-7D0E8D442A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94636579"/>
              </p:ext>
            </p:extLst>
          </p:nvPr>
        </p:nvGraphicFramePr>
        <p:xfrm>
          <a:off x="455204" y="969807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smtClean="0"/>
                        <a:t>추가 등록 신청 클릭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scwin.btn_aply_onclick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 및 변경된 조달업체 물품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신청한다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2283097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25FF12AC-7478-0A92-A25F-C8ED37CDE2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2" y="85289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31598705"/>
      </p:ext>
    </p:extLst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확인 </a:t>
            </a:r>
            <a:r>
              <a:rPr lang="ko-KR" altLang="en-US" dirty="0" err="1" smtClean="0"/>
              <a:t>모달</a:t>
            </a:r>
            <a:r>
              <a:rPr lang="ko-KR" altLang="en-US" dirty="0" smtClean="0"/>
              <a:t> 팝업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신청 확인 버튼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클릭 시 토스트 메시지 </a:t>
            </a:r>
            <a:r>
              <a:rPr lang="en-US" altLang="ko-KR" dirty="0" smtClean="0"/>
              <a:t>- </a:t>
            </a:r>
            <a:r>
              <a:rPr lang="ko-KR" altLang="en-US" dirty="0" smtClean="0"/>
              <a:t>신청 완료되었습니다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데이터에 로드가 발생하는 경우 </a:t>
            </a:r>
            <a:r>
              <a:rPr lang="ko-KR" altLang="en-US" dirty="0" err="1" smtClean="0"/>
              <a:t>스피너</a:t>
            </a:r>
            <a:r>
              <a:rPr lang="en-US" altLang="ko-KR" dirty="0" smtClean="0"/>
              <a:t>, </a:t>
            </a:r>
            <a:r>
              <a:rPr lang="ko-KR" altLang="en-US" dirty="0" smtClean="0"/>
              <a:t>로드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취소 버튼 클릭 시 작성 화면 복귀</a:t>
            </a:r>
            <a:endParaRPr lang="ko-KR" altLang="en-US" dirty="0">
              <a:latin typeface="+mn-ea"/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확인 팝업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 smtClean="0"/>
              <a:t>추가등록</a:t>
            </a:r>
            <a:r>
              <a:rPr lang="ko-KR" altLang="en-US" dirty="0" smtClean="0"/>
              <a:t> 신청 확인 팝업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ko-KR" altLang="en-US" dirty="0"/>
              <a:t>확인 팝업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MUI-CM-01-P14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/>
          <p:cNvGrpSpPr/>
          <p:nvPr/>
        </p:nvGrpSpPr>
        <p:grpSpPr>
          <a:xfrm>
            <a:off x="741416" y="3262742"/>
            <a:ext cx="2579992" cy="1200743"/>
            <a:chOff x="713510" y="2317399"/>
            <a:chExt cx="2579992" cy="1200743"/>
          </a:xfrm>
        </p:grpSpPr>
        <p:sp>
          <p:nvSpPr>
            <p:cNvPr id="51" name="모서리가 둥근 직사각형 50"/>
            <p:cNvSpPr/>
            <p:nvPr/>
          </p:nvSpPr>
          <p:spPr>
            <a:xfrm>
              <a:off x="713510" y="2317399"/>
              <a:ext cx="2579992" cy="1200743"/>
            </a:xfrm>
            <a:prstGeom prst="roundRect">
              <a:avLst>
                <a:gd name="adj" fmla="val 4663"/>
              </a:avLst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2056348" y="3076561"/>
              <a:ext cx="1080000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확인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5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831204" y="3076561"/>
              <a:ext cx="108000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31204" y="2464129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업체정보 </a:t>
              </a:r>
              <a:r>
                <a:rPr lang="ko-KR" altLang="en-US" sz="900" b="1" dirty="0" err="1" smtClean="0">
                  <a:latin typeface="+mn-ea"/>
                </a:rPr>
                <a:t>추가등록</a:t>
              </a:r>
              <a:r>
                <a:rPr lang="ko-KR" altLang="en-US" sz="900" b="1" dirty="0" smtClean="0">
                  <a:latin typeface="+mn-ea"/>
                </a:rPr>
                <a:t> 신청 확인</a:t>
              </a:r>
              <a:endParaRPr lang="ko-KR" altLang="en-US" sz="900" b="1" dirty="0">
                <a:latin typeface="+mn-ea"/>
              </a:endParaRP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50934" y="2696638"/>
              <a:ext cx="230514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신청서를 접수합니다</a:t>
              </a:r>
              <a:r>
                <a:rPr lang="en-US" altLang="ko-KR" sz="700" dirty="0" smtClean="0">
                  <a:latin typeface="+mn-ea"/>
                </a:rPr>
                <a:t>.</a:t>
              </a:r>
            </a:p>
            <a:p>
              <a:r>
                <a:rPr lang="ko-KR" altLang="en-US" sz="700" dirty="0" err="1" smtClean="0">
                  <a:latin typeface="+mn-ea"/>
                </a:rPr>
                <a:t>오기재된</a:t>
              </a:r>
              <a:r>
                <a:rPr lang="ko-KR" altLang="en-US" sz="700" dirty="0" smtClean="0">
                  <a:latin typeface="+mn-ea"/>
                </a:rPr>
                <a:t> 사항이 없는지 모두 </a:t>
              </a:r>
              <a:r>
                <a:rPr lang="ko-KR" altLang="en-US" sz="700" dirty="0" err="1" smtClean="0">
                  <a:latin typeface="+mn-ea"/>
                </a:rPr>
                <a:t>확인하셨나요</a:t>
              </a:r>
              <a:r>
                <a:rPr lang="en-US" altLang="ko-KR" sz="700" dirty="0" smtClean="0">
                  <a:latin typeface="+mn-ea"/>
                </a:rPr>
                <a:t>?</a:t>
              </a:r>
            </a:p>
          </p:txBody>
        </p:sp>
        <p:grpSp>
          <p:nvGrpSpPr>
            <p:cNvPr id="75" name="그룹 74"/>
            <p:cNvGrpSpPr/>
            <p:nvPr/>
          </p:nvGrpSpPr>
          <p:grpSpPr>
            <a:xfrm>
              <a:off x="3042338" y="2464129"/>
              <a:ext cx="94010" cy="94010"/>
              <a:chOff x="6812560" y="3297172"/>
              <a:chExt cx="94010" cy="94010"/>
            </a:xfrm>
          </p:grpSpPr>
          <p:cxnSp>
            <p:nvCxnSpPr>
              <p:cNvPr id="76" name="직선 연결선 75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7" name="직선 연결선 76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70" name="타원 6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3" y="3347162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292540185"/>
      </p:ext>
    </p:extLst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도움말 아코디언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콘텐츠 우측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>
                <a:latin typeface="+mn-ea"/>
              </a:rPr>
              <a:t>업체 </a:t>
            </a:r>
            <a:r>
              <a:rPr lang="ko-KR" altLang="en-US" dirty="0" err="1" smtClean="0">
                <a:latin typeface="+mn-ea"/>
              </a:rPr>
              <a:t>등록현황</a:t>
            </a:r>
            <a:r>
              <a:rPr lang="en-US" altLang="ko-KR" dirty="0" smtClean="0">
                <a:latin typeface="+mn-ea"/>
              </a:rPr>
              <a:t/>
            </a:r>
            <a:br>
              <a:rPr lang="en-US" altLang="ko-KR" dirty="0" smtClean="0">
                <a:latin typeface="+mn-ea"/>
              </a:rPr>
            </a:b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적격</a:t>
            </a:r>
            <a:r>
              <a:rPr lang="en-US" altLang="ko-KR" dirty="0" smtClean="0">
                <a:latin typeface="+mn-ea"/>
              </a:rPr>
              <a:t>, </a:t>
            </a:r>
            <a:r>
              <a:rPr lang="ko-KR" altLang="en-US" dirty="0" smtClean="0">
                <a:latin typeface="+mn-ea"/>
              </a:rPr>
              <a:t>부적격 표시</a:t>
            </a:r>
            <a:r>
              <a:rPr lang="en-US" altLang="ko-KR" dirty="0" smtClean="0">
                <a:latin typeface="+mn-ea"/>
              </a:rPr>
              <a:t/>
            </a:r>
            <a:br>
              <a:rPr lang="en-US" altLang="ko-KR" dirty="0" smtClean="0">
                <a:latin typeface="+mn-ea"/>
              </a:rPr>
            </a:b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err="1" smtClean="0">
                <a:latin typeface="+mn-ea"/>
              </a:rPr>
              <a:t>업체등록</a:t>
            </a:r>
            <a:r>
              <a:rPr lang="ko-KR" altLang="en-US" dirty="0" smtClean="0">
                <a:latin typeface="+mn-ea"/>
              </a:rPr>
              <a:t> 안내 팝업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 smtClean="0">
                <a:latin typeface="+mn-ea"/>
              </a:rPr>
              <a:t>우측 표시</a:t>
            </a:r>
            <a:endParaRPr lang="en-US" altLang="ko-KR" dirty="0" smtClean="0">
              <a:latin typeface="+mn-ea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>
                <a:latin typeface="+mn-ea"/>
              </a:rPr>
              <a:t>신청 목록 표시</a:t>
            </a:r>
            <a:r>
              <a:rPr lang="en-US" altLang="ko-KR" dirty="0" smtClean="0">
                <a:latin typeface="+mn-ea"/>
              </a:rPr>
              <a:t/>
            </a:r>
            <a:br>
              <a:rPr lang="en-US" altLang="ko-KR" dirty="0" smtClean="0">
                <a:latin typeface="+mn-ea"/>
              </a:rPr>
            </a:b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클릭 시 </a:t>
            </a:r>
            <a:r>
              <a:rPr lang="ko-KR" altLang="en-US" dirty="0" err="1" smtClean="0">
                <a:latin typeface="+mn-ea"/>
              </a:rPr>
              <a:t>상세화면</a:t>
            </a:r>
            <a:r>
              <a:rPr lang="ko-KR" altLang="en-US" dirty="0" smtClean="0">
                <a:latin typeface="+mn-ea"/>
              </a:rPr>
              <a:t> 이동</a:t>
            </a:r>
            <a:r>
              <a:rPr lang="en-US" altLang="ko-KR" dirty="0" smtClean="0">
                <a:latin typeface="+mn-ea"/>
              </a:rPr>
              <a:t/>
            </a:r>
            <a:br>
              <a:rPr lang="en-US" altLang="ko-KR" dirty="0" smtClean="0">
                <a:latin typeface="+mn-ea"/>
              </a:rPr>
            </a:br>
            <a:r>
              <a:rPr lang="en-US" altLang="ko-KR" dirty="0" smtClean="0">
                <a:latin typeface="+mn-ea"/>
              </a:rPr>
              <a:t>- 10</a:t>
            </a:r>
            <a:r>
              <a:rPr lang="ko-KR" altLang="en-US" dirty="0" smtClean="0">
                <a:latin typeface="+mn-ea"/>
              </a:rPr>
              <a:t>개 미만 시 </a:t>
            </a:r>
            <a:r>
              <a:rPr lang="ko-KR" altLang="en-US" dirty="0" err="1" smtClean="0">
                <a:latin typeface="+mn-ea"/>
              </a:rPr>
              <a:t>더보기</a:t>
            </a:r>
            <a:r>
              <a:rPr lang="ko-KR" altLang="en-US" dirty="0" smtClean="0">
                <a:latin typeface="+mn-ea"/>
              </a:rPr>
              <a:t> 버튼 숨김</a:t>
            </a:r>
            <a:r>
              <a:rPr lang="en-US" altLang="ko-KR" dirty="0" smtClean="0">
                <a:latin typeface="+mn-ea"/>
              </a:rPr>
              <a:t/>
            </a:r>
            <a:br>
              <a:rPr lang="en-US" altLang="ko-KR" dirty="0" smtClean="0">
                <a:latin typeface="+mn-ea"/>
              </a:rPr>
            </a:b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상단 레이블 </a:t>
            </a:r>
            <a:r>
              <a:rPr lang="en-US" altLang="ko-KR" dirty="0" smtClean="0">
                <a:latin typeface="+mn-ea"/>
              </a:rPr>
              <a:t>[</a:t>
            </a:r>
            <a:r>
              <a:rPr lang="ko-KR" altLang="en-US" dirty="0" smtClean="0">
                <a:latin typeface="+mn-ea"/>
              </a:rPr>
              <a:t>구분</a:t>
            </a:r>
            <a:r>
              <a:rPr lang="en-US" altLang="ko-KR" dirty="0" smtClean="0">
                <a:latin typeface="+mn-ea"/>
              </a:rPr>
              <a:t>], [</a:t>
            </a:r>
            <a:r>
              <a:rPr lang="ko-KR" altLang="en-US" dirty="0" smtClean="0">
                <a:latin typeface="+mn-ea"/>
              </a:rPr>
              <a:t>진행상황</a:t>
            </a:r>
            <a:r>
              <a:rPr lang="en-US" altLang="ko-KR" dirty="0" smtClean="0">
                <a:latin typeface="+mn-ea"/>
              </a:rPr>
              <a:t>]</a:t>
            </a:r>
            <a:r>
              <a:rPr lang="ko-KR" altLang="en-US" dirty="0" smtClean="0">
                <a:latin typeface="+mn-ea"/>
              </a:rPr>
              <a:t> 표시</a:t>
            </a:r>
            <a:endParaRPr lang="en-US" altLang="ko-KR" dirty="0" smtClean="0">
              <a:latin typeface="+mn-ea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>
                <a:latin typeface="+mn-ea"/>
              </a:rPr>
              <a:t>더하기 버튼</a:t>
            </a:r>
            <a:r>
              <a:rPr lang="en-US" altLang="ko-KR" dirty="0" smtClean="0">
                <a:latin typeface="+mn-ea"/>
              </a:rPr>
              <a:t/>
            </a:r>
            <a:br>
              <a:rPr lang="en-US" altLang="ko-KR" dirty="0" smtClean="0">
                <a:latin typeface="+mn-ea"/>
              </a:rPr>
            </a:b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err="1" smtClean="0">
                <a:latin typeface="+mn-ea"/>
              </a:rPr>
              <a:t>바텀</a:t>
            </a:r>
            <a:r>
              <a:rPr lang="ko-KR" altLang="en-US" dirty="0" smtClean="0">
                <a:latin typeface="+mn-ea"/>
              </a:rPr>
              <a:t> 버튼 팝업</a:t>
            </a:r>
            <a:r>
              <a:rPr lang="en-US" altLang="ko-KR" dirty="0" smtClean="0">
                <a:latin typeface="+mn-ea"/>
              </a:rPr>
              <a:t/>
            </a:r>
            <a:br>
              <a:rPr lang="en-US" altLang="ko-KR" dirty="0" smtClean="0">
                <a:latin typeface="+mn-ea"/>
              </a:rPr>
            </a:br>
            <a:r>
              <a:rPr lang="en-US" altLang="ko-KR" dirty="0" smtClean="0">
                <a:latin typeface="+mn-ea"/>
              </a:rPr>
              <a:t>  &gt; [</a:t>
            </a:r>
            <a:r>
              <a:rPr lang="ko-KR" altLang="en-US" dirty="0" smtClean="0">
                <a:latin typeface="+mn-ea"/>
              </a:rPr>
              <a:t>신규</a:t>
            </a:r>
            <a:r>
              <a:rPr lang="en-US" altLang="ko-KR" dirty="0" smtClean="0">
                <a:latin typeface="+mn-ea"/>
              </a:rPr>
              <a:t>], [</a:t>
            </a:r>
            <a:r>
              <a:rPr lang="ko-KR" altLang="en-US" dirty="0" smtClean="0">
                <a:latin typeface="+mn-ea"/>
              </a:rPr>
              <a:t>갱신</a:t>
            </a:r>
            <a:r>
              <a:rPr lang="en-US" altLang="ko-KR" dirty="0" smtClean="0">
                <a:latin typeface="+mn-ea"/>
              </a:rPr>
              <a:t>], [</a:t>
            </a:r>
            <a:r>
              <a:rPr lang="ko-KR" altLang="en-US" dirty="0" smtClean="0">
                <a:latin typeface="+mn-ea"/>
              </a:rPr>
              <a:t>변경</a:t>
            </a:r>
            <a:r>
              <a:rPr lang="en-US" altLang="ko-KR" dirty="0" smtClean="0">
                <a:latin typeface="+mn-ea"/>
              </a:rPr>
              <a:t>]</a:t>
            </a:r>
            <a:r>
              <a:rPr lang="ko-KR" altLang="en-US" dirty="0" smtClean="0">
                <a:latin typeface="+mn-ea"/>
              </a:rPr>
              <a:t> 버튼 표시</a:t>
            </a:r>
            <a:r>
              <a:rPr lang="en-US" altLang="ko-KR" dirty="0" smtClean="0">
                <a:latin typeface="+mn-ea"/>
              </a:rPr>
              <a:t/>
            </a:r>
            <a:br>
              <a:rPr lang="en-US" altLang="ko-KR" dirty="0" smtClean="0">
                <a:latin typeface="+mn-ea"/>
              </a:rPr>
            </a:br>
            <a:r>
              <a:rPr lang="en-US" altLang="ko-KR" dirty="0" smtClean="0">
                <a:latin typeface="+mn-ea"/>
              </a:rPr>
              <a:t>  &gt; </a:t>
            </a:r>
            <a:r>
              <a:rPr lang="ko-KR" altLang="en-US" dirty="0" smtClean="0">
                <a:latin typeface="+mn-ea"/>
              </a:rPr>
              <a:t>클릭 시 구분 값 사용 및 신청 페이지 이동</a:t>
            </a:r>
            <a:r>
              <a:rPr lang="en-US" altLang="ko-KR" dirty="0" smtClean="0">
                <a:latin typeface="+mn-ea"/>
              </a:rPr>
              <a:t/>
            </a:r>
            <a:br>
              <a:rPr lang="en-US" altLang="ko-KR" dirty="0" smtClean="0">
                <a:latin typeface="+mn-ea"/>
              </a:rPr>
            </a:br>
            <a:r>
              <a:rPr lang="en-US" altLang="ko-KR" dirty="0" smtClean="0">
                <a:solidFill>
                  <a:srgbClr val="FF0000"/>
                </a:solidFill>
                <a:latin typeface="+mn-ea"/>
              </a:rPr>
              <a:t>  &gt; </a:t>
            </a:r>
            <a:r>
              <a:rPr lang="ko-KR" altLang="en-US" dirty="0">
                <a:solidFill>
                  <a:srgbClr val="FF0000"/>
                </a:solidFill>
                <a:latin typeface="+mn-ea"/>
              </a:rPr>
              <a:t>구분이 실효나 말소일 경우 </a:t>
            </a:r>
            <a:r>
              <a:rPr lang="en-US" altLang="ko-KR" dirty="0" smtClean="0">
                <a:solidFill>
                  <a:srgbClr val="FF0000"/>
                </a:solidFill>
                <a:latin typeface="+mn-ea"/>
              </a:rPr>
              <a:t>– [</a:t>
            </a:r>
            <a:r>
              <a:rPr lang="ko-KR" altLang="en-US" dirty="0" smtClean="0">
                <a:solidFill>
                  <a:srgbClr val="FF0000"/>
                </a:solidFill>
                <a:latin typeface="+mn-ea"/>
              </a:rPr>
              <a:t>변경</a:t>
            </a:r>
            <a:r>
              <a:rPr lang="en-US" altLang="ko-KR" dirty="0" smtClean="0">
                <a:solidFill>
                  <a:srgbClr val="FF0000"/>
                </a:solidFill>
                <a:latin typeface="+mn-ea"/>
              </a:rPr>
              <a:t>]</a:t>
            </a:r>
            <a:r>
              <a:rPr lang="ko-KR" altLang="en-US" dirty="0" smtClean="0">
                <a:solidFill>
                  <a:srgbClr val="FF0000"/>
                </a:solidFill>
                <a:latin typeface="+mn-ea"/>
              </a:rPr>
              <a:t> 버튼 </a:t>
            </a:r>
            <a:r>
              <a:rPr lang="en-US" altLang="ko-KR" dirty="0" smtClean="0">
                <a:solidFill>
                  <a:srgbClr val="FF0000"/>
                </a:solidFill>
                <a:latin typeface="+mn-ea"/>
              </a:rPr>
              <a:t>Dim </a:t>
            </a:r>
            <a:r>
              <a:rPr lang="ko-KR" altLang="en-US" dirty="0" smtClean="0">
                <a:solidFill>
                  <a:srgbClr val="FF0000"/>
                </a:solidFill>
                <a:latin typeface="+mn-ea"/>
              </a:rPr>
              <a:t>처리</a:t>
            </a:r>
            <a:r>
              <a:rPr lang="en-US" altLang="ko-KR" dirty="0" smtClean="0">
                <a:latin typeface="+mn-ea"/>
              </a:rPr>
              <a:t/>
            </a:r>
            <a:br>
              <a:rPr lang="en-US" altLang="ko-KR" dirty="0" smtClean="0">
                <a:latin typeface="+mn-ea"/>
              </a:rPr>
            </a:br>
            <a:r>
              <a:rPr lang="en-US" altLang="ko-KR" dirty="0" smtClean="0">
                <a:latin typeface="+mn-ea"/>
              </a:rPr>
              <a:t>  &gt; </a:t>
            </a:r>
            <a:r>
              <a:rPr lang="ko-KR" altLang="en-US" dirty="0" smtClean="0">
                <a:latin typeface="+mn-ea"/>
              </a:rPr>
              <a:t>발급된 내역이 있는 경우 </a:t>
            </a:r>
            <a:r>
              <a:rPr lang="ko-KR" altLang="en-US" dirty="0" err="1" smtClean="0">
                <a:latin typeface="+mn-ea"/>
              </a:rPr>
              <a:t>최상단에</a:t>
            </a:r>
            <a:r>
              <a:rPr lang="ko-KR" altLang="en-US" dirty="0" smtClean="0">
                <a:latin typeface="+mn-ea"/>
              </a:rPr>
              <a:t> </a:t>
            </a:r>
            <a:r>
              <a:rPr lang="en-US" altLang="ko-KR" dirty="0" smtClean="0">
                <a:latin typeface="+mn-ea"/>
              </a:rPr>
              <a:t>[</a:t>
            </a:r>
            <a:r>
              <a:rPr lang="ko-KR" altLang="en-US" dirty="0">
                <a:latin typeface="+mn-ea"/>
              </a:rPr>
              <a:t>군수품무역대리업 등록증 </a:t>
            </a:r>
            <a:r>
              <a:rPr lang="ko-KR" altLang="en-US" dirty="0" smtClean="0">
                <a:latin typeface="+mn-ea"/>
              </a:rPr>
              <a:t>발급</a:t>
            </a:r>
            <a:r>
              <a:rPr lang="en-US" altLang="ko-KR" dirty="0" smtClean="0">
                <a:latin typeface="+mn-ea"/>
              </a:rPr>
              <a:t>] </a:t>
            </a:r>
            <a:r>
              <a:rPr lang="ko-KR" altLang="en-US" dirty="0" smtClean="0">
                <a:latin typeface="+mn-ea"/>
              </a:rPr>
              <a:t>버튼 노출 </a:t>
            </a:r>
            <a:r>
              <a:rPr lang="en-US" altLang="ko-KR" dirty="0" smtClean="0">
                <a:latin typeface="+mn-ea"/>
                <a:sym typeface="Wingdings" panose="05000000000000000000" pitchFamily="2" charset="2"/>
              </a:rPr>
              <a:t> </a:t>
            </a:r>
            <a:r>
              <a:rPr lang="ko-KR" altLang="en-US" dirty="0" smtClean="0">
                <a:latin typeface="+mn-ea"/>
                <a:sym typeface="Wingdings" panose="05000000000000000000" pitchFamily="2" charset="2"/>
              </a:rPr>
              <a:t>클릭 시 서류 출력 확인</a:t>
            </a:r>
            <a:endParaRPr lang="ko-KR" altLang="en-US" dirty="0">
              <a:latin typeface="+mn-ea"/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군수품무역대리업 신청 및 발급 목록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군수품무역대리업 신청 및 발급 </a:t>
            </a:r>
            <a:r>
              <a:rPr lang="ko-KR" altLang="en-US" dirty="0" smtClean="0"/>
              <a:t>목록 </a:t>
            </a:r>
            <a:r>
              <a:rPr lang="ko-KR" altLang="en-US" dirty="0">
                <a:latin typeface="+mn-ea"/>
              </a:rPr>
              <a:t>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군수품무역대리업 </a:t>
            </a:r>
            <a:r>
              <a:rPr lang="ko-KR" altLang="en-US" dirty="0" smtClean="0"/>
              <a:t>신청 </a:t>
            </a:r>
            <a:r>
              <a:rPr lang="ko-KR" altLang="en-US" dirty="0"/>
              <a:t>목록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MUI-CM-01-M15</a:t>
            </a:r>
            <a:endParaRPr lang="ko-KR" altLang="en-US" dirty="0"/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군수품무역대리업 </a:t>
            </a:r>
            <a:r>
              <a:rPr lang="ko-KR" altLang="en-US" sz="800" dirty="0" smtClean="0"/>
              <a:t>신청 </a:t>
            </a:r>
            <a:r>
              <a:rPr lang="ko-KR" altLang="en-US" sz="800" dirty="0"/>
              <a:t>목록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3" name="그룹 22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24" name="직선 연결선 2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6" name="타원 25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TextBox 26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996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42" name="그룹 41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86194"/>
            <a:ext cx="76863" cy="292489"/>
            <a:chOff x="3750067" y="4683795"/>
            <a:chExt cx="76863" cy="292489"/>
          </a:xfrm>
        </p:grpSpPr>
        <p:sp>
          <p:nvSpPr>
            <p:cNvPr id="43" name="타원 42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44" name="타원 43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45" name="타원 44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9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744635"/>
            <a:ext cx="2446613" cy="314008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97" name="타원 9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1156" y="549735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61813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7" name="그룹 36"/>
          <p:cNvGrpSpPr/>
          <p:nvPr/>
        </p:nvGrpSpPr>
        <p:grpSpPr>
          <a:xfrm>
            <a:off x="781461" y="2752959"/>
            <a:ext cx="2473257" cy="952943"/>
            <a:chOff x="781461" y="2610063"/>
            <a:chExt cx="2473257" cy="952943"/>
          </a:xfrm>
        </p:grpSpPr>
        <p:sp>
          <p:nvSpPr>
            <p:cNvPr id="3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b="1" dirty="0" smtClean="0"/>
                <a:t>접수번호 </a:t>
              </a:r>
              <a:r>
                <a:rPr lang="en-US" altLang="ko-KR" sz="900" b="1" dirty="0" smtClean="0"/>
                <a:t>2026-0020</a:t>
              </a:r>
              <a:endParaRPr lang="ko-KR" altLang="en-US" sz="900" b="1" dirty="0"/>
            </a:p>
          </p:txBody>
        </p:sp>
        <p:sp>
          <p:nvSpPr>
            <p:cNvPr id="3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009008"/>
              <a:ext cx="533800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요청일자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승인일자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실효</a:t>
              </a:r>
              <a:r>
                <a:rPr lang="en-US" altLang="ko-KR" sz="600" dirty="0" smtClean="0">
                  <a:latin typeface="+mn-ea"/>
                </a:rPr>
                <a:t>, </a:t>
              </a:r>
              <a:r>
                <a:rPr lang="ko-KR" altLang="en-US" sz="600" dirty="0" smtClean="0">
                  <a:latin typeface="+mn-ea"/>
                </a:rPr>
                <a:t>말소 일자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만료일자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4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834593" y="2993619"/>
              <a:ext cx="397545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2020-10-10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41" name="모서리가 둥근 직사각형 40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신규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105" name="모서리가 둥근 직사각형 104"/>
            <p:cNvSpPr/>
            <p:nvPr/>
          </p:nvSpPr>
          <p:spPr>
            <a:xfrm>
              <a:off x="1079210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저장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46" name="그룹 45"/>
          <p:cNvGrpSpPr/>
          <p:nvPr/>
        </p:nvGrpSpPr>
        <p:grpSpPr>
          <a:xfrm>
            <a:off x="781461" y="3948771"/>
            <a:ext cx="2473257" cy="949566"/>
            <a:chOff x="781461" y="2610063"/>
            <a:chExt cx="2473257" cy="949566"/>
          </a:xfrm>
        </p:grpSpPr>
        <p:sp>
          <p:nvSpPr>
            <p:cNvPr id="47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접수번호 </a:t>
              </a:r>
              <a:r>
                <a:rPr lang="en-US" altLang="ko-KR" sz="900" b="1" dirty="0" smtClean="0">
                  <a:solidFill>
                    <a:prstClr val="black"/>
                  </a:solidFill>
                </a:rPr>
                <a:t>2026-0019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48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023457"/>
              <a:ext cx="533800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요청일자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승인일자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실효</a:t>
              </a:r>
              <a:r>
                <a:rPr lang="en-US" altLang="ko-KR" sz="600" dirty="0">
                  <a:latin typeface="+mn-ea"/>
                </a:rPr>
                <a:t>, </a:t>
              </a:r>
              <a:r>
                <a:rPr lang="ko-KR" altLang="en-US" sz="600" dirty="0">
                  <a:latin typeface="+mn-ea"/>
                </a:rPr>
                <a:t>말소 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만료일자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49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834953" y="3008068"/>
              <a:ext cx="397545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50" name="모서리가 둥근 직사각형 49"/>
            <p:cNvSpPr/>
            <p:nvPr/>
          </p:nvSpPr>
          <p:spPr>
            <a:xfrm>
              <a:off x="781461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갱신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106" name="모서리가 둥근 직사각형 105"/>
            <p:cNvSpPr/>
            <p:nvPr/>
          </p:nvSpPr>
          <p:spPr>
            <a:xfrm>
              <a:off x="1079210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제출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cxnSp>
        <p:nvCxnSpPr>
          <p:cNvPr id="56" name="직선 연결선 5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826866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01326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7" name="TextBox 10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2371408"/>
            <a:ext cx="121152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업체 </a:t>
            </a:r>
            <a:r>
              <a:rPr lang="ko-KR" altLang="en-US" sz="800" b="1" dirty="0" err="1" smtClean="0">
                <a:latin typeface="+mn-ea"/>
              </a:rPr>
              <a:t>등록현황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10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496405" y="2345219"/>
            <a:ext cx="370495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맑은 고딕"/>
              </a:rPr>
              <a:t>적격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1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508250" y="2345219"/>
            <a:ext cx="721535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 err="1" smtClean="0">
                <a:ln>
                  <a:noFill/>
                </a:ln>
                <a:effectLst/>
                <a:uLnTx/>
                <a:uFillTx/>
                <a:latin typeface="맑은 고딕"/>
              </a:rPr>
              <a:t>업체등록</a:t>
            </a:r>
            <a:r>
              <a:rPr kumimoji="1" lang="ko-KR" altLang="en-US" sz="700" b="0" i="0" u="none" strike="noStrike" kern="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맑은 고딕"/>
              </a:rPr>
              <a:t> 안내 </a:t>
            </a:r>
            <a:r>
              <a:rPr kumimoji="1" lang="en-US" altLang="ko-KR" sz="700" b="0" i="0" u="none" strike="noStrike" kern="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맑은 고딕"/>
              </a:rPr>
              <a:t>&gt;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3396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1925916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도움말</a:t>
            </a:r>
            <a:endParaRPr lang="ko-KR" altLang="en-US" sz="700" dirty="0">
              <a:latin typeface="+mn-ea"/>
            </a:endParaRPr>
          </a:p>
        </p:txBody>
      </p:sp>
      <p:sp>
        <p:nvSpPr>
          <p:cNvPr id="115" name="타원 114"/>
          <p:cNvSpPr/>
          <p:nvPr/>
        </p:nvSpPr>
        <p:spPr>
          <a:xfrm>
            <a:off x="783686" y="195726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16" name="그룹 115"/>
          <p:cNvGrpSpPr/>
          <p:nvPr/>
        </p:nvGrpSpPr>
        <p:grpSpPr>
          <a:xfrm>
            <a:off x="3143548" y="2039247"/>
            <a:ext cx="94010" cy="47005"/>
            <a:chOff x="6812560" y="3297172"/>
            <a:chExt cx="94010" cy="47005"/>
          </a:xfrm>
        </p:grpSpPr>
        <p:cxnSp>
          <p:nvCxnSpPr>
            <p:cNvPr id="117" name="직선 연결선 11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8" name="직선 연결선 11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직사각형 5"/>
          <p:cNvSpPr/>
          <p:nvPr/>
        </p:nvSpPr>
        <p:spPr>
          <a:xfrm>
            <a:off x="3898850" y="1926097"/>
            <a:ext cx="2479833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ko-KR" altLang="en-US" sz="800" b="1" dirty="0" smtClean="0"/>
              <a:t>구분 정보</a:t>
            </a:r>
            <a:endParaRPr lang="en-US" altLang="ko-KR" sz="800" b="1" dirty="0" smtClean="0"/>
          </a:p>
          <a:p>
            <a:pPr marL="171450" indent="-171450">
              <a:buFontTx/>
              <a:buChar char="-"/>
            </a:pPr>
            <a:r>
              <a:rPr lang="ko-KR" altLang="en-US" sz="800" dirty="0" smtClean="0"/>
              <a:t>말소 </a:t>
            </a:r>
            <a:r>
              <a:rPr lang="en-US" altLang="ko-KR" sz="800" dirty="0"/>
              <a:t>:  </a:t>
            </a:r>
            <a:r>
              <a:rPr lang="ko-KR" altLang="en-US" sz="800" dirty="0"/>
              <a:t>관리자의 직권으로 군수품무역대리업 관련 업무를 할 수 없음</a:t>
            </a:r>
            <a:r>
              <a:rPr lang="en-US" altLang="ko-KR" sz="800" dirty="0" smtClean="0"/>
              <a:t>.</a:t>
            </a:r>
          </a:p>
          <a:p>
            <a:pPr marL="171450" indent="-171450">
              <a:buFontTx/>
              <a:buChar char="-"/>
            </a:pPr>
            <a:r>
              <a:rPr lang="ko-KR" altLang="en-US" sz="800" dirty="0" smtClean="0"/>
              <a:t>실효 </a:t>
            </a:r>
            <a:r>
              <a:rPr lang="en-US" altLang="ko-KR" sz="800" dirty="0"/>
              <a:t>: </a:t>
            </a:r>
            <a:r>
              <a:rPr lang="ko-KR" altLang="en-US" sz="800" dirty="0" err="1"/>
              <a:t>갱신기간이</a:t>
            </a:r>
            <a:r>
              <a:rPr lang="ko-KR" altLang="en-US" sz="800" dirty="0"/>
              <a:t> 지나 군수품무역대리업 관련 업무를 할 수 없음</a:t>
            </a:r>
            <a:r>
              <a:rPr lang="en-US" altLang="ko-KR" sz="800" dirty="0"/>
              <a:t>.</a:t>
            </a:r>
            <a:r>
              <a:rPr lang="ko-KR" altLang="en-US" sz="800" dirty="0"/>
              <a:t> </a:t>
            </a:r>
          </a:p>
        </p:txBody>
      </p: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447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0563" y="18815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2" name="TextBox 1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34978" y="1573452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도움말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3" name="타원 122"/>
          <p:cNvSpPr/>
          <p:nvPr/>
        </p:nvSpPr>
        <p:spPr>
          <a:xfrm>
            <a:off x="3898850" y="160479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4" name="그룹 123"/>
          <p:cNvGrpSpPr/>
          <p:nvPr/>
        </p:nvGrpSpPr>
        <p:grpSpPr>
          <a:xfrm flipV="1">
            <a:off x="6258712" y="1686783"/>
            <a:ext cx="94010" cy="47005"/>
            <a:chOff x="6812560" y="3297172"/>
            <a:chExt cx="94010" cy="47005"/>
          </a:xfrm>
        </p:grpSpPr>
        <p:cxnSp>
          <p:nvCxnSpPr>
            <p:cNvPr id="125" name="직선 연결선 12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6" name="직선 연결선 12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0563" y="264184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양쪽 모서리가 둥근 사각형 127"/>
          <p:cNvSpPr/>
          <p:nvPr/>
        </p:nvSpPr>
        <p:spPr>
          <a:xfrm>
            <a:off x="3795734" y="2747653"/>
            <a:ext cx="2712027" cy="3484645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29" name="모서리가 둥근 직사각형 128"/>
          <p:cNvSpPr/>
          <p:nvPr/>
        </p:nvSpPr>
        <p:spPr>
          <a:xfrm>
            <a:off x="4881747" y="277805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30" name="그룹 129"/>
          <p:cNvGrpSpPr/>
          <p:nvPr/>
        </p:nvGrpSpPr>
        <p:grpSpPr>
          <a:xfrm>
            <a:off x="6284673" y="2912467"/>
            <a:ext cx="94010" cy="94010"/>
            <a:chOff x="6812560" y="3297172"/>
            <a:chExt cx="94010" cy="94010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3" name="TextBox 1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289314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 smtClean="0">
                <a:latin typeface="+mn-ea"/>
              </a:rPr>
              <a:t>업체등록</a:t>
            </a:r>
            <a:r>
              <a:rPr lang="ko-KR" altLang="en-US" sz="900" dirty="0" smtClean="0">
                <a:latin typeface="+mn-ea"/>
              </a:rPr>
              <a:t> 안내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134" name="직선 연결선 13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1545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44" name="직사각형 143"/>
          <p:cNvSpPr/>
          <p:nvPr/>
        </p:nvSpPr>
        <p:spPr>
          <a:xfrm>
            <a:off x="3924812" y="3313018"/>
            <a:ext cx="2453872" cy="50167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800" dirty="0">
                <a:latin typeface="Consolas" panose="020B0609020204030204" pitchFamily="49" charset="0"/>
              </a:rPr>
              <a:t>* </a:t>
            </a:r>
            <a:r>
              <a:rPr lang="ko-KR" altLang="en-US" sz="800" dirty="0">
                <a:latin typeface="Consolas" panose="020B0609020204030204" pitchFamily="49" charset="0"/>
              </a:rPr>
              <a:t>최초 등록하시는 경우 아래 등록신청서 및 첨부서류를 구비하여 신청하시기 바랍니다</a:t>
            </a:r>
            <a:r>
              <a:rPr lang="en-US" altLang="ko-KR" sz="800" dirty="0">
                <a:latin typeface="Consolas" panose="020B0609020204030204" pitchFamily="49" charset="0"/>
              </a:rPr>
              <a:t>. </a:t>
            </a:r>
            <a:r>
              <a:rPr lang="ko-KR" altLang="en-US" sz="800" dirty="0">
                <a:latin typeface="Consolas" panose="020B0609020204030204" pitchFamily="49" charset="0"/>
              </a:rPr>
              <a:t>등록신청서 및 </a:t>
            </a:r>
            <a:r>
              <a:rPr lang="ko-KR" altLang="en-US" sz="800" dirty="0" err="1">
                <a:latin typeface="Consolas" panose="020B0609020204030204" pitchFamily="49" charset="0"/>
              </a:rPr>
              <a:t>청렴서약서</a:t>
            </a:r>
            <a:r>
              <a:rPr lang="ko-KR" altLang="en-US" sz="800" dirty="0">
                <a:latin typeface="Consolas" panose="020B0609020204030204" pitchFamily="49" charset="0"/>
              </a:rPr>
              <a:t> 서식은 국가법령정보센터</a:t>
            </a:r>
            <a:r>
              <a:rPr lang="en-US" altLang="ko-KR" sz="800" dirty="0">
                <a:latin typeface="Consolas" panose="020B0609020204030204" pitchFamily="49" charset="0"/>
              </a:rPr>
              <a:t>(www.law.go.kr)</a:t>
            </a:r>
            <a:r>
              <a:rPr lang="ko-KR" altLang="en-US" sz="800" dirty="0">
                <a:latin typeface="Consolas" panose="020B0609020204030204" pitchFamily="49" charset="0"/>
              </a:rPr>
              <a:t>에서 방위사업법 시행규칙을 검색하시어 별기 </a:t>
            </a:r>
            <a:r>
              <a:rPr lang="en-US" altLang="ko-KR" sz="800" dirty="0">
                <a:latin typeface="Consolas" panose="020B0609020204030204" pitchFamily="49" charset="0"/>
              </a:rPr>
              <a:t>3, </a:t>
            </a:r>
            <a:r>
              <a:rPr lang="ko-KR" altLang="en-US" sz="800" dirty="0">
                <a:latin typeface="Consolas" panose="020B0609020204030204" pitchFamily="49" charset="0"/>
              </a:rPr>
              <a:t>별지 </a:t>
            </a:r>
            <a:r>
              <a:rPr lang="en-US" altLang="ko-KR" sz="800" dirty="0">
                <a:latin typeface="Consolas" panose="020B0609020204030204" pitchFamily="49" charset="0"/>
              </a:rPr>
              <a:t>23 </a:t>
            </a:r>
            <a:r>
              <a:rPr lang="ko-KR" altLang="en-US" sz="800" dirty="0">
                <a:latin typeface="Consolas" panose="020B0609020204030204" pitchFamily="49" charset="0"/>
              </a:rPr>
              <a:t>서식을 사용하시면 됩니다</a:t>
            </a:r>
            <a:r>
              <a:rPr lang="en-US" altLang="ko-KR" sz="800" dirty="0">
                <a:latin typeface="Consolas" panose="020B0609020204030204" pitchFamily="49" charset="0"/>
              </a:rPr>
              <a:t>. </a:t>
            </a:r>
          </a:p>
          <a:p>
            <a:r>
              <a:rPr lang="en-US" altLang="ko-KR" sz="800" dirty="0">
                <a:latin typeface="Consolas" panose="020B0609020204030204" pitchFamily="49" charset="0"/>
              </a:rPr>
              <a:t>* </a:t>
            </a:r>
            <a:r>
              <a:rPr lang="ko-KR" altLang="en-US" sz="800" dirty="0">
                <a:latin typeface="Consolas" panose="020B0609020204030204" pitchFamily="49" charset="0"/>
              </a:rPr>
              <a:t>변경 등록 시에는 등록 신청서 상에 변경되는 내용을 적으시고 증명되는 서류를 첨부하시면 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  <a:p>
            <a:r>
              <a:rPr lang="en-US" altLang="ko-KR" sz="800" dirty="0">
                <a:latin typeface="Consolas" panose="020B0609020204030204" pitchFamily="49" charset="0"/>
              </a:rPr>
              <a:t>* </a:t>
            </a:r>
            <a:r>
              <a:rPr lang="ko-KR" altLang="en-US" sz="800" dirty="0">
                <a:latin typeface="Consolas" panose="020B0609020204030204" pitchFamily="49" charset="0"/>
              </a:rPr>
              <a:t>최초 등록 후 </a:t>
            </a:r>
            <a:r>
              <a:rPr lang="en-US" altLang="ko-KR" sz="800" dirty="0">
                <a:latin typeface="Consolas" panose="020B0609020204030204" pitchFamily="49" charset="0"/>
              </a:rPr>
              <a:t>3</a:t>
            </a:r>
            <a:r>
              <a:rPr lang="ko-KR" altLang="en-US" sz="800" dirty="0">
                <a:latin typeface="Consolas" panose="020B0609020204030204" pitchFamily="49" charset="0"/>
              </a:rPr>
              <a:t>년 유효기간이 만료 후에도 군수품무역대리업을 계속 수행하고 싶으시면 유효기간 만료 </a:t>
            </a:r>
            <a:r>
              <a:rPr lang="en-US" altLang="ko-KR" sz="800" dirty="0">
                <a:latin typeface="Consolas" panose="020B0609020204030204" pitchFamily="49" charset="0"/>
              </a:rPr>
              <a:t>1</a:t>
            </a:r>
            <a:r>
              <a:rPr lang="ko-KR" altLang="en-US" sz="800" dirty="0">
                <a:latin typeface="Consolas" panose="020B0609020204030204" pitchFamily="49" charset="0"/>
              </a:rPr>
              <a:t>개월 전부터 국방전자조달 시스템</a:t>
            </a:r>
            <a:r>
              <a:rPr lang="en-US" altLang="ko-KR" sz="800" dirty="0">
                <a:latin typeface="Consolas" panose="020B0609020204030204" pitchFamily="49" charset="0"/>
              </a:rPr>
              <a:t>(www.d2b.go.kr)</a:t>
            </a:r>
            <a:r>
              <a:rPr lang="ko-KR" altLang="en-US" sz="800" dirty="0">
                <a:latin typeface="Consolas" panose="020B0609020204030204" pitchFamily="49" charset="0"/>
              </a:rPr>
              <a:t>에 로그인후 </a:t>
            </a:r>
            <a:r>
              <a:rPr lang="en-US" altLang="ko-KR" sz="800" dirty="0">
                <a:latin typeface="Consolas" panose="020B0609020204030204" pitchFamily="49" charset="0"/>
              </a:rPr>
              <a:t>'</a:t>
            </a:r>
            <a:r>
              <a:rPr lang="ko-KR" altLang="en-US" sz="800" dirty="0" err="1">
                <a:latin typeface="Consolas" panose="020B0609020204030204" pitchFamily="49" charset="0"/>
              </a:rPr>
              <a:t>마이페이지</a:t>
            </a:r>
            <a:r>
              <a:rPr lang="en-US" altLang="ko-KR" sz="800" dirty="0">
                <a:latin typeface="Consolas" panose="020B0609020204030204" pitchFamily="49" charset="0"/>
              </a:rPr>
              <a:t>'</a:t>
            </a:r>
            <a:r>
              <a:rPr lang="ko-KR" altLang="en-US" sz="800" dirty="0">
                <a:latin typeface="Consolas" panose="020B0609020204030204" pitchFamily="49" charset="0"/>
              </a:rPr>
              <a:t>에서 아래와 같이 관련 서류를 첨부 후 신청하시기 바랍니다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  <a:r>
              <a:rPr lang="ko-KR" altLang="en-US" sz="800" dirty="0">
                <a:latin typeface="Consolas" panose="020B0609020204030204" pitchFamily="49" charset="0"/>
              </a:rPr>
              <a:t> 등록 유효기간이 완료된 이후에는 신규로 다시 신청하시면 됩니다</a:t>
            </a:r>
            <a:r>
              <a:rPr lang="en-US" altLang="ko-KR" sz="800" dirty="0">
                <a:latin typeface="Consolas" panose="020B0609020204030204" pitchFamily="49" charset="0"/>
              </a:rPr>
              <a:t>. </a:t>
            </a:r>
          </a:p>
          <a:p>
            <a:r>
              <a:rPr lang="en-US" altLang="ko-KR" sz="800" b="1" dirty="0">
                <a:latin typeface="Consolas" panose="020B0609020204030204" pitchFamily="49" charset="0"/>
              </a:rPr>
              <a:t> [ </a:t>
            </a:r>
            <a:r>
              <a:rPr lang="ko-KR" altLang="en-US" sz="800" b="1" dirty="0">
                <a:latin typeface="Consolas" panose="020B0609020204030204" pitchFamily="49" charset="0"/>
              </a:rPr>
              <a:t>등록 신청서 및 첨부서류 </a:t>
            </a:r>
            <a:r>
              <a:rPr lang="en-US" altLang="ko-KR" sz="800" b="1" dirty="0">
                <a:latin typeface="Consolas" panose="020B0609020204030204" pitchFamily="49" charset="0"/>
              </a:rPr>
              <a:t>] </a:t>
            </a:r>
          </a:p>
          <a:p>
            <a:r>
              <a:rPr lang="en-US" altLang="ko-KR" sz="800" dirty="0">
                <a:latin typeface="맑은 고딕" panose="020B0503020000020004" pitchFamily="50" charset="-127"/>
              </a:rPr>
              <a:t>☞ </a:t>
            </a:r>
            <a:r>
              <a:rPr lang="ko-KR" altLang="en-US" sz="800" dirty="0" err="1">
                <a:solidFill>
                  <a:srgbClr val="0070C0"/>
                </a:solidFill>
                <a:latin typeface="Consolas" panose="020B0609020204030204" pitchFamily="49" charset="0"/>
              </a:rPr>
              <a:t>필요서류</a:t>
            </a:r>
            <a:r>
              <a:rPr lang="ko-KR" altLang="en-US" sz="800" dirty="0">
                <a:solidFill>
                  <a:srgbClr val="0070C0"/>
                </a:solidFill>
                <a:latin typeface="Consolas" panose="020B0609020204030204" pitchFamily="49" charset="0"/>
              </a:rPr>
              <a:t> 안내 </a:t>
            </a:r>
            <a:r>
              <a:rPr lang="en-US" altLang="ko-KR" sz="800" dirty="0">
                <a:solidFill>
                  <a:srgbClr val="0070C0"/>
                </a:solidFill>
                <a:latin typeface="Consolas" panose="020B0609020204030204" pitchFamily="49" charset="0"/>
              </a:rPr>
              <a:t>: </a:t>
            </a:r>
            <a:r>
              <a:rPr lang="ko-KR" altLang="en-US" sz="800" dirty="0">
                <a:solidFill>
                  <a:srgbClr val="0070C0"/>
                </a:solidFill>
                <a:latin typeface="Consolas" panose="020B0609020204030204" pitchFamily="49" charset="0"/>
              </a:rPr>
              <a:t>통합검색</a:t>
            </a:r>
            <a:r>
              <a:rPr lang="en-US" altLang="ko-KR" sz="800" dirty="0">
                <a:solidFill>
                  <a:srgbClr val="0070C0"/>
                </a:solidFill>
                <a:latin typeface="Consolas" panose="020B0609020204030204" pitchFamily="49" charset="0"/>
              </a:rPr>
              <a:t>&gt;</a:t>
            </a:r>
            <a:r>
              <a:rPr lang="ko-KR" altLang="en-US" sz="800" dirty="0">
                <a:solidFill>
                  <a:srgbClr val="996600"/>
                </a:solidFill>
                <a:latin typeface="Consolas" panose="020B0609020204030204" pitchFamily="49" charset="0"/>
              </a:rPr>
              <a:t>군수품무역대리업 신청서 </a:t>
            </a:r>
            <a:endParaRPr lang="en-US" altLang="ko-KR" sz="800" dirty="0">
              <a:solidFill>
                <a:srgbClr val="0070C0"/>
              </a:solidFill>
              <a:latin typeface="Consolas" panose="020B0609020204030204" pitchFamily="49" charset="0"/>
            </a:endParaRPr>
          </a:p>
          <a:p>
            <a:r>
              <a:rPr lang="ko-KR" altLang="en-US" sz="800" dirty="0">
                <a:latin typeface="Consolas" panose="020B0609020204030204" pitchFamily="49" charset="0"/>
              </a:rPr>
              <a:t>① 등록신청서</a:t>
            </a:r>
            <a:r>
              <a:rPr lang="en-US" altLang="ko-KR" sz="800" dirty="0">
                <a:latin typeface="Consolas" panose="020B0609020204030204" pitchFamily="49" charset="0"/>
              </a:rPr>
              <a:t>(</a:t>
            </a:r>
            <a:r>
              <a:rPr lang="ko-KR" altLang="en-US" sz="800" dirty="0">
                <a:latin typeface="Consolas" panose="020B0609020204030204" pitchFamily="49" charset="0"/>
              </a:rPr>
              <a:t>방위사업법 시행규칙 별지 제 </a:t>
            </a:r>
            <a:r>
              <a:rPr lang="en-US" altLang="ko-KR" sz="800" dirty="0">
                <a:latin typeface="Consolas" panose="020B0609020204030204" pitchFamily="49" charset="0"/>
              </a:rPr>
              <a:t>23</a:t>
            </a:r>
            <a:r>
              <a:rPr lang="ko-KR" altLang="en-US" sz="800" dirty="0">
                <a:latin typeface="Consolas" panose="020B0609020204030204" pitchFamily="49" charset="0"/>
              </a:rPr>
              <a:t>호 서식</a:t>
            </a:r>
            <a:r>
              <a:rPr lang="en-US" altLang="ko-KR" sz="800" dirty="0">
                <a:latin typeface="Consolas" panose="020B0609020204030204" pitchFamily="49" charset="0"/>
              </a:rPr>
              <a:t>)</a:t>
            </a:r>
          </a:p>
          <a:p>
            <a:r>
              <a:rPr lang="ko-KR" altLang="en-US" sz="800" dirty="0">
                <a:latin typeface="Consolas" panose="020B0609020204030204" pitchFamily="49" charset="0"/>
              </a:rPr>
              <a:t>② 대표자 및 임원의 이력서</a:t>
            </a:r>
            <a:endParaRPr lang="en-US" altLang="ko-KR" sz="800" dirty="0">
              <a:latin typeface="Consolas" panose="020B0609020204030204" pitchFamily="49" charset="0"/>
            </a:endParaRPr>
          </a:p>
          <a:p>
            <a:r>
              <a:rPr lang="en-US" altLang="ko-KR" sz="800" dirty="0">
                <a:latin typeface="Consolas" panose="020B0609020204030204" pitchFamily="49" charset="0"/>
              </a:rPr>
              <a:t>  ※ </a:t>
            </a:r>
            <a:r>
              <a:rPr lang="ko-KR" altLang="en-US" sz="800" dirty="0">
                <a:latin typeface="Consolas" panose="020B0609020204030204" pitchFamily="49" charset="0"/>
              </a:rPr>
              <a:t>임원은 상법 등 관련 법률에 따라 이사 및 감사이며</a:t>
            </a:r>
            <a:r>
              <a:rPr lang="en-US" altLang="ko-KR" sz="800" dirty="0">
                <a:latin typeface="Consolas" panose="020B0609020204030204" pitchFamily="49" charset="0"/>
              </a:rPr>
              <a:t>, </a:t>
            </a:r>
            <a:r>
              <a:rPr lang="ko-KR" altLang="en-US" sz="800" dirty="0">
                <a:latin typeface="Consolas" panose="020B0609020204030204" pitchFamily="49" charset="0"/>
              </a:rPr>
              <a:t>해당 인원은 법인등기부 등본 </a:t>
            </a:r>
            <a:r>
              <a:rPr lang="en-US" altLang="ko-KR" sz="800" dirty="0">
                <a:latin typeface="Consolas" panose="020B0609020204030204" pitchFamily="49" charset="0"/>
              </a:rPr>
              <a:t>'</a:t>
            </a:r>
            <a:r>
              <a:rPr lang="ko-KR" altLang="en-US" sz="800" dirty="0">
                <a:latin typeface="Consolas" panose="020B0609020204030204" pitchFamily="49" charset="0"/>
              </a:rPr>
              <a:t>임원에 관련된 사항</a:t>
            </a:r>
            <a:r>
              <a:rPr lang="en-US" altLang="ko-KR" sz="800" dirty="0">
                <a:latin typeface="Consolas" panose="020B0609020204030204" pitchFamily="49" charset="0"/>
              </a:rPr>
              <a:t>'</a:t>
            </a:r>
            <a:r>
              <a:rPr lang="ko-KR" altLang="en-US" sz="800" dirty="0">
                <a:latin typeface="Consolas" panose="020B0609020204030204" pitchFamily="49" charset="0"/>
              </a:rPr>
              <a:t>에 기재된    </a:t>
            </a:r>
            <a:endParaRPr lang="en-US" altLang="ko-KR" sz="800" dirty="0">
              <a:latin typeface="Consolas" panose="020B0609020204030204" pitchFamily="49" charset="0"/>
            </a:endParaRPr>
          </a:p>
          <a:p>
            <a:r>
              <a:rPr lang="en-US" altLang="ko-KR" sz="800" dirty="0">
                <a:latin typeface="Consolas" panose="020B0609020204030204" pitchFamily="49" charset="0"/>
              </a:rPr>
              <a:t>   </a:t>
            </a:r>
            <a:r>
              <a:rPr lang="ko-KR" altLang="en-US" sz="800" dirty="0">
                <a:latin typeface="Consolas" panose="020B0609020204030204" pitchFamily="49" charset="0"/>
              </a:rPr>
              <a:t>모든 인원을 포함합니다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  <a:r>
              <a:rPr lang="ko-KR" altLang="en-US" sz="800" dirty="0">
                <a:latin typeface="Consolas" panose="020B0609020204030204" pitchFamily="49" charset="0"/>
              </a:rPr>
              <a:t> </a:t>
            </a:r>
            <a:endParaRPr lang="en-US" altLang="ko-KR" sz="800" dirty="0">
              <a:latin typeface="Consolas" panose="020B0609020204030204" pitchFamily="49" charset="0"/>
            </a:endParaRPr>
          </a:p>
          <a:p>
            <a:r>
              <a:rPr lang="en-US" altLang="ko-KR" sz="800" dirty="0">
                <a:latin typeface="Consolas" panose="020B0609020204030204" pitchFamily="49" charset="0"/>
              </a:rPr>
              <a:t>    </a:t>
            </a:r>
            <a:r>
              <a:rPr lang="ko-KR" altLang="en-US" sz="800" dirty="0">
                <a:latin typeface="Consolas" panose="020B0609020204030204" pitchFamily="49" charset="0"/>
              </a:rPr>
              <a:t>그러므로 법인등기부 상 임원은 모두 이력서 및 청렴서약서를 제출하셔야 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  <a:p>
            <a:r>
              <a:rPr lang="ko-KR" altLang="en-US" sz="800" dirty="0">
                <a:latin typeface="Consolas" panose="020B0609020204030204" pitchFamily="49" charset="0"/>
              </a:rPr>
              <a:t>③ 전체 직원 수 및 방위사업 관련 직원 수</a:t>
            </a:r>
            <a:r>
              <a:rPr lang="en-US" altLang="ko-KR" sz="800" dirty="0">
                <a:latin typeface="Consolas" panose="020B0609020204030204" pitchFamily="49" charset="0"/>
              </a:rPr>
              <a:t>, </a:t>
            </a:r>
            <a:r>
              <a:rPr lang="ko-KR" altLang="en-US" sz="800" dirty="0">
                <a:latin typeface="Consolas" panose="020B0609020204030204" pitchFamily="49" charset="0"/>
              </a:rPr>
              <a:t>성명 등 </a:t>
            </a:r>
            <a:r>
              <a:rPr lang="ko-KR" altLang="en-US" sz="800" dirty="0" err="1">
                <a:latin typeface="Consolas" panose="020B0609020204030204" pitchFamily="49" charset="0"/>
              </a:rPr>
              <a:t>고용현황</a:t>
            </a:r>
            <a:endParaRPr lang="en-US" altLang="ko-KR" sz="800" b="1" dirty="0">
              <a:latin typeface="Consolas" panose="020B0609020204030204" pitchFamily="49" charset="0"/>
            </a:endParaRPr>
          </a:p>
          <a:p>
            <a:r>
              <a:rPr lang="ko-KR" altLang="en-US" sz="800" dirty="0">
                <a:latin typeface="Consolas" panose="020B0609020204030204" pitchFamily="49" charset="0"/>
              </a:rPr>
              <a:t>④ </a:t>
            </a:r>
            <a:r>
              <a:rPr lang="ko-KR" altLang="en-US" sz="800" dirty="0" err="1">
                <a:latin typeface="Consolas" panose="020B0609020204030204" pitchFamily="49" charset="0"/>
              </a:rPr>
              <a:t>청렴서약서</a:t>
            </a:r>
            <a:r>
              <a:rPr lang="en-US" altLang="ko-KR" sz="800" dirty="0">
                <a:latin typeface="Consolas" panose="020B0609020204030204" pitchFamily="49" charset="0"/>
              </a:rPr>
              <a:t>(</a:t>
            </a:r>
            <a:r>
              <a:rPr lang="ko-KR" altLang="en-US" sz="800" dirty="0">
                <a:latin typeface="Consolas" panose="020B0609020204030204" pitchFamily="49" charset="0"/>
              </a:rPr>
              <a:t>방위사업법 시행규칙 별지 제 </a:t>
            </a:r>
            <a:r>
              <a:rPr lang="en-US" altLang="ko-KR" sz="800" dirty="0">
                <a:latin typeface="Consolas" panose="020B0609020204030204" pitchFamily="49" charset="0"/>
              </a:rPr>
              <a:t>2</a:t>
            </a:r>
            <a:r>
              <a:rPr lang="ko-KR" altLang="en-US" sz="800" dirty="0">
                <a:latin typeface="Consolas" panose="020B0609020204030204" pitchFamily="49" charset="0"/>
              </a:rPr>
              <a:t>호 서식</a:t>
            </a:r>
            <a:r>
              <a:rPr lang="en-US" altLang="ko-KR" sz="800" dirty="0">
                <a:latin typeface="Consolas" panose="020B0609020204030204" pitchFamily="49" charset="0"/>
              </a:rPr>
              <a:t>)</a:t>
            </a:r>
          </a:p>
          <a:p>
            <a:r>
              <a:rPr lang="en-US" altLang="ko-KR" sz="800" dirty="0">
                <a:latin typeface="Consolas" panose="020B0609020204030204" pitchFamily="49" charset="0"/>
              </a:rPr>
              <a:t>  ※ </a:t>
            </a:r>
            <a:r>
              <a:rPr lang="ko-KR" altLang="en-US" sz="800" dirty="0">
                <a:latin typeface="Consolas" panose="020B0609020204030204" pitchFamily="49" charset="0"/>
              </a:rPr>
              <a:t>청렴서약서는 방위사업법 제 </a:t>
            </a:r>
            <a:r>
              <a:rPr lang="en-US" altLang="ko-KR" sz="800" dirty="0">
                <a:latin typeface="Consolas" panose="020B0609020204030204" pitchFamily="49" charset="0"/>
              </a:rPr>
              <a:t>6</a:t>
            </a:r>
            <a:r>
              <a:rPr lang="ko-KR" altLang="en-US" sz="800" dirty="0">
                <a:latin typeface="Consolas" panose="020B0609020204030204" pitchFamily="49" charset="0"/>
              </a:rPr>
              <a:t>조에 따라 대표 및 임원이 함께 제출하여야 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  <a:p>
            <a:r>
              <a:rPr lang="en-US" altLang="ko-KR" sz="800" dirty="0">
                <a:latin typeface="Consolas" panose="020B0609020204030204" pitchFamily="49" charset="0"/>
              </a:rPr>
              <a:t>※ </a:t>
            </a:r>
            <a:r>
              <a:rPr lang="ko-KR" altLang="en-US" sz="800" dirty="0">
                <a:latin typeface="Consolas" panose="020B0609020204030204" pitchFamily="49" charset="0"/>
              </a:rPr>
              <a:t>이력서와 </a:t>
            </a:r>
            <a:r>
              <a:rPr lang="ko-KR" altLang="en-US" sz="800" dirty="0" err="1">
                <a:latin typeface="Consolas" panose="020B0609020204030204" pitchFamily="49" charset="0"/>
              </a:rPr>
              <a:t>고용현황은</a:t>
            </a:r>
            <a:r>
              <a:rPr lang="ko-KR" altLang="en-US" sz="800" dirty="0">
                <a:latin typeface="Consolas" panose="020B0609020204030204" pitchFamily="49" charset="0"/>
              </a:rPr>
              <a:t> 별도 서식이 없습니다</a:t>
            </a:r>
            <a:r>
              <a:rPr lang="en-US" altLang="ko-KR" sz="800" dirty="0">
                <a:latin typeface="Consolas" panose="020B0609020204030204" pitchFamily="49" charset="0"/>
              </a:rPr>
              <a:t>. </a:t>
            </a:r>
            <a:r>
              <a:rPr lang="ko-KR" altLang="en-US" sz="800" dirty="0">
                <a:latin typeface="Consolas" panose="020B0609020204030204" pitchFamily="49" charset="0"/>
              </a:rPr>
              <a:t>일반적으로 이력서는 귀사에서 사용하시는 양식을 사용하시고 </a:t>
            </a:r>
            <a:r>
              <a:rPr lang="ko-KR" altLang="en-US" sz="800" dirty="0" err="1">
                <a:latin typeface="Consolas" panose="020B0609020204030204" pitchFamily="49" charset="0"/>
              </a:rPr>
              <a:t>고용현황은</a:t>
            </a:r>
            <a:r>
              <a:rPr lang="ko-KR" altLang="en-US" sz="800" dirty="0">
                <a:latin typeface="Consolas" panose="020B0609020204030204" pitchFamily="49" charset="0"/>
              </a:rPr>
              <a:t> </a:t>
            </a:r>
            <a:r>
              <a:rPr lang="en-US" altLang="ko-KR" sz="800" dirty="0">
                <a:latin typeface="Consolas" panose="020B0609020204030204" pitchFamily="49" charset="0"/>
              </a:rPr>
              <a:t>4</a:t>
            </a:r>
            <a:r>
              <a:rPr lang="ko-KR" altLang="en-US" sz="800" dirty="0" err="1">
                <a:latin typeface="Consolas" panose="020B0609020204030204" pitchFamily="49" charset="0"/>
              </a:rPr>
              <a:t>대보험</a:t>
            </a:r>
            <a:r>
              <a:rPr lang="ko-KR" altLang="en-US" sz="800" dirty="0">
                <a:latin typeface="Consolas" panose="020B0609020204030204" pitchFamily="49" charset="0"/>
              </a:rPr>
              <a:t> </a:t>
            </a:r>
            <a:r>
              <a:rPr lang="ko-KR" altLang="en-US" sz="800" dirty="0" err="1">
                <a:latin typeface="Consolas" panose="020B0609020204030204" pitchFamily="49" charset="0"/>
              </a:rPr>
              <a:t>가입현황을</a:t>
            </a:r>
            <a:r>
              <a:rPr lang="ko-KR" altLang="en-US" sz="800" dirty="0">
                <a:latin typeface="Consolas" panose="020B0609020204030204" pitchFamily="49" charset="0"/>
              </a:rPr>
              <a:t> 활용하시면서 방위사업 </a:t>
            </a:r>
            <a:r>
              <a:rPr lang="ko-KR" altLang="en-US" sz="800" dirty="0" err="1">
                <a:latin typeface="Consolas" panose="020B0609020204030204" pitchFamily="49" charset="0"/>
              </a:rPr>
              <a:t>참여직원만</a:t>
            </a:r>
            <a:r>
              <a:rPr lang="ko-KR" altLang="en-US" sz="800" dirty="0">
                <a:latin typeface="Consolas" panose="020B0609020204030204" pitchFamily="49" charset="0"/>
              </a:rPr>
              <a:t> 표시하시면 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  <a:endParaRPr lang="ko-KR" altLang="en-US" sz="800" dirty="0">
              <a:latin typeface="맑은 고딕" panose="020B0503020000020004" pitchFamily="50" charset="-127"/>
            </a:endParaRPr>
          </a:p>
        </p:txBody>
      </p:sp>
      <p:grpSp>
        <p:nvGrpSpPr>
          <p:cNvPr id="145" name="그룹 144"/>
          <p:cNvGrpSpPr/>
          <p:nvPr/>
        </p:nvGrpSpPr>
        <p:grpSpPr>
          <a:xfrm>
            <a:off x="3795734" y="5613954"/>
            <a:ext cx="2712027" cy="617588"/>
            <a:chOff x="675399" y="5614711"/>
            <a:chExt cx="2712027" cy="617588"/>
          </a:xfrm>
        </p:grpSpPr>
        <p:sp>
          <p:nvSpPr>
            <p:cNvPr id="146" name="직사각형 145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252741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49" name="타원 14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6088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50" name="타원 14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01135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51" name="타원 150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52" name="그룹 151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153" name="직선 연결선 152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4" name="직선 연결선 153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5" name="직선 연결선 15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6" name="직선 연결선 155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57" name="타원 156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58" name="그룹 15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159" name="직선 연결선 158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0" name="직선 연결선 159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1" name="모서리가 둥근 직사각형 160"/>
          <p:cNvSpPr/>
          <p:nvPr/>
        </p:nvSpPr>
        <p:spPr>
          <a:xfrm>
            <a:off x="7245833" y="4831133"/>
            <a:ext cx="2579992" cy="1200743"/>
          </a:xfrm>
          <a:prstGeom prst="roundRect">
            <a:avLst>
              <a:gd name="adj" fmla="val 4663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8588671" y="5590295"/>
            <a:ext cx="1080000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확인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16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363527" y="5590295"/>
            <a:ext cx="1080000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363527" y="4977863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서류 출력</a:t>
            </a: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383257" y="5210372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OZ </a:t>
            </a:r>
            <a:r>
              <a:rPr lang="ko-KR" altLang="en-US" sz="700" dirty="0">
                <a:latin typeface="+mn-ea"/>
              </a:rPr>
              <a:t>리포트가 실행되며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로딩에 약간의 시간이 소요됩니다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ko-KR" altLang="en-US" sz="700" dirty="0">
                <a:latin typeface="+mn-ea"/>
              </a:rPr>
              <a:t>서류 출력을 진행할까요</a:t>
            </a:r>
            <a:r>
              <a:rPr lang="en-US" altLang="ko-KR" sz="700" dirty="0">
                <a:latin typeface="+mn-ea"/>
              </a:rPr>
              <a:t>?</a:t>
            </a:r>
          </a:p>
        </p:txBody>
      </p:sp>
      <p:grpSp>
        <p:nvGrpSpPr>
          <p:cNvPr id="166" name="그룹 165"/>
          <p:cNvGrpSpPr/>
          <p:nvPr/>
        </p:nvGrpSpPr>
        <p:grpSpPr>
          <a:xfrm>
            <a:off x="9574661" y="4977863"/>
            <a:ext cx="94010" cy="94010"/>
            <a:chOff x="6812560" y="3297172"/>
            <a:chExt cx="94010" cy="94010"/>
          </a:xfrm>
        </p:grpSpPr>
        <p:cxnSp>
          <p:nvCxnSpPr>
            <p:cNvPr id="167" name="직선 연결선 166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8" name="직선 연결선 167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9" name="직사각형 168"/>
          <p:cNvSpPr/>
          <p:nvPr/>
        </p:nvSpPr>
        <p:spPr>
          <a:xfrm>
            <a:off x="7181747" y="4600301"/>
            <a:ext cx="1043876" cy="230832"/>
          </a:xfrm>
          <a:prstGeom prst="rect">
            <a:avLst/>
          </a:prstGeom>
        </p:spPr>
        <p:txBody>
          <a:bodyPr lIns="72000" tIns="36000" rIns="72000" bIns="36000"/>
          <a:lstStyle/>
          <a:p>
            <a:pPr>
              <a:buFont typeface="Arial" panose="020B0604020202020204" pitchFamily="34" charset="0"/>
              <a:buNone/>
            </a:pPr>
            <a:r>
              <a:rPr lang="en-US" altLang="ko-KR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MUI-BD-01-P14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70" name="직사각형 169"/>
          <p:cNvSpPr/>
          <p:nvPr/>
        </p:nvSpPr>
        <p:spPr>
          <a:xfrm>
            <a:off x="8715807" y="4600301"/>
            <a:ext cx="1177967" cy="230832"/>
          </a:xfrm>
          <a:prstGeom prst="rect">
            <a:avLst/>
          </a:prstGeom>
        </p:spPr>
        <p:txBody>
          <a:bodyPr lIns="72000" tIns="36000" rIns="72000" bIns="36000"/>
          <a:lstStyle/>
          <a:p>
            <a:pPr algn="r">
              <a:buFont typeface="Arial" panose="020B0604020202020204" pitchFamily="34" charset="0"/>
              <a:buNone/>
            </a:pPr>
            <a:r>
              <a:rPr lang="ko-KR" altLang="en-US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서류 출력 확인</a:t>
            </a:r>
          </a:p>
        </p:txBody>
      </p:sp>
    </p:spTree>
    <p:extLst>
      <p:ext uri="{BB962C8B-B14F-4D97-AF65-F5344CB8AC3E}">
        <p14:creationId xmlns:p14="http://schemas.microsoft.com/office/powerpoint/2010/main" val="1336729599"/>
      </p:ext>
    </p:extLst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신청 접수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군수품무역대리업 </a:t>
            </a:r>
            <a:r>
              <a:rPr lang="ko-KR" altLang="en-US" dirty="0" smtClean="0"/>
              <a:t>신청 내역</a:t>
            </a:r>
            <a:r>
              <a:rPr lang="ko-KR" altLang="en-US" dirty="0" smtClean="0">
                <a:latin typeface="+mn-ea"/>
              </a:rPr>
              <a:t> 상세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군수품무역대리업 신청 내역</a:t>
            </a:r>
            <a:r>
              <a:rPr lang="ko-KR" altLang="en-US" dirty="0">
                <a:latin typeface="+mn-ea"/>
              </a:rPr>
              <a:t> </a:t>
            </a:r>
            <a:r>
              <a:rPr lang="ko-KR" altLang="en-US" dirty="0" smtClean="0">
                <a:latin typeface="+mn-ea"/>
              </a:rPr>
              <a:t>상세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55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군수품무역대리업 신청 목록 </a:t>
            </a:r>
            <a:r>
              <a:rPr lang="en-US" altLang="ko-KR" dirty="0" smtClean="0"/>
              <a:t>&gt;</a:t>
            </a:r>
            <a:r>
              <a:rPr lang="ko-KR" altLang="en-US" dirty="0" smtClean="0"/>
              <a:t> </a:t>
            </a:r>
            <a:r>
              <a:rPr lang="ko-KR" altLang="en-US" dirty="0"/>
              <a:t>신청 내역</a:t>
            </a:r>
            <a:r>
              <a:rPr lang="ko-KR" altLang="en-US" dirty="0">
                <a:latin typeface="+mn-ea"/>
              </a:rPr>
              <a:t>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MUI-CM-01-M16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군수품무역대리업 </a:t>
            </a:r>
            <a:r>
              <a:rPr lang="ko-KR" altLang="en-US" sz="800" dirty="0" smtClean="0"/>
              <a:t>신청</a:t>
            </a:r>
            <a:r>
              <a:rPr lang="ko-KR" altLang="en-US" sz="800" dirty="0" smtClean="0">
                <a:latin typeface="+mn-ea"/>
              </a:rPr>
              <a:t> 내역 상세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8183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33891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>
            <a:off x="716366" y="2448322"/>
            <a:ext cx="2630093" cy="1169259"/>
            <a:chOff x="720490" y="4465173"/>
            <a:chExt cx="2630093" cy="1169259"/>
          </a:xfrm>
        </p:grpSpPr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접수정보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4" name="그룹 183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1" name="직선 연결선 20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2" name="직선 연결선 20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6" name="직사각형 185"/>
            <p:cNvSpPr/>
            <p:nvPr/>
          </p:nvSpPr>
          <p:spPr>
            <a:xfrm>
              <a:off x="722583" y="4772658"/>
              <a:ext cx="792000" cy="85340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접수번호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신청일시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처리일시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처리구분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2022-12-31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2022-12-31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신규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5884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127204"/>
            <a:ext cx="247325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b="1" dirty="0" smtClean="0"/>
              <a:t>접수번호 </a:t>
            </a:r>
            <a:r>
              <a:rPr lang="en-US" altLang="ko-KR" sz="900" b="1" dirty="0" smtClean="0"/>
              <a:t>2026-0020</a:t>
            </a:r>
            <a:endParaRPr lang="ko-KR" altLang="en-US" sz="900" b="1" dirty="0"/>
          </a:p>
        </p:txBody>
      </p:sp>
      <p:sp>
        <p:nvSpPr>
          <p:cNvPr id="124" name="모서리가 둥근 직사각형 123"/>
          <p:cNvSpPr/>
          <p:nvPr/>
        </p:nvSpPr>
        <p:spPr>
          <a:xfrm>
            <a:off x="781461" y="1942873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신규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125" name="모서리가 둥근 직사각형 124"/>
          <p:cNvSpPr/>
          <p:nvPr/>
        </p:nvSpPr>
        <p:spPr>
          <a:xfrm>
            <a:off x="1079210" y="1942873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저장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337" y="3768757"/>
            <a:ext cx="118217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업체정보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29" name="그룹 128"/>
          <p:cNvGrpSpPr/>
          <p:nvPr/>
        </p:nvGrpSpPr>
        <p:grpSpPr>
          <a:xfrm flipV="1">
            <a:off x="3139424" y="3882088"/>
            <a:ext cx="94010" cy="47005"/>
            <a:chOff x="6812560" y="3297172"/>
            <a:chExt cx="94010" cy="47005"/>
          </a:xfrm>
        </p:grpSpPr>
        <p:cxnSp>
          <p:nvCxnSpPr>
            <p:cNvPr id="140" name="직선 연결선 13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1" name="직선 연결선 14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0" name="직사각형 129"/>
          <p:cNvSpPr/>
          <p:nvPr/>
        </p:nvSpPr>
        <p:spPr>
          <a:xfrm>
            <a:off x="718459" y="4076242"/>
            <a:ext cx="792000" cy="215443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31" name="직선 연결선 1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6366" y="40762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2" name="TextBox 1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4076242"/>
            <a:ext cx="715881" cy="215443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업태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상호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대표자성명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전화번호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팩스번호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E-mail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사업자번호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설립일자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주소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반려사유</a:t>
            </a:r>
            <a:endParaRPr lang="en-US" altLang="ko-KR" sz="700" dirty="0">
              <a:latin typeface="+mn-ea"/>
            </a:endParaRP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2371" y="4076242"/>
            <a:ext cx="1784088" cy="215443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제조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조달테스트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홍길동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02-1234-5678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02-2345-6789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test@dapa.go.kr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123-45-67890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1999-01-02</a:t>
            </a: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서울특별시 종로구 </a:t>
            </a:r>
            <a:r>
              <a:rPr lang="en-US" altLang="ko-KR" sz="700" dirty="0" smtClean="0">
                <a:latin typeface="+mn-ea"/>
              </a:rPr>
              <a:t>…</a:t>
            </a: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반려 사유가 있는 경우 내역 표시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35" name="직선 연결선 13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30734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6" name="직선 연결선 1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52105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7" name="직선 연결선 1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73476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93835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6366" y="5152493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3" name="직선 연결선 1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53835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559730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581101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601460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49" name="TextBox 1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906" y="1589558"/>
            <a:ext cx="1384615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첨부파일</a:t>
            </a:r>
            <a:r>
              <a:rPr lang="ko-KR" altLang="en-US" sz="700" spc="-52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– 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총 </a:t>
            </a:r>
            <a:r>
              <a:rPr lang="en-US" altLang="ko-KR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0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3825376" y="2014071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088592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등록신청서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2142453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</a:t>
            </a:r>
          </a:p>
        </p:txBody>
      </p:sp>
      <p:sp>
        <p:nvSpPr>
          <p:cNvPr id="153" name="타원 152"/>
          <p:cNvSpPr/>
          <p:nvPr/>
        </p:nvSpPr>
        <p:spPr>
          <a:xfrm>
            <a:off x="6148139" y="2124314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4" name="모서리가 둥근 직사각형 153"/>
          <p:cNvSpPr/>
          <p:nvPr/>
        </p:nvSpPr>
        <p:spPr>
          <a:xfrm>
            <a:off x="3825376" y="2420757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495278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이력서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2549139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2</a:t>
            </a:r>
          </a:p>
        </p:txBody>
      </p:sp>
      <p:sp>
        <p:nvSpPr>
          <p:cNvPr id="166" name="타원 165"/>
          <p:cNvSpPr/>
          <p:nvPr/>
        </p:nvSpPr>
        <p:spPr>
          <a:xfrm>
            <a:off x="6148139" y="253100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1878953"/>
            <a:ext cx="47434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첨부서류명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057655" y="1878953"/>
            <a:ext cx="32496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다운로드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32140" y="1878953"/>
            <a:ext cx="3906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항목번호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12" name="모서리가 둥근 직사각형 211"/>
          <p:cNvSpPr/>
          <p:nvPr/>
        </p:nvSpPr>
        <p:spPr>
          <a:xfrm>
            <a:off x="3825376" y="2822120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3" name="TextBox 2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896641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청렴서약서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214" name="TextBox 2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2950502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3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15" name="타원 214"/>
          <p:cNvSpPr/>
          <p:nvPr/>
        </p:nvSpPr>
        <p:spPr>
          <a:xfrm>
            <a:off x="6148139" y="293236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6" name="모서리가 둥근 직사각형 215"/>
          <p:cNvSpPr/>
          <p:nvPr/>
        </p:nvSpPr>
        <p:spPr>
          <a:xfrm>
            <a:off x="3825376" y="3228806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3303327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고용현황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3357188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4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33" name="타원 232"/>
          <p:cNvSpPr/>
          <p:nvPr/>
        </p:nvSpPr>
        <p:spPr>
          <a:xfrm>
            <a:off x="6148139" y="3339049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52" name="그룹 251"/>
          <p:cNvGrpSpPr/>
          <p:nvPr/>
        </p:nvGrpSpPr>
        <p:grpSpPr>
          <a:xfrm flipV="1">
            <a:off x="6220287" y="1679485"/>
            <a:ext cx="94010" cy="47005"/>
            <a:chOff x="6812560" y="3297172"/>
            <a:chExt cx="94010" cy="47005"/>
          </a:xfrm>
        </p:grpSpPr>
        <p:cxnSp>
          <p:nvCxnSpPr>
            <p:cNvPr id="253" name="직선 연결선 25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4" name="직선 연결선 25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55" name="모서리가 둥근 직사각형 254"/>
          <p:cNvSpPr/>
          <p:nvPr/>
        </p:nvSpPr>
        <p:spPr>
          <a:xfrm>
            <a:off x="3825376" y="3637559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3712080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기타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3765941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5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58" name="타원 257"/>
          <p:cNvSpPr/>
          <p:nvPr/>
        </p:nvSpPr>
        <p:spPr>
          <a:xfrm>
            <a:off x="6148139" y="3747802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78618584"/>
      </p:ext>
    </p:extLst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168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22CFD585-1033-4C5A-3046-40C4A14E6C3D}"/>
              </a:ext>
            </a:extLst>
          </p:cNvPr>
          <p:cNvSpPr txBox="1"/>
          <p:nvPr/>
        </p:nvSpPr>
        <p:spPr>
          <a:xfrm>
            <a:off x="460676" y="2623970"/>
            <a:ext cx="432226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등록 신청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dm_dfEqpmntTradAgncAplyInfo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DF2E64DD-C9B3-2069-464E-8BD9C096BA8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2848344"/>
          <a:ext cx="8994883" cy="27148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(4)+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접수일련번호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atrzYmd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처리일시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6674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atrzStcd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(‘S’)/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(‘R’)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4654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52684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599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175768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09033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3178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413352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0730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설립일자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fndnYmd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설립일자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17266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atrzRjctRsn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8797233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A59001AB-3C1D-A1C6-C68A-973F59FC48AB}"/>
              </a:ext>
            </a:extLst>
          </p:cNvPr>
          <p:cNvSpPr txBox="1"/>
          <p:nvPr/>
        </p:nvSpPr>
        <p:spPr>
          <a:xfrm>
            <a:off x="471743" y="799547"/>
            <a:ext cx="448737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등록 신청 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dl_dfEqpmntTradAgncAplyList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994AE86-154D-F53B-1EF4-052FC46164C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1013230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regAplySecd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(4)+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접수일련번호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요청일자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요청일자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aprvYmd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말소일자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ersrYmd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말소일자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만료일자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expryYmd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만료일자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aprvSecdNm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말소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1448555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A8B6B666-3096-71A0-5E08-A5417DF73D6C}"/>
              </a:ext>
            </a:extLst>
          </p:cNvPr>
          <p:cNvSpPr txBox="1"/>
          <p:nvPr/>
        </p:nvSpPr>
        <p:spPr>
          <a:xfrm>
            <a:off x="458118" y="5674388"/>
            <a:ext cx="488972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신청 첨부서류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dl_dfEqpmntTradAgncAplyAtchFileList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0907B84B-0786-4D7E-AF4E-4677156D325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5892824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14399C34-F0AD-2FC9-C9A3-AB70DB5436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48313818"/>
      </p:ext>
    </p:extLst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169</a:t>
            </a:fld>
            <a:endParaRPr lang="ko-KR" altLang="en-US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F8A8E10-80BC-6069-7ED2-A71A25FB940D}"/>
              </a:ext>
            </a:extLst>
          </p:cNvPr>
          <p:cNvSpPr txBox="1"/>
          <p:nvPr/>
        </p:nvSpPr>
        <p:spPr>
          <a:xfrm>
            <a:off x="455204" y="73350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0A79CEB3-66DB-AEAC-E099-1C436911FB6A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204" y="963715"/>
          <a:ext cx="8995591" cy="1895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군수품무역대리업 신청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군수품무역대리업 등록증 발급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scwin.btn_dfEqpmntTradeAgncIssu_onclick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승인되고 만료일자가 지나지 않은 신청 목록이 있을 때 등록증을 출력한다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</a:t>
                      </a:r>
                      <a:r>
                        <a:rPr lang="en-US" altLang="ko-KR" sz="800" dirty="0">
                          <a:latin typeface="+mn-ea"/>
                        </a:rPr>
                        <a:t>R26 </a:t>
                      </a:r>
                      <a:r>
                        <a:rPr lang="ko-KR" altLang="en-US" sz="800" dirty="0">
                          <a:latin typeface="+mn-ea"/>
                        </a:rPr>
                        <a:t>참조</a:t>
                      </a:r>
                      <a:r>
                        <a:rPr lang="en-US" altLang="ko-KR" sz="800" dirty="0">
                          <a:latin typeface="+mn-ea"/>
                        </a:rPr>
                        <a:t> (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OZPrint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(‘PVB021’))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변경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scwin.btn_mdfcn_onclick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조건에 따라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1,2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 하나의 화면으로 이동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or Alert Message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발생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1.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군수품무역대리업 신규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화면으로 이동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2.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군수품무역대리업 신청한 정보 변경 화면으로 이동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구분이 신규이고 진행상태가 저장일때 신규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화면으로 이동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구분이 실효나 말소일 경우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Message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발생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924045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갱신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scwin.btn_updt_onclick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군수품무역대리업 신규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UI-CM-01-M24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722549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신규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scwin.btn_new_onclick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598501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65BD577E-BD73-83A5-547A-47F99BFA9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84679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25161608"/>
      </p:ext>
    </p:extLst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신규</a:t>
            </a:r>
            <a:r>
              <a:rPr lang="en-US" altLang="ko-KR" dirty="0" smtClean="0"/>
              <a:t>, </a:t>
            </a:r>
            <a:r>
              <a:rPr lang="ko-KR" altLang="en-US" dirty="0" smtClean="0"/>
              <a:t>갱신에 따라 타이틀 변경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신청 접수 정보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첨부파일 파일 추가 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첨부 </a:t>
            </a:r>
            <a:r>
              <a:rPr lang="ko-KR" altLang="en-US" dirty="0" err="1" smtClean="0"/>
              <a:t>서류명</a:t>
            </a:r>
            <a:r>
              <a:rPr lang="ko-KR" altLang="en-US" dirty="0" smtClean="0"/>
              <a:t> 하단 </a:t>
            </a:r>
            <a:r>
              <a:rPr lang="ko-KR" altLang="en-US" dirty="0" err="1" smtClean="0"/>
              <a:t>바텀시트</a:t>
            </a:r>
            <a:r>
              <a:rPr lang="ko-KR" altLang="en-US" dirty="0" smtClean="0"/>
              <a:t> 팝업</a:t>
            </a:r>
            <a:endParaRPr lang="en-US" altLang="ko-KR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군수품무역대리업 </a:t>
            </a:r>
            <a:r>
              <a:rPr lang="ko-KR" altLang="en-US" dirty="0" smtClean="0"/>
              <a:t>신규</a:t>
            </a:r>
            <a:r>
              <a:rPr lang="en-US" altLang="ko-KR" dirty="0" smtClean="0"/>
              <a:t>(</a:t>
            </a:r>
            <a:r>
              <a:rPr lang="ko-KR" altLang="en-US" dirty="0" smtClean="0"/>
              <a:t>갱신</a:t>
            </a:r>
            <a:r>
              <a:rPr lang="en-US" altLang="ko-KR" dirty="0" smtClean="0"/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군수품무역대리업 </a:t>
            </a:r>
            <a:r>
              <a:rPr lang="ko-KR" altLang="en-US" dirty="0" smtClean="0"/>
              <a:t>신규</a:t>
            </a:r>
            <a:r>
              <a:rPr lang="en-US" altLang="ko-KR" dirty="0" smtClean="0"/>
              <a:t>(</a:t>
            </a:r>
            <a:r>
              <a:rPr lang="ko-KR" altLang="en-US" dirty="0"/>
              <a:t>갱신</a:t>
            </a:r>
            <a:r>
              <a:rPr lang="en-US" altLang="ko-KR" dirty="0" smtClean="0"/>
              <a:t>) </a:t>
            </a:r>
            <a:r>
              <a:rPr lang="ko-KR" altLang="en-US" dirty="0" smtClean="0"/>
              <a:t>화면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군수품무역대리업 신청 </a:t>
            </a:r>
            <a:r>
              <a:rPr lang="ko-KR" altLang="en-US" dirty="0" smtClean="0"/>
              <a:t>목록 </a:t>
            </a:r>
            <a:r>
              <a:rPr lang="en-US" altLang="ko-KR" dirty="0" smtClean="0"/>
              <a:t>&gt; </a:t>
            </a:r>
            <a:r>
              <a:rPr lang="ko-KR" altLang="en-US" dirty="0" smtClean="0"/>
              <a:t>신구</a:t>
            </a:r>
            <a:r>
              <a:rPr lang="en-US" altLang="ko-KR" dirty="0" smtClean="0"/>
              <a:t>(</a:t>
            </a:r>
            <a:r>
              <a:rPr lang="ko-KR" altLang="en-US" dirty="0"/>
              <a:t>갱신</a:t>
            </a:r>
            <a:r>
              <a:rPr lang="en-US" altLang="ko-KR" dirty="0"/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MUI-CM-01-M17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군수품무역대리업 </a:t>
            </a:r>
            <a:r>
              <a:rPr lang="ko-KR" altLang="en-US" sz="800" dirty="0" smtClean="0"/>
              <a:t>신규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8397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6497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21" name="그룹 120"/>
          <p:cNvGrpSpPr/>
          <p:nvPr/>
        </p:nvGrpSpPr>
        <p:grpSpPr>
          <a:xfrm>
            <a:off x="670228" y="1851002"/>
            <a:ext cx="2717198" cy="303979"/>
            <a:chOff x="675399" y="1846937"/>
            <a:chExt cx="2717198" cy="303979"/>
          </a:xfrm>
        </p:grpSpPr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69340" y="1891204"/>
              <a:ext cx="220200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나라장터</a:t>
              </a:r>
              <a:r>
                <a:rPr lang="en-US" altLang="ko-KR" sz="700" dirty="0">
                  <a:solidFill>
                    <a:prstClr val="black"/>
                  </a:solidFill>
                </a:rPr>
                <a:t>(G2B) </a:t>
              </a:r>
              <a:r>
                <a:rPr lang="ko-KR" altLang="en-US" sz="700" dirty="0">
                  <a:solidFill>
                    <a:prstClr val="black"/>
                  </a:solidFill>
                </a:rPr>
                <a:t>조달업체정보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최근 수신</a:t>
              </a:r>
              <a:r>
                <a:rPr lang="en-US" altLang="ko-KR" sz="700" dirty="0">
                  <a:solidFill>
                    <a:prstClr val="black"/>
                  </a:solidFill>
                </a:rPr>
                <a:t>(</a:t>
              </a:r>
              <a:r>
                <a:rPr lang="ko-KR" altLang="en-US" sz="700" dirty="0">
                  <a:solidFill>
                    <a:prstClr val="black"/>
                  </a:solidFill>
                </a:rPr>
                <a:t>갱신</a:t>
              </a:r>
              <a:r>
                <a:rPr lang="en-US" altLang="ko-KR" sz="700" dirty="0">
                  <a:solidFill>
                    <a:prstClr val="black"/>
                  </a:solidFill>
                </a:rPr>
                <a:t>)</a:t>
              </a:r>
              <a:r>
                <a:rPr lang="ko-KR" altLang="en-US" sz="700" dirty="0">
                  <a:solidFill>
                    <a:prstClr val="black"/>
                  </a:solidFill>
                </a:rPr>
                <a:t>일시 </a:t>
              </a:r>
              <a:r>
                <a:rPr lang="en-US" altLang="ko-KR" sz="700" dirty="0">
                  <a:solidFill>
                    <a:prstClr val="black"/>
                  </a:solidFill>
                </a:rPr>
                <a:t>: 2000-12-31 12:00</a:t>
              </a:r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15091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861883" y="1920467"/>
              <a:ext cx="421867" cy="156920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갱신하기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82" name="그룹 181"/>
          <p:cNvGrpSpPr/>
          <p:nvPr/>
        </p:nvGrpSpPr>
        <p:grpSpPr>
          <a:xfrm>
            <a:off x="716366" y="2250457"/>
            <a:ext cx="2630093" cy="1169259"/>
            <a:chOff x="720490" y="4465173"/>
            <a:chExt cx="2630093" cy="1169259"/>
          </a:xfrm>
        </p:grpSpPr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접수정보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4" name="그룹 183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1" name="직선 연결선 20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2" name="직선 연결선 20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6" name="직사각형 185"/>
            <p:cNvSpPr/>
            <p:nvPr/>
          </p:nvSpPr>
          <p:spPr>
            <a:xfrm>
              <a:off x="722583" y="4772658"/>
              <a:ext cx="792000" cy="85340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접수번호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신청일시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처리일시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처리구분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2022-12-31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2022-12-31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신규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5" name="그룹 4"/>
          <p:cNvGrpSpPr/>
          <p:nvPr/>
        </p:nvGrpSpPr>
        <p:grpSpPr>
          <a:xfrm>
            <a:off x="716366" y="3573575"/>
            <a:ext cx="2630093" cy="2468167"/>
            <a:chOff x="716366" y="3768757"/>
            <a:chExt cx="2630093" cy="2468167"/>
          </a:xfrm>
        </p:grpSpPr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3768757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업체정보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39424" y="3882088"/>
              <a:ext cx="94010" cy="47005"/>
              <a:chOff x="6812560" y="3297172"/>
              <a:chExt cx="94010" cy="47005"/>
            </a:xfrm>
          </p:grpSpPr>
          <p:cxnSp>
            <p:nvCxnSpPr>
              <p:cNvPr id="140" name="직선 연결선 13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1" name="직선 연결선 14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30" name="직사각형 129"/>
            <p:cNvSpPr/>
            <p:nvPr/>
          </p:nvSpPr>
          <p:spPr>
            <a:xfrm>
              <a:off x="718459" y="4076242"/>
              <a:ext cx="792000" cy="215443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40762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4076242"/>
              <a:ext cx="715881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대표자성명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팩스번호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E-mail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사업자번호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설립일자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반려사유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4076242"/>
              <a:ext cx="1784088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제조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조달테스트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02-2345-6789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test@dapa.go.kr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1999-01-02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 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반려 사유가 있는 경우 내역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3073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5210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7347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93835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515249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3835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59730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8110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601460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623692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906" y="1570670"/>
            <a:ext cx="1384615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첨부파일</a:t>
            </a:r>
            <a:r>
              <a:rPr lang="ko-KR" altLang="en-US" sz="700" spc="-52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– 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총 </a:t>
            </a:r>
            <a:r>
              <a:rPr lang="en-US" altLang="ko-KR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0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건</a:t>
            </a:r>
            <a:endParaRPr lang="ko-KR" altLang="en-US" sz="700" dirty="0">
              <a:latin typeface="+mn-ea"/>
            </a:endParaRPr>
          </a:p>
        </p:txBody>
      </p:sp>
      <p:sp>
        <p:nvSpPr>
          <p:cNvPr id="93" name="모서리가 둥근 직사각형 92"/>
          <p:cNvSpPr/>
          <p:nvPr/>
        </p:nvSpPr>
        <p:spPr>
          <a:xfrm>
            <a:off x="3825376" y="2388217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462738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등록신청서</a:t>
            </a:r>
            <a:r>
              <a:rPr lang="ko-KR" altLang="en-US" sz="700" dirty="0" smtClean="0">
                <a:solidFill>
                  <a:srgbClr val="FF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 smtClean="0">
                <a:solidFill>
                  <a:srgbClr val="FF0000"/>
                </a:solidFill>
                <a:latin typeface="맑은 고딕" panose="020B0503020000020004" pitchFamily="50" charset="-127"/>
              </a:rPr>
              <a:t>*</a:t>
            </a:r>
            <a:endParaRPr lang="en-US" altLang="ko-KR" sz="700" dirty="0">
              <a:solidFill>
                <a:srgbClr val="FF0000"/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2516599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</a:t>
            </a:r>
          </a:p>
        </p:txBody>
      </p:sp>
      <p:sp>
        <p:nvSpPr>
          <p:cNvPr id="97" name="모서리가 둥근 직사각형 96"/>
          <p:cNvSpPr/>
          <p:nvPr/>
        </p:nvSpPr>
        <p:spPr>
          <a:xfrm>
            <a:off x="3825376" y="2794903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869424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이력서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*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2923285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2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253099"/>
            <a:ext cx="47434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첨부서류명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32140" y="2253099"/>
            <a:ext cx="3906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항목번호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04" name="모서리가 둥근 직사각형 103"/>
          <p:cNvSpPr/>
          <p:nvPr/>
        </p:nvSpPr>
        <p:spPr>
          <a:xfrm>
            <a:off x="3825376" y="3196266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3270787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청렴서약서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*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3324648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3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08" name="모서리가 둥근 직사각형 107"/>
          <p:cNvSpPr/>
          <p:nvPr/>
        </p:nvSpPr>
        <p:spPr>
          <a:xfrm>
            <a:off x="3825376" y="3602952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3677473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고용현황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*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3731334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4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12" name="그룹 111"/>
          <p:cNvGrpSpPr/>
          <p:nvPr/>
        </p:nvGrpSpPr>
        <p:grpSpPr>
          <a:xfrm flipV="1">
            <a:off x="6220287" y="1660597"/>
            <a:ext cx="94010" cy="47005"/>
            <a:chOff x="6812560" y="3297172"/>
            <a:chExt cx="94010" cy="47005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5" name="모서리가 둥근 직사각형 114"/>
          <p:cNvSpPr/>
          <p:nvPr/>
        </p:nvSpPr>
        <p:spPr>
          <a:xfrm>
            <a:off x="3825376" y="4011705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4086226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기타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4140087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5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065862" y="2256932"/>
            <a:ext cx="32496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삭제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6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2903537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6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2486745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7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3712234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7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3295442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8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25376" y="1883029"/>
            <a:ext cx="2652742" cy="207774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latin typeface="맑은 고딕"/>
                <a:ea typeface="맑은 고딕" panose="020B0503020000020004" pitchFamily="50" charset="-127"/>
              </a:rPr>
              <a:t>파일 추가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9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4121177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92" name="타원 1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24490" y="187376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C29EC709-3774-4B79-A1C9-F5C9BF064DD3}"/>
              </a:ext>
            </a:extLst>
          </p:cNvPr>
          <p:cNvSpPr/>
          <p:nvPr/>
        </p:nvSpPr>
        <p:spPr>
          <a:xfrm>
            <a:off x="7299588" y="4875644"/>
            <a:ext cx="984207" cy="1324843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t"/>
          <a:lstStyle/>
          <a:p>
            <a:pPr algn="l">
              <a:lnSpc>
                <a:spcPct val="150000"/>
              </a:lnSpc>
            </a:pPr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198" name="사각형: 둥근 위쪽 모서리 75">
            <a:extLst>
              <a:ext uri="{FF2B5EF4-FFF2-40B4-BE49-F238E27FC236}">
                <a16:creationId xmlns:a16="http://schemas.microsoft.com/office/drawing/2014/main" id="{60414052-E4D1-4C00-8788-EA50205FEE78}"/>
              </a:ext>
            </a:extLst>
          </p:cNvPr>
          <p:cNvSpPr/>
          <p:nvPr/>
        </p:nvSpPr>
        <p:spPr>
          <a:xfrm>
            <a:off x="7302599" y="5175039"/>
            <a:ext cx="974971" cy="1025448"/>
          </a:xfrm>
          <a:prstGeom prst="round2Same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t"/>
          <a:lstStyle/>
          <a:p>
            <a:pPr algn="l">
              <a:lnSpc>
                <a:spcPct val="150000"/>
              </a:lnSpc>
            </a:pPr>
            <a:endParaRPr lang="ko-KR" altLang="en-US" sz="1400" dirty="0">
              <a:solidFill>
                <a:schemeClr val="tx1"/>
              </a:solidFill>
            </a:endParaRPr>
          </a:p>
        </p:txBody>
      </p:sp>
      <p:cxnSp>
        <p:nvCxnSpPr>
          <p:cNvPr id="199" name="직선 연결선 198">
            <a:extLst>
              <a:ext uri="{FF2B5EF4-FFF2-40B4-BE49-F238E27FC236}">
                <a16:creationId xmlns:a16="http://schemas.microsoft.com/office/drawing/2014/main" id="{61AA3FF4-C749-419A-A832-EBDDB6501526}"/>
              </a:ext>
            </a:extLst>
          </p:cNvPr>
          <p:cNvCxnSpPr/>
          <p:nvPr/>
        </p:nvCxnSpPr>
        <p:spPr>
          <a:xfrm>
            <a:off x="7362749" y="5509919"/>
            <a:ext cx="83373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0" name="TextBox 199">
            <a:extLst>
              <a:ext uri="{FF2B5EF4-FFF2-40B4-BE49-F238E27FC236}">
                <a16:creationId xmlns:a16="http://schemas.microsoft.com/office/drawing/2014/main" id="{79304F6B-454C-471B-AC82-4B2469CA7E73}"/>
              </a:ext>
            </a:extLst>
          </p:cNvPr>
          <p:cNvSpPr txBox="1"/>
          <p:nvPr/>
        </p:nvSpPr>
        <p:spPr>
          <a:xfrm>
            <a:off x="7369064" y="5391677"/>
            <a:ext cx="485299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800" dirty="0" smtClean="0">
                <a:latin typeface="+mn-ea"/>
              </a:rPr>
              <a:t>첨부파일</a:t>
            </a:r>
            <a:endParaRPr lang="ko-KR" altLang="en-US" sz="800" dirty="0">
              <a:latin typeface="+mn-ea"/>
            </a:endParaRPr>
          </a:p>
        </p:txBody>
      </p:sp>
      <p:grpSp>
        <p:nvGrpSpPr>
          <p:cNvPr id="203" name="Radio Button Group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bZEtJN5trzIZ/7X6Wfpcl2WjJwFIzhUl3ldF7M8nVRVmZ4ti3brzEfhWVUv0qbzwSg9O16tUurzjgPooYhnQriPGV7/bbwYIINHiL71KpsV1ZN121bLz+tqvXo9z1Z5k9bxj2lg+VUaf2eLuhm/zsGP+Uw+kq49pCOI4ynO0614j+OzpttbB9wASDx376bHs1l6DppOld3iLbs0G9N7z7NJXm59xN2n0n/z6CMQMgbhDAJ0XOcZMwX/8lkUrGm39dFHo3T3/s4QwA28RVMQ4cYtA/n3f+Ne3QQdbcffLWbtnIDu7ezc1BRgqeXARL2pXrc1sdTWjV166KWffDY00LH/R497zVPn7bpepm29ziPd/pL+R3lpZNx/BhhIoZ9n9NLN4L0/f8km0b+siln6tGhWVZNvDUs0hGKICX5X0TA3S9YQcW33kWHdqNX8xsFI8bAiioEPaaJalWkRY9ytavLTpEnSJl/O8nokDH9cXzRpPkyytr6+kSLMrq/QB8H2lRWNr6/BYuTpdoLnFw8x6DevZkOsoyrWPANsjedDVa55NnSBZ6CLr1Yzmv1ndbXAlG9tbVn1eUcm/A5rib7V6j6k4r/I3tJUrmszn6Rs04JImzdtVZOKyc7JZ0ibeXVFM3F3XswwIQ3jsRl2SGhljK2e03ZCvYy/aKo3dfG6pVGNF/h9nQ/pQTwRxTTwceSj82KZlWWcCbsf4fkiq2m45fgVDYCE86RafMmy1eGkGL7DGg7PNGun83Tr9N00ZxuX5u9u1kiQsefVxQU0fF1X9dZHz7KipHlqq3TNbCGMryY3ZbaR+RqTxaQu+hrI+9X9cZd443GzXpANvj4KPzb+G3kGaTt3ikDZYtwBcrcPxegv8SkHpPtReiaKMJuUntHpEGUAT/PVG8Jvkb0rFusF6d/FhNCuzkWu0ol4JWmx5GFcoG8PeQs9MgA8dhAEoyUgLbHKO28sDfsFPRn8WghP51mdEY3rxlIddgZfZcFovkH8oUKe58sLdnB2d/ojMQCMex03cbbV86JpH3vwZZqPfCUnH7mwTFX5wJtbfQWnzsKA7veNl/01Gh7gifkD86IZy0jp36h6RRABzez62nJ9RYTvvZjj87xt0qt5TvOvoieiQqyxhlJLyeeuSD+TMsjSwPcWRfDR+7CHkFIirZ5Nu5FUF3mb/mLjAm6YYjIAFGKnR+nOYXoY0ZhRpKwz2LDTnDrv+Ua8pOGTdVHOYNcmymLBxxHGwgOjfyvrPmBJSHLzDCq/x8p9AkEpbaDa1/NYmslYBZrIvcErwUNtSSzIm3heLPMBgvTa+j6R2n03NUMWPW62+x8qL1Fng8HSEL+wn9zxmpR1oEZv5hpQ73e91dzjEUyjJJNev/f9tCSywkKg//HrVUmpB/Ch/f4Xpx/9vvXvuySbTT/53+VH6S8ZKaPyCxoaj19Uyzw+QQjh2xR+C5mKJdmMOqegoaB+CspaiZ/3i9YF+XnxITOShmc++2yQaTYMmIMCBPKv8qb4QX66hDWf0cCHwsKhAKH7ER4an8zq3YwyFRjTgFMKo7kFE1dQz6RpivQxWbt2Pv6iWAajHHWN+B1q/Mkn7y9vyl6ATV1yF98rvr9RjG6jFqIm1n8wbRjdjSr3G4lKLFYbupNhvxfAboQD8n2NgABPPGPhP7HhUKbJm42N/Ud1FR5izlf5gkwVicdsvZxlYL9hFr2akx8fRJWDpvKWnPv+TCv4Pid14Y/+/RR396P3jbcGFUZ7qyzVRhMQSRvhiWByQkqzvtm+3OCvva5qctgyEv+GfXV118i2Z82U7CU0RFXDEZlcw58r6vTx9OhNtXp8d3qUXmblOginbI83ePQNBdJmyEDhyfVP5jV9kpXPK4o6iZW22KVmBjtSrG6miYZ3gLg1o5jvgvoSn1q+2h1Jekj+2ru9Y2QsOwMh674iTl+ssjp/U4nzvIcPoxH2h84Q3PUiK4nRGnaor0xsS6pHosKCUmepW1LqB7m2lxtmhacjEh5Eo5KbZ8NxaP87dvYc2M+i+U7zbDDe72OLfY6azvPpW2exTAgn3w7qkwBCUU/L/INAlFiB2AghDiMk3vjN9YopOJi5YoBohdSV5Ft+4S/0plLVNoHY7XzxqmpZGtm1Oqcv4wjhYa2IN79qixKrle0LWrfzQ0sAiYV8728F/CQMJ0XOYLWwIONQ/9x+foMv4gGIp9395wbHI8qO/nPD+3gCT3CXPcHPvFHKZG3y+fznFv3h8bRi6nd2s2dkHo7Cp9lSk5CvFdSASYw9N9LOPLccEx4rKe8pJMfrVj7YyPKxR3qz79/YbdASXfMfX5Jl/ZpdQ+pY0k5YQQ1JV+x5D8Li8TUgVj6F0pu84NjT55mhuGvo2eBbdx/42j+/mQJ272eTJ5xd/fnAEoj9nlTvPnRWnsMR+FmcFc/R+P/ArNyy2WDYFnveg2Dghc5Y32Nm8AwvyL0P3W9Bhhua3PD1rQh4C8INDtf5ETeNeQOmg9kLPOx1FM1PUny0IQA3D8+sb7TE7yWvz1db8uHP/Exo32xTX5Y2Nd2QjMRzA13dmG4Ssq+dWboBA00OBGt3Jj1AuQDKUhQcGWxJIFqtsKYzqajZ4gZxGQj4fRrexC9DINw0fk0I3uxuXlHAQyT6IntLfvO6zpUFRsJKabacCafYBTBqYmhGySKs6NbFqsybG2Q0khbuceBtgoFbyLGodW8aqEt/Um4XDCgUOxNpIF3vA8ONMw3E7qYstXk64k5ZyHPkJh028kkovsjjhI3wwc/8zM3d4el190nw0XeLGS1TPO6h8In/iTT6Oj0C07DDb+fFxbwNe9RW7gNt9HV79PMYCtz74D2Bd0AFaZbB8d3CPN+C/fHcXu36z4RWTd/eou3XN9cbjSAvqAjiX9/gxBRN36p9Q5pm0xIC/FOkwnprTYGBIB2gqtb7O9QRo5RSUoNruub5EKL/rjdTHU88U2+e261RkHnCuvzJl1+cvpvmvKya5u9un8BGdu55dXGR1+PTuq7qrY+eZQVWLchoFzbDnP7inV9Cf1J2fjnNJcPc5JgYatgIG9BCb/5ulFJ6DzHQ1h0OYoZN5fDYb1oVuSEtLsv5WLpYmsViGgry4bEU49dIhvfXOjtLbu+9PH/zwtmNC9hmbbXfpo9uGS6S6aebF0JvRnE73Y1Z8PfJwxPxn65XtOQFMotQC3fFmzMiskzgaQBdN4iPcnzi2Qjb16AIdhwFAb05F7xByW3MY97k9kcwsYuqm8IJPLdQvJ0sbYw9bpmx5fbDziJj/r0oq3SfW+V9bzE2PMRaL01gcjNndZ+e93Yb9kLDW4wST9eXGQL/vO9P3dBMvaxPbocHnpsHhq63b+6amt3KG8cTSj4HSu8xPb4isJb/Bj3gvNyb1UD3YWHsdHTzCpH/3JJr8dxKCszzHnDxRAZya6XSfd6zazyqKuIR4Xsoiu7zXiQzz9fAH0+gWN6XcbtPN/y7Bfe+h5bpPp3Q7+dS6XSfG4f9s6CDuk+gk7yUzdeD5qkKF41s1lHeON5fR3UfiHq34/fTWd3nawoMnq8loOb5gH7xRAjxtXVe9/lA1PCIIhzIcH2ATuw+HzQF5vkGxovH16EfLGjdx0scbdSpnrR9gE7tPp201Wc3d/5eOvZrK7fug8B5ZmJ5DpjrPE8vCxNC6xdTG/V9M93244xeoEkTdmPWx8/4+NkeyfR8Q1N5U26q9/3PWsfjr1YzsgXPKA2DdeYtzjR8Y6ywOQp8n/TnpucWi5g3PbdaprzN8w2psXB9uEe8D7Qt/jO4sOpY/5tgvg+cow94/QNe/WCu+EBuuMXcsBn/kAn6muT5Gq99jVe+9gR8TcL/7Ind4FQ6a/N1ZvE9afoezd+j6XvP0nvOzi1o995icMvh3aLZLZrcmkC3JMw3x6bDpHUe0W3I+kGrjkNf3Ui2G8h1m8HdyDgD+P3cr6hl5GP3F6bewNf+SfK1ZRFtYFGs/2G49LOx+Q2LZq/yRXUJx3+O2LNpBT1e5/sGV84uK1pBl66eh/HN1je1UHaU7t5+pvr+7Q91aQyPZCNinf6cLDPdnPx/SnJ5izTUjQm8D4LjZ8ZuB2fTJAlHxqfh6+H3tGhWVbMZqw069NYayDw3zOomjVTz4IcEvy/3wyrKPF9b+b6/0mryVnTW44Y06LTOzz/7yJsNRlim5KO7R2mxbNpsOc2/ruY6IYtU30JTnVd1ulWQ3BebNYfTDofU9IiW+Onn9vbt9dcmrVR8/0YuvFkmjtutYsAadf58r4n7bk0cmddMKMxeIxqvOifbyEilE8bqa0zUlJi4iSj2R+mZkCOblJ3EYoS4BtrZ8WoF6UlFF0coYVpyN51V79u94q9+3eqNIDesb0TeWU9oxSCSNuthOuphYj7xE2mGFLfnznZeNGMhHv07wIPcKCSb99fGl+LLhpteGciq39bdUpIKAM8m3poiF3mb/mLjtfnDHFCON6FgB/01MXBE+3oIODP89RDwpuD2CKgsTKqqTM8apkE+e5/+419sMKE9co1/smgK0iPpZ5+lXxTTumqq83b85fl5McVaUp2Pv2iqN3XxuiVMxwv8vh5izAFr2XwNPGMIppdZuc7T3+P2eJKqvFXbZxsSwe87mU1bF8uLFMnsH8ZMwh9iOn3VFmUz/jxvOY1+c/L0G5wsOP48N7TatLxo5xS5fJG989Q1UJKvbkgNyAzrTI9frydCza2d0TDEqMkwT4c8r3vkGUlf70GlTbqE/Iy6LmaOC6rXMoDbmxp9E+sgRAhgO4Aaa43CaA1qazXIIEUwUfaNDVOhnX/0Lv2I1u/aYRxykhuGijZjkqe6bb5btPOtj959dOc2HVj4vGx32kzZVuc00USDd0PjUN4fQGzTBLHza53JW08Ke+icxEkpkkkrTuM0w0T2vYCvHfzeJn20KXi5lQeHZ0AV8ECcZ/KzMI5bpZ5v41Xi2TAKz1n65kdxs6rFE/N0Y+3eU+EwP3eWUD0NcnsOHxLi9Bf+wvR37X8B8X5vEqrUMzRNVJBi370zJlu8YPAbswxWvwHGe3shUFXvjXGcKpt1G56hkd5ydJsWpqPcgOeN6zOuFAf+1F/pxy/5fwCvoEtV0mEAAA==&lt;/Code&gt;&lt;CodeSignature&gt;YkMES0p7GrhYRI3c2LvXC3B50ehcnyp29xu1K6Vj95RmkzmusXliGjPMB+Ilf7pDOBySkxJ1SxhuUarFxLqI1LFDTkfNKwHE5+QMWEnKMv3GF2gDeK3oF/i+4SdE67QQ7tmJxc5wZUmwcUPUleQbqABCFfZcIJKHQ0BLaC/wF4fMUnfcimSlXKmwtAwJUNjPe8pUObB0CZFAjhRjXczx3l/fOkQODN/vciGd0aOVvUFeqUaMLZh3bnAKetvOrpCcTPPFjU63YrJIwI9FUFZaB37bZkgPJHhyDQZIHN1QeXtB9KdUZEGm8usmpqyS5s+YHfXxDX4vTSGkCYGqTRmYHA==&lt;/CodeSignature&gt;&lt;/SmartOptions&gt;&lt;SmartResize enabled=&quot;True&quot; minWidth=&quot;0&quot; minHeight=&quot;0&quot; /&gt;&lt;/SmartSettings&gt;">
            <a:extLst>
              <a:ext uri="{FF2B5EF4-FFF2-40B4-BE49-F238E27FC236}">
                <a16:creationId xmlns:a16="http://schemas.microsoft.com/office/drawing/2014/main" id="{60EC335B-2121-4FFB-81FC-B82A12BD10FA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7350159" y="5537511"/>
            <a:ext cx="614478" cy="386907"/>
            <a:chOff x="595686" y="1210923"/>
            <a:chExt cx="998966" cy="728663"/>
          </a:xfrm>
        </p:grpSpPr>
        <p:sp>
          <p:nvSpPr>
            <p:cNvPr id="204" name="Circle">
              <a:extLst>
                <a:ext uri="{FF2B5EF4-FFF2-40B4-BE49-F238E27FC236}">
                  <a16:creationId xmlns:a16="http://schemas.microsoft.com/office/drawing/2014/main" id="{217FD967-3F6A-479B-93DB-0426057E4FCB}"/>
                </a:ext>
              </a:extLst>
            </p:cNvPr>
            <p:cNvSpPr/>
            <p:nvPr/>
          </p:nvSpPr>
          <p:spPr>
            <a:xfrm>
              <a:off x="595686" y="1300750"/>
              <a:ext cx="133350" cy="13335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06" name="Check" hidden="1">
              <a:extLst>
                <a:ext uri="{FF2B5EF4-FFF2-40B4-BE49-F238E27FC236}">
                  <a16:creationId xmlns:a16="http://schemas.microsoft.com/office/drawing/2014/main" id="{46BD5843-5AF4-4F52-BBF4-EB5EAF1D5C14}"/>
                </a:ext>
              </a:extLst>
            </p:cNvPr>
            <p:cNvSpPr/>
            <p:nvPr/>
          </p:nvSpPr>
          <p:spPr>
            <a:xfrm>
              <a:off x="632992" y="1338056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07" name="Label">
              <a:extLst>
                <a:ext uri="{FF2B5EF4-FFF2-40B4-BE49-F238E27FC236}">
                  <a16:creationId xmlns:a16="http://schemas.microsoft.com/office/drawing/2014/main" id="{8A670454-8E82-49EF-A084-35C0DAE30A4F}"/>
                </a:ext>
              </a:extLst>
            </p:cNvPr>
            <p:cNvSpPr txBox="1"/>
            <p:nvPr/>
          </p:nvSpPr>
          <p:spPr>
            <a:xfrm>
              <a:off x="729035" y="1210923"/>
              <a:ext cx="865617" cy="313003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600" dirty="0" smtClean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등록신청서</a:t>
              </a:r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08" name="Circle">
              <a:extLst>
                <a:ext uri="{FF2B5EF4-FFF2-40B4-BE49-F238E27FC236}">
                  <a16:creationId xmlns:a16="http://schemas.microsoft.com/office/drawing/2014/main" id="{75853757-40B0-4AE1-8042-137877503416}"/>
                </a:ext>
              </a:extLst>
            </p:cNvPr>
            <p:cNvSpPr/>
            <p:nvPr/>
          </p:nvSpPr>
          <p:spPr>
            <a:xfrm>
              <a:off x="595686" y="1508580"/>
              <a:ext cx="133350" cy="13335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18" name="Check" hidden="1">
              <a:extLst>
                <a:ext uri="{FF2B5EF4-FFF2-40B4-BE49-F238E27FC236}">
                  <a16:creationId xmlns:a16="http://schemas.microsoft.com/office/drawing/2014/main" id="{AA01C14B-D894-4CCC-B0EB-F828562410CE}"/>
                </a:ext>
              </a:extLst>
            </p:cNvPr>
            <p:cNvSpPr/>
            <p:nvPr/>
          </p:nvSpPr>
          <p:spPr>
            <a:xfrm>
              <a:off x="632992" y="1545886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19" name="Label">
              <a:extLst>
                <a:ext uri="{FF2B5EF4-FFF2-40B4-BE49-F238E27FC236}">
                  <a16:creationId xmlns:a16="http://schemas.microsoft.com/office/drawing/2014/main" id="{667275C9-B025-497E-B010-69DCA26E7847}"/>
                </a:ext>
              </a:extLst>
            </p:cNvPr>
            <p:cNvSpPr txBox="1"/>
            <p:nvPr/>
          </p:nvSpPr>
          <p:spPr>
            <a:xfrm>
              <a:off x="729035" y="1418753"/>
              <a:ext cx="615439" cy="313003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600" dirty="0" smtClean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이력서</a:t>
              </a:r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20" name="Circle">
              <a:extLst>
                <a:ext uri="{FF2B5EF4-FFF2-40B4-BE49-F238E27FC236}">
                  <a16:creationId xmlns:a16="http://schemas.microsoft.com/office/drawing/2014/main" id="{837A5707-C04D-472D-802E-D5F5EE0043C9}"/>
                </a:ext>
              </a:extLst>
            </p:cNvPr>
            <p:cNvSpPr/>
            <p:nvPr/>
          </p:nvSpPr>
          <p:spPr>
            <a:xfrm>
              <a:off x="595686" y="1716410"/>
              <a:ext cx="133350" cy="13335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21" name="Check" hidden="1">
              <a:extLst>
                <a:ext uri="{FF2B5EF4-FFF2-40B4-BE49-F238E27FC236}">
                  <a16:creationId xmlns:a16="http://schemas.microsoft.com/office/drawing/2014/main" id="{BD0EF9A7-EFED-434F-A5D6-F4F66B6E5A6D}"/>
                </a:ext>
              </a:extLst>
            </p:cNvPr>
            <p:cNvSpPr/>
            <p:nvPr/>
          </p:nvSpPr>
          <p:spPr>
            <a:xfrm>
              <a:off x="632992" y="1753716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22" name="Label">
              <a:extLst>
                <a:ext uri="{FF2B5EF4-FFF2-40B4-BE49-F238E27FC236}">
                  <a16:creationId xmlns:a16="http://schemas.microsoft.com/office/drawing/2014/main" id="{25D96BEF-71A6-4B8F-ADEA-96AEA1312E21}"/>
                </a:ext>
              </a:extLst>
            </p:cNvPr>
            <p:cNvSpPr txBox="1"/>
            <p:nvPr/>
          </p:nvSpPr>
          <p:spPr>
            <a:xfrm>
              <a:off x="729035" y="1626583"/>
              <a:ext cx="865617" cy="313003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600" dirty="0" err="1" smtClean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청렴서약서</a:t>
              </a:r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23" name="사각형: 둥근 모서리 105">
            <a:extLst>
              <a:ext uri="{FF2B5EF4-FFF2-40B4-BE49-F238E27FC236}">
                <a16:creationId xmlns:a16="http://schemas.microsoft.com/office/drawing/2014/main" id="{A5F8964B-A774-407F-A58A-485A37E8BDFC}"/>
              </a:ext>
            </a:extLst>
          </p:cNvPr>
          <p:cNvSpPr/>
          <p:nvPr/>
        </p:nvSpPr>
        <p:spPr>
          <a:xfrm>
            <a:off x="7498292" y="5929489"/>
            <a:ext cx="617482" cy="118168"/>
          </a:xfrm>
          <a:prstGeom prst="roundRect">
            <a:avLst/>
          </a:prstGeom>
          <a:solidFill>
            <a:srgbClr val="0070C0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l"/>
            <a:r>
              <a:rPr lang="ko-KR" altLang="en-US" sz="600" dirty="0" err="1">
                <a:solidFill>
                  <a:schemeClr val="bg1"/>
                </a:solidFill>
              </a:rPr>
              <a:t>파일첨부하기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224" name="사각형: 둥근 모서리 106">
            <a:extLst>
              <a:ext uri="{FF2B5EF4-FFF2-40B4-BE49-F238E27FC236}">
                <a16:creationId xmlns:a16="http://schemas.microsoft.com/office/drawing/2014/main" id="{1E05F830-D9B1-4D7A-B04C-67886CA1A2E4}"/>
              </a:ext>
            </a:extLst>
          </p:cNvPr>
          <p:cNvSpPr/>
          <p:nvPr/>
        </p:nvSpPr>
        <p:spPr>
          <a:xfrm>
            <a:off x="7523052" y="6086878"/>
            <a:ext cx="592721" cy="80974"/>
          </a:xfrm>
          <a:prstGeom prst="round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나중에</a:t>
            </a:r>
          </a:p>
        </p:txBody>
      </p: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48830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186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4285480197"/>
      </p:ext>
    </p:extLst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데이터 없을 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표시할 데이터가 없습니다</a:t>
            </a:r>
            <a:r>
              <a:rPr lang="en-US" altLang="ko-KR" dirty="0" smtClean="0"/>
              <a:t>. </a:t>
            </a:r>
            <a:r>
              <a:rPr lang="ko-KR" altLang="en-US" dirty="0" smtClean="0"/>
              <a:t>노출</a:t>
            </a:r>
            <a:endParaRPr lang="en-US" altLang="ko-KR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군수품무역대리업 </a:t>
            </a:r>
            <a:r>
              <a:rPr lang="ko-KR" altLang="en-US" dirty="0" smtClean="0"/>
              <a:t>신규</a:t>
            </a:r>
            <a:r>
              <a:rPr lang="en-US" altLang="ko-KR" dirty="0" smtClean="0"/>
              <a:t>(</a:t>
            </a:r>
            <a:r>
              <a:rPr lang="ko-KR" altLang="en-US" dirty="0" smtClean="0"/>
              <a:t>갱신</a:t>
            </a:r>
            <a:r>
              <a:rPr lang="en-US" altLang="ko-KR" dirty="0" smtClean="0"/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군수품무역대리업 </a:t>
            </a:r>
            <a:r>
              <a:rPr lang="ko-KR" altLang="en-US" dirty="0" smtClean="0"/>
              <a:t>신규</a:t>
            </a:r>
            <a:r>
              <a:rPr lang="en-US" altLang="ko-KR" dirty="0" smtClean="0"/>
              <a:t>(</a:t>
            </a:r>
            <a:r>
              <a:rPr lang="ko-KR" altLang="en-US" dirty="0"/>
              <a:t>갱신</a:t>
            </a:r>
            <a:r>
              <a:rPr lang="en-US" altLang="ko-KR" dirty="0" smtClean="0"/>
              <a:t>) </a:t>
            </a:r>
            <a:r>
              <a:rPr lang="ko-KR" altLang="en-US" dirty="0" smtClean="0"/>
              <a:t>화면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군수품무역대리업 신청 </a:t>
            </a:r>
            <a:r>
              <a:rPr lang="ko-KR" altLang="en-US" dirty="0" smtClean="0"/>
              <a:t>목록 </a:t>
            </a:r>
            <a:r>
              <a:rPr lang="en-US" altLang="ko-KR" dirty="0" smtClean="0"/>
              <a:t>&gt; </a:t>
            </a:r>
            <a:r>
              <a:rPr lang="ko-KR" altLang="en-US" dirty="0" smtClean="0"/>
              <a:t>신구</a:t>
            </a:r>
            <a:r>
              <a:rPr lang="en-US" altLang="ko-KR" dirty="0" smtClean="0"/>
              <a:t>(</a:t>
            </a:r>
            <a:r>
              <a:rPr lang="ko-KR" altLang="en-US" dirty="0"/>
              <a:t>갱신</a:t>
            </a:r>
            <a:r>
              <a:rPr lang="en-US" altLang="ko-KR" dirty="0"/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MUI-CM-01-M17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군수품무역대리업 </a:t>
            </a:r>
            <a:r>
              <a:rPr lang="ko-KR" altLang="en-US" sz="800" dirty="0" smtClean="0"/>
              <a:t>신규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8517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4474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83" name="TextBox 1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337" y="1951660"/>
            <a:ext cx="118217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보안측정인원</a:t>
            </a:r>
          </a:p>
        </p:txBody>
      </p:sp>
      <p:grpSp>
        <p:nvGrpSpPr>
          <p:cNvPr id="184" name="그룹 183"/>
          <p:cNvGrpSpPr/>
          <p:nvPr/>
        </p:nvGrpSpPr>
        <p:grpSpPr>
          <a:xfrm flipV="1">
            <a:off x="3139424" y="2064991"/>
            <a:ext cx="94010" cy="47005"/>
            <a:chOff x="6812560" y="3297172"/>
            <a:chExt cx="94010" cy="47005"/>
          </a:xfrm>
        </p:grpSpPr>
        <p:cxnSp>
          <p:nvCxnSpPr>
            <p:cNvPr id="201" name="직선 연결선 20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02" name="직선 연결선 20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11" name="그룹 110"/>
          <p:cNvGrpSpPr/>
          <p:nvPr/>
        </p:nvGrpSpPr>
        <p:grpSpPr>
          <a:xfrm>
            <a:off x="714884" y="2255292"/>
            <a:ext cx="2630093" cy="1292662"/>
            <a:chOff x="3836700" y="3380909"/>
            <a:chExt cx="2630093" cy="1292662"/>
          </a:xfrm>
        </p:grpSpPr>
        <p:sp>
          <p:nvSpPr>
            <p:cNvPr id="118" name="직사각형 117"/>
            <p:cNvSpPr/>
            <p:nvPr/>
          </p:nvSpPr>
          <p:spPr>
            <a:xfrm>
              <a:off x="3838793" y="3380909"/>
              <a:ext cx="792000" cy="12808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0" y="338090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7" y="3380909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성명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주민등록번호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적격여부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보안측정일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첨부파일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구분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5" y="3380909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990101-1******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2022-02-02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solidFill>
                    <a:srgbClr val="0070C0"/>
                  </a:solidFill>
                  <a:latin typeface="+mn-ea"/>
                </a:rPr>
                <a:t>증명서</a:t>
              </a: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.pdf</a:t>
              </a:r>
            </a:p>
          </p:txBody>
        </p: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6120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8257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0394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2343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4480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6617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5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72446" y="4253135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 smtClean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보기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55" name="직사각형 154"/>
          <p:cNvSpPr/>
          <p:nvPr/>
        </p:nvSpPr>
        <p:spPr>
          <a:xfrm>
            <a:off x="3898850" y="1926097"/>
            <a:ext cx="2479833" cy="9541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ko-KR" altLang="en-US" sz="800" b="1" dirty="0" smtClean="0"/>
              <a:t>구분 정보</a:t>
            </a:r>
            <a:endParaRPr lang="en-US" altLang="ko-KR" sz="800" b="1" dirty="0" smtClean="0"/>
          </a:p>
          <a:p>
            <a:pPr marL="171450" indent="-171450">
              <a:buFontTx/>
              <a:buChar char="-"/>
            </a:pPr>
            <a:r>
              <a:rPr lang="ko-KR" altLang="en-US" sz="800" dirty="0" err="1"/>
              <a:t>심사대기</a:t>
            </a:r>
            <a:r>
              <a:rPr lang="ko-KR" altLang="en-US" sz="800" dirty="0"/>
              <a:t> </a:t>
            </a:r>
            <a:r>
              <a:rPr lang="en-US" altLang="ko-KR" sz="800" dirty="0"/>
              <a:t>: </a:t>
            </a:r>
            <a:r>
              <a:rPr lang="ko-KR" altLang="en-US" sz="800" dirty="0"/>
              <a:t>군수품무역대리업 신청 후 </a:t>
            </a:r>
            <a:r>
              <a:rPr lang="ko-KR" altLang="en-US" sz="800" dirty="0" err="1"/>
              <a:t>심사전</a:t>
            </a:r>
            <a:r>
              <a:rPr lang="ko-KR" altLang="en-US" sz="800" dirty="0"/>
              <a:t> 상태</a:t>
            </a:r>
          </a:p>
          <a:p>
            <a:pPr marL="171450" indent="-171450">
              <a:buFontTx/>
              <a:buChar char="-"/>
            </a:pPr>
            <a:r>
              <a:rPr lang="ko-KR" altLang="en-US" sz="800" dirty="0" err="1"/>
              <a:t>수정대기</a:t>
            </a:r>
            <a:r>
              <a:rPr lang="ko-KR" altLang="en-US" sz="800" dirty="0"/>
              <a:t> </a:t>
            </a:r>
            <a:r>
              <a:rPr lang="en-US" altLang="ko-KR" sz="800" dirty="0"/>
              <a:t>: </a:t>
            </a:r>
            <a:r>
              <a:rPr lang="ko-KR" altLang="en-US" sz="800" dirty="0"/>
              <a:t>군수품무역대리업 신청 후 보안측정인원 첨부파일 </a:t>
            </a:r>
            <a:r>
              <a:rPr lang="ko-KR" altLang="en-US" sz="800" dirty="0" err="1"/>
              <a:t>수정제출한</a:t>
            </a:r>
            <a:r>
              <a:rPr lang="ko-KR" altLang="en-US" sz="800" dirty="0"/>
              <a:t> 상태</a:t>
            </a:r>
          </a:p>
          <a:p>
            <a:pPr marL="171450" indent="-171450">
              <a:buFontTx/>
              <a:buChar char="-"/>
            </a:pPr>
            <a:r>
              <a:rPr lang="ko-KR" altLang="en-US" sz="800" dirty="0" err="1"/>
              <a:t>승인완료</a:t>
            </a:r>
            <a:r>
              <a:rPr lang="ko-KR" altLang="en-US" sz="800" dirty="0"/>
              <a:t> </a:t>
            </a:r>
            <a:r>
              <a:rPr lang="en-US" altLang="ko-KR" sz="800" dirty="0"/>
              <a:t>: </a:t>
            </a:r>
            <a:r>
              <a:rPr lang="ko-KR" altLang="en-US" sz="800" dirty="0"/>
              <a:t>군수품무역대리업 신청 후 </a:t>
            </a:r>
            <a:r>
              <a:rPr lang="ko-KR" altLang="en-US" sz="800" dirty="0" err="1"/>
              <a:t>발급완료</a:t>
            </a:r>
            <a:r>
              <a:rPr lang="ko-KR" altLang="en-US" sz="800" dirty="0"/>
              <a:t> 상태</a:t>
            </a:r>
          </a:p>
        </p:txBody>
      </p:sp>
      <p:cxnSp>
        <p:nvCxnSpPr>
          <p:cNvPr id="156" name="직선 연결선 15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447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7" name="직선 연결선 15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0563" y="18815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34978" y="1573452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도움말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9" name="타원 158"/>
          <p:cNvSpPr/>
          <p:nvPr/>
        </p:nvSpPr>
        <p:spPr>
          <a:xfrm>
            <a:off x="3898850" y="160479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62" name="그룹 161"/>
          <p:cNvGrpSpPr/>
          <p:nvPr/>
        </p:nvGrpSpPr>
        <p:grpSpPr>
          <a:xfrm flipV="1">
            <a:off x="6258712" y="1686783"/>
            <a:ext cx="94010" cy="47005"/>
            <a:chOff x="6812560" y="3297172"/>
            <a:chExt cx="94010" cy="47005"/>
          </a:xfrm>
        </p:grpSpPr>
        <p:cxnSp>
          <p:nvCxnSpPr>
            <p:cNvPr id="163" name="직선 연결선 16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4" name="직선 연결선 16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66" name="직선 연결선 16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0563" y="291381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7" name="모서리가 둥근 직사각형 166"/>
          <p:cNvSpPr/>
          <p:nvPr/>
        </p:nvSpPr>
        <p:spPr>
          <a:xfrm>
            <a:off x="759699" y="4549363"/>
            <a:ext cx="2543426" cy="1465365"/>
          </a:xfrm>
          <a:prstGeom prst="roundRect">
            <a:avLst>
              <a:gd name="adj" fmla="val 3479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62779" y="4611182"/>
            <a:ext cx="2154318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b="1" dirty="0" smtClean="0">
                <a:latin typeface="Consolas" panose="020B0609020204030204" pitchFamily="49" charset="0"/>
              </a:rPr>
              <a:t>동의서 내용</a:t>
            </a:r>
            <a:endParaRPr lang="en-US" altLang="ko-KR" sz="700" b="1" dirty="0" smtClean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본인은 이 건 업무처리와 관련하여 담당 공무원이 </a:t>
            </a:r>
            <a:r>
              <a:rPr lang="en-US" altLang="ko-KR" sz="700" dirty="0">
                <a:latin typeface="Consolas" panose="020B0609020204030204" pitchFamily="49" charset="0"/>
              </a:rPr>
              <a:t>"</a:t>
            </a:r>
            <a:r>
              <a:rPr lang="ko-KR" altLang="en-US" sz="700" dirty="0" err="1">
                <a:latin typeface="Consolas" panose="020B0609020204030204" pitchFamily="49" charset="0"/>
              </a:rPr>
              <a:t>전자정부법</a:t>
            </a:r>
            <a:r>
              <a:rPr lang="en-US" altLang="ko-KR" sz="700" dirty="0">
                <a:latin typeface="Consolas" panose="020B0609020204030204" pitchFamily="49" charset="0"/>
              </a:rPr>
              <a:t>" </a:t>
            </a:r>
            <a:r>
              <a:rPr lang="ko-KR" altLang="en-US" sz="700" dirty="0">
                <a:latin typeface="Consolas" panose="020B0609020204030204" pitchFamily="49" charset="0"/>
              </a:rPr>
              <a:t>제</a:t>
            </a:r>
            <a:r>
              <a:rPr lang="en-US" altLang="ko-KR" sz="700" dirty="0">
                <a:latin typeface="Consolas" panose="020B0609020204030204" pitchFamily="49" charset="0"/>
              </a:rPr>
              <a:t>36</a:t>
            </a:r>
            <a:r>
              <a:rPr lang="ko-KR" altLang="en-US" sz="700" dirty="0">
                <a:latin typeface="Consolas" panose="020B0609020204030204" pitchFamily="49" charset="0"/>
              </a:rPr>
              <a:t>조제</a:t>
            </a:r>
            <a:r>
              <a:rPr lang="en-US" altLang="ko-KR" sz="700" dirty="0">
                <a:latin typeface="Consolas" panose="020B0609020204030204" pitchFamily="49" charset="0"/>
              </a:rPr>
              <a:t>1</a:t>
            </a:r>
            <a:r>
              <a:rPr lang="ko-KR" altLang="en-US" sz="700" dirty="0">
                <a:latin typeface="Consolas" panose="020B0609020204030204" pitchFamily="49" charset="0"/>
              </a:rPr>
              <a:t>항에 따른 행정정보의 공동이용을 통하여 위의 담당공무원 </a:t>
            </a:r>
            <a:r>
              <a:rPr lang="ko-KR" altLang="en-US" sz="700" dirty="0" err="1">
                <a:latin typeface="Consolas" panose="020B0609020204030204" pitchFamily="49" charset="0"/>
              </a:rPr>
              <a:t>확인사항</a:t>
            </a:r>
            <a:r>
              <a:rPr lang="ko-KR" altLang="en-US" sz="700" dirty="0">
                <a:latin typeface="Consolas" panose="020B0609020204030204" pitchFamily="49" charset="0"/>
              </a:rPr>
              <a:t> 중 </a:t>
            </a:r>
            <a:r>
              <a:rPr lang="ko-KR" altLang="en-US" sz="700" dirty="0" err="1">
                <a:latin typeface="Consolas" panose="020B0609020204030204" pitchFamily="49" charset="0"/>
              </a:rPr>
              <a:t>주민등록표</a:t>
            </a:r>
            <a:r>
              <a:rPr lang="ko-KR" altLang="en-US" sz="700" dirty="0">
                <a:latin typeface="Consolas" panose="020B0609020204030204" pitchFamily="49" charset="0"/>
              </a:rPr>
              <a:t> 등본</a:t>
            </a:r>
            <a:r>
              <a:rPr lang="en-US" altLang="ko-KR" sz="700" dirty="0">
                <a:latin typeface="Consolas" panose="020B0609020204030204" pitchFamily="49" charset="0"/>
              </a:rPr>
              <a:t>, </a:t>
            </a:r>
            <a:r>
              <a:rPr lang="ko-KR" altLang="en-US" sz="700" dirty="0">
                <a:latin typeface="Consolas" panose="020B0609020204030204" pitchFamily="49" charset="0"/>
              </a:rPr>
              <a:t>사업자등록증을 </a:t>
            </a:r>
            <a:r>
              <a:rPr lang="ko-KR" altLang="en-US" sz="700" dirty="0" err="1">
                <a:latin typeface="Consolas" panose="020B0609020204030204" pitchFamily="49" charset="0"/>
              </a:rPr>
              <a:t>확인하는것에</a:t>
            </a:r>
            <a:r>
              <a:rPr lang="ko-KR" altLang="en-US" sz="700" dirty="0">
                <a:latin typeface="Consolas" panose="020B0609020204030204" pitchFamily="49" charset="0"/>
              </a:rPr>
              <a:t> 동의합니다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 smtClean="0">
                <a:latin typeface="Consolas" panose="020B0609020204030204" pitchFamily="49" charset="0"/>
              </a:rPr>
              <a:t>동의하지 </a:t>
            </a:r>
            <a:r>
              <a:rPr lang="ko-KR" altLang="en-US" sz="700" dirty="0">
                <a:latin typeface="Consolas" panose="020B0609020204030204" pitchFamily="49" charset="0"/>
              </a:rPr>
              <a:t>아니하는 경우에는 신청인이 직접 관련 서류를 제출하여야 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</p:txBody>
      </p:sp>
      <p:sp>
        <p:nvSpPr>
          <p:cNvPr id="171" name="타원 170"/>
          <p:cNvSpPr/>
          <p:nvPr/>
        </p:nvSpPr>
        <p:spPr>
          <a:xfrm>
            <a:off x="832838" y="46159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72" name="그룹 171"/>
          <p:cNvGrpSpPr/>
          <p:nvPr/>
        </p:nvGrpSpPr>
        <p:grpSpPr>
          <a:xfrm flipV="1">
            <a:off x="3138712" y="4686396"/>
            <a:ext cx="94010" cy="47005"/>
            <a:chOff x="6812560" y="3297172"/>
            <a:chExt cx="94010" cy="47005"/>
          </a:xfrm>
        </p:grpSpPr>
        <p:cxnSp>
          <p:nvCxnSpPr>
            <p:cNvPr id="173" name="직선 연결선 17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74" name="직선 연결선 17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76" name="그룹 175"/>
          <p:cNvGrpSpPr/>
          <p:nvPr/>
        </p:nvGrpSpPr>
        <p:grpSpPr>
          <a:xfrm>
            <a:off x="767702" y="4075971"/>
            <a:ext cx="2522014" cy="342712"/>
            <a:chOff x="3888037" y="3794514"/>
            <a:chExt cx="2522014" cy="342712"/>
          </a:xfrm>
        </p:grpSpPr>
        <p:sp>
          <p:nvSpPr>
            <p:cNvPr id="17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3888037" y="3794514"/>
              <a:ext cx="2522014" cy="34271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endParaRPr kumimoji="1" lang="en-US" sz="700" kern="0" dirty="0">
                <a:solidFill>
                  <a:srgbClr val="0070C0"/>
                </a:solidFill>
                <a:latin typeface="맑은 고딕"/>
              </a:endParaRPr>
            </a:p>
          </p:txBody>
        </p:sp>
        <p:sp>
          <p:nvSpPr>
            <p:cNvPr id="180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3985874" y="3904315"/>
              <a:ext cx="56106" cy="12311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/>
                <a:t>1</a:t>
              </a:r>
              <a:endParaRPr lang="ko-KR" altLang="en-US" sz="800" b="1" dirty="0"/>
            </a:p>
          </p:txBody>
        </p:sp>
        <p:sp>
          <p:nvSpPr>
            <p:cNvPr id="181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4161661" y="3904315"/>
              <a:ext cx="1202252" cy="12311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dirty="0">
                  <a:latin typeface="맑은 고딕" panose="020B0503020000020004" pitchFamily="50" charset="-127"/>
                </a:rPr>
                <a:t>행정정보 공동이용 동의서</a:t>
              </a:r>
              <a:endParaRPr lang="en-US" altLang="ko-KR" sz="800" dirty="0">
                <a:latin typeface="맑은 고딕" panose="020B0503020000020004" pitchFamily="50" charset="-127"/>
              </a:endParaRPr>
            </a:p>
          </p:txBody>
        </p:sp>
        <p:sp>
          <p:nvSpPr>
            <p:cNvPr id="185" name="모서리가 둥근 직사각형 184"/>
            <p:cNvSpPr/>
            <p:nvPr/>
          </p:nvSpPr>
          <p:spPr>
            <a:xfrm>
              <a:off x="6079244" y="3906170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동의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205" name="타원 204"/>
            <p:cNvSpPr/>
            <p:nvPr/>
          </p:nvSpPr>
          <p:spPr>
            <a:xfrm>
              <a:off x="5884665" y="3908013"/>
              <a:ext cx="115715" cy="115715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 dirty="0">
                  <a:solidFill>
                    <a:schemeClr val="accent6"/>
                  </a:solidFill>
                </a:rPr>
                <a:t>V</a:t>
              </a:r>
              <a:endParaRPr lang="ko-KR" altLang="en-US" sz="800" dirty="0">
                <a:solidFill>
                  <a:schemeClr val="accent6"/>
                </a:solidFill>
              </a:endParaRPr>
            </a:p>
          </p:txBody>
        </p:sp>
      </p:grpSp>
      <p:sp>
        <p:nvSpPr>
          <p:cNvPr id="209" name="TextBox 2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3211" y="3749817"/>
            <a:ext cx="1136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조회 동의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10" name="그룹 209"/>
          <p:cNvGrpSpPr/>
          <p:nvPr/>
        </p:nvGrpSpPr>
        <p:grpSpPr>
          <a:xfrm flipV="1">
            <a:off x="3135299" y="3863148"/>
            <a:ext cx="94010" cy="47005"/>
            <a:chOff x="6812560" y="3297172"/>
            <a:chExt cx="94010" cy="47005"/>
          </a:xfrm>
        </p:grpSpPr>
        <p:cxnSp>
          <p:nvCxnSpPr>
            <p:cNvPr id="211" name="직선 연결선 21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2" name="직선 연결선 21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13" name="그룹 212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제출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21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217" name="그룹 216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4049128"/>
            <a:ext cx="76863" cy="292489"/>
            <a:chOff x="3750067" y="4683795"/>
            <a:chExt cx="76863" cy="292489"/>
          </a:xfrm>
        </p:grpSpPr>
        <p:sp>
          <p:nvSpPr>
            <p:cNvPr id="225" name="타원 22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26" name="타원 22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27" name="타원 22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954651971"/>
      </p:ext>
    </p:extLst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172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827718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59001AB-3C1D-A1C6-C68A-973F59FC48AB}"/>
              </a:ext>
            </a:extLst>
          </p:cNvPr>
          <p:cNvSpPr txBox="1"/>
          <p:nvPr/>
        </p:nvSpPr>
        <p:spPr>
          <a:xfrm>
            <a:off x="453000" y="814369"/>
            <a:ext cx="432226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신청 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dm_dfEqpmntTradAgncAplyInfo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994AE86-154D-F53B-1EF4-052FC46164C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1025002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(4)+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접수일련번호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regAplySecd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14485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09627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28020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430655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설립일자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fndnYmd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설립일자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90781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90621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F38884F3-0DEA-B653-19C1-0ED418762AC0}"/>
              </a:ext>
            </a:extLst>
          </p:cNvPr>
          <p:cNvSpPr txBox="1"/>
          <p:nvPr/>
        </p:nvSpPr>
        <p:spPr>
          <a:xfrm>
            <a:off x="453000" y="3575017"/>
            <a:ext cx="516063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신청 업체 첨부서류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dl_dfEqpmntTradAgncAplyAtchFileList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C02CF2F9-B29F-29DA-EC0A-40BB7106BB00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3776945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 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2E54D1D8-7E81-786A-8730-6DB0DAFFEE5A}"/>
              </a:ext>
            </a:extLst>
          </p:cNvPr>
          <p:cNvSpPr txBox="1"/>
          <p:nvPr/>
        </p:nvSpPr>
        <p:spPr>
          <a:xfrm>
            <a:off x="453000" y="4560633"/>
            <a:ext cx="452103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신청 업체 보안측정인원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dl_scrtyMsrmtPrsnlList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78DC00B-0F83-4847-B2AB-C0869EBE482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477183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주민등록번호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taskHdlrEnrrno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주민등록번호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taskHdlrRsltCd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적격여부코드로 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부적격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taskHndlYmd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aprvSecdNm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1448555"/>
                  </a:ext>
                </a:extLst>
              </a:tr>
            </a:tbl>
          </a:graphicData>
        </a:graphic>
      </p:graphicFrame>
      <p:sp>
        <p:nvSpPr>
          <p:cNvPr id="9" name="Text Box 73">
            <a:extLst>
              <a:ext uri="{FF2B5EF4-FFF2-40B4-BE49-F238E27FC236}">
                <a16:creationId xmlns:a16="http://schemas.microsoft.com/office/drawing/2014/main" id="{70576C96-65C6-70F2-0515-AE53B835CC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512872026"/>
      </p:ext>
    </p:extLst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173</a:t>
            </a:fld>
            <a:endParaRPr lang="ko-KR" altLang="en-US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9345221-F415-1E68-5C61-25B7D0B96F3B}"/>
              </a:ext>
            </a:extLst>
          </p:cNvPr>
          <p:cNvSpPr txBox="1"/>
          <p:nvPr/>
        </p:nvSpPr>
        <p:spPr>
          <a:xfrm>
            <a:off x="455204" y="73130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B4CF4F53-DE25-0EA7-5039-EBA1EBDC95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8011142"/>
              </p:ext>
            </p:extLst>
          </p:nvPr>
        </p:nvGraphicFramePr>
        <p:xfrm>
          <a:off x="455204" y="962495"/>
          <a:ext cx="8995591" cy="1457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군수품무역대리업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나라장터</a:t>
                      </a:r>
                      <a:r>
                        <a:rPr lang="en-US" altLang="ko-KR" sz="800" dirty="0"/>
                        <a:t>(G2B)</a:t>
                      </a:r>
                      <a:r>
                        <a:rPr lang="ko-KR" altLang="en-US" sz="800" dirty="0"/>
                        <a:t>조달업체 최신 정보 수신</a:t>
                      </a:r>
                      <a:r>
                        <a:rPr lang="en-US" altLang="ko-KR" sz="800" dirty="0"/>
                        <a:t>(</a:t>
                      </a:r>
                      <a:r>
                        <a:rPr lang="ko-KR" altLang="en-US" sz="800" dirty="0"/>
                        <a:t>갱신</a:t>
                      </a:r>
                      <a:r>
                        <a:rPr lang="en-US" altLang="ko-KR" sz="800" dirty="0"/>
                        <a:t>) </a:t>
                      </a:r>
                      <a:r>
                        <a:rPr lang="ko-KR" altLang="en-US" sz="800" dirty="0"/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/>
                        <a:t>scwin.btn_g2bDmnd_onclick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나라장터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(G2B)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에서 조달업체 최신 정보를 수신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회로 제한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scwin.btn_strg_onclick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군수품무역대리업 신청</a:t>
                      </a:r>
                      <a:r>
                        <a:rPr lang="en-US" altLang="ko-KR" sz="800" dirty="0"/>
                        <a:t>(</a:t>
                      </a:r>
                      <a:r>
                        <a:rPr lang="ko-KR" altLang="en-US" sz="800" dirty="0"/>
                        <a:t>갱신</a:t>
                      </a:r>
                      <a:r>
                        <a:rPr lang="en-US" altLang="ko-KR" sz="800" dirty="0"/>
                        <a:t>) </a:t>
                      </a:r>
                      <a:r>
                        <a:rPr lang="ko-KR" altLang="en-US" sz="800" dirty="0"/>
                        <a:t>정보를 저장한다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81043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제출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scwin.btn_sbmsn_onclick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군수품무역대리업 신청</a:t>
                      </a:r>
                      <a:r>
                        <a:rPr lang="en-US" altLang="ko-KR" sz="800" dirty="0"/>
                        <a:t>(</a:t>
                      </a:r>
                      <a:r>
                        <a:rPr lang="ko-KR" altLang="en-US" sz="800" dirty="0"/>
                        <a:t>갱신</a:t>
                      </a:r>
                      <a:r>
                        <a:rPr lang="en-US" altLang="ko-KR" sz="800" dirty="0"/>
                        <a:t>) </a:t>
                      </a:r>
                      <a:r>
                        <a:rPr lang="ko-KR" altLang="en-US" sz="800" dirty="0"/>
                        <a:t>정보를 제출한다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805518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2FDA49AD-7FB8-F262-5777-4E8C7C0628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2" y="84557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145311062"/>
      </p:ext>
    </p:extLst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신규</a:t>
            </a:r>
            <a:r>
              <a:rPr lang="en-US" altLang="ko-KR" dirty="0" smtClean="0"/>
              <a:t>, </a:t>
            </a:r>
            <a:r>
              <a:rPr lang="ko-KR" altLang="en-US" dirty="0" smtClean="0"/>
              <a:t>갱신에 따라 타이틀 변경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신청 접수 정보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첨부파일 파일 추가 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첨부 </a:t>
            </a:r>
            <a:r>
              <a:rPr lang="ko-KR" altLang="en-US" dirty="0" err="1" smtClean="0"/>
              <a:t>서류명</a:t>
            </a:r>
            <a:r>
              <a:rPr lang="ko-KR" altLang="en-US" dirty="0" smtClean="0"/>
              <a:t> 하단 </a:t>
            </a:r>
            <a:r>
              <a:rPr lang="ko-KR" altLang="en-US" dirty="0" err="1" smtClean="0"/>
              <a:t>바텀시트</a:t>
            </a:r>
            <a:r>
              <a:rPr lang="ko-KR" altLang="en-US" dirty="0" smtClean="0"/>
              <a:t> 팝업</a:t>
            </a:r>
            <a:endParaRPr lang="en-US" altLang="ko-KR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군수품무역대리업 </a:t>
            </a:r>
            <a:r>
              <a:rPr lang="ko-KR" altLang="en-US" dirty="0" smtClean="0"/>
              <a:t>변경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군수품무역대리업 </a:t>
            </a:r>
            <a:r>
              <a:rPr lang="ko-KR" altLang="en-US" dirty="0" smtClean="0"/>
              <a:t>변경</a:t>
            </a:r>
            <a:r>
              <a:rPr lang="en-US" altLang="ko-KR" dirty="0" smtClean="0"/>
              <a:t> </a:t>
            </a:r>
            <a:r>
              <a:rPr lang="ko-KR" altLang="en-US" dirty="0" smtClean="0"/>
              <a:t>화면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군수품무역대리업 신청 </a:t>
            </a:r>
            <a:r>
              <a:rPr lang="ko-KR" altLang="en-US" dirty="0" smtClean="0"/>
              <a:t>목록 </a:t>
            </a:r>
            <a:r>
              <a:rPr lang="en-US" altLang="ko-KR" dirty="0" smtClean="0"/>
              <a:t>&gt; </a:t>
            </a:r>
            <a:r>
              <a:rPr lang="ko-KR" altLang="en-US" dirty="0" smtClean="0"/>
              <a:t>변경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MUI-CM-01-M17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군수품무역대리업 </a:t>
            </a:r>
            <a:r>
              <a:rPr lang="ko-KR" altLang="en-US" sz="800" dirty="0" smtClean="0"/>
              <a:t>변경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8397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6497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21" name="그룹 120"/>
          <p:cNvGrpSpPr/>
          <p:nvPr/>
        </p:nvGrpSpPr>
        <p:grpSpPr>
          <a:xfrm>
            <a:off x="670228" y="1844328"/>
            <a:ext cx="2717198" cy="303979"/>
            <a:chOff x="675399" y="1846937"/>
            <a:chExt cx="2717198" cy="303979"/>
          </a:xfrm>
        </p:grpSpPr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69340" y="1891204"/>
              <a:ext cx="220200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나라장터</a:t>
              </a:r>
              <a:r>
                <a:rPr lang="en-US" altLang="ko-KR" sz="700" dirty="0">
                  <a:solidFill>
                    <a:prstClr val="black"/>
                  </a:solidFill>
                </a:rPr>
                <a:t>(G2B) </a:t>
              </a:r>
              <a:r>
                <a:rPr lang="ko-KR" altLang="en-US" sz="700" dirty="0">
                  <a:solidFill>
                    <a:prstClr val="black"/>
                  </a:solidFill>
                </a:rPr>
                <a:t>조달업체정보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최근 수신</a:t>
              </a:r>
              <a:r>
                <a:rPr lang="en-US" altLang="ko-KR" sz="700" dirty="0">
                  <a:solidFill>
                    <a:prstClr val="black"/>
                  </a:solidFill>
                </a:rPr>
                <a:t>(</a:t>
              </a:r>
              <a:r>
                <a:rPr lang="ko-KR" altLang="en-US" sz="700" dirty="0">
                  <a:solidFill>
                    <a:prstClr val="black"/>
                  </a:solidFill>
                </a:rPr>
                <a:t>갱신</a:t>
              </a:r>
              <a:r>
                <a:rPr lang="en-US" altLang="ko-KR" sz="700" dirty="0">
                  <a:solidFill>
                    <a:prstClr val="black"/>
                  </a:solidFill>
                </a:rPr>
                <a:t>)</a:t>
              </a:r>
              <a:r>
                <a:rPr lang="ko-KR" altLang="en-US" sz="700" dirty="0">
                  <a:solidFill>
                    <a:prstClr val="black"/>
                  </a:solidFill>
                </a:rPr>
                <a:t>일시 </a:t>
              </a:r>
              <a:r>
                <a:rPr lang="en-US" altLang="ko-KR" sz="700" dirty="0">
                  <a:solidFill>
                    <a:prstClr val="black"/>
                  </a:solidFill>
                </a:rPr>
                <a:t>: 2000-12-31 12:00</a:t>
              </a:r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15091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861883" y="1920467"/>
              <a:ext cx="421867" cy="156920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갱신하기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82" name="그룹 181"/>
          <p:cNvGrpSpPr/>
          <p:nvPr/>
        </p:nvGrpSpPr>
        <p:grpSpPr>
          <a:xfrm>
            <a:off x="716366" y="2250457"/>
            <a:ext cx="2630093" cy="1169259"/>
            <a:chOff x="720490" y="4465173"/>
            <a:chExt cx="2630093" cy="1169259"/>
          </a:xfrm>
        </p:grpSpPr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접수정보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4" name="그룹 183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1" name="직선 연결선 20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2" name="직선 연결선 20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6" name="직사각형 185"/>
            <p:cNvSpPr/>
            <p:nvPr/>
          </p:nvSpPr>
          <p:spPr>
            <a:xfrm>
              <a:off x="722583" y="4772658"/>
              <a:ext cx="792000" cy="85340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접수번호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신청일시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처리일시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처리구분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2022-12-31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2022-12-31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신규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5" name="그룹 4"/>
          <p:cNvGrpSpPr/>
          <p:nvPr/>
        </p:nvGrpSpPr>
        <p:grpSpPr>
          <a:xfrm>
            <a:off x="716366" y="3573575"/>
            <a:ext cx="2630093" cy="2246477"/>
            <a:chOff x="716366" y="3768757"/>
            <a:chExt cx="2630093" cy="2246477"/>
          </a:xfrm>
        </p:grpSpPr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3768757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업체정보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39424" y="3882088"/>
              <a:ext cx="94010" cy="47005"/>
              <a:chOff x="6812560" y="3297172"/>
              <a:chExt cx="94010" cy="47005"/>
            </a:xfrm>
          </p:grpSpPr>
          <p:cxnSp>
            <p:nvCxnSpPr>
              <p:cNvPr id="140" name="직선 연결선 13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1" name="직선 연결선 14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30" name="직사각형 129"/>
            <p:cNvSpPr/>
            <p:nvPr/>
          </p:nvSpPr>
          <p:spPr>
            <a:xfrm>
              <a:off x="718459" y="4076242"/>
              <a:ext cx="792000" cy="19330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40762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4076242"/>
              <a:ext cx="715881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대표자성명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팩스번호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E-mail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사업자번호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설립일자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주소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4076242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제조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조달테스트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02-2345-6789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test@dapa.go.kr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1999-01-02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 </a:t>
              </a:r>
              <a:r>
                <a:rPr lang="en-US" altLang="ko-KR" sz="700" dirty="0" smtClean="0">
                  <a:latin typeface="+mn-ea"/>
                </a:rPr>
                <a:t>…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3073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5210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7347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93835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515249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3835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59730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8110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601460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906" y="1570670"/>
            <a:ext cx="1384615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첨부파일</a:t>
            </a:r>
            <a:r>
              <a:rPr lang="ko-KR" altLang="en-US" sz="700" spc="-52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– 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총 </a:t>
            </a:r>
            <a:r>
              <a:rPr lang="en-US" altLang="ko-KR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0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건</a:t>
            </a:r>
            <a:endParaRPr lang="ko-KR" altLang="en-US" sz="700" dirty="0">
              <a:latin typeface="+mn-ea"/>
            </a:endParaRPr>
          </a:p>
        </p:txBody>
      </p:sp>
      <p:sp>
        <p:nvSpPr>
          <p:cNvPr id="93" name="모서리가 둥근 직사각형 92"/>
          <p:cNvSpPr/>
          <p:nvPr/>
        </p:nvSpPr>
        <p:spPr>
          <a:xfrm>
            <a:off x="3825376" y="2388217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462738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spc="-60" dirty="0">
                <a:latin typeface="맑은 고딕" panose="020B0503020000020004" pitchFamily="50" charset="-127"/>
              </a:rPr>
              <a:t>변경사항을 입증할 수 있는 증빙서류</a:t>
            </a:r>
            <a:r>
              <a:rPr lang="ko-KR" altLang="en-US" sz="700" dirty="0" smtClean="0">
                <a:solidFill>
                  <a:srgbClr val="FF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 smtClean="0">
                <a:solidFill>
                  <a:srgbClr val="FF0000"/>
                </a:solidFill>
                <a:latin typeface="맑은 고딕" panose="020B0503020000020004" pitchFamily="50" charset="-127"/>
              </a:rPr>
              <a:t>*</a:t>
            </a:r>
            <a:endParaRPr lang="en-US" altLang="ko-KR" sz="700" dirty="0">
              <a:solidFill>
                <a:srgbClr val="FF0000"/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2516599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</a:t>
            </a:r>
          </a:p>
        </p:txBody>
      </p:sp>
      <p:sp>
        <p:nvSpPr>
          <p:cNvPr id="97" name="모서리가 둥근 직사각형 96"/>
          <p:cNvSpPr/>
          <p:nvPr/>
        </p:nvSpPr>
        <p:spPr>
          <a:xfrm>
            <a:off x="3825376" y="2794902"/>
            <a:ext cx="2652743" cy="444819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855729"/>
            <a:ext cx="1682738" cy="3231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spc="-60" dirty="0">
                <a:latin typeface="맑은 고딕" panose="020B0503020000020004" pitchFamily="50" charset="-127"/>
              </a:rPr>
              <a:t>등록증</a:t>
            </a:r>
            <a:r>
              <a:rPr lang="en-US" altLang="ko-KR" sz="700" spc="-60" dirty="0">
                <a:latin typeface="맑은 고딕" panose="020B0503020000020004" pitchFamily="50" charset="-127"/>
              </a:rPr>
              <a:t>(</a:t>
            </a:r>
            <a:r>
              <a:rPr lang="ko-KR" altLang="en-US" sz="700" spc="-60" dirty="0">
                <a:latin typeface="맑은 고딕" panose="020B0503020000020004" pitchFamily="50" charset="-127"/>
              </a:rPr>
              <a:t>등록증 기재사항을 변경하는 경우만 해당</a:t>
            </a:r>
            <a:r>
              <a:rPr lang="en-US" altLang="ko-KR" sz="700" spc="-60" dirty="0">
                <a:latin typeface="맑은 고딕" panose="020B0503020000020004" pitchFamily="50" charset="-127"/>
              </a:rPr>
              <a:t>)</a:t>
            </a:r>
            <a:r>
              <a:rPr lang="ko-KR" altLang="en-US" sz="700" spc="-60" dirty="0">
                <a:latin typeface="맑은 고딕" panose="020B0503020000020004" pitchFamily="50" charset="-127"/>
              </a:rPr>
              <a:t> </a:t>
            </a:r>
            <a:r>
              <a:rPr lang="ko-KR" altLang="en-US" sz="700" dirty="0" smtClean="0">
                <a:solidFill>
                  <a:srgbClr val="FF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*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2963450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2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253099"/>
            <a:ext cx="47434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첨부서류명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32140" y="2253099"/>
            <a:ext cx="3906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항목번호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04" name="모서리가 둥근 직사각형 103"/>
          <p:cNvSpPr/>
          <p:nvPr/>
        </p:nvSpPr>
        <p:spPr>
          <a:xfrm>
            <a:off x="3825376" y="3281920"/>
            <a:ext cx="2652743" cy="49064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3365658"/>
            <a:ext cx="1682738" cy="3231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맑은 고딕" panose="020B0503020000020004" pitchFamily="50" charset="-127"/>
              </a:rPr>
              <a:t>기타</a:t>
            </a:r>
            <a:r>
              <a:rPr lang="en-US" altLang="ko-KR" sz="700" dirty="0">
                <a:latin typeface="맑은 고딕" panose="020B0503020000020004" pitchFamily="50" charset="-127"/>
              </a:rPr>
              <a:t>(</a:t>
            </a:r>
            <a:r>
              <a:rPr lang="ko-KR" altLang="en-US" sz="700" dirty="0">
                <a:latin typeface="맑은 고딕" panose="020B0503020000020004" pitchFamily="50" charset="-127"/>
              </a:rPr>
              <a:t>파일이 여려 개일 경우 압축해서 첨부 가능</a:t>
            </a:r>
            <a:r>
              <a:rPr lang="en-US" altLang="ko-KR" sz="700" dirty="0" smtClean="0">
                <a:latin typeface="맑은 고딕" panose="020B0503020000020004" pitchFamily="50" charset="-127"/>
              </a:rPr>
              <a:t>)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3473379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3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grpSp>
        <p:nvGrpSpPr>
          <p:cNvPr id="112" name="그룹 111"/>
          <p:cNvGrpSpPr/>
          <p:nvPr/>
        </p:nvGrpSpPr>
        <p:grpSpPr>
          <a:xfrm flipV="1">
            <a:off x="6220287" y="1660597"/>
            <a:ext cx="94010" cy="47005"/>
            <a:chOff x="6812560" y="3297172"/>
            <a:chExt cx="94010" cy="47005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5" name="TextBox 16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065862" y="2256932"/>
            <a:ext cx="32496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삭제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6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2939869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6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2486745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7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3449798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8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25376" y="1883029"/>
            <a:ext cx="2652742" cy="207774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latin typeface="맑은 고딕"/>
                <a:ea typeface="맑은 고딕" panose="020B0503020000020004" pitchFamily="50" charset="-127"/>
              </a:rPr>
              <a:t>파일 추가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92" name="타원 1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24490" y="187376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C29EC709-3774-4B79-A1C9-F5C9BF064DD3}"/>
              </a:ext>
            </a:extLst>
          </p:cNvPr>
          <p:cNvSpPr/>
          <p:nvPr/>
        </p:nvSpPr>
        <p:spPr>
          <a:xfrm>
            <a:off x="7299588" y="4875644"/>
            <a:ext cx="984207" cy="1324843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t"/>
          <a:lstStyle/>
          <a:p>
            <a:pPr algn="l">
              <a:lnSpc>
                <a:spcPct val="150000"/>
              </a:lnSpc>
            </a:pPr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198" name="사각형: 둥근 위쪽 모서리 75">
            <a:extLst>
              <a:ext uri="{FF2B5EF4-FFF2-40B4-BE49-F238E27FC236}">
                <a16:creationId xmlns:a16="http://schemas.microsoft.com/office/drawing/2014/main" id="{60414052-E4D1-4C00-8788-EA50205FEE78}"/>
              </a:ext>
            </a:extLst>
          </p:cNvPr>
          <p:cNvSpPr/>
          <p:nvPr/>
        </p:nvSpPr>
        <p:spPr>
          <a:xfrm>
            <a:off x="7302599" y="5175039"/>
            <a:ext cx="974971" cy="1025448"/>
          </a:xfrm>
          <a:prstGeom prst="round2Same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t"/>
          <a:lstStyle/>
          <a:p>
            <a:pPr algn="l">
              <a:lnSpc>
                <a:spcPct val="150000"/>
              </a:lnSpc>
            </a:pPr>
            <a:endParaRPr lang="ko-KR" altLang="en-US" sz="1400" dirty="0">
              <a:solidFill>
                <a:schemeClr val="tx1"/>
              </a:solidFill>
            </a:endParaRPr>
          </a:p>
        </p:txBody>
      </p:sp>
      <p:cxnSp>
        <p:nvCxnSpPr>
          <p:cNvPr id="199" name="직선 연결선 198">
            <a:extLst>
              <a:ext uri="{FF2B5EF4-FFF2-40B4-BE49-F238E27FC236}">
                <a16:creationId xmlns:a16="http://schemas.microsoft.com/office/drawing/2014/main" id="{61AA3FF4-C749-419A-A832-EBDDB6501526}"/>
              </a:ext>
            </a:extLst>
          </p:cNvPr>
          <p:cNvCxnSpPr/>
          <p:nvPr/>
        </p:nvCxnSpPr>
        <p:spPr>
          <a:xfrm>
            <a:off x="7362749" y="5509919"/>
            <a:ext cx="83373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0" name="TextBox 199">
            <a:extLst>
              <a:ext uri="{FF2B5EF4-FFF2-40B4-BE49-F238E27FC236}">
                <a16:creationId xmlns:a16="http://schemas.microsoft.com/office/drawing/2014/main" id="{79304F6B-454C-471B-AC82-4B2469CA7E73}"/>
              </a:ext>
            </a:extLst>
          </p:cNvPr>
          <p:cNvSpPr txBox="1"/>
          <p:nvPr/>
        </p:nvSpPr>
        <p:spPr>
          <a:xfrm>
            <a:off x="7369064" y="5391677"/>
            <a:ext cx="485299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800" dirty="0" smtClean="0">
                <a:latin typeface="+mn-ea"/>
              </a:rPr>
              <a:t>첨부파일</a:t>
            </a:r>
            <a:endParaRPr lang="ko-KR" altLang="en-US" sz="800" dirty="0">
              <a:latin typeface="+mn-ea"/>
            </a:endParaRPr>
          </a:p>
        </p:txBody>
      </p:sp>
      <p:grpSp>
        <p:nvGrpSpPr>
          <p:cNvPr id="203" name="Radio Button Group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bZEtJN5trzIZ/7X6Wfpcl2WjJwFIzhUl3ldF7M8nVRVmZ4ti3brzEfhWVUv0qbzwSg9O16tUurzjgPooYhnQriPGV7/bbwYIINHiL71KpsV1ZN121bLz+tqvXo9z1Z5k9bxj2lg+VUaf2eLuhm/zsGP+Uw+kq49pCOI4ynO0614j+OzpttbB9wASDx376bHs1l6DppOld3iLbs0G9N7z7NJXm59xN2n0n/z6CMQMgbhDAJ0XOcZMwX/8lkUrGm39dFHo3T3/s4QwA28RVMQ4cYtA/n3f+Ne3QQdbcffLWbtnIDu7ezc1BRgqeXARL2pXrc1sdTWjV166KWffDY00LH/R497zVPn7bpepm29ziPd/pL+R3lpZNx/BhhIoZ9n9NLN4L0/f8km0b+siln6tGhWVZNvDUs0hGKICX5X0TA3S9YQcW33kWHdqNX8xsFI8bAiioEPaaJalWkRY9ytavLTpEnSJl/O8nokDH9cXzRpPkyytr6+kSLMrq/QB8H2lRWNr6/BYuTpdoLnFw8x6DevZkOsoyrWPANsjedDVa55NnSBZ6CLr1Yzmv1ndbXAlG9tbVn1eUcm/A5rib7V6j6k4r/I3tJUrmszn6Rs04JImzdtVZOKyc7JZ0ibeXVFM3F3XswwIQ3jsRl2SGhljK2e03ZCvYy/aKo3dfG6pVGNF/h9nQ/pQTwRxTTwceSj82KZlWWcCbsf4fkiq2m45fgVDYCE86RafMmy1eGkGL7DGg7PNGun83Tr9N00ZxuX5u9u1kiQsefVxQU0fF1X9dZHz7KipHlqq3TNbCGMryY3ZbaR+RqTxaQu+hrI+9X9cZd443GzXpANvj4KPzb+G3kGaTt3ikDZYtwBcrcPxegv8SkHpPtReiaKMJuUntHpEGUAT/PVG8Jvkb0rFusF6d/FhNCuzkWu0ol4JWmx5GFcoG8PeQs9MgA8dhAEoyUgLbHKO28sDfsFPRn8WghP51mdEY3rxlIddgZfZcFovkH8oUKe58sLdnB2d/ojMQCMex03cbbV86JpH3vwZZqPfCUnH7mwTFX5wJtbfQWnzsKA7veNl/01Gh7gifkD86IZy0jp36h6RRABzez62nJ9RYTvvZjj87xt0qt5TvOvoieiQqyxhlJLyeeuSD+TMsjSwPcWRfDR+7CHkFIirZ5Nu5FUF3mb/mLjAm6YYjIAFGKnR+nOYXoY0ZhRpKwz2LDTnDrv+Ua8pOGTdVHOYNcmymLBxxHGwgOjfyvrPmBJSHLzDCq/x8p9AkEpbaDa1/NYmslYBZrIvcErwUNtSSzIm3heLPMBgvTa+j6R2n03NUMWPW62+x8qL1Fng8HSEL+wn9zxmpR1oEZv5hpQ73e91dzjEUyjJJNev/f9tCSywkKg//HrVUmpB/Ch/f4Xpx/9vvXvuySbTT/53+VH6S8ZKaPyCxoaj19Uyzw+QQjh2xR+C5mKJdmMOqegoaB+CspaiZ/3i9YF+XnxITOShmc++2yQaTYMmIMCBPKv8qb4QX66hDWf0cCHwsKhAKH7ER4an8zq3YwyFRjTgFMKo7kFE1dQz6RpivQxWbt2Pv6iWAajHHWN+B1q/Mkn7y9vyl6ATV1yF98rvr9RjG6jFqIm1n8wbRjdjSr3G4lKLFYbupNhvxfAboQD8n2NgABPPGPhP7HhUKbJm42N/Ud1FR5izlf5gkwVicdsvZxlYL9hFr2akx8fRJWDpvKWnPv+TCv4Pid14Y/+/RR396P3jbcGFUZ7qyzVRhMQSRvhiWByQkqzvtm+3OCvva5qctgyEv+GfXV118i2Z82U7CU0RFXDEZlcw58r6vTx9OhNtXp8d3qUXmblOginbI83ePQNBdJmyEDhyfVP5jV9kpXPK4o6iZW22KVmBjtSrG6miYZ3gLg1o5jvgvoSn1q+2h1Jekj+2ru9Y2QsOwMh674iTl+ssjp/U4nzvIcPoxH2h84Q3PUiK4nRGnaor0xsS6pHosKCUmepW1LqB7m2lxtmhacjEh5Eo5KbZ8NxaP87dvYc2M+i+U7zbDDe72OLfY6azvPpW2exTAgn3w7qkwBCUU/L/INAlFiB2AghDiMk3vjN9YopOJi5YoBohdSV5Ft+4S/0plLVNoHY7XzxqmpZGtm1Oqcv4wjhYa2IN79qixKrle0LWrfzQ0sAiYV8728F/CQMJ0XOYLWwIONQ/9x+foMv4gGIp9395wbHI8qO/nPD+3gCT3CXPcHPvFHKZG3y+fznFv3h8bRi6nd2s2dkHo7Cp9lSk5CvFdSASYw9N9LOPLccEx4rKe8pJMfrVj7YyPKxR3qz79/YbdASXfMfX5Jl/ZpdQ+pY0k5YQQ1JV+x5D8Li8TUgVj6F0pu84NjT55mhuGvo2eBbdx/42j+/mQJ272eTJ5xd/fnAEoj9nlTvPnRWnsMR+FmcFc/R+P/ArNyy2WDYFnveg2Dghc5Y32Nm8AwvyL0P3W9Bhhua3PD1rQh4C8INDtf5ETeNeQOmg9kLPOx1FM1PUny0IQA3D8+sb7TE7yWvz1db8uHP/Exo32xTX5Y2Nd2QjMRzA13dmG4Ssq+dWboBA00OBGt3Jj1AuQDKUhQcGWxJIFqtsKYzqajZ4gZxGQj4fRrexC9DINw0fk0I3uxuXlHAQyT6IntLfvO6zpUFRsJKabacCafYBTBqYmhGySKs6NbFqsybG2Q0khbuceBtgoFbyLGodW8aqEt/Um4XDCgUOxNpIF3vA8ONMw3E7qYstXk64k5ZyHPkJh028kkovsjjhI3wwc/8zM3d4el190nw0XeLGS1TPO6h8In/iTT6Oj0C07DDb+fFxbwNe9RW7gNt9HV79PMYCtz74D2Bd0AFaZbB8d3CPN+C/fHcXu36z4RWTd/eou3XN9cbjSAvqAjiX9/gxBRN36p9Q5pm0xIC/FOkwnprTYGBIB2gqtb7O9QRo5RSUoNruub5EKL/rjdTHU88U2+e261RkHnCuvzJl1+cvpvmvKya5u9un8BGdu55dXGR1+PTuq7qrY+eZQVWLchoFzbDnP7inV9Cf1J2fjnNJcPc5JgYatgIG9BCb/5ulFJ6DzHQ1h0OYoZN5fDYb1oVuSEtLsv5WLpYmsViGgry4bEU49dIhvfXOjtLbu+9PH/zwtmNC9hmbbXfpo9uGS6S6aebF0JvRnE73Y1Z8PfJwxPxn65XtOQFMotQC3fFmzMiskzgaQBdN4iPcnzi2Qjb16AIdhwFAb05F7xByW3MY97k9kcwsYuqm8IJPLdQvJ0sbYw9bpmx5fbDziJj/r0oq3SfW+V9bzE2PMRaL01gcjNndZ+e93Yb9kLDW4wST9eXGQL/vO9P3dBMvaxPbocHnpsHhq63b+6amt3KG8cTSj4HSu8xPb4isJb/Bj3gvNyb1UD3YWHsdHTzCpH/3JJr8dxKCszzHnDxRAZya6XSfd6zazyqKuIR4Xsoiu7zXiQzz9fAH0+gWN6XcbtPN/y7Bfe+h5bpPp3Q7+dS6XSfG4f9s6CDuk+gk7yUzdeD5qkKF41s1lHeON5fR3UfiHq34/fTWd3nawoMnq8loOb5gH7xRAjxtXVe9/lA1PCIIhzIcH2ATuw+HzQF5vkGxovH16EfLGjdx0scbdSpnrR9gE7tPp201Wc3d/5eOvZrK7fug8B5ZmJ5DpjrPE8vCxNC6xdTG/V9M93244xeoEkTdmPWx8/4+NkeyfR8Q1N5U26q9/3PWsfjr1YzsgXPKA2DdeYtzjR8Y6ywOQp8n/TnpucWi5g3PbdaprzN8w2psXB9uEe8D7Qt/jO4sOpY/5tgvg+cow94/QNe/WCu+EBuuMXcsBn/kAn6muT5Gq99jVe+9gR8TcL/7Ind4FQ6a/N1ZvE9afoezd+j6XvP0nvOzi1o995icMvh3aLZLZrcmkC3JMw3x6bDpHUe0W3I+kGrjkNf3Ui2G8h1m8HdyDgD+P3cr6hl5GP3F6bewNf+SfK1ZRFtYFGs/2G49LOx+Q2LZq/yRXUJx3+O2LNpBT1e5/sGV84uK1pBl66eh/HN1je1UHaU7t5+pvr+7Q91aQyPZCNinf6cLDPdnPx/SnJ5izTUjQm8D4LjZ8ZuB2fTJAlHxqfh6+H3tGhWVbMZqw069NYayDw3zOomjVTz4IcEvy/3wyrKPF9b+b6/0mryVnTW44Y06LTOzz/7yJsNRlim5KO7R2mxbNpsOc2/ruY6IYtU30JTnVd1ulWQ3BebNYfTDofU9IiW+Onn9vbt9dcmrVR8/0YuvFkmjtutYsAadf58r4n7bk0cmddMKMxeIxqvOifbyEilE8bqa0zUlJi4iSj2R+mZkCOblJ3EYoS4BtrZ8WoF6UlFF0coYVpyN51V79u94q9+3eqNIDesb0TeWU9oxSCSNuthOuphYj7xE2mGFLfnznZeNGMhHv07wIPcKCSb99fGl+LLhpteGciq39bdUpIKAM8m3poiF3mb/mLjtfnDHFCON6FgB/01MXBE+3oIODP89RDwpuD2CKgsTKqqTM8apkE+e5/+419sMKE9co1/smgK0iPpZ5+lXxTTumqq83b85fl5McVaUp2Pv2iqN3XxuiVMxwv8vh5izAFr2XwNPGMIppdZuc7T3+P2eJKqvFXbZxsSwe87mU1bF8uLFMnsH8ZMwh9iOn3VFmUz/jxvOY1+c/L0G5wsOP48N7TatLxo5xS5fJG989Q1UJKvbkgNyAzrTI9frydCza2d0TDEqMkwT4c8r3vkGUlf70GlTbqE/Iy6LmaOC6rXMoDbmxp9E+sgRAhgO4Aaa43CaA1qazXIIEUwUfaNDVOhnX/0Lv2I1u/aYRxykhuGijZjkqe6bb5btPOtj959dOc2HVj4vGx32kzZVuc00USDd0PjUN4fQGzTBLHza53JW08Ke+icxEkpkkkrTuM0w0T2vYCvHfzeJn20KXi5lQeHZ0AV8ECcZ/KzMI5bpZ5v41Xi2TAKz1n65kdxs6rFE/N0Y+3eU+EwP3eWUD0NcnsOHxLi9Bf+wvR37X8B8X5vEqrUMzRNVJBi370zJlu8YPAbswxWvwHGe3shUFXvjXGcKpt1G56hkd5ydJsWpqPcgOeN6zOuFAf+1F/pxy/5fwCvoEtV0mEAAA==&lt;/Code&gt;&lt;CodeSignature&gt;YkMES0p7GrhYRI3c2LvXC3B50ehcnyp29xu1K6Vj95RmkzmusXliGjPMB+Ilf7pDOBySkxJ1SxhuUarFxLqI1LFDTkfNKwHE5+QMWEnKMv3GF2gDeK3oF/i+4SdE67QQ7tmJxc5wZUmwcUPUleQbqABCFfZcIJKHQ0BLaC/wF4fMUnfcimSlXKmwtAwJUNjPe8pUObB0CZFAjhRjXczx3l/fOkQODN/vciGd0aOVvUFeqUaMLZh3bnAKetvOrpCcTPPFjU63YrJIwI9FUFZaB37bZkgPJHhyDQZIHN1QeXtB9KdUZEGm8usmpqyS5s+YHfXxDX4vTSGkCYGqTRmYHA==&lt;/CodeSignature&gt;&lt;/SmartOptions&gt;&lt;SmartResize enabled=&quot;True&quot; minWidth=&quot;0&quot; minHeight=&quot;0&quot; /&gt;&lt;/SmartSettings&gt;">
            <a:extLst>
              <a:ext uri="{FF2B5EF4-FFF2-40B4-BE49-F238E27FC236}">
                <a16:creationId xmlns:a16="http://schemas.microsoft.com/office/drawing/2014/main" id="{60EC335B-2121-4FFB-81FC-B82A12BD10FA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7350159" y="5537511"/>
            <a:ext cx="590434" cy="386907"/>
            <a:chOff x="595686" y="1210923"/>
            <a:chExt cx="959877" cy="728663"/>
          </a:xfrm>
        </p:grpSpPr>
        <p:sp>
          <p:nvSpPr>
            <p:cNvPr id="204" name="Circle">
              <a:extLst>
                <a:ext uri="{FF2B5EF4-FFF2-40B4-BE49-F238E27FC236}">
                  <a16:creationId xmlns:a16="http://schemas.microsoft.com/office/drawing/2014/main" id="{217FD967-3F6A-479B-93DB-0426057E4FCB}"/>
                </a:ext>
              </a:extLst>
            </p:cNvPr>
            <p:cNvSpPr/>
            <p:nvPr/>
          </p:nvSpPr>
          <p:spPr>
            <a:xfrm>
              <a:off x="595686" y="1300750"/>
              <a:ext cx="133350" cy="13335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06" name="Check" hidden="1">
              <a:extLst>
                <a:ext uri="{FF2B5EF4-FFF2-40B4-BE49-F238E27FC236}">
                  <a16:creationId xmlns:a16="http://schemas.microsoft.com/office/drawing/2014/main" id="{46BD5843-5AF4-4F52-BBF4-EB5EAF1D5C14}"/>
                </a:ext>
              </a:extLst>
            </p:cNvPr>
            <p:cNvSpPr/>
            <p:nvPr/>
          </p:nvSpPr>
          <p:spPr>
            <a:xfrm>
              <a:off x="632992" y="1338056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07" name="Label">
              <a:extLst>
                <a:ext uri="{FF2B5EF4-FFF2-40B4-BE49-F238E27FC236}">
                  <a16:creationId xmlns:a16="http://schemas.microsoft.com/office/drawing/2014/main" id="{8A670454-8E82-49EF-A084-35C0DAE30A4F}"/>
                </a:ext>
              </a:extLst>
            </p:cNvPr>
            <p:cNvSpPr txBox="1"/>
            <p:nvPr/>
          </p:nvSpPr>
          <p:spPr>
            <a:xfrm>
              <a:off x="729035" y="1210923"/>
              <a:ext cx="826528" cy="313003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600" dirty="0" smtClean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변경사항</a:t>
              </a:r>
              <a:r>
                <a:rPr lang="en-US" altLang="ko-KR" sz="600" dirty="0" smtClean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…</a:t>
              </a:r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08" name="Circle">
              <a:extLst>
                <a:ext uri="{FF2B5EF4-FFF2-40B4-BE49-F238E27FC236}">
                  <a16:creationId xmlns:a16="http://schemas.microsoft.com/office/drawing/2014/main" id="{75853757-40B0-4AE1-8042-137877503416}"/>
                </a:ext>
              </a:extLst>
            </p:cNvPr>
            <p:cNvSpPr/>
            <p:nvPr/>
          </p:nvSpPr>
          <p:spPr>
            <a:xfrm>
              <a:off x="595686" y="1508580"/>
              <a:ext cx="133350" cy="13335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18" name="Check" hidden="1">
              <a:extLst>
                <a:ext uri="{FF2B5EF4-FFF2-40B4-BE49-F238E27FC236}">
                  <a16:creationId xmlns:a16="http://schemas.microsoft.com/office/drawing/2014/main" id="{AA01C14B-D894-4CCC-B0EB-F828562410CE}"/>
                </a:ext>
              </a:extLst>
            </p:cNvPr>
            <p:cNvSpPr/>
            <p:nvPr/>
          </p:nvSpPr>
          <p:spPr>
            <a:xfrm>
              <a:off x="632992" y="1545886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19" name="Label">
              <a:extLst>
                <a:ext uri="{FF2B5EF4-FFF2-40B4-BE49-F238E27FC236}">
                  <a16:creationId xmlns:a16="http://schemas.microsoft.com/office/drawing/2014/main" id="{667275C9-B025-497E-B010-69DCA26E7847}"/>
                </a:ext>
              </a:extLst>
            </p:cNvPr>
            <p:cNvSpPr txBox="1"/>
            <p:nvPr/>
          </p:nvSpPr>
          <p:spPr>
            <a:xfrm>
              <a:off x="729035" y="1418753"/>
              <a:ext cx="709255" cy="313003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600" dirty="0" smtClean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등록증</a:t>
              </a:r>
              <a:r>
                <a:rPr lang="en-US" altLang="ko-KR" sz="600" dirty="0" smtClean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…</a:t>
              </a:r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20" name="Circle">
              <a:extLst>
                <a:ext uri="{FF2B5EF4-FFF2-40B4-BE49-F238E27FC236}">
                  <a16:creationId xmlns:a16="http://schemas.microsoft.com/office/drawing/2014/main" id="{837A5707-C04D-472D-802E-D5F5EE0043C9}"/>
                </a:ext>
              </a:extLst>
            </p:cNvPr>
            <p:cNvSpPr/>
            <p:nvPr/>
          </p:nvSpPr>
          <p:spPr>
            <a:xfrm>
              <a:off x="595686" y="1716410"/>
              <a:ext cx="133350" cy="13335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21" name="Check" hidden="1">
              <a:extLst>
                <a:ext uri="{FF2B5EF4-FFF2-40B4-BE49-F238E27FC236}">
                  <a16:creationId xmlns:a16="http://schemas.microsoft.com/office/drawing/2014/main" id="{BD0EF9A7-EFED-434F-A5D6-F4F66B6E5A6D}"/>
                </a:ext>
              </a:extLst>
            </p:cNvPr>
            <p:cNvSpPr/>
            <p:nvPr/>
          </p:nvSpPr>
          <p:spPr>
            <a:xfrm>
              <a:off x="632992" y="1753716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22" name="Label">
              <a:extLst>
                <a:ext uri="{FF2B5EF4-FFF2-40B4-BE49-F238E27FC236}">
                  <a16:creationId xmlns:a16="http://schemas.microsoft.com/office/drawing/2014/main" id="{25D96BEF-71A6-4B8F-ADEA-96AEA1312E21}"/>
                </a:ext>
              </a:extLst>
            </p:cNvPr>
            <p:cNvSpPr txBox="1"/>
            <p:nvPr/>
          </p:nvSpPr>
          <p:spPr>
            <a:xfrm>
              <a:off x="729035" y="1626583"/>
              <a:ext cx="584166" cy="313003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600" dirty="0" smtClean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기타</a:t>
              </a:r>
              <a:r>
                <a:rPr lang="en-US" altLang="ko-KR" sz="600" dirty="0" smtClean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…</a:t>
              </a:r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23" name="사각형: 둥근 모서리 105">
            <a:extLst>
              <a:ext uri="{FF2B5EF4-FFF2-40B4-BE49-F238E27FC236}">
                <a16:creationId xmlns:a16="http://schemas.microsoft.com/office/drawing/2014/main" id="{A5F8964B-A774-407F-A58A-485A37E8BDFC}"/>
              </a:ext>
            </a:extLst>
          </p:cNvPr>
          <p:cNvSpPr/>
          <p:nvPr/>
        </p:nvSpPr>
        <p:spPr>
          <a:xfrm>
            <a:off x="7498292" y="5929489"/>
            <a:ext cx="617482" cy="118168"/>
          </a:xfrm>
          <a:prstGeom prst="roundRect">
            <a:avLst/>
          </a:prstGeom>
          <a:solidFill>
            <a:srgbClr val="0070C0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l"/>
            <a:r>
              <a:rPr lang="ko-KR" altLang="en-US" sz="600" dirty="0" err="1">
                <a:solidFill>
                  <a:schemeClr val="bg1"/>
                </a:solidFill>
              </a:rPr>
              <a:t>파일첨부하기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224" name="사각형: 둥근 모서리 106">
            <a:extLst>
              <a:ext uri="{FF2B5EF4-FFF2-40B4-BE49-F238E27FC236}">
                <a16:creationId xmlns:a16="http://schemas.microsoft.com/office/drawing/2014/main" id="{1E05F830-D9B1-4D7A-B04C-67886CA1A2E4}"/>
              </a:ext>
            </a:extLst>
          </p:cNvPr>
          <p:cNvSpPr/>
          <p:nvPr/>
        </p:nvSpPr>
        <p:spPr>
          <a:xfrm>
            <a:off x="7523052" y="6086878"/>
            <a:ext cx="592721" cy="80974"/>
          </a:xfrm>
          <a:prstGeom prst="round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나중에</a:t>
            </a:r>
          </a:p>
        </p:txBody>
      </p: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85718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3933372679"/>
      </p:ext>
    </p:extLst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데이터 없을 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표시할 데이터가 없습니다</a:t>
            </a:r>
            <a:r>
              <a:rPr lang="en-US" altLang="ko-KR" dirty="0" smtClean="0"/>
              <a:t>. </a:t>
            </a:r>
            <a:r>
              <a:rPr lang="ko-KR" altLang="en-US" dirty="0" smtClean="0"/>
              <a:t>노출</a:t>
            </a:r>
            <a:endParaRPr lang="en-US" altLang="ko-KR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군수품무역대리업 변경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군수품무역대리업 </a:t>
            </a:r>
            <a:r>
              <a:rPr lang="ko-KR" altLang="en-US" dirty="0" smtClean="0"/>
              <a:t>변경</a:t>
            </a:r>
            <a:r>
              <a:rPr lang="en-US" altLang="ko-KR" dirty="0" smtClean="0"/>
              <a:t> </a:t>
            </a:r>
            <a:r>
              <a:rPr lang="ko-KR" altLang="en-US" dirty="0" smtClean="0"/>
              <a:t>화면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군수품무역대리업 신청 </a:t>
            </a:r>
            <a:r>
              <a:rPr lang="ko-KR" altLang="en-US" dirty="0" smtClean="0"/>
              <a:t>목록 </a:t>
            </a:r>
            <a:r>
              <a:rPr lang="en-US" altLang="ko-KR" dirty="0" smtClean="0"/>
              <a:t>&gt; </a:t>
            </a:r>
            <a:r>
              <a:rPr lang="ko-KR" altLang="en-US" dirty="0" smtClean="0"/>
              <a:t>변경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MUI-CM-01-M18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군수품무역대리업 </a:t>
            </a:r>
            <a:r>
              <a:rPr lang="ko-KR" altLang="en-US" sz="800" dirty="0" smtClean="0"/>
              <a:t>신규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8517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4474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83" name="TextBox 1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337" y="1951660"/>
            <a:ext cx="118217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보안측정인원</a:t>
            </a:r>
          </a:p>
        </p:txBody>
      </p:sp>
      <p:grpSp>
        <p:nvGrpSpPr>
          <p:cNvPr id="184" name="그룹 183"/>
          <p:cNvGrpSpPr/>
          <p:nvPr/>
        </p:nvGrpSpPr>
        <p:grpSpPr>
          <a:xfrm flipV="1">
            <a:off x="3139424" y="2064991"/>
            <a:ext cx="94010" cy="47005"/>
            <a:chOff x="6812560" y="3297172"/>
            <a:chExt cx="94010" cy="47005"/>
          </a:xfrm>
        </p:grpSpPr>
        <p:cxnSp>
          <p:nvCxnSpPr>
            <p:cNvPr id="201" name="직선 연결선 20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02" name="직선 연결선 20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11" name="그룹 110"/>
          <p:cNvGrpSpPr/>
          <p:nvPr/>
        </p:nvGrpSpPr>
        <p:grpSpPr>
          <a:xfrm>
            <a:off x="714884" y="2255292"/>
            <a:ext cx="2630093" cy="1292662"/>
            <a:chOff x="3836700" y="3380909"/>
            <a:chExt cx="2630093" cy="1292662"/>
          </a:xfrm>
        </p:grpSpPr>
        <p:sp>
          <p:nvSpPr>
            <p:cNvPr id="118" name="직사각형 117"/>
            <p:cNvSpPr/>
            <p:nvPr/>
          </p:nvSpPr>
          <p:spPr>
            <a:xfrm>
              <a:off x="3838793" y="3380909"/>
              <a:ext cx="792000" cy="12808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0" y="338090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7" y="3380909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성명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주민등록번호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적격여부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보안측정일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첨부파일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구분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5" y="3380909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990101-1******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2022-02-02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solidFill>
                    <a:srgbClr val="0070C0"/>
                  </a:solidFill>
                  <a:latin typeface="+mn-ea"/>
                </a:rPr>
                <a:t>증명서</a:t>
              </a: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.pdf</a:t>
              </a:r>
            </a:p>
          </p:txBody>
        </p: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6120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8257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0394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2343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4480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6617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5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72446" y="4253135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 smtClean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보기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55" name="직사각형 154"/>
          <p:cNvSpPr/>
          <p:nvPr/>
        </p:nvSpPr>
        <p:spPr>
          <a:xfrm>
            <a:off x="3898850" y="1926097"/>
            <a:ext cx="2479833" cy="9541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ko-KR" altLang="en-US" sz="800" b="1" dirty="0" smtClean="0"/>
              <a:t>구분 정보</a:t>
            </a:r>
            <a:endParaRPr lang="en-US" altLang="ko-KR" sz="800" b="1" dirty="0" smtClean="0"/>
          </a:p>
          <a:p>
            <a:pPr marL="171450" indent="-171450">
              <a:buFontTx/>
              <a:buChar char="-"/>
            </a:pPr>
            <a:r>
              <a:rPr lang="ko-KR" altLang="en-US" sz="800" dirty="0" err="1"/>
              <a:t>심사대기</a:t>
            </a:r>
            <a:r>
              <a:rPr lang="ko-KR" altLang="en-US" sz="800" dirty="0"/>
              <a:t> </a:t>
            </a:r>
            <a:r>
              <a:rPr lang="en-US" altLang="ko-KR" sz="800" dirty="0"/>
              <a:t>: </a:t>
            </a:r>
            <a:r>
              <a:rPr lang="ko-KR" altLang="en-US" sz="800" dirty="0"/>
              <a:t>군수품무역대리업 신청 후 </a:t>
            </a:r>
            <a:r>
              <a:rPr lang="ko-KR" altLang="en-US" sz="800" dirty="0" err="1"/>
              <a:t>심사전</a:t>
            </a:r>
            <a:r>
              <a:rPr lang="ko-KR" altLang="en-US" sz="800" dirty="0"/>
              <a:t> 상태</a:t>
            </a:r>
          </a:p>
          <a:p>
            <a:pPr marL="171450" indent="-171450">
              <a:buFontTx/>
              <a:buChar char="-"/>
            </a:pPr>
            <a:r>
              <a:rPr lang="ko-KR" altLang="en-US" sz="800" dirty="0" err="1"/>
              <a:t>수정대기</a:t>
            </a:r>
            <a:r>
              <a:rPr lang="ko-KR" altLang="en-US" sz="800" dirty="0"/>
              <a:t> </a:t>
            </a:r>
            <a:r>
              <a:rPr lang="en-US" altLang="ko-KR" sz="800" dirty="0"/>
              <a:t>: </a:t>
            </a:r>
            <a:r>
              <a:rPr lang="ko-KR" altLang="en-US" sz="800" dirty="0"/>
              <a:t>군수품무역대리업 신청 후 보안측정인원 첨부파일 </a:t>
            </a:r>
            <a:r>
              <a:rPr lang="ko-KR" altLang="en-US" sz="800" dirty="0" err="1"/>
              <a:t>수정제출한</a:t>
            </a:r>
            <a:r>
              <a:rPr lang="ko-KR" altLang="en-US" sz="800" dirty="0"/>
              <a:t> 상태</a:t>
            </a:r>
          </a:p>
          <a:p>
            <a:pPr marL="171450" indent="-171450">
              <a:buFontTx/>
              <a:buChar char="-"/>
            </a:pPr>
            <a:r>
              <a:rPr lang="ko-KR" altLang="en-US" sz="800" dirty="0" err="1"/>
              <a:t>승인완료</a:t>
            </a:r>
            <a:r>
              <a:rPr lang="ko-KR" altLang="en-US" sz="800" dirty="0"/>
              <a:t> </a:t>
            </a:r>
            <a:r>
              <a:rPr lang="en-US" altLang="ko-KR" sz="800" dirty="0"/>
              <a:t>: </a:t>
            </a:r>
            <a:r>
              <a:rPr lang="ko-KR" altLang="en-US" sz="800" dirty="0"/>
              <a:t>군수품무역대리업 신청 후 </a:t>
            </a:r>
            <a:r>
              <a:rPr lang="ko-KR" altLang="en-US" sz="800" dirty="0" err="1"/>
              <a:t>발급완료</a:t>
            </a:r>
            <a:r>
              <a:rPr lang="ko-KR" altLang="en-US" sz="800" dirty="0"/>
              <a:t> 상태</a:t>
            </a:r>
          </a:p>
        </p:txBody>
      </p:sp>
      <p:cxnSp>
        <p:nvCxnSpPr>
          <p:cNvPr id="156" name="직선 연결선 15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447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7" name="직선 연결선 15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0563" y="18815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34978" y="1573452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도움말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9" name="타원 158"/>
          <p:cNvSpPr/>
          <p:nvPr/>
        </p:nvSpPr>
        <p:spPr>
          <a:xfrm>
            <a:off x="3898850" y="160479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62" name="그룹 161"/>
          <p:cNvGrpSpPr/>
          <p:nvPr/>
        </p:nvGrpSpPr>
        <p:grpSpPr>
          <a:xfrm flipV="1">
            <a:off x="6258712" y="1686783"/>
            <a:ext cx="94010" cy="47005"/>
            <a:chOff x="6812560" y="3297172"/>
            <a:chExt cx="94010" cy="47005"/>
          </a:xfrm>
        </p:grpSpPr>
        <p:cxnSp>
          <p:nvCxnSpPr>
            <p:cNvPr id="163" name="직선 연결선 16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4" name="직선 연결선 16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66" name="직선 연결선 16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0563" y="291381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7" name="모서리가 둥근 직사각형 166"/>
          <p:cNvSpPr/>
          <p:nvPr/>
        </p:nvSpPr>
        <p:spPr>
          <a:xfrm>
            <a:off x="759699" y="4549363"/>
            <a:ext cx="2543426" cy="1465365"/>
          </a:xfrm>
          <a:prstGeom prst="roundRect">
            <a:avLst>
              <a:gd name="adj" fmla="val 3479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62779" y="4611182"/>
            <a:ext cx="2154318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b="1" dirty="0" smtClean="0">
                <a:latin typeface="Consolas" panose="020B0609020204030204" pitchFamily="49" charset="0"/>
              </a:rPr>
              <a:t>동의서 내용</a:t>
            </a:r>
            <a:endParaRPr lang="en-US" altLang="ko-KR" sz="700" b="1" dirty="0" smtClean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본인은 이 건 업무처리와 관련하여 담당 공무원이 </a:t>
            </a:r>
            <a:r>
              <a:rPr lang="en-US" altLang="ko-KR" sz="700" dirty="0">
                <a:latin typeface="Consolas" panose="020B0609020204030204" pitchFamily="49" charset="0"/>
              </a:rPr>
              <a:t>"</a:t>
            </a:r>
            <a:r>
              <a:rPr lang="ko-KR" altLang="en-US" sz="700" dirty="0" err="1">
                <a:latin typeface="Consolas" panose="020B0609020204030204" pitchFamily="49" charset="0"/>
              </a:rPr>
              <a:t>전자정부법</a:t>
            </a:r>
            <a:r>
              <a:rPr lang="en-US" altLang="ko-KR" sz="700" dirty="0">
                <a:latin typeface="Consolas" panose="020B0609020204030204" pitchFamily="49" charset="0"/>
              </a:rPr>
              <a:t>" </a:t>
            </a:r>
            <a:r>
              <a:rPr lang="ko-KR" altLang="en-US" sz="700" dirty="0">
                <a:latin typeface="Consolas" panose="020B0609020204030204" pitchFamily="49" charset="0"/>
              </a:rPr>
              <a:t>제</a:t>
            </a:r>
            <a:r>
              <a:rPr lang="en-US" altLang="ko-KR" sz="700" dirty="0">
                <a:latin typeface="Consolas" panose="020B0609020204030204" pitchFamily="49" charset="0"/>
              </a:rPr>
              <a:t>36</a:t>
            </a:r>
            <a:r>
              <a:rPr lang="ko-KR" altLang="en-US" sz="700" dirty="0">
                <a:latin typeface="Consolas" panose="020B0609020204030204" pitchFamily="49" charset="0"/>
              </a:rPr>
              <a:t>조제</a:t>
            </a:r>
            <a:r>
              <a:rPr lang="en-US" altLang="ko-KR" sz="700" dirty="0">
                <a:latin typeface="Consolas" panose="020B0609020204030204" pitchFamily="49" charset="0"/>
              </a:rPr>
              <a:t>1</a:t>
            </a:r>
            <a:r>
              <a:rPr lang="ko-KR" altLang="en-US" sz="700" dirty="0">
                <a:latin typeface="Consolas" panose="020B0609020204030204" pitchFamily="49" charset="0"/>
              </a:rPr>
              <a:t>항에 따른 행정정보의 공동이용을 통하여 위의 담당공무원 </a:t>
            </a:r>
            <a:r>
              <a:rPr lang="ko-KR" altLang="en-US" sz="700" dirty="0" err="1">
                <a:latin typeface="Consolas" panose="020B0609020204030204" pitchFamily="49" charset="0"/>
              </a:rPr>
              <a:t>확인사항</a:t>
            </a:r>
            <a:r>
              <a:rPr lang="ko-KR" altLang="en-US" sz="700" dirty="0">
                <a:latin typeface="Consolas" panose="020B0609020204030204" pitchFamily="49" charset="0"/>
              </a:rPr>
              <a:t> 중 </a:t>
            </a:r>
            <a:r>
              <a:rPr lang="ko-KR" altLang="en-US" sz="700" dirty="0" err="1">
                <a:latin typeface="Consolas" panose="020B0609020204030204" pitchFamily="49" charset="0"/>
              </a:rPr>
              <a:t>주민등록표</a:t>
            </a:r>
            <a:r>
              <a:rPr lang="ko-KR" altLang="en-US" sz="700" dirty="0">
                <a:latin typeface="Consolas" panose="020B0609020204030204" pitchFamily="49" charset="0"/>
              </a:rPr>
              <a:t> 등본</a:t>
            </a:r>
            <a:r>
              <a:rPr lang="en-US" altLang="ko-KR" sz="700" dirty="0">
                <a:latin typeface="Consolas" panose="020B0609020204030204" pitchFamily="49" charset="0"/>
              </a:rPr>
              <a:t>, </a:t>
            </a:r>
            <a:r>
              <a:rPr lang="ko-KR" altLang="en-US" sz="700" dirty="0">
                <a:latin typeface="Consolas" panose="020B0609020204030204" pitchFamily="49" charset="0"/>
              </a:rPr>
              <a:t>사업자등록증을 </a:t>
            </a:r>
            <a:r>
              <a:rPr lang="ko-KR" altLang="en-US" sz="700" dirty="0" err="1">
                <a:latin typeface="Consolas" panose="020B0609020204030204" pitchFamily="49" charset="0"/>
              </a:rPr>
              <a:t>확인하는것에</a:t>
            </a:r>
            <a:r>
              <a:rPr lang="ko-KR" altLang="en-US" sz="700" dirty="0">
                <a:latin typeface="Consolas" panose="020B0609020204030204" pitchFamily="49" charset="0"/>
              </a:rPr>
              <a:t> 동의합니다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 smtClean="0">
                <a:latin typeface="Consolas" panose="020B0609020204030204" pitchFamily="49" charset="0"/>
              </a:rPr>
              <a:t>동의하지 </a:t>
            </a:r>
            <a:r>
              <a:rPr lang="ko-KR" altLang="en-US" sz="700" dirty="0">
                <a:latin typeface="Consolas" panose="020B0609020204030204" pitchFamily="49" charset="0"/>
              </a:rPr>
              <a:t>아니하는 경우에는 신청인이 직접 관련 서류를 제출하여야 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</p:txBody>
      </p:sp>
      <p:sp>
        <p:nvSpPr>
          <p:cNvPr id="171" name="타원 170"/>
          <p:cNvSpPr/>
          <p:nvPr/>
        </p:nvSpPr>
        <p:spPr>
          <a:xfrm>
            <a:off x="832838" y="46159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72" name="그룹 171"/>
          <p:cNvGrpSpPr/>
          <p:nvPr/>
        </p:nvGrpSpPr>
        <p:grpSpPr>
          <a:xfrm flipV="1">
            <a:off x="3138712" y="4686396"/>
            <a:ext cx="94010" cy="47005"/>
            <a:chOff x="6812560" y="3297172"/>
            <a:chExt cx="94010" cy="47005"/>
          </a:xfrm>
        </p:grpSpPr>
        <p:cxnSp>
          <p:nvCxnSpPr>
            <p:cNvPr id="173" name="직선 연결선 17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74" name="직선 연결선 17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76" name="그룹 175"/>
          <p:cNvGrpSpPr/>
          <p:nvPr/>
        </p:nvGrpSpPr>
        <p:grpSpPr>
          <a:xfrm>
            <a:off x="767702" y="4075971"/>
            <a:ext cx="2522014" cy="342712"/>
            <a:chOff x="3888037" y="3794514"/>
            <a:chExt cx="2522014" cy="342712"/>
          </a:xfrm>
        </p:grpSpPr>
        <p:sp>
          <p:nvSpPr>
            <p:cNvPr id="17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3888037" y="3794514"/>
              <a:ext cx="2522014" cy="34271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endParaRPr kumimoji="1" lang="en-US" sz="700" kern="0" dirty="0">
                <a:solidFill>
                  <a:srgbClr val="0070C0"/>
                </a:solidFill>
                <a:latin typeface="맑은 고딕"/>
              </a:endParaRPr>
            </a:p>
          </p:txBody>
        </p:sp>
        <p:sp>
          <p:nvSpPr>
            <p:cNvPr id="180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3985874" y="3904315"/>
              <a:ext cx="56106" cy="12311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/>
                <a:t>1</a:t>
              </a:r>
              <a:endParaRPr lang="ko-KR" altLang="en-US" sz="800" b="1" dirty="0"/>
            </a:p>
          </p:txBody>
        </p:sp>
        <p:sp>
          <p:nvSpPr>
            <p:cNvPr id="181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4161661" y="3904315"/>
              <a:ext cx="1202252" cy="12311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dirty="0">
                  <a:latin typeface="맑은 고딕" panose="020B0503020000020004" pitchFamily="50" charset="-127"/>
                </a:rPr>
                <a:t>행정정보 공동이용 동의서</a:t>
              </a:r>
              <a:endParaRPr lang="en-US" altLang="ko-KR" sz="800" dirty="0">
                <a:latin typeface="맑은 고딕" panose="020B0503020000020004" pitchFamily="50" charset="-127"/>
              </a:endParaRPr>
            </a:p>
          </p:txBody>
        </p:sp>
        <p:sp>
          <p:nvSpPr>
            <p:cNvPr id="185" name="모서리가 둥근 직사각형 184"/>
            <p:cNvSpPr/>
            <p:nvPr/>
          </p:nvSpPr>
          <p:spPr>
            <a:xfrm>
              <a:off x="6079244" y="3906170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동의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205" name="타원 204"/>
            <p:cNvSpPr/>
            <p:nvPr/>
          </p:nvSpPr>
          <p:spPr>
            <a:xfrm>
              <a:off x="5884665" y="3908013"/>
              <a:ext cx="115715" cy="115715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 dirty="0">
                  <a:solidFill>
                    <a:schemeClr val="accent6"/>
                  </a:solidFill>
                </a:rPr>
                <a:t>V</a:t>
              </a:r>
              <a:endParaRPr lang="ko-KR" altLang="en-US" sz="800" dirty="0">
                <a:solidFill>
                  <a:schemeClr val="accent6"/>
                </a:solidFill>
              </a:endParaRPr>
            </a:p>
          </p:txBody>
        </p:sp>
      </p:grpSp>
      <p:sp>
        <p:nvSpPr>
          <p:cNvPr id="209" name="TextBox 2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3211" y="3749817"/>
            <a:ext cx="1136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조회 동의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10" name="그룹 209"/>
          <p:cNvGrpSpPr/>
          <p:nvPr/>
        </p:nvGrpSpPr>
        <p:grpSpPr>
          <a:xfrm flipV="1">
            <a:off x="3135299" y="3863148"/>
            <a:ext cx="94010" cy="47005"/>
            <a:chOff x="6812560" y="3297172"/>
            <a:chExt cx="94010" cy="47005"/>
          </a:xfrm>
        </p:grpSpPr>
        <p:cxnSp>
          <p:nvCxnSpPr>
            <p:cNvPr id="211" name="직선 연결선 21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2" name="직선 연결선 21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13" name="그룹 212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제출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21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217" name="그룹 216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4049128"/>
            <a:ext cx="76863" cy="292489"/>
            <a:chOff x="3750067" y="4683795"/>
            <a:chExt cx="76863" cy="292489"/>
          </a:xfrm>
        </p:grpSpPr>
        <p:sp>
          <p:nvSpPr>
            <p:cNvPr id="225" name="타원 22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26" name="타원 22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27" name="타원 22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599477886"/>
      </p:ext>
    </p:extLst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176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59001AB-3C1D-A1C6-C68A-973F59FC48AB}"/>
              </a:ext>
            </a:extLst>
          </p:cNvPr>
          <p:cNvSpPr txBox="1"/>
          <p:nvPr/>
        </p:nvSpPr>
        <p:spPr>
          <a:xfrm>
            <a:off x="455558" y="828897"/>
            <a:ext cx="429180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신청 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dm_dfEqpmntTradAgncAplyInfo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994AE86-154D-F53B-1EF4-052FC46164C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1042580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(4)+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접수일련번호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regAplySecd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14485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09627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28020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사업자번호 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430655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설립일자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fndnYmd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설립일자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90781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90621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F38884F3-0DEA-B653-19C1-0ED418762AC0}"/>
              </a:ext>
            </a:extLst>
          </p:cNvPr>
          <p:cNvSpPr txBox="1"/>
          <p:nvPr/>
        </p:nvSpPr>
        <p:spPr>
          <a:xfrm>
            <a:off x="455558" y="3574102"/>
            <a:ext cx="516063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신청 업체 첨부서류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dl_dfEqpmntTradAgncAplyAtchFileList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C02CF2F9-B29F-29DA-EC0A-40BB7106BB00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3785305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 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34A24014-24F4-E74D-8166-6F52F4F7A292}"/>
              </a:ext>
            </a:extLst>
          </p:cNvPr>
          <p:cNvSpPr txBox="1"/>
          <p:nvPr/>
        </p:nvSpPr>
        <p:spPr>
          <a:xfrm>
            <a:off x="455558" y="4601737"/>
            <a:ext cx="452103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신청 업체 보안측정인원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dl_scrtyMsrmtPrsnlList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12EFECB-4C2F-1A23-26A3-9E629B2D43E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482318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주민등록번호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taskHdlrEnrrno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주민등록번호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taskHdlrRsltCd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적격여부코드로 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부적격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taskHndlYmd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aprvSecdNm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1448555"/>
                  </a:ext>
                </a:extLst>
              </a:tr>
            </a:tbl>
          </a:graphicData>
        </a:graphic>
      </p:graphicFrame>
      <p:sp>
        <p:nvSpPr>
          <p:cNvPr id="9" name="Text Box 73">
            <a:extLst>
              <a:ext uri="{FF2B5EF4-FFF2-40B4-BE49-F238E27FC236}">
                <a16:creationId xmlns:a16="http://schemas.microsoft.com/office/drawing/2014/main" id="{A21ED5F9-6963-2553-CA4F-E5B72C1FE6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25077761"/>
      </p:ext>
    </p:extLst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177</a:t>
            </a:fld>
            <a:endParaRPr lang="ko-KR" altLang="en-US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9345221-F415-1E68-5C61-25B7D0B96F3B}"/>
              </a:ext>
            </a:extLst>
          </p:cNvPr>
          <p:cNvSpPr txBox="1"/>
          <p:nvPr/>
        </p:nvSpPr>
        <p:spPr>
          <a:xfrm>
            <a:off x="455204" y="702691"/>
            <a:ext cx="911074" cy="249250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B4CF4F53-DE25-0EA7-5039-EBA1EBDC95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11222947"/>
              </p:ext>
            </p:extLst>
          </p:nvPr>
        </p:nvGraphicFramePr>
        <p:xfrm>
          <a:off x="455204" y="940612"/>
          <a:ext cx="8995591" cy="1457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군수품무역대리업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나라장터</a:t>
                      </a:r>
                      <a:r>
                        <a:rPr lang="en-US" altLang="ko-KR" sz="800" dirty="0"/>
                        <a:t>(G2B)</a:t>
                      </a:r>
                      <a:r>
                        <a:rPr lang="ko-KR" altLang="en-US" sz="800" dirty="0"/>
                        <a:t>조달업체 최신 정보 수신</a:t>
                      </a:r>
                      <a:r>
                        <a:rPr lang="en-US" altLang="ko-KR" sz="800" dirty="0"/>
                        <a:t>(</a:t>
                      </a:r>
                      <a:r>
                        <a:rPr lang="ko-KR" altLang="en-US" sz="800" dirty="0"/>
                        <a:t>갱신</a:t>
                      </a:r>
                      <a:r>
                        <a:rPr lang="en-US" altLang="ko-KR" sz="800" dirty="0"/>
                        <a:t>) </a:t>
                      </a:r>
                      <a:r>
                        <a:rPr lang="ko-KR" altLang="en-US" sz="800" dirty="0"/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/>
                        <a:t>scwin.btn_g2bDmnd_onclick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나라장터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(G2B)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에서 조달업체 최신 정보를 수신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회로 제한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scwin.btn_strg_onclick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군수품무역대리업 변경</a:t>
                      </a:r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/>
                        <a:t>정보를 저장한다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81043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제출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scwin.btn_sbmsn_onclick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군수품무역대리업 변경</a:t>
                      </a:r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/>
                        <a:t>정보를 제출한다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805518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9A8F8070-621E-67FD-DD1B-2672A1EBD4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2" y="818310"/>
            <a:ext cx="1678016" cy="11849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27041904"/>
      </p:ext>
    </p:extLst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각 </a:t>
            </a:r>
            <a:r>
              <a:rPr lang="ko-KR" altLang="en-US" dirty="0" err="1"/>
              <a:t>바로가기</a:t>
            </a:r>
            <a:r>
              <a:rPr lang="ko-KR" altLang="en-US" dirty="0"/>
              <a:t> 버튼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클릭 </a:t>
            </a:r>
            <a:r>
              <a:rPr lang="ko-KR" altLang="en-US" dirty="0"/>
              <a:t>시 개인</a:t>
            </a:r>
            <a:r>
              <a:rPr lang="en-US" altLang="ko-KR" dirty="0"/>
              <a:t>(</a:t>
            </a:r>
            <a:r>
              <a:rPr lang="ko-KR" altLang="en-US" dirty="0"/>
              <a:t>생체</a:t>
            </a:r>
            <a:r>
              <a:rPr lang="en-US" altLang="ko-KR" dirty="0"/>
              <a:t>)</a:t>
            </a:r>
            <a:r>
              <a:rPr lang="ko-KR" altLang="en-US" dirty="0"/>
              <a:t>인증</a:t>
            </a:r>
            <a:r>
              <a:rPr lang="en-US" altLang="ko-KR" dirty="0"/>
              <a:t>/</a:t>
            </a:r>
            <a:r>
              <a:rPr lang="ko-KR" altLang="en-US" dirty="0"/>
              <a:t>비밀번호 </a:t>
            </a:r>
            <a:r>
              <a:rPr lang="ko-KR" altLang="en-US" dirty="0" smtClean="0"/>
              <a:t>인증 이후 상세 화면 진입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사용자 관리 권한이 있는 사용자에게 표시되는 목록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178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사용자정보관리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사용자정보관리 목록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메뉴 구성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MUI-CM-02-M01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사용자정보관리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grpSp>
        <p:nvGrpSpPr>
          <p:cNvPr id="50" name="그룹 49"/>
          <p:cNvGrpSpPr/>
          <p:nvPr/>
        </p:nvGrpSpPr>
        <p:grpSpPr>
          <a:xfrm>
            <a:off x="903581" y="3624487"/>
            <a:ext cx="2255663" cy="306146"/>
            <a:chOff x="903581" y="2074658"/>
            <a:chExt cx="2255663" cy="306146"/>
          </a:xfrm>
        </p:grpSpPr>
        <p:sp>
          <p:nvSpPr>
            <p:cNvPr id="51" name="모서리가 둥근 직사각형 5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개인정보 상세</a:t>
              </a:r>
            </a:p>
          </p:txBody>
        </p:sp>
      </p:grpSp>
      <p:grpSp>
        <p:nvGrpSpPr>
          <p:cNvPr id="55" name="그룹 54"/>
          <p:cNvGrpSpPr/>
          <p:nvPr/>
        </p:nvGrpSpPr>
        <p:grpSpPr>
          <a:xfrm>
            <a:off x="903581" y="4006731"/>
            <a:ext cx="2255663" cy="306146"/>
            <a:chOff x="903581" y="2074658"/>
            <a:chExt cx="2255663" cy="306146"/>
          </a:xfrm>
        </p:grpSpPr>
        <p:sp>
          <p:nvSpPr>
            <p:cNvPr id="56" name="모서리가 둥근 직사각형 5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비밀번호 변경</a:t>
              </a:r>
            </a:p>
          </p:txBody>
        </p:sp>
      </p:grpSp>
      <p:grpSp>
        <p:nvGrpSpPr>
          <p:cNvPr id="110" name="그룹 109"/>
          <p:cNvGrpSpPr/>
          <p:nvPr/>
        </p:nvGrpSpPr>
        <p:grpSpPr>
          <a:xfrm>
            <a:off x="903581" y="4387007"/>
            <a:ext cx="2255663" cy="306146"/>
            <a:chOff x="903581" y="2074658"/>
            <a:chExt cx="2255663" cy="306146"/>
          </a:xfrm>
        </p:grpSpPr>
        <p:sp>
          <p:nvSpPr>
            <p:cNvPr id="111" name="모서리가 둥근 직사각형 11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개인신원확인</a:t>
              </a:r>
            </a:p>
          </p:txBody>
        </p:sp>
      </p:grpSp>
      <p:grpSp>
        <p:nvGrpSpPr>
          <p:cNvPr id="115" name="그룹 114"/>
          <p:cNvGrpSpPr/>
          <p:nvPr/>
        </p:nvGrpSpPr>
        <p:grpSpPr>
          <a:xfrm>
            <a:off x="903581" y="4772299"/>
            <a:ext cx="2255663" cy="306146"/>
            <a:chOff x="903581" y="2074658"/>
            <a:chExt cx="2255663" cy="306146"/>
          </a:xfrm>
        </p:grpSpPr>
        <p:sp>
          <p:nvSpPr>
            <p:cNvPr id="116" name="모서리가 둥근 직사각형 11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 smtClean="0">
                  <a:latin typeface="+mn-ea"/>
                </a:rPr>
                <a:t>소속 </a:t>
              </a:r>
              <a:r>
                <a:rPr lang="ko-KR" altLang="en-US" sz="800" b="1" dirty="0">
                  <a:latin typeface="+mn-ea"/>
                </a:rPr>
                <a:t>사용자 목록</a:t>
              </a:r>
            </a:p>
          </p:txBody>
        </p:sp>
      </p:grp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01941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41" name="그룹 40"/>
          <p:cNvGrpSpPr/>
          <p:nvPr/>
        </p:nvGrpSpPr>
        <p:grpSpPr>
          <a:xfrm>
            <a:off x="903581" y="5157591"/>
            <a:ext cx="2255663" cy="306146"/>
            <a:chOff x="903581" y="2074658"/>
            <a:chExt cx="2255663" cy="306146"/>
          </a:xfrm>
        </p:grpSpPr>
        <p:sp>
          <p:nvSpPr>
            <p:cNvPr id="42" name="모서리가 둥근 직사각형 41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 smtClean="0">
                  <a:latin typeface="+mn-ea"/>
                </a:rPr>
                <a:t>회원 탈퇴</a:t>
              </a:r>
              <a:endParaRPr lang="ko-KR" altLang="en-US" sz="800" b="1" dirty="0">
                <a:latin typeface="+mn-ea"/>
              </a:endParaRPr>
            </a:p>
          </p:txBody>
        </p:sp>
      </p:grpSp>
      <p:grpSp>
        <p:nvGrpSpPr>
          <p:cNvPr id="46" name="그룹 45"/>
          <p:cNvGrpSpPr/>
          <p:nvPr/>
        </p:nvGrpSpPr>
        <p:grpSpPr>
          <a:xfrm>
            <a:off x="705041" y="5550907"/>
            <a:ext cx="2652743" cy="584974"/>
            <a:chOff x="734683" y="4769161"/>
            <a:chExt cx="2652743" cy="584974"/>
          </a:xfrm>
        </p:grpSpPr>
        <p:sp>
          <p:nvSpPr>
            <p:cNvPr id="47" name="모서리가 둥근 직사각형 46"/>
            <p:cNvSpPr/>
            <p:nvPr/>
          </p:nvSpPr>
          <p:spPr>
            <a:xfrm>
              <a:off x="734683" y="4769161"/>
              <a:ext cx="2652743" cy="584974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32316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퇴사자</a:t>
              </a:r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원복은 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PC </a:t>
              </a:r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버전에서 확인하고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 </a:t>
              </a:r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신청이 가능합니다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54" name="타원 53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59" name="그룹 58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60" name="직선 연결선 5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1" name="직선 연결선 6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2" name="그룹 61"/>
          <p:cNvGrpSpPr/>
          <p:nvPr/>
        </p:nvGrpSpPr>
        <p:grpSpPr>
          <a:xfrm>
            <a:off x="716365" y="1926939"/>
            <a:ext cx="2630093" cy="1600147"/>
            <a:chOff x="720490" y="4465173"/>
            <a:chExt cx="2630093" cy="1600147"/>
          </a:xfrm>
        </p:grpSpPr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업체정보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64" name="그룹 63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75" name="직선 연결선 7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6" name="직선 연결선 7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65" name="직사각형 64"/>
            <p:cNvSpPr/>
            <p:nvPr/>
          </p:nvSpPr>
          <p:spPr>
            <a:xfrm>
              <a:off x="722583" y="4772658"/>
              <a:ext cx="792000" cy="12808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업체코드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등록일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법인등록번호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주식회사 </a:t>
              </a:r>
              <a:r>
                <a:rPr lang="ko-KR" altLang="en-US" sz="700" dirty="0" smtClean="0">
                  <a:latin typeface="+mn-ea"/>
                </a:rPr>
                <a:t>국방전자조달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7004F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2026-02-02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123456-7890123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77" name="타원 7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8393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881753980"/>
      </p:ext>
    </p:extLst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179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</a:t>
            </a:r>
            <a:r>
              <a:rPr lang="ko-KR" altLang="en-US" sz="1000" b="1" dirty="0" smtClean="0">
                <a:solidFill>
                  <a:prstClr val="black"/>
                </a:solidFill>
              </a:rPr>
              <a:t>설명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53000" y="840586"/>
            <a:ext cx="236980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업체정보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1054269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64318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07890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bzentyRgstrtYmd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43788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1711343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9646A461-BCAF-034A-1179-54DE17ACB2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96F37B1-F84C-2A3A-7E62-143A78C7C08B}"/>
              </a:ext>
            </a:extLst>
          </p:cNvPr>
          <p:cNvSpPr txBox="1"/>
          <p:nvPr/>
        </p:nvSpPr>
        <p:spPr>
          <a:xfrm>
            <a:off x="455204" y="2849740"/>
            <a:ext cx="911074" cy="205992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B9231C4C-4641-0463-57E3-B0D9AC13248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204" y="3055732"/>
          <a:ext cx="8995591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).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 사용자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smtClean="0"/>
                        <a:t>항목 </a:t>
                      </a:r>
                      <a:r>
                        <a:rPr lang="ko-KR" altLang="en-US" sz="800" dirty="0"/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각 세부 페이지로 이동한다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FC288215-3957-73FE-9B76-59983CB7F9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2936287"/>
            <a:ext cx="1678016" cy="979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643601437"/>
      </p:ext>
    </p:extLst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비밀번호 확인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생체 인증이 등록되어 있다면</a:t>
            </a:r>
            <a:r>
              <a:rPr lang="en-US" altLang="ko-KR" dirty="0" smtClean="0"/>
              <a:t>, </a:t>
            </a:r>
            <a:r>
              <a:rPr lang="ko-KR" altLang="en-US" dirty="0" smtClean="0"/>
              <a:t>현재 페이지에서 생체 인증 진행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비밀번호</a:t>
            </a:r>
            <a:r>
              <a:rPr lang="en-US" altLang="ko-KR" dirty="0" smtClean="0"/>
              <a:t> </a:t>
            </a:r>
            <a:r>
              <a:rPr lang="ko-KR" altLang="en-US" dirty="0" smtClean="0"/>
              <a:t>또는</a:t>
            </a:r>
            <a:r>
              <a:rPr lang="en-US" altLang="ko-KR" dirty="0" smtClean="0"/>
              <a:t> </a:t>
            </a:r>
            <a:r>
              <a:rPr lang="ko-KR" altLang="en-US" dirty="0" err="1" smtClean="0"/>
              <a:t>생체인증이</a:t>
            </a:r>
            <a:r>
              <a:rPr lang="ko-KR" altLang="en-US" dirty="0" smtClean="0"/>
              <a:t> 정상적인 경우 하위 페이지 진입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생체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인증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비밀번호 인증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생체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인증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비밀번호 </a:t>
            </a:r>
            <a:r>
              <a:rPr lang="ko-KR" altLang="en-US" dirty="0" smtClean="0">
                <a:latin typeface="+mn-ea"/>
              </a:rPr>
              <a:t>인증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개인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생체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인증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비밀번호 인증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MUI-CM-02-M02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비밀번호 </a:t>
            </a:r>
            <a:r>
              <a:rPr lang="ko-KR" altLang="en-US" sz="800" dirty="0">
                <a:latin typeface="+mn-ea"/>
              </a:rPr>
              <a:t>인증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06833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Consolas" panose="020B0609020204030204" pitchFamily="49" charset="0"/>
              </a:rPr>
              <a:t>개인정보 접근을 위해 추가 인증이 필요합니다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  <a:endParaRPr lang="ko-KR" altLang="en-US" sz="800" u="sng" dirty="0">
              <a:latin typeface="맑은 고딕" panose="020B0503020000020004" pitchFamily="50" charset="-127"/>
            </a:endParaRPr>
          </a:p>
        </p:txBody>
      </p:sp>
      <p:grpSp>
        <p:nvGrpSpPr>
          <p:cNvPr id="41" name="그룹 40"/>
          <p:cNvGrpSpPr/>
          <p:nvPr/>
        </p:nvGrpSpPr>
        <p:grpSpPr>
          <a:xfrm>
            <a:off x="705041" y="5217620"/>
            <a:ext cx="2652743" cy="896921"/>
            <a:chOff x="734683" y="4769160"/>
            <a:chExt cx="2652743" cy="896921"/>
          </a:xfrm>
        </p:grpSpPr>
        <p:sp>
          <p:nvSpPr>
            <p:cNvPr id="42" name="모서리가 둥근 직사각형 41"/>
            <p:cNvSpPr/>
            <p:nvPr/>
          </p:nvSpPr>
          <p:spPr>
            <a:xfrm>
              <a:off x="734683" y="4769160"/>
              <a:ext cx="2652743" cy="896921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비밀번호를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5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회 이상 잘못 입력할 경우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3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분간 </a:t>
              </a:r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접근이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제한됩니다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비밀번호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자동완성기능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(ex.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알패스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등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)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은 사용할 수 없습니다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45" name="타원 44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46" name="그룹 45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47" name="직선 연결선 4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49" name="직선 연결선 4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1" name="그룹 60"/>
          <p:cNvGrpSpPr/>
          <p:nvPr/>
        </p:nvGrpSpPr>
        <p:grpSpPr>
          <a:xfrm>
            <a:off x="903581" y="2769869"/>
            <a:ext cx="2255663" cy="306146"/>
            <a:chOff x="3982951" y="3679873"/>
            <a:chExt cx="2255663" cy="306146"/>
          </a:xfrm>
        </p:grpSpPr>
        <p:sp>
          <p:nvSpPr>
            <p:cNvPr id="62" name="모서리가 둥근 직사각형 61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비밀번호를 입력해주세요</a:t>
              </a:r>
            </a:p>
          </p:txBody>
        </p:sp>
      </p:grpSp>
      <p:sp>
        <p:nvSpPr>
          <p:cNvPr id="64" name="TextBox 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630934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비밀번호</a:t>
            </a:r>
          </a:p>
        </p:txBody>
      </p:sp>
      <p:grpSp>
        <p:nvGrpSpPr>
          <p:cNvPr id="65" name="그룹 64"/>
          <p:cNvGrpSpPr/>
          <p:nvPr/>
        </p:nvGrpSpPr>
        <p:grpSpPr>
          <a:xfrm>
            <a:off x="903580" y="3394047"/>
            <a:ext cx="2255663" cy="306146"/>
            <a:chOff x="3982951" y="3679873"/>
            <a:chExt cx="2255663" cy="306146"/>
          </a:xfrm>
        </p:grpSpPr>
        <p:sp>
          <p:nvSpPr>
            <p:cNvPr id="66" name="모서리가 둥근 직사각형 65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800" b="1" smtClean="0">
                  <a:solidFill>
                    <a:schemeClr val="bg1"/>
                  </a:solidFill>
                  <a:latin typeface="+mn-ea"/>
                </a:rPr>
                <a:t>확인</a:t>
              </a:r>
              <a:endParaRPr lang="ko-KR" altLang="en-US" sz="8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115874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</p:spTree>
    <p:extLst>
      <p:ext uri="{BB962C8B-B14F-4D97-AF65-F5344CB8AC3E}">
        <p14:creationId xmlns:p14="http://schemas.microsoft.com/office/powerpoint/2010/main" val="1755647330"/>
      </p:ext>
    </p:extLst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181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60676" y="251036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97804015"/>
              </p:ext>
            </p:extLst>
          </p:nvPr>
        </p:nvGraphicFramePr>
        <p:xfrm>
          <a:off x="455204" y="2738613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7046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345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확인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개인정보 </a:t>
                      </a:r>
                      <a:r>
                        <a:rPr lang="ko-KR" altLang="en-US" sz="800" dirty="0" smtClean="0"/>
                        <a:t>진입을 </a:t>
                      </a:r>
                      <a:r>
                        <a:rPr lang="ko-KR" altLang="en-US" sz="800" dirty="0"/>
                        <a:t>위해 비밀번호 확인을 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1A05DC22-1F45-1635-7D82-D1A2569711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7" y="262758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4DB219E7-1AD6-2076-CF8E-791596C77351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6585AAA0-E72E-16E1-4AF7-B7C28E2DC9C5}"/>
              </a:ext>
            </a:extLst>
          </p:cNvPr>
          <p:cNvSpPr txBox="1"/>
          <p:nvPr/>
        </p:nvSpPr>
        <p:spPr>
          <a:xfrm>
            <a:off x="460676" y="833240"/>
            <a:ext cx="223194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개인정보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69AD1118-E107-46DC-3258-94C2124CA57D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1116994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userEnpswd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 암호화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976796"/>
                  </a:ext>
                </a:extLst>
              </a:tr>
            </a:tbl>
          </a:graphicData>
        </a:graphic>
      </p:graphicFrame>
      <p:sp>
        <p:nvSpPr>
          <p:cNvPr id="8" name="Text Box 73">
            <a:extLst>
              <a:ext uri="{FF2B5EF4-FFF2-40B4-BE49-F238E27FC236}">
                <a16:creationId xmlns:a16="http://schemas.microsoft.com/office/drawing/2014/main" id="{40EF4BA8-43E1-7E6B-53D1-6EEF9C750E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04583951"/>
      </p:ext>
    </p:extLst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조회화면으로 수정 불가능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수신설정</a:t>
            </a:r>
            <a:r>
              <a:rPr lang="ko-KR" altLang="en-US" dirty="0" smtClean="0"/>
              <a:t> 역시 조회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개인정보 수정하기 버튼으로 개인정보 수정 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사용자 관리 목록에서 진입하는 경우</a:t>
            </a:r>
            <a:r>
              <a:rPr lang="ko-KR" altLang="en-US" dirty="0" smtClean="0"/>
              <a:t>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타이틀 변경</a:t>
            </a:r>
            <a:r>
              <a:rPr lang="en-US" altLang="ko-KR" dirty="0"/>
              <a:t> </a:t>
            </a:r>
            <a:r>
              <a:rPr lang="en-US" altLang="ko-KR" dirty="0" smtClean="0"/>
              <a:t>- </a:t>
            </a:r>
            <a:r>
              <a:rPr lang="ko-KR" altLang="en-US" dirty="0"/>
              <a:t>사용자 상세정보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 smtClean="0"/>
              <a:t>표시정보</a:t>
            </a:r>
            <a:r>
              <a:rPr lang="ko-KR" altLang="en-US" dirty="0" smtClean="0"/>
              <a:t> 중 수신 설정 </a:t>
            </a:r>
            <a:r>
              <a:rPr lang="ko-KR" altLang="en-US" dirty="0" err="1" smtClean="0"/>
              <a:t>미표시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도움말 및 개인정보 수정 버튼 </a:t>
            </a:r>
            <a:r>
              <a:rPr lang="ko-KR" altLang="en-US" dirty="0" err="1" smtClean="0"/>
              <a:t>미표시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개인정보 상세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개인정보 </a:t>
            </a:r>
            <a:r>
              <a:rPr lang="ko-KR" altLang="en-US" dirty="0" smtClean="0">
                <a:latin typeface="+mn-ea"/>
              </a:rPr>
              <a:t>상세</a:t>
            </a:r>
            <a:r>
              <a:rPr lang="en-US" altLang="ko-KR" dirty="0" smtClean="0">
                <a:latin typeface="+mn-ea"/>
              </a:rPr>
              <a:t> </a:t>
            </a:r>
            <a:r>
              <a:rPr lang="ko-KR" altLang="en-US" dirty="0" smtClean="0">
                <a:latin typeface="+mn-ea"/>
              </a:rPr>
              <a:t>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개인정보 상세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MUI-CM-02-M03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개인정보 상세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63" name="그룹 62"/>
          <p:cNvGrpSpPr/>
          <p:nvPr/>
        </p:nvGrpSpPr>
        <p:grpSpPr>
          <a:xfrm>
            <a:off x="4023916" y="5111707"/>
            <a:ext cx="2255663" cy="306146"/>
            <a:chOff x="3982951" y="3679873"/>
            <a:chExt cx="2255663" cy="306146"/>
          </a:xfrm>
        </p:grpSpPr>
        <p:sp>
          <p:nvSpPr>
            <p:cNvPr id="64" name="모서리가 둥근 직사각형 6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800" b="1" dirty="0" smtClean="0">
                  <a:solidFill>
                    <a:schemeClr val="bg1"/>
                  </a:solidFill>
                  <a:latin typeface="+mn-ea"/>
                </a:rPr>
                <a:t>개인정보 수정하기</a:t>
              </a:r>
              <a:endParaRPr lang="ko-KR" altLang="en-US" sz="8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2883387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 smtClean="0">
                <a:latin typeface="+mn-ea"/>
              </a:rPr>
              <a:t>Test1</a:t>
            </a:r>
            <a:endParaRPr lang="ko-KR" altLang="en-US" sz="800" dirty="0">
              <a:latin typeface="+mn-ea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645240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아이디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3490557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홍길동</a:t>
            </a:r>
            <a:endParaRPr lang="ko-KR" altLang="en-US" sz="800" dirty="0">
              <a:latin typeface="+mn-ea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252410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사용자명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029873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사용자 유형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2276217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일반사용자</a:t>
            </a:r>
            <a:endParaRPr lang="ko-KR" altLang="en-US" sz="800" dirty="0">
              <a:latin typeface="+mn-ea"/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5328461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실명인증이 필요합니다</a:t>
            </a:r>
            <a:r>
              <a:rPr lang="en-US" altLang="ko-KR" sz="800" dirty="0" smtClean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5090314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실명인증여부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474947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부서명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4721291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 smtClean="0">
                <a:latin typeface="+mn-ea"/>
              </a:rPr>
              <a:t>총무팀</a:t>
            </a:r>
            <a:endParaRPr lang="ko-KR" altLang="en-US" sz="800" dirty="0">
              <a:latin typeface="+mn-ea"/>
            </a:endParaRP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5391" y="2491764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 smtClean="0">
                <a:latin typeface="+mn-ea"/>
              </a:rPr>
              <a:t>abcde@dapa.go.kr</a:t>
            </a:r>
            <a:endParaRPr lang="ko-KR" altLang="en-US" sz="800" dirty="0">
              <a:latin typeface="+mn-ea"/>
            </a:endParaRP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23916" y="2253617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이메일 주소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5391" y="1884594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 smtClean="0">
                <a:latin typeface="+mn-ea"/>
              </a:rPr>
              <a:t>010-1234-5678</a:t>
            </a:r>
            <a:endParaRPr lang="ko-KR" altLang="en-US" sz="800" dirty="0">
              <a:latin typeface="+mn-ea"/>
            </a:endParaRP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23916" y="1646447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휴대전화번호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569748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전화번호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5934618"/>
            <a:ext cx="157010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 smtClean="0">
                <a:latin typeface="+mn-ea"/>
              </a:rPr>
              <a:t>02-1234-5678</a:t>
            </a:r>
            <a:endParaRPr lang="ko-KR" altLang="en-US" sz="8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23916" y="2861802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팩스번호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5390" y="3098934"/>
            <a:ext cx="157010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 smtClean="0">
                <a:latin typeface="+mn-ea"/>
              </a:rPr>
              <a:t>02-2345-6789</a:t>
            </a:r>
            <a:endParaRPr lang="ko-KR" altLang="en-US" sz="800" dirty="0">
              <a:latin typeface="+mn-ea"/>
            </a:endParaRP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859580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 smtClean="0">
                <a:latin typeface="+mn-ea"/>
              </a:rPr>
              <a:t>업체명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4105924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 smtClean="0">
                <a:latin typeface="+mn-ea"/>
              </a:rPr>
              <a:t>조달테스트</a:t>
            </a:r>
            <a:endParaRPr lang="ko-KR" altLang="en-US" sz="800" dirty="0">
              <a:latin typeface="+mn-ea"/>
            </a:endParaRPr>
          </a:p>
        </p:txBody>
      </p:sp>
      <p:grpSp>
        <p:nvGrpSpPr>
          <p:cNvPr id="153" name="그룹 152"/>
          <p:cNvGrpSpPr/>
          <p:nvPr/>
        </p:nvGrpSpPr>
        <p:grpSpPr>
          <a:xfrm>
            <a:off x="3825375" y="4332817"/>
            <a:ext cx="2652743" cy="633878"/>
            <a:chOff x="734683" y="4769160"/>
            <a:chExt cx="2652743" cy="633878"/>
          </a:xfrm>
        </p:grpSpPr>
        <p:sp>
          <p:nvSpPr>
            <p:cNvPr id="154" name="모서리가 둥근 직사각형 153"/>
            <p:cNvSpPr/>
            <p:nvPr/>
          </p:nvSpPr>
          <p:spPr>
            <a:xfrm>
              <a:off x="734683" y="4769160"/>
              <a:ext cx="2652743" cy="633878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55" name="TextBox 1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상세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SMS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수신서비스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설정은 </a:t>
              </a:r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홈 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&gt; </a:t>
              </a:r>
              <a:r>
                <a:rPr lang="ko-KR" altLang="en-US" sz="700" dirty="0" err="1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마이페이지</a:t>
              </a:r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&gt; </a:t>
              </a:r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알림서비스신청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화면에서 가능합니다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156" name="타원 155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61" name="TextBox 1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32818" y="347141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수신 설정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715587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휴대전화 수신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177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6011046" y="3708562"/>
            <a:ext cx="301752" cy="137160"/>
            <a:chOff x="840582" y="1601197"/>
            <a:chExt cx="301752" cy="137160"/>
          </a:xfrm>
        </p:grpSpPr>
        <p:sp>
          <p:nvSpPr>
            <p:cNvPr id="178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9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0" name="TextBox 1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967692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이메일 수신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181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6011046" y="3960667"/>
            <a:ext cx="301752" cy="137160"/>
            <a:chOff x="840582" y="1601197"/>
            <a:chExt cx="301752" cy="137160"/>
          </a:xfrm>
        </p:grpSpPr>
        <p:sp>
          <p:nvSpPr>
            <p:cNvPr id="182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3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4" name="TextBox 183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</p:spTree>
    <p:extLst>
      <p:ext uri="{BB962C8B-B14F-4D97-AF65-F5344CB8AC3E}">
        <p14:creationId xmlns:p14="http://schemas.microsoft.com/office/powerpoint/2010/main" val="4260067123"/>
      </p:ext>
    </p:extLst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en-US" altLang="ko-KR" dirty="0" smtClean="0"/>
              <a:t>Dim </a:t>
            </a:r>
            <a:r>
              <a:rPr lang="ko-KR" altLang="en-US" dirty="0" smtClean="0"/>
              <a:t>항목은 수정불가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취소 클릭 시 개인정보 상세 화면 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저장하기 </a:t>
            </a:r>
            <a:r>
              <a:rPr lang="ko-KR" altLang="en-US" dirty="0"/>
              <a:t>클릭 시 개인정보 상세 화면 </a:t>
            </a:r>
            <a:r>
              <a:rPr lang="ko-KR" altLang="en-US" dirty="0" smtClean="0"/>
              <a:t>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토스트 메시지 </a:t>
            </a:r>
            <a:r>
              <a:rPr lang="en-US" altLang="ko-KR" dirty="0" smtClean="0"/>
              <a:t>: </a:t>
            </a:r>
            <a:r>
              <a:rPr lang="ko-KR" altLang="en-US" dirty="0" smtClean="0"/>
              <a:t>개인정보를 수정하였습니다</a:t>
            </a:r>
            <a:r>
              <a:rPr lang="en-US" altLang="ko-KR" dirty="0" smtClean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개인정보 수정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개인정보 수정</a:t>
            </a:r>
            <a:r>
              <a:rPr lang="en-US" altLang="ko-KR" dirty="0" smtClean="0">
                <a:latin typeface="+mn-ea"/>
              </a:rPr>
              <a:t> </a:t>
            </a:r>
            <a:r>
              <a:rPr lang="ko-KR" altLang="en-US" dirty="0" smtClean="0">
                <a:latin typeface="+mn-ea"/>
              </a:rPr>
              <a:t>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개인정보 </a:t>
            </a:r>
            <a:r>
              <a:rPr lang="ko-KR" altLang="en-US" dirty="0" smtClean="0">
                <a:latin typeface="+mn-ea"/>
              </a:rPr>
              <a:t>상세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개인정보 수정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MUI-CM-02-M04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개인정보 </a:t>
            </a:r>
            <a:r>
              <a:rPr lang="ko-KR" altLang="en-US" sz="800" dirty="0" smtClean="0">
                <a:latin typeface="+mn-ea"/>
              </a:rPr>
              <a:t>수정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64" name="모서리가 둥근 직사각형 63"/>
          <p:cNvSpPr/>
          <p:nvPr/>
        </p:nvSpPr>
        <p:spPr>
          <a:xfrm>
            <a:off x="4777593" y="4353970"/>
            <a:ext cx="1501986" cy="306146"/>
          </a:xfrm>
          <a:prstGeom prst="roundRect">
            <a:avLst>
              <a:gd name="adj" fmla="val 18626"/>
            </a:avLst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 smtClean="0"/>
              <a:t>저장하기</a:t>
            </a:r>
            <a:endParaRPr lang="ko-KR" altLang="en-US" sz="900" dirty="0"/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9" name="그룹 8"/>
          <p:cNvGrpSpPr/>
          <p:nvPr/>
        </p:nvGrpSpPr>
        <p:grpSpPr>
          <a:xfrm>
            <a:off x="903581" y="2645240"/>
            <a:ext cx="2255663" cy="445081"/>
            <a:chOff x="903581" y="2736408"/>
            <a:chExt cx="2255663" cy="445081"/>
          </a:xfrm>
        </p:grpSpPr>
        <p:grpSp>
          <p:nvGrpSpPr>
            <p:cNvPr id="47" name="그룹 46"/>
            <p:cNvGrpSpPr/>
            <p:nvPr/>
          </p:nvGrpSpPr>
          <p:grpSpPr>
            <a:xfrm>
              <a:off x="903581" y="2875343"/>
              <a:ext cx="2255663" cy="306146"/>
              <a:chOff x="3982951" y="3679873"/>
              <a:chExt cx="2255663" cy="306146"/>
            </a:xfrm>
          </p:grpSpPr>
          <p:sp>
            <p:nvSpPr>
              <p:cNvPr id="49" name="모서리가 둥근 직사각형 48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 smtClean="0">
                    <a:latin typeface="+mn-ea"/>
                  </a:rPr>
                  <a:t>Test1</a:t>
                </a:r>
                <a:endParaRPr lang="ko-KR" altLang="en-US" sz="800" dirty="0">
                  <a:latin typeface="+mn-ea"/>
                </a:endParaRPr>
              </a:p>
            </p:txBody>
          </p:sp>
        </p:grp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2736408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 smtClean="0">
                  <a:latin typeface="+mn-ea"/>
                </a:rPr>
                <a:t>아이디</a:t>
              </a:r>
              <a:endParaRPr lang="ko-KR" altLang="en-US" sz="700" b="1" dirty="0">
                <a:latin typeface="+mn-ea"/>
              </a:endParaRPr>
            </a:p>
          </p:txBody>
        </p:sp>
      </p:grpSp>
      <p:grpSp>
        <p:nvGrpSpPr>
          <p:cNvPr id="8" name="그룹 7"/>
          <p:cNvGrpSpPr/>
          <p:nvPr/>
        </p:nvGrpSpPr>
        <p:grpSpPr>
          <a:xfrm>
            <a:off x="903581" y="3252410"/>
            <a:ext cx="2255663" cy="445081"/>
            <a:chOff x="903581" y="3368079"/>
            <a:chExt cx="2255663" cy="445081"/>
          </a:xfrm>
        </p:grpSpPr>
        <p:grpSp>
          <p:nvGrpSpPr>
            <p:cNvPr id="57" name="그룹 56"/>
            <p:cNvGrpSpPr/>
            <p:nvPr/>
          </p:nvGrpSpPr>
          <p:grpSpPr>
            <a:xfrm>
              <a:off x="903581" y="3507014"/>
              <a:ext cx="2255663" cy="306146"/>
              <a:chOff x="3982951" y="3679873"/>
              <a:chExt cx="2255663" cy="306146"/>
            </a:xfrm>
          </p:grpSpPr>
          <p:sp>
            <p:nvSpPr>
              <p:cNvPr id="58" name="모서리가 둥근 직사각형 57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 smtClean="0">
                    <a:latin typeface="+mn-ea"/>
                  </a:rPr>
                  <a:t>홍길동</a:t>
                </a:r>
                <a:endParaRPr lang="ko-KR" altLang="en-US" sz="800" dirty="0">
                  <a:latin typeface="+mn-ea"/>
                </a:endParaRPr>
              </a:p>
            </p:txBody>
          </p:sp>
        </p:grp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3368079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 smtClean="0">
                  <a:latin typeface="+mn-ea"/>
                </a:rPr>
                <a:t>사용자명</a:t>
              </a:r>
              <a:endParaRPr lang="ko-KR" altLang="en-US" sz="700" b="1" dirty="0">
                <a:latin typeface="+mn-ea"/>
              </a:endParaRPr>
            </a:p>
          </p:txBody>
        </p:sp>
      </p:grpSp>
      <p:grpSp>
        <p:nvGrpSpPr>
          <p:cNvPr id="14" name="그룹 13"/>
          <p:cNvGrpSpPr/>
          <p:nvPr/>
        </p:nvGrpSpPr>
        <p:grpSpPr>
          <a:xfrm>
            <a:off x="903581" y="2029873"/>
            <a:ext cx="2255663" cy="453278"/>
            <a:chOff x="903581" y="2090495"/>
            <a:chExt cx="2255663" cy="453278"/>
          </a:xfrm>
        </p:grpSpPr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209049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 smtClean="0">
                  <a:latin typeface="+mn-ea"/>
                </a:rPr>
                <a:t>사용자 유형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grpSp>
          <p:nvGrpSpPr>
            <p:cNvPr id="93" name="그룹 92"/>
            <p:cNvGrpSpPr/>
            <p:nvPr/>
          </p:nvGrpSpPr>
          <p:grpSpPr>
            <a:xfrm>
              <a:off x="903581" y="2237627"/>
              <a:ext cx="2255663" cy="306146"/>
              <a:chOff x="3982951" y="3679873"/>
              <a:chExt cx="2255663" cy="306146"/>
            </a:xfrm>
          </p:grpSpPr>
          <p:sp>
            <p:nvSpPr>
              <p:cNvPr id="94" name="모서리가 둥근 직사각형 93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 smtClean="0">
                    <a:latin typeface="+mn-ea"/>
                  </a:rPr>
                  <a:t>일반사용자</a:t>
                </a:r>
                <a:endParaRPr lang="ko-KR" altLang="en-US" sz="800" dirty="0">
                  <a:latin typeface="+mn-ea"/>
                </a:endParaRPr>
              </a:p>
            </p:txBody>
          </p:sp>
        </p:grpSp>
      </p:grpSp>
      <p:grpSp>
        <p:nvGrpSpPr>
          <p:cNvPr id="16" name="그룹 15"/>
          <p:cNvGrpSpPr/>
          <p:nvPr/>
        </p:nvGrpSpPr>
        <p:grpSpPr>
          <a:xfrm>
            <a:off x="903581" y="5090314"/>
            <a:ext cx="2255663" cy="445081"/>
            <a:chOff x="903581" y="5126437"/>
            <a:chExt cx="2255663" cy="445081"/>
          </a:xfrm>
        </p:grpSpPr>
        <p:grpSp>
          <p:nvGrpSpPr>
            <p:cNvPr id="68" name="그룹 67"/>
            <p:cNvGrpSpPr/>
            <p:nvPr/>
          </p:nvGrpSpPr>
          <p:grpSpPr>
            <a:xfrm>
              <a:off x="903581" y="5265372"/>
              <a:ext cx="2255663" cy="306146"/>
              <a:chOff x="3982951" y="3679873"/>
              <a:chExt cx="2255663" cy="306146"/>
            </a:xfrm>
          </p:grpSpPr>
          <p:sp>
            <p:nvSpPr>
              <p:cNvPr id="69" name="모서리가 둥근 직사각형 68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 smtClean="0">
                    <a:latin typeface="+mn-ea"/>
                  </a:rPr>
                  <a:t>실명인증이 필요합니다</a:t>
                </a:r>
                <a:r>
                  <a:rPr lang="en-US" altLang="ko-KR" sz="800" dirty="0" smtClean="0">
                    <a:latin typeface="+mn-ea"/>
                  </a:rPr>
                  <a:t>.</a:t>
                </a:r>
                <a:endParaRPr lang="ko-KR" altLang="en-US" sz="800" dirty="0">
                  <a:latin typeface="+mn-ea"/>
                </a:endParaRPr>
              </a:p>
            </p:txBody>
          </p:sp>
        </p:grp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5126437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 smtClean="0">
                  <a:latin typeface="+mn-ea"/>
                </a:rPr>
                <a:t>실명인증여부</a:t>
              </a:r>
              <a:endParaRPr lang="ko-KR" altLang="en-US" sz="700" b="1" dirty="0">
                <a:latin typeface="+mn-ea"/>
              </a:endParaRPr>
            </a:p>
          </p:txBody>
        </p:sp>
      </p:grpSp>
      <p:grpSp>
        <p:nvGrpSpPr>
          <p:cNvPr id="15" name="그룹 14"/>
          <p:cNvGrpSpPr/>
          <p:nvPr/>
        </p:nvGrpSpPr>
        <p:grpSpPr>
          <a:xfrm>
            <a:off x="903581" y="4474947"/>
            <a:ext cx="2255663" cy="453278"/>
            <a:chOff x="903581" y="4480524"/>
            <a:chExt cx="2255663" cy="453278"/>
          </a:xfrm>
        </p:grpSpPr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4480524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 smtClean="0">
                  <a:latin typeface="+mn-ea"/>
                </a:rPr>
                <a:t>부서명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>
              <a:off x="903581" y="4627656"/>
              <a:ext cx="2255663" cy="306146"/>
              <a:chOff x="3982951" y="3679873"/>
              <a:chExt cx="2255663" cy="306146"/>
            </a:xfrm>
          </p:grpSpPr>
          <p:sp>
            <p:nvSpPr>
              <p:cNvPr id="110" name="모서리가 둥근 직사각형 109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noFill/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1" name="TextBox 11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 err="1" smtClean="0">
                    <a:latin typeface="+mn-ea"/>
                  </a:rPr>
                  <a:t>총무팀</a:t>
                </a:r>
                <a:endParaRPr lang="ko-KR" altLang="en-US" sz="800" dirty="0">
                  <a:latin typeface="+mn-ea"/>
                </a:endParaRPr>
              </a:p>
            </p:txBody>
          </p:sp>
        </p:grpSp>
      </p:grpSp>
      <p:grpSp>
        <p:nvGrpSpPr>
          <p:cNvPr id="19" name="그룹 18"/>
          <p:cNvGrpSpPr/>
          <p:nvPr/>
        </p:nvGrpSpPr>
        <p:grpSpPr>
          <a:xfrm>
            <a:off x="4023916" y="2253617"/>
            <a:ext cx="2255663" cy="445081"/>
            <a:chOff x="4023916" y="2330922"/>
            <a:chExt cx="2255663" cy="445081"/>
          </a:xfrm>
        </p:grpSpPr>
        <p:grpSp>
          <p:nvGrpSpPr>
            <p:cNvPr id="117" name="그룹 116"/>
            <p:cNvGrpSpPr/>
            <p:nvPr/>
          </p:nvGrpSpPr>
          <p:grpSpPr>
            <a:xfrm>
              <a:off x="4023916" y="2469857"/>
              <a:ext cx="2255663" cy="306146"/>
              <a:chOff x="3982951" y="3679873"/>
              <a:chExt cx="2255663" cy="306146"/>
            </a:xfrm>
          </p:grpSpPr>
          <p:sp>
            <p:nvSpPr>
              <p:cNvPr id="118" name="모서리가 둥근 직사각형 117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9" name="TextBox 11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 smtClean="0">
                    <a:solidFill>
                      <a:schemeClr val="bg1">
                        <a:lumMod val="75000"/>
                      </a:schemeClr>
                    </a:solidFill>
                    <a:latin typeface="+mn-ea"/>
                  </a:rPr>
                  <a:t>이메일 주소를 </a:t>
                </a:r>
                <a:r>
                  <a:rPr lang="ko-KR" altLang="en-US" sz="800" dirty="0">
                    <a:solidFill>
                      <a:schemeClr val="bg1">
                        <a:lumMod val="75000"/>
                      </a:schemeClr>
                    </a:solidFill>
                    <a:latin typeface="+mn-ea"/>
                  </a:rPr>
                  <a:t>입력해주세요</a:t>
                </a:r>
              </a:p>
            </p:txBody>
          </p:sp>
        </p:grp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23916" y="2330922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 smtClean="0">
                  <a:latin typeface="+mn-ea"/>
                </a:rPr>
                <a:t>이메일 주소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894490" y="2330922"/>
              <a:ext cx="38508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ko-KR" altLang="en-US" sz="700" dirty="0">
                  <a:latin typeface="+mn-ea"/>
                </a:rPr>
                <a:t>필수</a:t>
              </a:r>
              <a:endParaRPr lang="ko-KR" altLang="en-US" sz="700" dirty="0">
                <a:solidFill>
                  <a:srgbClr val="FF0000"/>
                </a:solidFill>
                <a:latin typeface="+mn-ea"/>
              </a:endParaRPr>
            </a:p>
          </p:txBody>
        </p:sp>
      </p:grpSp>
      <p:grpSp>
        <p:nvGrpSpPr>
          <p:cNvPr id="18" name="그룹 17"/>
          <p:cNvGrpSpPr/>
          <p:nvPr/>
        </p:nvGrpSpPr>
        <p:grpSpPr>
          <a:xfrm>
            <a:off x="4023916" y="1646447"/>
            <a:ext cx="2255663" cy="445081"/>
            <a:chOff x="4023916" y="1699251"/>
            <a:chExt cx="2255663" cy="445081"/>
          </a:xfrm>
        </p:grpSpPr>
        <p:grpSp>
          <p:nvGrpSpPr>
            <p:cNvPr id="113" name="그룹 112"/>
            <p:cNvGrpSpPr/>
            <p:nvPr/>
          </p:nvGrpSpPr>
          <p:grpSpPr>
            <a:xfrm>
              <a:off x="4023916" y="1838186"/>
              <a:ext cx="2255663" cy="306146"/>
              <a:chOff x="3982951" y="3679873"/>
              <a:chExt cx="2255663" cy="306146"/>
            </a:xfrm>
          </p:grpSpPr>
          <p:sp>
            <p:nvSpPr>
              <p:cNvPr id="114" name="모서리가 둥근 직사각형 113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5" name="TextBox 11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 smtClean="0">
                    <a:solidFill>
                      <a:schemeClr val="bg1">
                        <a:lumMod val="75000"/>
                      </a:schemeClr>
                    </a:solidFill>
                    <a:latin typeface="+mn-ea"/>
                  </a:rPr>
                  <a:t>휴대전화번호를 </a:t>
                </a:r>
                <a:r>
                  <a:rPr lang="ko-KR" altLang="en-US" sz="800" dirty="0">
                    <a:solidFill>
                      <a:schemeClr val="bg1">
                        <a:lumMod val="75000"/>
                      </a:schemeClr>
                    </a:solidFill>
                    <a:latin typeface="+mn-ea"/>
                  </a:rPr>
                  <a:t>입력해주세요</a:t>
                </a:r>
              </a:p>
            </p:txBody>
          </p:sp>
        </p:grp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23916" y="1699251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 smtClean="0">
                  <a:latin typeface="+mn-ea"/>
                </a:rPr>
                <a:t>휴대전화번호 </a:t>
              </a:r>
              <a:r>
                <a:rPr lang="en-US" altLang="ko-KR" sz="700" b="1" dirty="0" smtClean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894490" y="1699251"/>
              <a:ext cx="38508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ko-KR" altLang="en-US" sz="700" dirty="0">
                  <a:latin typeface="+mn-ea"/>
                </a:rPr>
                <a:t>필수</a:t>
              </a:r>
              <a:endParaRPr lang="ko-KR" altLang="en-US" sz="700" dirty="0">
                <a:solidFill>
                  <a:srgbClr val="FF0000"/>
                </a:solidFill>
                <a:latin typeface="+mn-ea"/>
              </a:endParaRPr>
            </a:p>
          </p:txBody>
        </p:sp>
      </p:grpSp>
      <p:grpSp>
        <p:nvGrpSpPr>
          <p:cNvPr id="17" name="그룹 16"/>
          <p:cNvGrpSpPr/>
          <p:nvPr/>
        </p:nvGrpSpPr>
        <p:grpSpPr>
          <a:xfrm>
            <a:off x="903581" y="5697486"/>
            <a:ext cx="2255661" cy="444066"/>
            <a:chOff x="903581" y="5758108"/>
            <a:chExt cx="2255661" cy="444066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5758108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 smtClean="0">
                  <a:latin typeface="+mn-ea"/>
                </a:rPr>
                <a:t>전화번호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774155" y="5758108"/>
              <a:ext cx="38508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ko-KR" altLang="en-US" sz="700" dirty="0">
                  <a:latin typeface="+mn-ea"/>
                </a:rPr>
                <a:t>필수</a:t>
              </a:r>
              <a:endParaRPr lang="ko-KR" altLang="en-US" sz="700" dirty="0">
                <a:solidFill>
                  <a:srgbClr val="FF0000"/>
                </a:solidFill>
                <a:latin typeface="+mn-ea"/>
              </a:endParaRPr>
            </a:p>
          </p:txBody>
        </p:sp>
        <p:grpSp>
          <p:nvGrpSpPr>
            <p:cNvPr id="6" name="그룹 5"/>
            <p:cNvGrpSpPr/>
            <p:nvPr/>
          </p:nvGrpSpPr>
          <p:grpSpPr>
            <a:xfrm>
              <a:off x="903582" y="5896028"/>
              <a:ext cx="2255660" cy="306146"/>
              <a:chOff x="903582" y="5841774"/>
              <a:chExt cx="2255660" cy="306146"/>
            </a:xfrm>
          </p:grpSpPr>
          <p:sp>
            <p:nvSpPr>
              <p:cNvPr id="124" name="모서리가 둥근 직사각형 123"/>
              <p:cNvSpPr/>
              <p:nvPr/>
            </p:nvSpPr>
            <p:spPr>
              <a:xfrm>
                <a:off x="903582" y="5841774"/>
                <a:ext cx="550750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5" name="TextBox 12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035056" y="5940986"/>
                <a:ext cx="31273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 smtClean="0">
                    <a:latin typeface="+mn-ea"/>
                  </a:rPr>
                  <a:t>02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126" name="모서리가 둥근 직사각형 125"/>
              <p:cNvSpPr/>
              <p:nvPr/>
            </p:nvSpPr>
            <p:spPr>
              <a:xfrm>
                <a:off x="1662428" y="5841774"/>
                <a:ext cx="648079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814876" y="5940986"/>
                <a:ext cx="357439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 smtClean="0">
                    <a:latin typeface="+mn-ea"/>
                  </a:rPr>
                  <a:t>1234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128" name="모서리가 둥근 직사각형 127"/>
              <p:cNvSpPr/>
              <p:nvPr/>
            </p:nvSpPr>
            <p:spPr>
              <a:xfrm>
                <a:off x="2513434" y="5841774"/>
                <a:ext cx="645808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9" name="TextBox 12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649355" y="5940986"/>
                <a:ext cx="357439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 smtClean="0">
                    <a:latin typeface="+mn-ea"/>
                  </a:rPr>
                  <a:t>5678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130" name="TextBox 12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452060" y="5940986"/>
                <a:ext cx="20519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-</a:t>
                </a:r>
                <a:endParaRPr lang="ko-KR" altLang="en-US" sz="700" dirty="0">
                  <a:solidFill>
                    <a:srgbClr val="FF0000"/>
                  </a:solidFill>
                  <a:latin typeface="+mn-ea"/>
                </a:endParaRPr>
              </a:p>
            </p:txBody>
          </p:sp>
          <p:sp>
            <p:nvSpPr>
              <p:cNvPr id="131" name="TextBox 13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308236" y="5940986"/>
                <a:ext cx="20519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-</a:t>
                </a:r>
                <a:endParaRPr lang="ko-KR" altLang="en-US" sz="700" dirty="0">
                  <a:solidFill>
                    <a:srgbClr val="FF0000"/>
                  </a:solidFill>
                  <a:latin typeface="+mn-ea"/>
                </a:endParaRPr>
              </a:p>
            </p:txBody>
          </p:sp>
        </p:grpSp>
        <p:grpSp>
          <p:nvGrpSpPr>
            <p:cNvPr id="132" name="그룹 131"/>
            <p:cNvGrpSpPr/>
            <p:nvPr/>
          </p:nvGrpSpPr>
          <p:grpSpPr>
            <a:xfrm>
              <a:off x="1274733" y="6025599"/>
              <a:ext cx="94010" cy="47005"/>
              <a:chOff x="6812560" y="3297172"/>
              <a:chExt cx="94010" cy="47005"/>
            </a:xfrm>
          </p:grpSpPr>
          <p:cxnSp>
            <p:nvCxnSpPr>
              <p:cNvPr id="133" name="직선 연결선 13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4" name="직선 연결선 13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0" name="그룹 19"/>
          <p:cNvGrpSpPr/>
          <p:nvPr/>
        </p:nvGrpSpPr>
        <p:grpSpPr>
          <a:xfrm>
            <a:off x="4023916" y="2861802"/>
            <a:ext cx="2255661" cy="444066"/>
            <a:chOff x="4023916" y="2985652"/>
            <a:chExt cx="2255661" cy="444066"/>
          </a:xfrm>
        </p:grpSpPr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23916" y="2985652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 smtClean="0">
                  <a:latin typeface="+mn-ea"/>
                </a:rPr>
                <a:t>팩스번호</a:t>
              </a:r>
              <a:endParaRPr lang="ko-KR" altLang="en-US" sz="700" b="1" dirty="0">
                <a:latin typeface="+mn-ea"/>
              </a:endParaRPr>
            </a:p>
          </p:txBody>
        </p:sp>
        <p:grpSp>
          <p:nvGrpSpPr>
            <p:cNvPr id="137" name="그룹 136"/>
            <p:cNvGrpSpPr/>
            <p:nvPr/>
          </p:nvGrpSpPr>
          <p:grpSpPr>
            <a:xfrm>
              <a:off x="4023917" y="3123572"/>
              <a:ext cx="2255660" cy="306146"/>
              <a:chOff x="903582" y="5841774"/>
              <a:chExt cx="2255660" cy="306146"/>
            </a:xfrm>
          </p:grpSpPr>
          <p:sp>
            <p:nvSpPr>
              <p:cNvPr id="138" name="모서리가 둥근 직사각형 137"/>
              <p:cNvSpPr/>
              <p:nvPr/>
            </p:nvSpPr>
            <p:spPr>
              <a:xfrm>
                <a:off x="903582" y="5841774"/>
                <a:ext cx="550750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9" name="TextBox 13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035056" y="5940986"/>
                <a:ext cx="31273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 smtClean="0">
                    <a:latin typeface="+mn-ea"/>
                  </a:rPr>
                  <a:t>02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140" name="모서리가 둥근 직사각형 139"/>
              <p:cNvSpPr/>
              <p:nvPr/>
            </p:nvSpPr>
            <p:spPr>
              <a:xfrm>
                <a:off x="1662428" y="5841774"/>
                <a:ext cx="648079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1" name="TextBox 14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814876" y="5940986"/>
                <a:ext cx="357439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 smtClean="0">
                    <a:latin typeface="+mn-ea"/>
                  </a:rPr>
                  <a:t>2345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142" name="모서리가 둥근 직사각형 141"/>
              <p:cNvSpPr/>
              <p:nvPr/>
            </p:nvSpPr>
            <p:spPr>
              <a:xfrm>
                <a:off x="2513434" y="5841774"/>
                <a:ext cx="645808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3" name="TextBox 14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649355" y="5940986"/>
                <a:ext cx="357439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 smtClean="0">
                    <a:latin typeface="+mn-ea"/>
                  </a:rPr>
                  <a:t>6789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144" name="TextBox 14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452060" y="5940986"/>
                <a:ext cx="20519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-</a:t>
                </a:r>
                <a:endParaRPr lang="ko-KR" altLang="en-US" sz="700" dirty="0">
                  <a:solidFill>
                    <a:srgbClr val="FF0000"/>
                  </a:solidFill>
                  <a:latin typeface="+mn-ea"/>
                </a:endParaRPr>
              </a:p>
            </p:txBody>
          </p:sp>
          <p:sp>
            <p:nvSpPr>
              <p:cNvPr id="145" name="TextBox 1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308236" y="5940986"/>
                <a:ext cx="20519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-</a:t>
                </a:r>
                <a:endParaRPr lang="ko-KR" altLang="en-US" sz="700" dirty="0">
                  <a:solidFill>
                    <a:srgbClr val="FF0000"/>
                  </a:solidFill>
                  <a:latin typeface="+mn-ea"/>
                </a:endParaRPr>
              </a:p>
            </p:txBody>
          </p:sp>
        </p:grpSp>
        <p:grpSp>
          <p:nvGrpSpPr>
            <p:cNvPr id="146" name="그룹 145"/>
            <p:cNvGrpSpPr/>
            <p:nvPr/>
          </p:nvGrpSpPr>
          <p:grpSpPr>
            <a:xfrm>
              <a:off x="4395068" y="3253143"/>
              <a:ext cx="94010" cy="47005"/>
              <a:chOff x="6812560" y="3297172"/>
              <a:chExt cx="94010" cy="47005"/>
            </a:xfrm>
          </p:grpSpPr>
          <p:cxnSp>
            <p:nvCxnSpPr>
              <p:cNvPr id="147" name="직선 연결선 14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8" name="직선 연결선 14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7" name="그룹 6"/>
          <p:cNvGrpSpPr/>
          <p:nvPr/>
        </p:nvGrpSpPr>
        <p:grpSpPr>
          <a:xfrm>
            <a:off x="903581" y="3859580"/>
            <a:ext cx="2255663" cy="453278"/>
            <a:chOff x="903581" y="3931203"/>
            <a:chExt cx="2255663" cy="453278"/>
          </a:xfrm>
        </p:grpSpPr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3931203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 err="1" smtClean="0">
                  <a:latin typeface="+mn-ea"/>
                </a:rPr>
                <a:t>업체명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grpSp>
          <p:nvGrpSpPr>
            <p:cNvPr id="150" name="그룹 149"/>
            <p:cNvGrpSpPr/>
            <p:nvPr/>
          </p:nvGrpSpPr>
          <p:grpSpPr>
            <a:xfrm>
              <a:off x="903581" y="4078335"/>
              <a:ext cx="2255663" cy="306146"/>
              <a:chOff x="3982951" y="3679873"/>
              <a:chExt cx="2255663" cy="306146"/>
            </a:xfrm>
          </p:grpSpPr>
          <p:sp>
            <p:nvSpPr>
              <p:cNvPr id="151" name="모서리가 둥근 직사각형 150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2" name="TextBox 15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 err="1" smtClean="0">
                    <a:latin typeface="+mn-ea"/>
                  </a:rPr>
                  <a:t>조달테스트</a:t>
                </a:r>
                <a:endParaRPr lang="ko-KR" altLang="en-US" sz="800" dirty="0">
                  <a:latin typeface="+mn-ea"/>
                </a:endParaRPr>
              </a:p>
            </p:txBody>
          </p:sp>
        </p:grpSp>
      </p:grpSp>
      <p:sp>
        <p:nvSpPr>
          <p:cNvPr id="161" name="TextBox 1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32818" y="347141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수신 설정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715587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휴대전화 수신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177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6011046" y="3708562"/>
            <a:ext cx="301752" cy="137160"/>
            <a:chOff x="840582" y="1601197"/>
            <a:chExt cx="301752" cy="137160"/>
          </a:xfrm>
        </p:grpSpPr>
        <p:sp>
          <p:nvSpPr>
            <p:cNvPr id="178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9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0" name="TextBox 1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967692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이메일 수신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181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6011046" y="3960667"/>
            <a:ext cx="301752" cy="137160"/>
            <a:chOff x="840582" y="1601197"/>
            <a:chExt cx="301752" cy="137160"/>
          </a:xfrm>
        </p:grpSpPr>
        <p:sp>
          <p:nvSpPr>
            <p:cNvPr id="182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3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12" name="모서리가 둥근 직사각형 111"/>
          <p:cNvSpPr/>
          <p:nvPr/>
        </p:nvSpPr>
        <p:spPr>
          <a:xfrm>
            <a:off x="4032818" y="4353970"/>
            <a:ext cx="634976" cy="306146"/>
          </a:xfrm>
          <a:prstGeom prst="roundRect">
            <a:avLst>
              <a:gd name="adj" fmla="val 18626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 smtClean="0">
                <a:solidFill>
                  <a:schemeClr val="tx1"/>
                </a:solidFill>
              </a:rPr>
              <a:t>취소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</p:spTree>
    <p:extLst>
      <p:ext uri="{BB962C8B-B14F-4D97-AF65-F5344CB8AC3E}">
        <p14:creationId xmlns:p14="http://schemas.microsoft.com/office/powerpoint/2010/main" val="4277008903"/>
      </p:ext>
    </p:extLst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184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60676" y="815429"/>
            <a:ext cx="223194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개인정보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1051681"/>
          <a:ext cx="8994883" cy="27648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userTkcgTaskCd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5993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3089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실명인증 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userInfoRlnmCd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실명인증 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실명인증완료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N: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실명인증미완료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X 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탈퇴사용자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운영자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DB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조회는 가능하나 사용은 못함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9767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수정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793527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enmtno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휴대전화번호 수정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73216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알림수신여부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smsRcptnYn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알림수신여부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수정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77924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수정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05178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이메일수신여부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emlRcptnYn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이메일수신여부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91832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수정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239655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부서명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부서명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7886915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2292" y="399360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8987807"/>
              </p:ext>
            </p:extLst>
          </p:nvPr>
        </p:nvGraphicFramePr>
        <p:xfrm>
          <a:off x="452292" y="4220196"/>
          <a:ext cx="8995591" cy="703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scwin.btn_strg_onclick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개인정보를 변경한다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02293393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9FE55562-B82C-BEB9-A24B-EE39573FD3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7" y="408390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D3F1CE97-139B-4066-3244-BEC387C658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70663294"/>
      </p:ext>
    </p:extLst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비밀번호 변경 화면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입력은 </a:t>
            </a:r>
            <a:r>
              <a:rPr lang="ko-KR" altLang="en-US" dirty="0" err="1" smtClean="0"/>
              <a:t>마스킹</a:t>
            </a:r>
            <a:r>
              <a:rPr lang="ko-KR" altLang="en-US" dirty="0" smtClean="0"/>
              <a:t> 처리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마스킹</a:t>
            </a:r>
            <a:r>
              <a:rPr lang="ko-KR" altLang="en-US" dirty="0" smtClean="0"/>
              <a:t> 내역을 확인해볼 수 있는 눈 아이콘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변경 완료 화면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확인 클릭 시 상위 목록으로 이동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비밀번호 변경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비밀번호 변경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비밀번호 </a:t>
            </a:r>
            <a:r>
              <a:rPr lang="ko-KR" altLang="en-US" dirty="0">
                <a:latin typeface="+mn-ea"/>
              </a:rPr>
              <a:t>변경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MUI-CM-02-M05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비밀번호</a:t>
            </a:r>
            <a:r>
              <a:rPr lang="en-US" altLang="ko-KR" sz="800" dirty="0" smtClean="0">
                <a:latin typeface="+mn-ea"/>
              </a:rPr>
              <a:t> </a:t>
            </a:r>
            <a:r>
              <a:rPr lang="ko-KR" altLang="en-US" sz="800" dirty="0" smtClean="0">
                <a:latin typeface="+mn-ea"/>
              </a:rPr>
              <a:t>변경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2392156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사용자 비밀번호를 새롭게 변경해주세요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5641885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3" name="그룹 62"/>
          <p:cNvGrpSpPr/>
          <p:nvPr/>
        </p:nvGrpSpPr>
        <p:grpSpPr>
          <a:xfrm>
            <a:off x="903580" y="5772524"/>
            <a:ext cx="2255663" cy="306146"/>
            <a:chOff x="3982951" y="3679873"/>
            <a:chExt cx="2255663" cy="306146"/>
          </a:xfrm>
        </p:grpSpPr>
        <p:sp>
          <p:nvSpPr>
            <p:cNvPr id="64" name="모서리가 둥근 직사각형 6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latin typeface="+mn-ea"/>
                </a:rPr>
                <a:t>비밀번호 변경하기</a:t>
              </a:r>
            </a:p>
          </p:txBody>
        </p:sp>
      </p:grpSp>
      <p:sp>
        <p:nvSpPr>
          <p:cNvPr id="71" name="타원 70"/>
          <p:cNvSpPr/>
          <p:nvPr/>
        </p:nvSpPr>
        <p:spPr>
          <a:xfrm>
            <a:off x="1848359" y="1941981"/>
            <a:ext cx="366106" cy="366104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비밀번호</a:t>
            </a:r>
            <a:r>
              <a:rPr lang="en-US" altLang="ko-KR" sz="800" dirty="0">
                <a:latin typeface="+mn-ea"/>
              </a:rPr>
              <a:t> </a:t>
            </a:r>
            <a:r>
              <a:rPr lang="ko-KR" altLang="en-US" sz="800" dirty="0">
                <a:latin typeface="+mn-ea"/>
              </a:rPr>
              <a:t>변경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6" name="그룹 75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77" name="직선 연결선 7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0" name="직선 연결선 7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4" name="타원 83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346145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 smtClean="0">
                <a:latin typeface="+mn-ea"/>
              </a:rPr>
              <a:t>비밀번호가 변경되었습니다</a:t>
            </a:r>
            <a:r>
              <a:rPr lang="en-US" altLang="ko-KR" sz="900" b="1" dirty="0" smtClean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87" name="타원 86"/>
          <p:cNvSpPr/>
          <p:nvPr/>
        </p:nvSpPr>
        <p:spPr>
          <a:xfrm>
            <a:off x="4822536" y="2419419"/>
            <a:ext cx="658422" cy="658418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9" name="그룹 88"/>
          <p:cNvGrpSpPr/>
          <p:nvPr/>
        </p:nvGrpSpPr>
        <p:grpSpPr>
          <a:xfrm>
            <a:off x="4023916" y="5711590"/>
            <a:ext cx="2255663" cy="306146"/>
            <a:chOff x="3982951" y="3679873"/>
            <a:chExt cx="2255663" cy="306146"/>
          </a:xfrm>
        </p:grpSpPr>
        <p:sp>
          <p:nvSpPr>
            <p:cNvPr id="90" name="모서리가 둥근 직사각형 89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800" b="1" dirty="0" smtClean="0">
                  <a:solidFill>
                    <a:schemeClr val="bg1"/>
                  </a:solidFill>
                  <a:latin typeface="+mn-ea"/>
                </a:rPr>
                <a:t>확인</a:t>
              </a:r>
              <a:endParaRPr lang="ko-KR" altLang="en-US" sz="8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95" name="타원 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7064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47" name="그룹 46"/>
          <p:cNvGrpSpPr/>
          <p:nvPr/>
        </p:nvGrpSpPr>
        <p:grpSpPr>
          <a:xfrm>
            <a:off x="903581" y="3502504"/>
            <a:ext cx="2255663" cy="306146"/>
            <a:chOff x="3982951" y="3679873"/>
            <a:chExt cx="2255663" cy="306146"/>
          </a:xfrm>
        </p:grpSpPr>
        <p:sp>
          <p:nvSpPr>
            <p:cNvPr id="49" name="모서리가 둥근 직사각형 4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새 비밀번호를 입력해주세요</a:t>
              </a:r>
            </a:p>
          </p:txBody>
        </p:sp>
      </p:grpSp>
      <p:sp>
        <p:nvSpPr>
          <p:cNvPr id="52" name="TextBox 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36356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새 비밀번호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363569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57" name="그룹 56"/>
          <p:cNvGrpSpPr/>
          <p:nvPr/>
        </p:nvGrpSpPr>
        <p:grpSpPr>
          <a:xfrm>
            <a:off x="903581" y="4134175"/>
            <a:ext cx="2255663" cy="306146"/>
            <a:chOff x="3982951" y="3679873"/>
            <a:chExt cx="2255663" cy="306146"/>
          </a:xfrm>
        </p:grpSpPr>
        <p:sp>
          <p:nvSpPr>
            <p:cNvPr id="58" name="모서리가 둥근 직사각형 57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새 비밀번호를 한번 더 입력해주세요</a:t>
              </a:r>
            </a:p>
          </p:txBody>
        </p:sp>
      </p:grp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995240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새 비밀번호 </a:t>
            </a:r>
            <a:r>
              <a:rPr lang="ko-KR" altLang="en-US" sz="700" b="1" dirty="0">
                <a:latin typeface="+mn-ea"/>
              </a:rPr>
              <a:t>확인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480180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995240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71765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현재 비밀번호</a:t>
            </a:r>
            <a:r>
              <a:rPr lang="ko-KR" altLang="en-US" sz="700" b="1" dirty="0" smtClean="0">
                <a:solidFill>
                  <a:srgbClr val="FF0000"/>
                </a:solidFill>
                <a:latin typeface="+mn-ea"/>
              </a:rPr>
              <a:t> </a:t>
            </a:r>
            <a:r>
              <a:rPr lang="en-US" altLang="ko-KR" sz="700" b="1" dirty="0" smtClean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93" name="그룹 92"/>
          <p:cNvGrpSpPr/>
          <p:nvPr/>
        </p:nvGrpSpPr>
        <p:grpSpPr>
          <a:xfrm>
            <a:off x="903581" y="2864788"/>
            <a:ext cx="2255663" cy="306146"/>
            <a:chOff x="3982951" y="3679873"/>
            <a:chExt cx="2255663" cy="306146"/>
          </a:xfrm>
        </p:grpSpPr>
        <p:sp>
          <p:nvSpPr>
            <p:cNvPr id="94" name="모서리가 둥근 직사각형 9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 smtClean="0">
                  <a:latin typeface="+mn-ea"/>
                </a:rPr>
                <a:t>*********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97" name="그룹 96"/>
          <p:cNvGrpSpPr/>
          <p:nvPr/>
        </p:nvGrpSpPr>
        <p:grpSpPr>
          <a:xfrm>
            <a:off x="705041" y="4757244"/>
            <a:ext cx="2652743" cy="769170"/>
            <a:chOff x="734683" y="4769160"/>
            <a:chExt cx="2652743" cy="769170"/>
          </a:xfrm>
        </p:grpSpPr>
        <p:sp>
          <p:nvSpPr>
            <p:cNvPr id="98" name="모서리가 둥근 직사각형 97"/>
            <p:cNvSpPr/>
            <p:nvPr/>
          </p:nvSpPr>
          <p:spPr>
            <a:xfrm>
              <a:off x="734683" y="4769160"/>
              <a:ext cx="2652743" cy="769170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53860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비밀번호는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9~16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자 숫자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영문 소문자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특수문자 조합으로 입력하세요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입력 불가한 특수문자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: `~&amp;()_{}[]|\:;"',.&amp;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lt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;&amp;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gt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;?/</a:t>
              </a:r>
            </a:p>
          </p:txBody>
        </p:sp>
        <p:sp>
          <p:nvSpPr>
            <p:cNvPr id="100" name="타원 99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01" name="그룹 100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102" name="직선 연결선 10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3" name="직선 연결선 10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2719686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713112"/>
            <a:ext cx="2305144" cy="5909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800" dirty="0" smtClean="0">
                <a:latin typeface="Consolas" panose="020B0609020204030204" pitchFamily="49" charset="0"/>
              </a:rPr>
              <a:t>새로운 비밀번호로 로그인 하실 수 있습니다</a:t>
            </a:r>
            <a:r>
              <a:rPr lang="en-US" altLang="ko-KR" sz="800" dirty="0" smtClean="0">
                <a:latin typeface="Consolas" panose="020B0609020204030204" pitchFamily="49" charset="0"/>
              </a:rPr>
              <a:t>.</a:t>
            </a:r>
          </a:p>
          <a:p>
            <a:pPr algn="ctr">
              <a:lnSpc>
                <a:spcPct val="120000"/>
              </a:lnSpc>
            </a:pPr>
            <a:endParaRPr lang="en-US" altLang="ko-KR" sz="800" dirty="0" smtClean="0">
              <a:latin typeface="Consolas" panose="020B0609020204030204" pitchFamily="49" charset="0"/>
            </a:endParaRPr>
          </a:p>
          <a:p>
            <a:pPr algn="ctr">
              <a:lnSpc>
                <a:spcPct val="120000"/>
              </a:lnSpc>
            </a:pPr>
            <a:r>
              <a:rPr lang="ko-KR" altLang="en-US" sz="800" dirty="0" err="1" smtClean="0">
                <a:latin typeface="Consolas" panose="020B0609020204030204" pitchFamily="49" charset="0"/>
              </a:rPr>
              <a:t>생체인증이</a:t>
            </a:r>
            <a:r>
              <a:rPr lang="ko-KR" altLang="en-US" sz="800" dirty="0" smtClean="0">
                <a:latin typeface="Consolas" panose="020B0609020204030204" pitchFamily="49" charset="0"/>
              </a:rPr>
              <a:t> 등록된 경우 새 비밀번호 입력없이</a:t>
            </a:r>
            <a:endParaRPr lang="en-US" altLang="ko-KR" sz="800" dirty="0" smtClean="0">
              <a:latin typeface="Consolas" panose="020B0609020204030204" pitchFamily="49" charset="0"/>
            </a:endParaRPr>
          </a:p>
          <a:p>
            <a:pPr algn="ctr">
              <a:lnSpc>
                <a:spcPct val="120000"/>
              </a:lnSpc>
            </a:pPr>
            <a:r>
              <a:rPr lang="ko-KR" altLang="en-US" sz="800" dirty="0" smtClean="0">
                <a:latin typeface="Consolas" panose="020B0609020204030204" pitchFamily="49" charset="0"/>
              </a:rPr>
              <a:t>생체인증으로 로그인할 수 있습니다</a:t>
            </a:r>
            <a:r>
              <a:rPr lang="en-US" altLang="ko-KR" sz="800" dirty="0" smtClean="0">
                <a:latin typeface="Consolas" panose="020B0609020204030204" pitchFamily="49" charset="0"/>
              </a:rPr>
              <a:t>.</a:t>
            </a:r>
            <a:endParaRPr lang="ko-KR" altLang="en-US" sz="800" dirty="0">
              <a:latin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59549005"/>
      </p:ext>
    </p:extLst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186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60676" y="879988"/>
            <a:ext cx="250445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비밀번호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dm_pwsdChgInfo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03642718"/>
              </p:ext>
            </p:extLst>
          </p:nvPr>
        </p:nvGraphicFramePr>
        <p:xfrm>
          <a:off x="455558" y="1163742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 비밀번호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userEnpswd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 비밀번호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9767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newUserEnpswd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793527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 확인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newUserEnpswdIdnty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 확인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5768912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65052" y="307681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9476674"/>
              </p:ext>
            </p:extLst>
          </p:nvPr>
        </p:nvGraphicFramePr>
        <p:xfrm>
          <a:off x="452292" y="3318979"/>
          <a:ext cx="8995591" cy="703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94788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668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smtClean="0"/>
                        <a:t>비밀번호 변경하기 </a:t>
                      </a:r>
                      <a:r>
                        <a:rPr lang="ko-KR" altLang="en-US" sz="800" dirty="0"/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비밀번호를 변경한다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03717520-55AF-3645-D618-DFBA6DC15D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7" y="320798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0E8BD3CE-7E40-FF1D-A628-4B8C69230B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54597774"/>
      </p:ext>
    </p:extLst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개인신원</a:t>
            </a:r>
            <a:r>
              <a:rPr lang="ko-KR" altLang="en-US" dirty="0"/>
              <a:t> 확인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인증서 관리 </a:t>
            </a:r>
            <a:r>
              <a:rPr lang="en-US" altLang="ko-KR" dirty="0"/>
              <a:t>(MUI-CM-04-M14)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인증서 삭제 </a:t>
            </a:r>
            <a:r>
              <a:rPr lang="en-US" altLang="ko-KR" dirty="0"/>
              <a:t>(MUI-CM-04-P15) </a:t>
            </a:r>
            <a:br>
              <a:rPr lang="en-US" altLang="ko-KR" dirty="0"/>
            </a:br>
            <a:r>
              <a:rPr lang="ko-KR" altLang="en-US" dirty="0"/>
              <a:t>화면 재활용 </a:t>
            </a:r>
            <a:r>
              <a:rPr lang="en-US" altLang="ko-KR" dirty="0"/>
              <a:t>(</a:t>
            </a:r>
            <a:r>
              <a:rPr lang="ko-KR" altLang="en-US" dirty="0" smtClean="0"/>
              <a:t>다음 페이지 </a:t>
            </a:r>
            <a:r>
              <a:rPr lang="ko-KR" altLang="en-US" dirty="0"/>
              <a:t>참조</a:t>
            </a:r>
            <a:r>
              <a:rPr lang="en-US" altLang="ko-KR" dirty="0"/>
              <a:t>)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개인신원확인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 smtClean="0">
                <a:latin typeface="+mn-ea"/>
              </a:rPr>
              <a:t>개인신원</a:t>
            </a:r>
            <a:r>
              <a:rPr lang="ko-KR" altLang="en-US" dirty="0" smtClean="0">
                <a:latin typeface="+mn-ea"/>
              </a:rPr>
              <a:t> 확인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개인신원확인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MUI-CM-02-M06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개인 신원 확인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346145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개인 신원 </a:t>
            </a:r>
            <a:r>
              <a:rPr lang="ko-KR" altLang="en-US" sz="900" b="1" dirty="0" smtClean="0">
                <a:latin typeface="+mn-ea"/>
              </a:rPr>
              <a:t>확인을 진행합니다</a:t>
            </a:r>
            <a:r>
              <a:rPr lang="en-US" altLang="ko-KR" sz="900" b="1" dirty="0" smtClean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87" name="타원 86"/>
          <p:cNvSpPr/>
          <p:nvPr/>
        </p:nvSpPr>
        <p:spPr>
          <a:xfrm>
            <a:off x="1702201" y="2419419"/>
            <a:ext cx="658422" cy="658418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9" name="그룹 88"/>
          <p:cNvGrpSpPr/>
          <p:nvPr/>
        </p:nvGrpSpPr>
        <p:grpSpPr>
          <a:xfrm>
            <a:off x="903581" y="5711590"/>
            <a:ext cx="2255663" cy="306146"/>
            <a:chOff x="3982951" y="3679873"/>
            <a:chExt cx="2255663" cy="306146"/>
          </a:xfrm>
        </p:grpSpPr>
        <p:sp>
          <p:nvSpPr>
            <p:cNvPr id="90" name="모서리가 둥근 직사각형 89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800" b="1" dirty="0" smtClean="0">
                  <a:solidFill>
                    <a:schemeClr val="bg1"/>
                  </a:solidFill>
                  <a:latin typeface="+mn-ea"/>
                </a:rPr>
                <a:t>개인 신원 확인</a:t>
              </a:r>
              <a:endParaRPr lang="ko-KR" altLang="en-US" sz="8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713112"/>
            <a:ext cx="2305144" cy="7386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800" dirty="0">
                <a:latin typeface="Consolas" panose="020B0609020204030204" pitchFamily="49" charset="0"/>
              </a:rPr>
              <a:t>개인신원확인 버튼을 </a:t>
            </a:r>
            <a:r>
              <a:rPr lang="ko-KR" altLang="en-US" sz="800" dirty="0" smtClean="0">
                <a:latin typeface="Consolas" panose="020B0609020204030204" pitchFamily="49" charset="0"/>
              </a:rPr>
              <a:t>클릭하여</a:t>
            </a:r>
            <a:endParaRPr lang="en-US" altLang="ko-KR" sz="800" dirty="0" smtClean="0">
              <a:latin typeface="Consolas" panose="020B0609020204030204" pitchFamily="49" charset="0"/>
            </a:endParaRPr>
          </a:p>
          <a:p>
            <a:pPr algn="ctr">
              <a:lnSpc>
                <a:spcPct val="120000"/>
              </a:lnSpc>
            </a:pPr>
            <a:r>
              <a:rPr lang="ko-KR" altLang="en-US" sz="800" dirty="0" smtClean="0">
                <a:latin typeface="Consolas" panose="020B0609020204030204" pitchFamily="49" charset="0"/>
              </a:rPr>
              <a:t>인증서 </a:t>
            </a:r>
            <a:r>
              <a:rPr lang="ko-KR" altLang="en-US" sz="800" dirty="0">
                <a:latin typeface="Consolas" panose="020B0609020204030204" pitchFamily="49" charset="0"/>
              </a:rPr>
              <a:t>창을 띄울 수 있습니다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  <a:p>
            <a:pPr algn="ctr">
              <a:lnSpc>
                <a:spcPct val="120000"/>
              </a:lnSpc>
            </a:pPr>
            <a:endParaRPr lang="en-US" altLang="ko-KR" sz="800" dirty="0" smtClean="0">
              <a:latin typeface="Consolas" panose="020B0609020204030204" pitchFamily="49" charset="0"/>
            </a:endParaRPr>
          </a:p>
          <a:p>
            <a:pPr algn="ctr">
              <a:lnSpc>
                <a:spcPct val="120000"/>
              </a:lnSpc>
            </a:pPr>
            <a:r>
              <a:rPr lang="ko-KR" altLang="en-US" sz="800" dirty="0" smtClean="0">
                <a:latin typeface="Consolas" panose="020B0609020204030204" pitchFamily="49" charset="0"/>
              </a:rPr>
              <a:t>인증서 </a:t>
            </a:r>
            <a:r>
              <a:rPr lang="ko-KR" altLang="en-US" sz="800" dirty="0">
                <a:latin typeface="Consolas" panose="020B0609020204030204" pitchFamily="49" charset="0"/>
              </a:rPr>
              <a:t>창이 나타나면 </a:t>
            </a:r>
            <a:r>
              <a:rPr lang="en-US" altLang="ko-KR" sz="800" dirty="0" smtClean="0">
                <a:latin typeface="Consolas" panose="020B0609020204030204" pitchFamily="49" charset="0"/>
              </a:rPr>
              <a:t>[$</a:t>
            </a:r>
            <a:r>
              <a:rPr lang="ko-KR" altLang="en-US" sz="800" dirty="0" err="1" smtClean="0">
                <a:latin typeface="Consolas" panose="020B0609020204030204" pitchFamily="49" charset="0"/>
              </a:rPr>
              <a:t>조달테스트</a:t>
            </a:r>
            <a:r>
              <a:rPr lang="en-US" altLang="ko-KR" sz="800" dirty="0" smtClean="0">
                <a:latin typeface="Consolas" panose="020B0609020204030204" pitchFamily="49" charset="0"/>
              </a:rPr>
              <a:t>4]</a:t>
            </a:r>
            <a:r>
              <a:rPr lang="ko-KR" altLang="en-US" sz="800" dirty="0" smtClean="0">
                <a:latin typeface="Consolas" panose="020B0609020204030204" pitchFamily="49" charset="0"/>
              </a:rPr>
              <a:t>님의</a:t>
            </a:r>
            <a:endParaRPr lang="en-US" altLang="ko-KR" sz="800" dirty="0" smtClean="0">
              <a:latin typeface="Consolas" panose="020B0609020204030204" pitchFamily="49" charset="0"/>
            </a:endParaRPr>
          </a:p>
          <a:p>
            <a:pPr algn="ctr">
              <a:lnSpc>
                <a:spcPct val="120000"/>
              </a:lnSpc>
            </a:pPr>
            <a:r>
              <a:rPr lang="ko-KR" altLang="en-US" sz="800" dirty="0" smtClean="0">
                <a:latin typeface="Consolas" panose="020B0609020204030204" pitchFamily="49" charset="0"/>
              </a:rPr>
              <a:t>개인인증서를 </a:t>
            </a:r>
            <a:r>
              <a:rPr lang="ko-KR" altLang="en-US" sz="800" dirty="0">
                <a:latin typeface="Consolas" panose="020B0609020204030204" pitchFamily="49" charset="0"/>
              </a:rPr>
              <a:t>선택하십시오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  <a:endParaRPr lang="ko-KR" altLang="en-US" sz="800" dirty="0">
              <a:latin typeface="맑은 고딕" panose="020B0503020000020004" pitchFamily="50" charset="-127"/>
            </a:endParaRP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</p:spTree>
    <p:extLst>
      <p:ext uri="{BB962C8B-B14F-4D97-AF65-F5344CB8AC3E}">
        <p14:creationId xmlns:p14="http://schemas.microsoft.com/office/powerpoint/2010/main" val="2830210117"/>
      </p:ext>
    </p:extLst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개인 인증서만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클릭 시 비밀번호 확인 팝업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 신원 </a:t>
            </a:r>
            <a:r>
              <a:rPr lang="ko-KR" altLang="en-US" dirty="0" smtClean="0">
                <a:latin typeface="+mn-ea"/>
              </a:rPr>
              <a:t>확인</a:t>
            </a:r>
            <a:r>
              <a:rPr lang="en-US" altLang="ko-KR" dirty="0" smtClean="0">
                <a:latin typeface="+mn-ea"/>
              </a:rPr>
              <a:t> - </a:t>
            </a:r>
            <a:r>
              <a:rPr lang="ko-KR" altLang="en-US" dirty="0" smtClean="0">
                <a:latin typeface="+mn-ea"/>
              </a:rPr>
              <a:t>인증서 </a:t>
            </a:r>
            <a:r>
              <a:rPr lang="ko-KR" altLang="en-US" dirty="0">
                <a:latin typeface="+mn-ea"/>
              </a:rPr>
              <a:t>관리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개인이 보유하고 </a:t>
            </a:r>
            <a:r>
              <a:rPr lang="ko-KR" altLang="en-US" dirty="0">
                <a:latin typeface="+mn-ea"/>
              </a:rPr>
              <a:t>있는 </a:t>
            </a:r>
            <a:r>
              <a:rPr lang="ko-KR" altLang="en-US" dirty="0" smtClean="0">
                <a:latin typeface="+mn-ea"/>
              </a:rPr>
              <a:t>개인 인증서 </a:t>
            </a:r>
            <a:r>
              <a:rPr lang="ko-KR" altLang="en-US" dirty="0">
                <a:latin typeface="+mn-ea"/>
              </a:rPr>
              <a:t>목록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개인신원확인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인증서 </a:t>
            </a:r>
            <a:r>
              <a:rPr lang="ko-KR" altLang="en-US" dirty="0">
                <a:latin typeface="+mn-ea"/>
              </a:rPr>
              <a:t>관리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MUI-CM-02-M06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개인 신원 확인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65" name="모서리가 둥근 직사각형 64"/>
          <p:cNvSpPr/>
          <p:nvPr/>
        </p:nvSpPr>
        <p:spPr>
          <a:xfrm>
            <a:off x="903581" y="2004729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103942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 smtClean="0">
                <a:latin typeface="+mn-ea"/>
              </a:rPr>
              <a:t>개인 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243941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368920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37" name="모서리가 둥근 직사각형 36"/>
          <p:cNvSpPr/>
          <p:nvPr/>
        </p:nvSpPr>
        <p:spPr>
          <a:xfrm>
            <a:off x="903581" y="2720310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819523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개인 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959522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084501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42" name="모서리가 둥근 직사각형 41"/>
          <p:cNvSpPr/>
          <p:nvPr/>
        </p:nvSpPr>
        <p:spPr>
          <a:xfrm>
            <a:off x="903581" y="3435891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535104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개인 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675103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코스콤</a:t>
            </a:r>
            <a:endParaRPr lang="ko-KR" altLang="en-US" sz="700" dirty="0">
              <a:latin typeface="+mn-ea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800082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950686"/>
            <a:ext cx="76863" cy="292489"/>
            <a:chOff x="3750067" y="4683795"/>
            <a:chExt cx="76863" cy="292489"/>
          </a:xfrm>
        </p:grpSpPr>
        <p:sp>
          <p:nvSpPr>
            <p:cNvPr id="49" name="타원 48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0" name="타원 49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1" name="타원 5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84" name="TextBox 83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</p:spTree>
    <p:extLst>
      <p:ext uri="{BB962C8B-B14F-4D97-AF65-F5344CB8AC3E}">
        <p14:creationId xmlns:p14="http://schemas.microsoft.com/office/powerpoint/2010/main" val="3809206339"/>
      </p:ext>
    </p:extLst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선택한 인증서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인증서 비밀번호 입력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인증하기 버튼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클릭 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우측 메시지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인증 성공 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</a:t>
            </a:r>
            <a:r>
              <a:rPr lang="en-US" altLang="ko-KR" dirty="0"/>
              <a:t>&gt; </a:t>
            </a:r>
            <a:r>
              <a:rPr lang="ko-KR" altLang="en-US" dirty="0" smtClean="0"/>
              <a:t>개인신원확인 </a:t>
            </a:r>
            <a:r>
              <a:rPr lang="en-US" altLang="ko-KR" dirty="0" smtClean="0"/>
              <a:t>(MUI-CM-02-M06) </a:t>
            </a:r>
            <a:r>
              <a:rPr lang="ko-KR" altLang="en-US" dirty="0" smtClean="0"/>
              <a:t>복귀 및 성공 메시지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실패 시 현 팝업 유지 및 실패 메시지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취소 시 현재 팝업 닫힘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 신원 </a:t>
            </a:r>
            <a:r>
              <a:rPr lang="ko-KR" altLang="en-US" dirty="0" smtClean="0">
                <a:latin typeface="+mn-ea"/>
              </a:rPr>
              <a:t>확인</a:t>
            </a:r>
            <a:r>
              <a:rPr lang="en-US" altLang="ko-KR" dirty="0" smtClean="0">
                <a:latin typeface="+mn-ea"/>
              </a:rPr>
              <a:t> - </a:t>
            </a:r>
            <a:r>
              <a:rPr lang="ko-KR" altLang="en-US" dirty="0" smtClean="0">
                <a:latin typeface="+mn-ea"/>
              </a:rPr>
              <a:t>인증서 </a:t>
            </a:r>
            <a:r>
              <a:rPr lang="ko-KR" altLang="en-US" dirty="0">
                <a:latin typeface="+mn-ea"/>
              </a:rPr>
              <a:t>관리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개인이 보유하고 </a:t>
            </a:r>
            <a:r>
              <a:rPr lang="ko-KR" altLang="en-US" dirty="0">
                <a:latin typeface="+mn-ea"/>
              </a:rPr>
              <a:t>있는 </a:t>
            </a:r>
            <a:r>
              <a:rPr lang="ko-KR" altLang="en-US" dirty="0" smtClean="0">
                <a:latin typeface="+mn-ea"/>
              </a:rPr>
              <a:t>개인 인증서 </a:t>
            </a:r>
            <a:r>
              <a:rPr lang="ko-KR" altLang="en-US" dirty="0">
                <a:latin typeface="+mn-ea"/>
              </a:rPr>
              <a:t>목록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개인신원확인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인증서 </a:t>
            </a:r>
            <a:r>
              <a:rPr lang="ko-KR" altLang="en-US" dirty="0">
                <a:latin typeface="+mn-ea"/>
              </a:rPr>
              <a:t>관리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MUI-CM-02-M06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6" name="양쪽 모서리가 둥근 사각형 35"/>
          <p:cNvSpPr/>
          <p:nvPr/>
        </p:nvSpPr>
        <p:spPr>
          <a:xfrm>
            <a:off x="679854" y="3259934"/>
            <a:ext cx="2712027" cy="2963359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41" name="모서리가 둥근 직사각형 40"/>
          <p:cNvSpPr/>
          <p:nvPr/>
        </p:nvSpPr>
        <p:spPr>
          <a:xfrm>
            <a:off x="1765867" y="329656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46" name="그룹 45"/>
          <p:cNvGrpSpPr/>
          <p:nvPr/>
        </p:nvGrpSpPr>
        <p:grpSpPr>
          <a:xfrm>
            <a:off x="3168793" y="3430977"/>
            <a:ext cx="94010" cy="94010"/>
            <a:chOff x="6812560" y="3297172"/>
            <a:chExt cx="94010" cy="94010"/>
          </a:xfrm>
        </p:grpSpPr>
        <p:cxnSp>
          <p:nvCxnSpPr>
            <p:cNvPr id="52" name="직선 연결선 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3" name="직선 연결선 5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341165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개인 인증서 확인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56" name="직선 연결선 5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367305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7" name="타원 5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6478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3134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59" name="그룹 58"/>
          <p:cNvGrpSpPr/>
          <p:nvPr/>
        </p:nvGrpSpPr>
        <p:grpSpPr>
          <a:xfrm>
            <a:off x="883295" y="5756042"/>
            <a:ext cx="2305144" cy="317083"/>
            <a:chOff x="861671" y="5756042"/>
            <a:chExt cx="2305144" cy="317083"/>
          </a:xfrm>
        </p:grpSpPr>
        <p:sp>
          <p:nvSpPr>
            <p:cNvPr id="60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1583793" y="5756042"/>
              <a:ext cx="1583022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 smtClean="0">
                  <a:solidFill>
                    <a:prstClr val="white"/>
                  </a:solidFill>
                </a:rPr>
                <a:t>인증하기</a:t>
              </a:r>
              <a:endParaRPr kumimoji="1" lang="en-US" altLang="ko-KR" sz="1000" kern="0" dirty="0">
                <a:solidFill>
                  <a:prstClr val="white"/>
                </a:solidFill>
              </a:endParaRPr>
            </a:p>
          </p:txBody>
        </p:sp>
        <p:sp>
          <p:nvSpPr>
            <p:cNvPr id="6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861671" y="5756042"/>
              <a:ext cx="61785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</p:grpSp>
      <p:sp>
        <p:nvSpPr>
          <p:cNvPr id="62" name="TextBox 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3881256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선택한 인증서로 개인 인증을 하시겠습니까</a:t>
            </a:r>
            <a:r>
              <a:rPr lang="en-US" altLang="ko-KR" sz="700" dirty="0">
                <a:latin typeface="+mn-ea"/>
              </a:rPr>
              <a:t>?</a:t>
            </a:r>
          </a:p>
        </p:txBody>
      </p:sp>
      <p:sp>
        <p:nvSpPr>
          <p:cNvPr id="63" name="모서리가 둥근 직사각형 62"/>
          <p:cNvSpPr/>
          <p:nvPr/>
        </p:nvSpPr>
        <p:spPr>
          <a:xfrm>
            <a:off x="903581" y="4411543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510756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개인 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650755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775734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422666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선택된 인증서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70" name="모서리가 둥근 직사각형 69"/>
          <p:cNvSpPr/>
          <p:nvPr/>
        </p:nvSpPr>
        <p:spPr>
          <a:xfrm>
            <a:off x="903581" y="5371351"/>
            <a:ext cx="2255663" cy="227857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5186470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인증서 비밀번호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74" name="모서리가 둥근 직사각형 73"/>
          <p:cNvSpPr/>
          <p:nvPr/>
        </p:nvSpPr>
        <p:spPr>
          <a:xfrm>
            <a:off x="4299147" y="5491535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solidFill>
                  <a:schemeClr val="bg1"/>
                </a:solidFill>
                <a:latin typeface="+mn-ea"/>
              </a:rPr>
              <a:t>인증이 완료되었습니다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6" name="모서리가 둥근 직사각형 75"/>
          <p:cNvSpPr/>
          <p:nvPr/>
        </p:nvSpPr>
        <p:spPr>
          <a:xfrm>
            <a:off x="4299147" y="5116496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16724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인증서 암호 입력이 틀렸습니다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0" name="타원 7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7784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531572819"/>
      </p:ext>
    </p:extLst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190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63235" y="799547"/>
            <a:ext cx="223194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개인정보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8117" y="1010750"/>
          <a:ext cx="89144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180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70913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31224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683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4642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4642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34182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88691" y="4590351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45875349"/>
              </p:ext>
            </p:extLst>
          </p:nvPr>
        </p:nvGraphicFramePr>
        <p:xfrm>
          <a:off x="458117" y="4874079"/>
          <a:ext cx="8995591" cy="703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개인신원확인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scwin.btn_indvIdntIdnty_onclick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 인증서 팝업창을 호출 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030245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EE82BFC7-81B9-17E6-1DB9-00886D9B97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5692" y="474890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E754179F-5C20-0638-5B90-7A74D0C242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34C8EE8-D70D-B923-B10A-FFFAB00247F8}"/>
              </a:ext>
            </a:extLst>
          </p:cNvPr>
          <p:cNvSpPr txBox="1"/>
          <p:nvPr/>
        </p:nvSpPr>
        <p:spPr>
          <a:xfrm>
            <a:off x="452291" y="1668214"/>
            <a:ext cx="223836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인증서 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dl_crtfList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05F6F224-1953-9EA9-7A5C-98085B12C5F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63070611"/>
              </p:ext>
            </p:extLst>
          </p:nvPr>
        </p:nvGraphicFramePr>
        <p:xfrm>
          <a:off x="455558" y="1886559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fileRegYmd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84121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48935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고유명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crtfDnVl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고유명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04989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일련번호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crtfSn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일련번호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75052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rmrk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191480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9725996"/>
      </p:ext>
    </p:extLst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업무도움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smtClean="0"/>
              <a:t>우측 메시지 표시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상단 검색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기본값 </a:t>
            </a:r>
            <a:r>
              <a:rPr lang="en-US" altLang="ko-KR" dirty="0"/>
              <a:t>: </a:t>
            </a:r>
            <a:r>
              <a:rPr lang="ko-KR" altLang="en-US" dirty="0" smtClean="0"/>
              <a:t>사용자명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내용이 있는 경우 초기화 버튼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초기화 버튼 클릭 시 즉시 목록 </a:t>
            </a:r>
            <a:r>
              <a:rPr lang="ko-KR" altLang="en-US" dirty="0" smtClean="0"/>
              <a:t>초기화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명</a:t>
            </a:r>
            <a:r>
              <a:rPr lang="ko-KR" altLang="en-US" dirty="0" smtClean="0"/>
              <a:t>수</a:t>
            </a:r>
            <a:r>
              <a:rPr lang="en-US" altLang="ko-KR" dirty="0"/>
              <a:t>, </a:t>
            </a:r>
            <a:r>
              <a:rPr lang="ko-KR" altLang="en-US" dirty="0"/>
              <a:t>개수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목록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상단 </a:t>
            </a:r>
            <a:r>
              <a:rPr lang="ko-KR" altLang="en-US" dirty="0" smtClean="0"/>
              <a:t>레이블</a:t>
            </a:r>
            <a:r>
              <a:rPr lang="en-US" altLang="ko-KR" dirty="0" smtClean="0"/>
              <a:t>(5</a:t>
            </a:r>
            <a:r>
              <a:rPr lang="ko-KR" altLang="en-US" dirty="0" err="1" smtClean="0"/>
              <a:t>번항</a:t>
            </a:r>
            <a:r>
              <a:rPr lang="en-US" altLang="ko-KR" dirty="0" smtClean="0"/>
              <a:t>)</a:t>
            </a:r>
            <a:r>
              <a:rPr lang="ko-KR" altLang="en-US" dirty="0" smtClean="0"/>
              <a:t>을 </a:t>
            </a:r>
            <a:r>
              <a:rPr lang="ko-KR" altLang="en-US" dirty="0"/>
              <a:t>통한 정보 제공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제목 </a:t>
            </a:r>
            <a:r>
              <a:rPr lang="ko-KR" altLang="en-US" dirty="0" smtClean="0"/>
              <a:t>으로 사용자명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상태변경</a:t>
            </a:r>
            <a:r>
              <a:rPr lang="ko-KR" altLang="en-US" dirty="0" smtClean="0"/>
              <a:t> 버튼 클릭 시 상태 변경 팝업 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카드 클릭 시 사용자 정보 상세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표시 </a:t>
            </a:r>
            <a:r>
              <a:rPr lang="ko-KR" altLang="en-US" dirty="0"/>
              <a:t>레이블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smtClean="0"/>
              <a:t>상태는 코드에 따라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191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업체 소속 사용자 목록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업체 소속 사용자 </a:t>
            </a:r>
            <a:r>
              <a:rPr lang="ko-KR" altLang="en-US" dirty="0" smtClean="0"/>
              <a:t>목록 화면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 err="1" smtClean="0">
                <a:latin typeface="+mn-ea"/>
              </a:rPr>
              <a:t>마이페이지</a:t>
            </a:r>
            <a:r>
              <a:rPr lang="ko-KR" altLang="en-US" dirty="0" smtClean="0">
                <a:latin typeface="+mn-ea"/>
              </a:rPr>
              <a:t>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업체 </a:t>
            </a:r>
            <a:r>
              <a:rPr lang="ko-KR" altLang="en-US" dirty="0">
                <a:latin typeface="+mn-ea"/>
              </a:rPr>
              <a:t>소속 사용자 목록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MUI-CM-02-M07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/>
              <a:t>소속 </a:t>
            </a:r>
            <a:r>
              <a:rPr lang="ko-KR" altLang="en-US" sz="800" dirty="0"/>
              <a:t>사용자 목록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8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89401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5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6" name="그룹 5"/>
          <p:cNvGrpSpPr/>
          <p:nvPr/>
        </p:nvGrpSpPr>
        <p:grpSpPr>
          <a:xfrm>
            <a:off x="781461" y="3301466"/>
            <a:ext cx="2473257" cy="1098561"/>
            <a:chOff x="781461" y="2610063"/>
            <a:chExt cx="2473257" cy="1098561"/>
          </a:xfrm>
        </p:grpSpPr>
        <p:sp>
          <p:nvSpPr>
            <p:cNvPr id="5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smtClean="0"/>
                <a:t>아이디 </a:t>
              </a:r>
              <a:r>
                <a:rPr lang="en-US" altLang="ko-KR" sz="700" dirty="0" smtClean="0"/>
                <a:t>test 1</a:t>
              </a:r>
              <a:endParaRPr lang="en-US" altLang="ko-KR" sz="700" dirty="0"/>
            </a:p>
            <a:p>
              <a:r>
                <a:rPr lang="ko-KR" altLang="en-US" sz="900" b="1" dirty="0" smtClean="0"/>
                <a:t>홍길동</a:t>
              </a:r>
              <a:endParaRPr lang="ko-KR" altLang="en-US" sz="900" b="1" dirty="0"/>
            </a:p>
          </p:txBody>
        </p:sp>
        <p:sp>
          <p:nvSpPr>
            <p:cNvPr id="56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부서명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전화번호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휴대전화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비고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57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612269" y="3139237"/>
              <a:ext cx="522643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총무부</a:t>
              </a:r>
              <a:endParaRPr lang="en-US" altLang="ko-KR" sz="600" dirty="0" smtClean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02-1234-5678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010-1234-5678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-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67" name="모서리가 둥근 직사각형 66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사용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114" name="모서리가 둥근 직사각형 113"/>
            <p:cNvSpPr/>
            <p:nvPr/>
          </p:nvSpPr>
          <p:spPr>
            <a:xfrm>
              <a:off x="1075655" y="2610063"/>
              <a:ext cx="34833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smtClean="0">
                  <a:solidFill>
                    <a:schemeClr val="dk1"/>
                  </a:solidFill>
                </a:rPr>
                <a:t>대표자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422320"/>
            <a:ext cx="76863" cy="292489"/>
            <a:chOff x="3750067" y="4683795"/>
            <a:chExt cx="76863" cy="292489"/>
          </a:xfrm>
        </p:grpSpPr>
        <p:sp>
          <p:nvSpPr>
            <p:cNvPr id="70" name="타원 6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1" name="타원 7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2" name="타원 7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73" name="그룹 72"/>
          <p:cNvGrpSpPr/>
          <p:nvPr/>
        </p:nvGrpSpPr>
        <p:grpSpPr>
          <a:xfrm>
            <a:off x="778515" y="4600795"/>
            <a:ext cx="2476203" cy="1080735"/>
            <a:chOff x="778515" y="2610063"/>
            <a:chExt cx="2476203" cy="1080735"/>
          </a:xfrm>
        </p:grpSpPr>
        <p:sp>
          <p:nvSpPr>
            <p:cNvPr id="7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/>
                <a:t>아이디 </a:t>
              </a:r>
              <a:r>
                <a:rPr lang="en-US" altLang="ko-KR" sz="700" dirty="0"/>
                <a:t>test </a:t>
              </a:r>
              <a:r>
                <a:rPr lang="en-US" altLang="ko-KR" sz="700" dirty="0" smtClean="0"/>
                <a:t>2</a:t>
              </a:r>
              <a:endParaRPr lang="en-US" altLang="ko-KR" sz="700" dirty="0"/>
            </a:p>
            <a:p>
              <a:r>
                <a:rPr lang="ko-KR" altLang="en-US" sz="900" b="1" dirty="0"/>
                <a:t>홍길동</a:t>
              </a:r>
            </a:p>
          </p:txBody>
        </p:sp>
        <p:sp>
          <p:nvSpPr>
            <p:cNvPr id="75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부서명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전화번호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휴대전화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비고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6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46609" y="3139237"/>
              <a:ext cx="522580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총무부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02-1234-5678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010-1234-5678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-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77" name="모서리가 둥근 직사각형 76"/>
            <p:cNvSpPr/>
            <p:nvPr/>
          </p:nvSpPr>
          <p:spPr>
            <a:xfrm>
              <a:off x="778515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사용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1075655" y="2610063"/>
              <a:ext cx="503451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smtClean="0"/>
                <a:t>입찰대리인</a:t>
              </a:r>
              <a:endParaRPr lang="ko-KR" altLang="en-US" sz="600" dirty="0"/>
            </a:p>
          </p:txBody>
        </p:sp>
      </p:grp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48227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77575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1902673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19340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2016004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4" name="타원 1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6673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80" name="모서리가 둥근 직사각형 79"/>
          <p:cNvSpPr/>
          <p:nvPr/>
        </p:nvSpPr>
        <p:spPr>
          <a:xfrm>
            <a:off x="4690649" y="3871431"/>
            <a:ext cx="4786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>
                <a:solidFill>
                  <a:schemeClr val="dk1"/>
                </a:solidFill>
              </a:rPr>
              <a:t>입찰대리인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8635" y="3161940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표시 레이블</a:t>
            </a:r>
          </a:p>
        </p:txBody>
      </p:sp>
      <p:sp>
        <p:nvSpPr>
          <p:cNvPr id="84" name="모서리가 둥근 직사각형 83"/>
          <p:cNvSpPr/>
          <p:nvPr/>
        </p:nvSpPr>
        <p:spPr>
          <a:xfrm>
            <a:off x="5206222" y="3871431"/>
            <a:ext cx="469863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일반사용자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87" name="모서리가 둥근 직사각형 86"/>
          <p:cNvSpPr/>
          <p:nvPr/>
        </p:nvSpPr>
        <p:spPr>
          <a:xfrm>
            <a:off x="4318635" y="3871431"/>
            <a:ext cx="330486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dk1"/>
                </a:solidFill>
              </a:rPr>
              <a:t>대표자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877270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latin typeface="+mn-ea"/>
              </a:rPr>
              <a:t>사용자유형</a:t>
            </a:r>
            <a:endParaRPr lang="ko-KR" altLang="en-US" sz="700" dirty="0">
              <a:latin typeface="+mn-ea"/>
            </a:endParaRPr>
          </a:p>
        </p:txBody>
      </p:sp>
      <p:sp>
        <p:nvSpPr>
          <p:cNvPr id="160" name="타원 1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4304035" y="289566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48" name="모서리가 둥근 직사각형 147"/>
          <p:cNvSpPr/>
          <p:nvPr/>
        </p:nvSpPr>
        <p:spPr>
          <a:xfrm>
            <a:off x="4321056" y="3340178"/>
            <a:ext cx="241057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사용</a:t>
            </a:r>
            <a:endParaRPr lang="ko-KR" altLang="en-US" sz="600" dirty="0"/>
          </a:p>
        </p:txBody>
      </p:sp>
      <p:sp>
        <p:nvSpPr>
          <p:cNvPr id="156" name="모서리가 둥근 직사각형 155"/>
          <p:cNvSpPr/>
          <p:nvPr/>
        </p:nvSpPr>
        <p:spPr>
          <a:xfrm>
            <a:off x="4614061" y="334017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탈퇴</a:t>
            </a:r>
            <a:endParaRPr lang="ko-KR" altLang="en-US" sz="600" dirty="0"/>
          </a:p>
        </p:txBody>
      </p:sp>
      <p:sp>
        <p:nvSpPr>
          <p:cNvPr id="159" name="모서리가 둥근 직사각형 158"/>
          <p:cNvSpPr/>
          <p:nvPr/>
        </p:nvSpPr>
        <p:spPr>
          <a:xfrm>
            <a:off x="4914986" y="3340178"/>
            <a:ext cx="406437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사용중지</a:t>
            </a:r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346017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상태</a:t>
            </a:r>
            <a:endParaRPr lang="ko-KR" altLang="en-US" sz="700" dirty="0">
              <a:latin typeface="+mn-ea"/>
            </a:endParaRPr>
          </a:p>
        </p:txBody>
      </p:sp>
      <p:sp>
        <p:nvSpPr>
          <p:cNvPr id="189" name="TextBox 1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874722"/>
            <a:ext cx="135706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2,010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 smtClean="0">
                <a:latin typeface="+mn-ea"/>
              </a:rPr>
              <a:t>명</a:t>
            </a:r>
            <a:endParaRPr lang="ko-KR" altLang="en-US" sz="700" dirty="0">
              <a:latin typeface="+mn-ea"/>
            </a:endParaRPr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8206" y="2870668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70668"/>
            <a:ext cx="50571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192" name="그룹 191"/>
          <p:cNvGrpSpPr/>
          <p:nvPr/>
        </p:nvGrpSpPr>
        <p:grpSpPr>
          <a:xfrm>
            <a:off x="3143548" y="2983035"/>
            <a:ext cx="94010" cy="47005"/>
            <a:chOff x="6812560" y="3297172"/>
            <a:chExt cx="94010" cy="47005"/>
          </a:xfrm>
        </p:grpSpPr>
        <p:cxnSp>
          <p:nvCxnSpPr>
            <p:cNvPr id="193" name="직선 연결선 19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4" name="직선 연결선 19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5" name="그룹 194"/>
          <p:cNvGrpSpPr/>
          <p:nvPr/>
        </p:nvGrpSpPr>
        <p:grpSpPr>
          <a:xfrm>
            <a:off x="767702" y="2274581"/>
            <a:ext cx="2527420" cy="473693"/>
            <a:chOff x="786326" y="2274581"/>
            <a:chExt cx="2527420" cy="473693"/>
          </a:xfrm>
        </p:grpSpPr>
        <p:sp>
          <p:nvSpPr>
            <p:cNvPr id="196" name="모서리가 둥근 직사각형 195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7" name="타원 196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06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95625" y="2274581"/>
              <a:ext cx="615387" cy="155984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사용자명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200" name="타원 199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/>
                <a:t>V</a:t>
              </a:r>
              <a:endParaRPr lang="ko-KR" altLang="en-US" sz="600" dirty="0"/>
            </a:p>
          </p:txBody>
        </p:sp>
        <p:sp>
          <p:nvSpPr>
            <p:cNvPr id="202" name="타원 201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03" name="그룹 202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204" name="직선 연결선 203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5" name="직선 연결선 204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1015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3550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6" name="타원 11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2243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1695628"/>
            <a:ext cx="2457390" cy="90486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700">
                <a:latin typeface="+mn-ea"/>
              </a:defRPr>
            </a:lvl1pPr>
          </a:lstStyle>
          <a:p>
            <a:pPr marL="171450" indent="-171450">
              <a:lnSpc>
                <a:spcPct val="120000"/>
              </a:lnSpc>
              <a:buFontTx/>
              <a:buChar char="-"/>
            </a:pPr>
            <a:r>
              <a:rPr lang="ko-KR" altLang="en-US" dirty="0" err="1" smtClean="0">
                <a:solidFill>
                  <a:srgbClr val="FF0000"/>
                </a:solidFill>
              </a:rPr>
              <a:t>퇴사자</a:t>
            </a:r>
            <a:r>
              <a:rPr lang="ko-KR" altLang="en-US" dirty="0" smtClean="0">
                <a:solidFill>
                  <a:srgbClr val="FF0000"/>
                </a:solidFill>
              </a:rPr>
              <a:t> </a:t>
            </a:r>
            <a:r>
              <a:rPr lang="ko-KR" altLang="en-US" dirty="0">
                <a:solidFill>
                  <a:srgbClr val="FF0000"/>
                </a:solidFill>
              </a:rPr>
              <a:t>계정 즉시 삭제 </a:t>
            </a:r>
            <a:r>
              <a:rPr lang="ko-KR" altLang="en-US" dirty="0" smtClean="0">
                <a:solidFill>
                  <a:srgbClr val="FF0000"/>
                </a:solidFill>
              </a:rPr>
              <a:t>요망</a:t>
            </a:r>
            <a:endParaRPr lang="en-US" altLang="ko-KR" dirty="0">
              <a:solidFill>
                <a:srgbClr val="FF0000"/>
              </a:solidFill>
            </a:endParaRPr>
          </a:p>
          <a:p>
            <a:pPr marL="171450" indent="-171450">
              <a:lnSpc>
                <a:spcPct val="120000"/>
              </a:lnSpc>
              <a:buFontTx/>
              <a:buChar char="-"/>
            </a:pPr>
            <a:r>
              <a:rPr lang="ko-KR" altLang="en-US" dirty="0" err="1" smtClean="0"/>
              <a:t>퇴사자의</a:t>
            </a:r>
            <a:r>
              <a:rPr lang="ko-KR" altLang="en-US" dirty="0" smtClean="0"/>
              <a:t> </a:t>
            </a:r>
            <a:r>
              <a:rPr lang="ko-KR" altLang="en-US" dirty="0"/>
              <a:t>계정을 방치할 경우</a:t>
            </a:r>
            <a:r>
              <a:rPr lang="en-US" altLang="ko-KR" dirty="0"/>
              <a:t>, </a:t>
            </a:r>
            <a:r>
              <a:rPr lang="ko-KR" altLang="en-US" dirty="0"/>
              <a:t>타사 이직 후 기존 </a:t>
            </a:r>
            <a:r>
              <a:rPr lang="en-US" altLang="ko-KR" dirty="0"/>
              <a:t>ID</a:t>
            </a:r>
            <a:r>
              <a:rPr lang="ko-KR" altLang="en-US" dirty="0"/>
              <a:t>를 통한 </a:t>
            </a:r>
            <a:r>
              <a:rPr lang="ko-KR" altLang="en-US" dirty="0">
                <a:solidFill>
                  <a:srgbClr val="FF0000"/>
                </a:solidFill>
              </a:rPr>
              <a:t>입찰</a:t>
            </a:r>
            <a:r>
              <a:rPr lang="en-US" altLang="ko-KR" dirty="0">
                <a:solidFill>
                  <a:srgbClr val="FF0000"/>
                </a:solidFill>
              </a:rPr>
              <a:t>/</a:t>
            </a:r>
            <a:r>
              <a:rPr lang="ko-KR" altLang="en-US" dirty="0">
                <a:solidFill>
                  <a:srgbClr val="FF0000"/>
                </a:solidFill>
              </a:rPr>
              <a:t>계약 정보 무단 열람 및 영업비밀 유출사고</a:t>
            </a:r>
            <a:r>
              <a:rPr lang="ko-KR" altLang="en-US" dirty="0"/>
              <a:t>가 발생할 수 있습니다</a:t>
            </a:r>
            <a:r>
              <a:rPr lang="en-US" altLang="ko-KR" dirty="0"/>
              <a:t>. </a:t>
            </a:r>
            <a:endParaRPr lang="en-US" altLang="ko-KR" dirty="0" smtClean="0"/>
          </a:p>
          <a:p>
            <a:pPr marL="171450" indent="-171450">
              <a:lnSpc>
                <a:spcPct val="120000"/>
              </a:lnSpc>
              <a:buFontTx/>
              <a:buChar char="-"/>
            </a:pPr>
            <a:r>
              <a:rPr lang="ko-KR" altLang="en-US" dirty="0" smtClean="0"/>
              <a:t>계정 </a:t>
            </a:r>
            <a:r>
              <a:rPr lang="ko-KR" altLang="en-US" dirty="0"/>
              <a:t>관리 소홀로 인해 야기되는 모든 </a:t>
            </a:r>
            <a:r>
              <a:rPr lang="ko-KR" altLang="en-US" dirty="0">
                <a:solidFill>
                  <a:srgbClr val="FF0000"/>
                </a:solidFill>
              </a:rPr>
              <a:t>법적 문제와 손해배상 책임은 해당 업체</a:t>
            </a:r>
            <a:r>
              <a:rPr lang="en-US" altLang="ko-KR" dirty="0">
                <a:solidFill>
                  <a:srgbClr val="FF0000"/>
                </a:solidFill>
              </a:rPr>
              <a:t>(</a:t>
            </a:r>
            <a:r>
              <a:rPr lang="ko-KR" altLang="en-US" dirty="0">
                <a:solidFill>
                  <a:srgbClr val="FF0000"/>
                </a:solidFill>
              </a:rPr>
              <a:t>대표자</a:t>
            </a:r>
            <a:r>
              <a:rPr lang="en-US" altLang="ko-KR" dirty="0">
                <a:solidFill>
                  <a:srgbClr val="FF0000"/>
                </a:solidFill>
              </a:rPr>
              <a:t>)</a:t>
            </a:r>
            <a:r>
              <a:rPr lang="ko-KR" altLang="en-US" dirty="0">
                <a:solidFill>
                  <a:srgbClr val="FF0000"/>
                </a:solidFill>
              </a:rPr>
              <a:t>에 귀속</a:t>
            </a:r>
            <a:r>
              <a:rPr lang="ko-KR" altLang="en-US" dirty="0"/>
              <a:t>되므로</a:t>
            </a:r>
            <a:r>
              <a:rPr lang="en-US" altLang="ko-KR" dirty="0"/>
              <a:t>, </a:t>
            </a:r>
            <a:r>
              <a:rPr lang="ko-KR" altLang="en-US" dirty="0"/>
              <a:t>퇴사 직원의 계정은 즉시 퇴사</a:t>
            </a:r>
            <a:r>
              <a:rPr lang="en-US" altLang="ko-KR" dirty="0"/>
              <a:t>(</a:t>
            </a:r>
            <a:r>
              <a:rPr lang="ko-KR" altLang="en-US" dirty="0"/>
              <a:t>탈퇴</a:t>
            </a:r>
            <a:r>
              <a:rPr lang="en-US" altLang="ko-KR" dirty="0"/>
              <a:t>)</a:t>
            </a:r>
            <a:r>
              <a:rPr lang="ko-KR" altLang="en-US" dirty="0"/>
              <a:t>해 주시기 바랍니다</a:t>
            </a:r>
            <a:r>
              <a:rPr lang="en-US" altLang="ko-KR" dirty="0"/>
              <a:t>.</a:t>
            </a:r>
            <a:endParaRPr lang="ko-KR" altLang="en-US" dirty="0"/>
          </a:p>
        </p:txBody>
      </p:sp>
      <p:sp>
        <p:nvSpPr>
          <p:cNvPr id="118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707397" y="3297721"/>
            <a:ext cx="582849" cy="154795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 smtClean="0">
                <a:latin typeface="맑은 고딕"/>
                <a:ea typeface="맑은 고딕" panose="020B0503020000020004" pitchFamily="50" charset="-127"/>
              </a:rPr>
              <a:t>상태 변경 </a:t>
            </a:r>
            <a:r>
              <a:rPr kumimoji="1" lang="en-US" altLang="ko-KR" sz="800" kern="0" dirty="0" smtClean="0">
                <a:latin typeface="맑은 고딕"/>
                <a:ea typeface="맑은 고딕" panose="020B0503020000020004" pitchFamily="50" charset="-127"/>
              </a:rPr>
              <a:t>&gt;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19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707397" y="4595507"/>
            <a:ext cx="582849" cy="154795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 smtClean="0">
                <a:latin typeface="맑은 고딕"/>
                <a:ea typeface="맑은 고딕" panose="020B0503020000020004" pitchFamily="50" charset="-127"/>
              </a:rPr>
              <a:t>상태 변경 </a:t>
            </a:r>
            <a:r>
              <a:rPr kumimoji="1" lang="en-US" altLang="ko-KR" sz="800" kern="0" dirty="0" smtClean="0">
                <a:latin typeface="맑은 고딕"/>
                <a:ea typeface="맑은 고딕" panose="020B0503020000020004" pitchFamily="50" charset="-127"/>
              </a:rPr>
              <a:t>&gt;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20" name="모서리가 둥근 직사각형 119"/>
          <p:cNvSpPr/>
          <p:nvPr/>
        </p:nvSpPr>
        <p:spPr>
          <a:xfrm>
            <a:off x="5383289" y="3340178"/>
            <a:ext cx="59841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대표자 </a:t>
            </a:r>
            <a:r>
              <a:rPr lang="ko-KR" altLang="en-US" sz="600" dirty="0" err="1"/>
              <a:t>미승인</a:t>
            </a:r>
            <a:endParaRPr lang="ko-KR" altLang="en-US" sz="600" dirty="0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8635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Y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14060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T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996465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N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467483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M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485490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상태 코드</a:t>
            </a:r>
            <a:endParaRPr lang="ko-KR" altLang="en-US" sz="7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40395028"/>
      </p:ext>
    </p:extLst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대상 사용자의 상태 정보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수정 가능한 상태는 사용</a:t>
            </a:r>
            <a:r>
              <a:rPr lang="en-US" altLang="ko-KR" dirty="0" smtClean="0"/>
              <a:t>, </a:t>
            </a:r>
            <a:r>
              <a:rPr lang="ko-KR" altLang="en-US" dirty="0" smtClean="0"/>
              <a:t>탈퇴</a:t>
            </a:r>
            <a:r>
              <a:rPr lang="en-US" altLang="ko-KR" dirty="0" smtClean="0"/>
              <a:t>, </a:t>
            </a:r>
            <a:r>
              <a:rPr lang="ko-KR" altLang="en-US" dirty="0" smtClean="0"/>
              <a:t>사용중지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미승인</a:t>
            </a:r>
            <a:r>
              <a:rPr lang="ko-KR" altLang="en-US" dirty="0" smtClean="0"/>
              <a:t> 상태로 변경 불가하여 선택지에서는 표시하지 않음</a:t>
            </a:r>
            <a:r>
              <a:rPr lang="en-US" altLang="ko-KR" dirty="0" smtClean="0"/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저장 시 목록에 즉시 반영</a:t>
            </a:r>
            <a:r>
              <a:rPr lang="en-US" altLang="ko-KR" dirty="0" smtClean="0"/>
              <a:t>, </a:t>
            </a:r>
            <a:r>
              <a:rPr lang="ko-KR" altLang="en-US" dirty="0" smtClean="0"/>
              <a:t>팝업 닫기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192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업체 소속 </a:t>
            </a:r>
            <a:r>
              <a:rPr lang="ko-KR" altLang="en-US" dirty="0" smtClean="0"/>
              <a:t>사용자 </a:t>
            </a:r>
            <a:r>
              <a:rPr lang="en-US" altLang="ko-KR" dirty="0" smtClean="0"/>
              <a:t>– </a:t>
            </a:r>
            <a:r>
              <a:rPr lang="ko-KR" altLang="en-US" dirty="0" smtClean="0"/>
              <a:t>상태</a:t>
            </a:r>
            <a:r>
              <a:rPr lang="en-US" altLang="ko-KR" dirty="0" smtClean="0"/>
              <a:t> </a:t>
            </a:r>
            <a:r>
              <a:rPr lang="ko-KR" altLang="en-US" dirty="0" smtClean="0"/>
              <a:t>변경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업체 소속 사용자 </a:t>
            </a:r>
            <a:r>
              <a:rPr lang="en-US" altLang="ko-KR" dirty="0"/>
              <a:t>– </a:t>
            </a:r>
            <a:r>
              <a:rPr lang="ko-KR" altLang="en-US" dirty="0" smtClean="0"/>
              <a:t>상태</a:t>
            </a:r>
            <a:r>
              <a:rPr lang="en-US" altLang="ko-KR" dirty="0" smtClean="0"/>
              <a:t> </a:t>
            </a:r>
            <a:r>
              <a:rPr lang="ko-KR" altLang="en-US" dirty="0" smtClean="0"/>
              <a:t>변경 팝업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 소속 사용자 </a:t>
            </a:r>
            <a:r>
              <a:rPr lang="ko-KR" altLang="en-US" dirty="0" smtClean="0">
                <a:latin typeface="+mn-ea"/>
              </a:rPr>
              <a:t>목록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err="1" smtClean="0">
                <a:latin typeface="+mn-ea"/>
              </a:rPr>
              <a:t>상태변경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MUI-CM-02-P08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4151347"/>
            <a:ext cx="2712027" cy="2080195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4187974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4322390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4303069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사용자 상태 변경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56446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9" name="모서리가 둥근 직사각형 168"/>
          <p:cNvSpPr/>
          <p:nvPr/>
        </p:nvSpPr>
        <p:spPr>
          <a:xfrm>
            <a:off x="1443878" y="4960685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800" dirty="0" smtClean="0">
                <a:solidFill>
                  <a:schemeClr val="tx1"/>
                </a:solidFill>
              </a:rPr>
              <a:t>사용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5028998"/>
            <a:ext cx="67077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상태</a:t>
            </a:r>
            <a:endParaRPr lang="en-US" altLang="ko-KR" sz="800" dirty="0">
              <a:latin typeface="+mn-ea"/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498219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97" name="그룹 96"/>
          <p:cNvGrpSpPr/>
          <p:nvPr/>
        </p:nvGrpSpPr>
        <p:grpSpPr>
          <a:xfrm>
            <a:off x="675399" y="5613954"/>
            <a:ext cx="2712027" cy="617588"/>
            <a:chOff x="675399" y="5614711"/>
            <a:chExt cx="2712027" cy="617588"/>
          </a:xfrm>
        </p:grpSpPr>
        <p:sp>
          <p:nvSpPr>
            <p:cNvPr id="98" name="직사각형 97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 smtClean="0">
                  <a:solidFill>
                    <a:srgbClr val="0070C0"/>
                  </a:solidFill>
                </a:rPr>
                <a:t>저장</a:t>
              </a:r>
              <a:endParaRPr kumimoji="1" lang="en-US" altLang="ko-KR" sz="1000" kern="0" dirty="0">
                <a:solidFill>
                  <a:srgbClr val="0070C0"/>
                </a:solidFill>
              </a:endParaRPr>
            </a:p>
          </p:txBody>
        </p:sp>
        <p:sp>
          <p:nvSpPr>
            <p:cNvPr id="10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73" name="그룹 72"/>
          <p:cNvGrpSpPr/>
          <p:nvPr/>
        </p:nvGrpSpPr>
        <p:grpSpPr>
          <a:xfrm>
            <a:off x="3143548" y="5059357"/>
            <a:ext cx="94010" cy="47005"/>
            <a:chOff x="6812560" y="3297172"/>
            <a:chExt cx="94010" cy="47005"/>
          </a:xfrm>
        </p:grpSpPr>
        <p:cxnSp>
          <p:nvCxnSpPr>
            <p:cNvPr id="74" name="직선 연결선 7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5" name="직선 연결선 7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8635" y="3161940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표시 레이블</a:t>
            </a:r>
          </a:p>
        </p:txBody>
      </p:sp>
      <p:sp>
        <p:nvSpPr>
          <p:cNvPr id="77" name="모서리가 둥근 직사각형 76"/>
          <p:cNvSpPr/>
          <p:nvPr/>
        </p:nvSpPr>
        <p:spPr>
          <a:xfrm>
            <a:off x="4321056" y="3340178"/>
            <a:ext cx="241057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사용</a:t>
            </a:r>
            <a:endParaRPr lang="ko-KR" altLang="en-US" sz="600" dirty="0"/>
          </a:p>
        </p:txBody>
      </p:sp>
      <p:sp>
        <p:nvSpPr>
          <p:cNvPr id="78" name="모서리가 둥근 직사각형 77"/>
          <p:cNvSpPr/>
          <p:nvPr/>
        </p:nvSpPr>
        <p:spPr>
          <a:xfrm>
            <a:off x="4614061" y="334017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탈퇴</a:t>
            </a:r>
            <a:endParaRPr lang="ko-KR" altLang="en-US" sz="600" dirty="0"/>
          </a:p>
        </p:txBody>
      </p:sp>
      <p:sp>
        <p:nvSpPr>
          <p:cNvPr id="81" name="모서리가 둥근 직사각형 80"/>
          <p:cNvSpPr/>
          <p:nvPr/>
        </p:nvSpPr>
        <p:spPr>
          <a:xfrm>
            <a:off x="4914986" y="3340178"/>
            <a:ext cx="406437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사용중지</a:t>
            </a: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346017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상태</a:t>
            </a:r>
            <a:endParaRPr lang="ko-KR" altLang="en-US" sz="700" dirty="0">
              <a:latin typeface="+mn-ea"/>
            </a:endParaRPr>
          </a:p>
        </p:txBody>
      </p:sp>
      <p:sp>
        <p:nvSpPr>
          <p:cNvPr id="84" name="모서리가 둥근 직사각형 83"/>
          <p:cNvSpPr/>
          <p:nvPr/>
        </p:nvSpPr>
        <p:spPr>
          <a:xfrm>
            <a:off x="5383289" y="3340178"/>
            <a:ext cx="59841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/>
              <a:t>대표자 </a:t>
            </a:r>
            <a:r>
              <a:rPr lang="ko-KR" altLang="en-US" sz="600" dirty="0" err="1"/>
              <a:t>미승인</a:t>
            </a:r>
            <a:endParaRPr lang="ko-KR" altLang="en-US" sz="600" dirty="0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8635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Y</a:t>
            </a:r>
            <a:endParaRPr lang="ko-KR" altLang="en-US" sz="700" dirty="0">
              <a:latin typeface="+mn-ea"/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14060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T</a:t>
            </a:r>
            <a:endParaRPr lang="ko-KR" altLang="en-US" sz="700" dirty="0">
              <a:latin typeface="+mn-ea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996465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N</a:t>
            </a:r>
            <a:endParaRPr lang="ko-KR" altLang="en-US" sz="700" dirty="0">
              <a:latin typeface="+mn-ea"/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467483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 smtClean="0">
                <a:latin typeface="+mn-ea"/>
              </a:rPr>
              <a:t>M</a:t>
            </a:r>
            <a:endParaRPr lang="ko-KR" altLang="en-US" sz="700" dirty="0">
              <a:latin typeface="+mn-ea"/>
            </a:endParaRP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485490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상태 코드</a:t>
            </a:r>
            <a:endParaRPr lang="ko-KR" altLang="en-US" sz="700" dirty="0">
              <a:latin typeface="+mn-ea"/>
            </a:endParaRPr>
          </a:p>
        </p:txBody>
      </p:sp>
      <p:sp>
        <p:nvSpPr>
          <p:cNvPr id="90" name="타원 8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583668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238956224"/>
      </p:ext>
    </p:extLst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193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</a:t>
            </a:r>
            <a:r>
              <a:rPr lang="ko-KR" altLang="en-US" sz="1000" b="1" dirty="0" smtClean="0">
                <a:solidFill>
                  <a:prstClr val="black"/>
                </a:solidFill>
              </a:rPr>
              <a:t>설명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A73FBE65-022B-2CC9-82D0-8B051EDF8A19}"/>
              </a:ext>
            </a:extLst>
          </p:cNvPr>
          <p:cNvSpPr txBox="1"/>
          <p:nvPr/>
        </p:nvSpPr>
        <p:spPr>
          <a:xfrm>
            <a:off x="453000" y="840586"/>
            <a:ext cx="284269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 smtClean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업체 사용자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9E1EC257-A23A-4293-2A62-B6B72FC492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07034855"/>
              </p:ext>
            </p:extLst>
          </p:nvPr>
        </p:nvGraphicFramePr>
        <p:xfrm>
          <a:off x="453000" y="1051789"/>
          <a:ext cx="8994883" cy="2232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부서명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부서명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64318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07890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enmtno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43788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userTkcgTaskCd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17113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usngSecd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사용중지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조회는 가능 및 대표자가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재사용가능하게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변경가능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), M 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사용자등록 후 대표자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Y 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전자조달 사용가능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T : FAX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개인탈퇴의사표시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운영자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DB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조회불가 및 영구미사용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7707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whdwlRsn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상태가 탈퇴일 때 탈퇴사유 기입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0883308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9646A461-BCAF-034A-1179-54DE17ACB2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A73FBE65-022B-2CC9-82D0-8B051EDF8A19}"/>
              </a:ext>
            </a:extLst>
          </p:cNvPr>
          <p:cNvSpPr txBox="1"/>
          <p:nvPr/>
        </p:nvSpPr>
        <p:spPr>
          <a:xfrm>
            <a:off x="455558" y="3541271"/>
            <a:ext cx="340534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 smtClean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업체 사용자 상세정보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dm_bzentyUserDtlInfo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9E1EC257-A23A-4293-2A62-B6B72FC492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24351684"/>
              </p:ext>
            </p:extLst>
          </p:nvPr>
        </p:nvGraphicFramePr>
        <p:xfrm>
          <a:off x="455558" y="3754954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userTkcgTaskCd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64318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생년월일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userEnrrno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생년월일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07890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43788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enmtno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17113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861251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75071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부서명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부서명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202354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02119084"/>
      </p:ext>
    </p:extLst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194</a:t>
            </a:fld>
            <a:endParaRPr lang="ko-KR" altLang="en-US" dirty="0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B96F37B1-F84C-2A3A-7E62-143A78C7C08B}"/>
              </a:ext>
            </a:extLst>
          </p:cNvPr>
          <p:cNvSpPr txBox="1"/>
          <p:nvPr/>
        </p:nvSpPr>
        <p:spPr>
          <a:xfrm>
            <a:off x="455204" y="690014"/>
            <a:ext cx="911074" cy="205992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B9231C4C-4641-0463-57E3-B0D9AC1324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16696372"/>
              </p:ext>
            </p:extLst>
          </p:nvPr>
        </p:nvGraphicFramePr>
        <p:xfrm>
          <a:off x="455204" y="896006"/>
          <a:ext cx="8995591" cy="1335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).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 사용자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scwin.btn_userSrch_onclick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업체 사용자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업체 사용자 </a:t>
                      </a:r>
                      <a:r>
                        <a:rPr lang="ko-KR" altLang="en-US" sz="800" dirty="0" smtClean="0"/>
                        <a:t>목록</a:t>
                      </a:r>
                      <a:r>
                        <a:rPr lang="en-US" altLang="ko-KR" sz="800" dirty="0" smtClean="0"/>
                        <a:t> </a:t>
                      </a:r>
                      <a:r>
                        <a:rPr lang="ko-KR" altLang="en-US" sz="800" dirty="0"/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scwin.grd_userList_oncellclick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업체 사용자 상세정보가 호출된다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446238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상태저장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scwin.btn_sttsStrg_onclick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 사용자 상태가 변경된다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54870510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FC288215-3957-73FE-9B76-59983CB7F9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776561"/>
            <a:ext cx="1678016" cy="979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165638786"/>
      </p:ext>
    </p:extLst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업무도움</a:t>
            </a:r>
            <a:r>
              <a:rPr lang="ko-KR" altLang="en-US" dirty="0" smtClean="0"/>
              <a:t> 하단 내용 확인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수신정보</a:t>
            </a:r>
            <a:r>
              <a:rPr lang="ko-KR" altLang="en-US" dirty="0" smtClean="0"/>
              <a:t> 표시 </a:t>
            </a:r>
            <a:r>
              <a:rPr lang="en-US" altLang="ko-KR" dirty="0" smtClean="0"/>
              <a:t>(</a:t>
            </a:r>
            <a:r>
              <a:rPr lang="ko-KR" altLang="en-US" dirty="0" smtClean="0"/>
              <a:t>개인정보</a:t>
            </a:r>
            <a:r>
              <a:rPr lang="en-US" altLang="ko-KR" dirty="0" smtClean="0"/>
              <a:t>)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회원정보 상세 </a:t>
            </a:r>
            <a:r>
              <a:rPr lang="ko-KR" altLang="en-US" dirty="0" err="1" smtClean="0"/>
              <a:t>바로가기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알림 수단 설정</a:t>
            </a:r>
            <a:r>
              <a:rPr lang="en-US" altLang="ko-KR" dirty="0" smtClean="0"/>
              <a:t>, </a:t>
            </a:r>
            <a:r>
              <a:rPr lang="ko-KR" altLang="en-US" dirty="0" smtClean="0"/>
              <a:t>알림 설정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사용자 설정 </a:t>
            </a:r>
            <a:r>
              <a:rPr lang="en-US" altLang="ko-KR" dirty="0" smtClean="0"/>
              <a:t>ON/OFF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195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알림서비스신청및해지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 smtClean="0"/>
              <a:t>알림서비스신청및해지</a:t>
            </a:r>
            <a:r>
              <a:rPr lang="ko-KR" altLang="en-US" dirty="0" smtClean="0"/>
              <a:t> 화면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알림서비스신청및해지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MUI-CM-02-M09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88037" y="5744634"/>
            <a:ext cx="2527419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1000" kern="0" dirty="0" smtClean="0">
                <a:solidFill>
                  <a:srgbClr val="0070C0"/>
                </a:solidFill>
              </a:rPr>
              <a:t>저장</a:t>
            </a:r>
            <a:endParaRPr kumimoji="1" lang="en-US" altLang="ko-KR" sz="1000" kern="0" dirty="0">
              <a:solidFill>
                <a:srgbClr val="0070C0"/>
              </a:solidFill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/>
              <a:t>알림 서비스 신청 및 해지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62" name="직선 연결선 6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3" name="그룹 62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64" name="직선 연결선 6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5" name="직선 연결선 6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6" name="타원 65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7" name="타원 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8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1902673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69" name="타원 68"/>
          <p:cNvSpPr/>
          <p:nvPr/>
        </p:nvSpPr>
        <p:spPr>
          <a:xfrm>
            <a:off x="783686" y="19340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70" name="그룹 69"/>
          <p:cNvGrpSpPr/>
          <p:nvPr/>
        </p:nvGrpSpPr>
        <p:grpSpPr>
          <a:xfrm>
            <a:off x="3143548" y="2016004"/>
            <a:ext cx="94010" cy="47005"/>
            <a:chOff x="6812560" y="3297172"/>
            <a:chExt cx="94010" cy="47005"/>
          </a:xfrm>
        </p:grpSpPr>
        <p:cxnSp>
          <p:nvCxnSpPr>
            <p:cNvPr id="71" name="직선 연결선 7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2" name="직선 연결선 7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1015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3A3989F9-3249-48DF-9940-EABCDEC098C0}"/>
              </a:ext>
            </a:extLst>
          </p:cNvPr>
          <p:cNvSpPr/>
          <p:nvPr/>
        </p:nvSpPr>
        <p:spPr>
          <a:xfrm>
            <a:off x="804476" y="2444894"/>
            <a:ext cx="800219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800" dirty="0" smtClean="0"/>
              <a:t>휴대전화번호</a:t>
            </a:r>
            <a:endParaRPr lang="en-US" altLang="ko-KR" sz="800" dirty="0"/>
          </a:p>
          <a:p>
            <a:pPr>
              <a:lnSpc>
                <a:spcPct val="150000"/>
              </a:lnSpc>
            </a:pPr>
            <a:r>
              <a:rPr lang="ko-KR" altLang="en-US" sz="800" dirty="0" smtClean="0"/>
              <a:t>이메일</a:t>
            </a:r>
            <a:endParaRPr lang="en-US" altLang="ko-KR" sz="800" dirty="0"/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3A3989F9-3249-48DF-9940-EABCDEC098C0}"/>
              </a:ext>
            </a:extLst>
          </p:cNvPr>
          <p:cNvSpPr/>
          <p:nvPr/>
        </p:nvSpPr>
        <p:spPr>
          <a:xfrm>
            <a:off x="2160882" y="2468682"/>
            <a:ext cx="1128834" cy="4378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800" dirty="0" smtClean="0"/>
              <a:t>010-</a:t>
            </a:r>
            <a:r>
              <a:rPr lang="en-US" altLang="ko-KR" sz="800" dirty="0"/>
              <a:t>****-1234</a:t>
            </a:r>
          </a:p>
          <a:p>
            <a:pPr algn="r">
              <a:lnSpc>
                <a:spcPct val="150000"/>
              </a:lnSpc>
            </a:pPr>
            <a:r>
              <a:rPr lang="en-US" altLang="ko-KR" sz="800" dirty="0" smtClean="0"/>
              <a:t>user</a:t>
            </a:r>
            <a:r>
              <a:rPr lang="en-US" altLang="ko-KR" sz="800" dirty="0"/>
              <a:t>****@naver.com</a:t>
            </a:r>
          </a:p>
        </p:txBody>
      </p:sp>
      <p:sp>
        <p:nvSpPr>
          <p:cNvPr id="9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707397" y="2322247"/>
            <a:ext cx="582849" cy="154795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 smtClean="0">
                <a:latin typeface="맑은 고딕"/>
                <a:ea typeface="맑은 고딕" panose="020B0503020000020004" pitchFamily="50" charset="-127"/>
              </a:rPr>
              <a:t>개인정보 </a:t>
            </a:r>
            <a:r>
              <a:rPr kumimoji="1" lang="en-US" altLang="ko-KR" sz="800" kern="0" dirty="0" smtClean="0">
                <a:latin typeface="맑은 고딕"/>
                <a:ea typeface="맑은 고딕" panose="020B0503020000020004" pitchFamily="50" charset="-127"/>
              </a:rPr>
              <a:t>&gt;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95699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160706" y="5742894"/>
            <a:ext cx="2185443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700">
                <a:latin typeface="+mn-ea"/>
              </a:defRPr>
            </a:lvl1pPr>
          </a:lstStyle>
          <a:p>
            <a:pPr marL="171450" indent="-171450">
              <a:lnSpc>
                <a:spcPct val="120000"/>
              </a:lnSpc>
              <a:buFontTx/>
              <a:buChar char="-"/>
            </a:pPr>
            <a:r>
              <a:rPr lang="ko-KR" altLang="en-US" dirty="0"/>
              <a:t>수신을 원하는 문자메시지 서비스에 체크하여 주시기 바랍니다</a:t>
            </a:r>
            <a:r>
              <a:rPr lang="en-US" altLang="ko-KR" dirty="0"/>
              <a:t>.</a:t>
            </a:r>
          </a:p>
          <a:p>
            <a:pPr marL="171450" indent="-171450">
              <a:lnSpc>
                <a:spcPct val="120000"/>
              </a:lnSpc>
              <a:buFontTx/>
              <a:buChar char="-"/>
            </a:pPr>
            <a:r>
              <a:rPr lang="ko-KR" altLang="en-US" dirty="0" smtClean="0"/>
              <a:t>본 </a:t>
            </a:r>
            <a:r>
              <a:rPr lang="ko-KR" altLang="en-US" dirty="0"/>
              <a:t>서비스는 단순 </a:t>
            </a:r>
            <a:r>
              <a:rPr lang="ko-KR" altLang="en-US" dirty="0" err="1"/>
              <a:t>참고용이며</a:t>
            </a:r>
            <a:r>
              <a:rPr lang="en-US" altLang="ko-KR" dirty="0"/>
              <a:t>, </a:t>
            </a:r>
            <a:r>
              <a:rPr lang="ko-KR" altLang="en-US" dirty="0"/>
              <a:t>업무상 주요 부분은 국방전자조달시스템에서 직접 </a:t>
            </a:r>
            <a:r>
              <a:rPr lang="ko-KR" altLang="en-US" dirty="0" smtClean="0"/>
              <a:t>확인하시기 </a:t>
            </a:r>
            <a:r>
              <a:rPr lang="ko-KR" altLang="en-US" dirty="0"/>
              <a:t>바랍니다</a:t>
            </a:r>
            <a:r>
              <a:rPr lang="en-US" altLang="ko-KR" dirty="0"/>
              <a:t>.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686" y="3070963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 smtClean="0">
                <a:latin typeface="+mn-ea"/>
              </a:rPr>
              <a:t>알림 수단 설정</a:t>
            </a:r>
            <a:endParaRPr lang="en-US" altLang="ko-KR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3338991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앱 푸시 알림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3467628"/>
            <a:ext cx="185626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모바일 앱으로 알림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04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2921585" y="3400546"/>
            <a:ext cx="301752" cy="137160"/>
            <a:chOff x="840582" y="1601197"/>
            <a:chExt cx="301752" cy="137160"/>
          </a:xfrm>
        </p:grpSpPr>
        <p:sp>
          <p:nvSpPr>
            <p:cNvPr id="105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6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3A3989F9-3249-48DF-9940-EABCDEC098C0}"/>
              </a:ext>
            </a:extLst>
          </p:cNvPr>
          <p:cNvSpPr/>
          <p:nvPr/>
        </p:nvSpPr>
        <p:spPr>
          <a:xfrm>
            <a:off x="783686" y="2338852"/>
            <a:ext cx="59503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 err="1">
                <a:latin typeface="+mn-ea"/>
              </a:rPr>
              <a:t>수신정보</a:t>
            </a:r>
            <a:endParaRPr lang="en-US" altLang="ko-KR" sz="800" b="1" dirty="0">
              <a:latin typeface="+mn-ea"/>
            </a:endParaRPr>
          </a:p>
        </p:txBody>
      </p:sp>
      <p:cxnSp>
        <p:nvCxnSpPr>
          <p:cNvPr id="108" name="직선 연결선 1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9744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686" y="3850847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 smtClean="0">
                <a:latin typeface="+mn-ea"/>
              </a:rPr>
              <a:t>알림 설정</a:t>
            </a:r>
            <a:endParaRPr lang="en-US" altLang="ko-KR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4118875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 smtClean="0">
                <a:latin typeface="+mn-ea"/>
              </a:rPr>
              <a:t>[</a:t>
            </a:r>
            <a:r>
              <a:rPr lang="ko-KR" altLang="en-US" sz="800" dirty="0" smtClean="0">
                <a:latin typeface="+mn-ea"/>
              </a:rPr>
              <a:t>전자입찰</a:t>
            </a:r>
            <a:r>
              <a:rPr lang="en-US" altLang="ko-KR" sz="800" dirty="0" smtClean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입찰 단계별 </a:t>
            </a:r>
            <a:r>
              <a:rPr lang="ko-KR" altLang="en-US" sz="800" dirty="0" smtClean="0">
                <a:latin typeface="+mn-ea"/>
              </a:rPr>
              <a:t>안내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4264930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등록심사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적격심사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낙찰자 선정 등 전자입찰 단계별 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주용사항을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</a:p>
        </p:txBody>
      </p:sp>
      <p:grpSp>
        <p:nvGrpSpPr>
          <p:cNvPr id="112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2921585" y="4180430"/>
            <a:ext cx="301752" cy="137160"/>
            <a:chOff x="840582" y="1601197"/>
            <a:chExt cx="301752" cy="137160"/>
          </a:xfrm>
        </p:grpSpPr>
        <p:sp>
          <p:nvSpPr>
            <p:cNvPr id="113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4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4581202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 smtClean="0">
                <a:latin typeface="+mn-ea"/>
              </a:rPr>
              <a:t>[</a:t>
            </a:r>
            <a:r>
              <a:rPr lang="ko-KR" altLang="en-US" sz="800" dirty="0" smtClean="0">
                <a:latin typeface="+mn-ea"/>
              </a:rPr>
              <a:t>전자입찰</a:t>
            </a:r>
            <a:r>
              <a:rPr lang="en-US" altLang="ko-KR" sz="800" dirty="0" smtClean="0">
                <a:latin typeface="+mn-ea"/>
              </a:rPr>
              <a:t>] </a:t>
            </a:r>
            <a:r>
              <a:rPr lang="ko-KR" altLang="en-US" sz="800" dirty="0" err="1">
                <a:latin typeface="+mn-ea"/>
              </a:rPr>
              <a:t>등록품목</a:t>
            </a:r>
            <a:r>
              <a:rPr lang="ko-KR" altLang="en-US" sz="800" dirty="0">
                <a:latin typeface="+mn-ea"/>
              </a:rPr>
              <a:t> 입찰공고 안내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4727257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조달업체의</a:t>
            </a:r>
            <a:r>
              <a:rPr lang="ko-KR" altLang="en-US" sz="7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등재 된 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품목코드의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입찰공고가 등록되면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18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2921585" y="4642757"/>
            <a:ext cx="301752" cy="137160"/>
            <a:chOff x="840582" y="1601197"/>
            <a:chExt cx="301752" cy="137160"/>
          </a:xfrm>
        </p:grpSpPr>
        <p:sp>
          <p:nvSpPr>
            <p:cNvPr id="119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0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5038045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 smtClean="0">
                <a:latin typeface="+mn-ea"/>
              </a:rPr>
              <a:t>[</a:t>
            </a:r>
            <a:r>
              <a:rPr lang="ko-KR" altLang="en-US" sz="800" dirty="0" smtClean="0">
                <a:latin typeface="+mn-ea"/>
              </a:rPr>
              <a:t>전자입찰</a:t>
            </a:r>
            <a:r>
              <a:rPr lang="en-US" altLang="ko-KR" sz="800" dirty="0" smtClean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관심 </a:t>
            </a:r>
            <a:r>
              <a:rPr lang="ko-KR" altLang="en-US" sz="800" dirty="0" err="1">
                <a:latin typeface="+mn-ea"/>
              </a:rPr>
              <a:t>계약팀</a:t>
            </a:r>
            <a:r>
              <a:rPr lang="ko-KR" altLang="en-US" sz="800" dirty="0">
                <a:latin typeface="+mn-ea"/>
              </a:rPr>
              <a:t> 입찰공고 안내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5184100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관심 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발주기관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(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계약팀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)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에서 입찰공고가 등록되면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.(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팝업에서 선택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)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23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2921585" y="5099600"/>
            <a:ext cx="301752" cy="137160"/>
            <a:chOff x="840582" y="1601197"/>
            <a:chExt cx="301752" cy="137160"/>
          </a:xfrm>
        </p:grpSpPr>
        <p:sp>
          <p:nvSpPr>
            <p:cNvPr id="124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5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26" name="TextBox 1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5506535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 smtClean="0">
                <a:latin typeface="+mn-ea"/>
              </a:rPr>
              <a:t>[</a:t>
            </a:r>
            <a:r>
              <a:rPr lang="ko-KR" altLang="en-US" sz="800" dirty="0" err="1">
                <a:latin typeface="+mn-ea"/>
              </a:rPr>
              <a:t>전자계약</a:t>
            </a:r>
            <a:r>
              <a:rPr lang="en-US" altLang="ko-KR" sz="800" dirty="0" smtClean="0">
                <a:latin typeface="+mn-ea"/>
              </a:rPr>
              <a:t>] </a:t>
            </a:r>
            <a:r>
              <a:rPr lang="ko-KR" altLang="en-US" sz="800" dirty="0" err="1">
                <a:latin typeface="+mn-ea"/>
              </a:rPr>
              <a:t>계약단계</a:t>
            </a:r>
            <a:r>
              <a:rPr lang="ko-KR" altLang="en-US" sz="800" dirty="0">
                <a:latin typeface="+mn-ea"/>
              </a:rPr>
              <a:t> 안내</a:t>
            </a:r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5652590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전자계약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단계별 진행상황 안내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전자세금계산서 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승인현황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, 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인지세납부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등을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31" name="Toggle Switch">
            <a:extLst>
              <a:ext uri="{FF2B5EF4-FFF2-40B4-BE49-F238E27FC236}">
                <a16:creationId xmlns:a16="http://schemas.microsoft.com/office/drawing/2014/main" id="{2503846A-07E6-4F52-8952-ADFC89A4D275}"/>
              </a:ext>
            </a:extLst>
          </p:cNvPr>
          <p:cNvGrpSpPr/>
          <p:nvPr/>
        </p:nvGrpSpPr>
        <p:grpSpPr>
          <a:xfrm>
            <a:off x="2921585" y="5568090"/>
            <a:ext cx="301752" cy="137160"/>
            <a:chOff x="840582" y="1350472"/>
            <a:chExt cx="301752" cy="137160"/>
          </a:xfrm>
        </p:grpSpPr>
        <p:sp>
          <p:nvSpPr>
            <p:cNvPr id="132" name="Switch Box">
              <a:extLst>
                <a:ext uri="{FF2B5EF4-FFF2-40B4-BE49-F238E27FC236}">
                  <a16:creationId xmlns:a16="http://schemas.microsoft.com/office/drawing/2014/main" id="{44CCFE71-0BEF-4D3A-8CC7-562176965516}"/>
                </a:ext>
              </a:extLst>
            </p:cNvPr>
            <p:cNvSpPr/>
            <p:nvPr/>
          </p:nvSpPr>
          <p:spPr>
            <a:xfrm>
              <a:off x="840582" y="1350472"/>
              <a:ext cx="301752" cy="137160"/>
            </a:xfrm>
            <a:prstGeom prst="roundRect">
              <a:avLst>
                <a:gd name="adj" fmla="val 50000"/>
              </a:avLst>
            </a:prstGeom>
            <a:noFill/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3" name="Switch">
              <a:extLst>
                <a:ext uri="{FF2B5EF4-FFF2-40B4-BE49-F238E27FC236}">
                  <a16:creationId xmlns:a16="http://schemas.microsoft.com/office/drawing/2014/main" id="{A6E5750F-7C23-4B3C-985F-954C940D8F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9634" y="1388096"/>
              <a:ext cx="61913" cy="61913"/>
            </a:xfrm>
            <a:prstGeom prst="ellipse">
              <a:avLst/>
            </a:prstGeom>
            <a:solidFill>
              <a:srgbClr val="000000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160706" y="5506535"/>
            <a:ext cx="2185443" cy="16645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700">
                <a:latin typeface="+mn-ea"/>
              </a:defRPr>
            </a:lvl1pPr>
          </a:lstStyle>
          <a:p>
            <a:pPr>
              <a:lnSpc>
                <a:spcPct val="120000"/>
              </a:lnSpc>
            </a:pPr>
            <a:r>
              <a:rPr lang="ko-KR" altLang="en-US" sz="1000" dirty="0" err="1" smtClean="0"/>
              <a:t>업무도움</a:t>
            </a:r>
            <a:r>
              <a:rPr lang="ko-KR" altLang="en-US" sz="1000" dirty="0" smtClean="0"/>
              <a:t> 내용</a:t>
            </a:r>
            <a:endParaRPr lang="en-US" altLang="ko-KR" sz="1000" dirty="0"/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1621712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 smtClean="0">
                <a:latin typeface="+mn-ea"/>
              </a:rPr>
              <a:t>[</a:t>
            </a:r>
            <a:r>
              <a:rPr lang="ko-KR" altLang="en-US" sz="800" dirty="0" smtClean="0">
                <a:latin typeface="+mn-ea"/>
              </a:rPr>
              <a:t>검사</a:t>
            </a:r>
            <a:r>
              <a:rPr lang="en-US" altLang="ko-KR" sz="800" dirty="0" smtClean="0">
                <a:latin typeface="+mn-ea"/>
              </a:rPr>
              <a:t>/</a:t>
            </a:r>
            <a:r>
              <a:rPr lang="ko-KR" altLang="en-US" sz="800" dirty="0" smtClean="0">
                <a:latin typeface="+mn-ea"/>
              </a:rPr>
              <a:t>검수</a:t>
            </a:r>
            <a:r>
              <a:rPr lang="en-US" altLang="ko-KR" sz="800" dirty="0" smtClean="0">
                <a:latin typeface="+mn-ea"/>
              </a:rPr>
              <a:t>/</a:t>
            </a:r>
            <a:r>
              <a:rPr lang="ko-KR" altLang="en-US" sz="800" dirty="0" smtClean="0">
                <a:latin typeface="+mn-ea"/>
              </a:rPr>
              <a:t>출납</a:t>
            </a:r>
            <a:r>
              <a:rPr lang="en-US" altLang="ko-KR" sz="800" dirty="0" smtClean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검사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검수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출납 </a:t>
            </a:r>
            <a:r>
              <a:rPr lang="ko-KR" altLang="en-US" sz="800" dirty="0" smtClean="0">
                <a:latin typeface="+mn-ea"/>
              </a:rPr>
              <a:t>안내</a:t>
            </a:r>
            <a:endParaRPr lang="ko-KR" altLang="en-US" sz="800" dirty="0">
              <a:latin typeface="+mn-ea"/>
            </a:endParaRP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1767767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검사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/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검수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/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출납 항목이 확정 또는 반려되었을 시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37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6011046" y="1683267"/>
            <a:ext cx="301752" cy="137160"/>
            <a:chOff x="840582" y="1601197"/>
            <a:chExt cx="301752" cy="137160"/>
          </a:xfrm>
        </p:grpSpPr>
        <p:sp>
          <p:nvSpPr>
            <p:cNvPr id="138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9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40" name="TextBox 1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2090202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 smtClean="0">
                <a:latin typeface="+mn-ea"/>
              </a:rPr>
              <a:t>[</a:t>
            </a:r>
            <a:r>
              <a:rPr lang="ko-KR" altLang="en-US" sz="800" dirty="0" err="1">
                <a:latin typeface="+mn-ea"/>
              </a:rPr>
              <a:t>대금청구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 smtClean="0">
                <a:latin typeface="+mn-ea"/>
              </a:rPr>
              <a:t>지급</a:t>
            </a:r>
            <a:r>
              <a:rPr lang="en-US" altLang="ko-KR" sz="800" dirty="0" smtClean="0">
                <a:latin typeface="+mn-ea"/>
              </a:rPr>
              <a:t>] </a:t>
            </a:r>
            <a:r>
              <a:rPr lang="ko-KR" altLang="en-US" sz="800" dirty="0" err="1">
                <a:latin typeface="+mn-ea"/>
              </a:rPr>
              <a:t>대금청구</a:t>
            </a:r>
            <a:r>
              <a:rPr lang="ko-KR" altLang="en-US" sz="800" dirty="0">
                <a:latin typeface="+mn-ea"/>
              </a:rPr>
              <a:t> 및 지급 안내</a:t>
            </a: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2236257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대금청구의</a:t>
            </a:r>
            <a:r>
              <a:rPr lang="ko-KR" altLang="en-US" sz="7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접수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/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반려와 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대금지급에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대해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42" name="Toggle Switch">
            <a:extLst>
              <a:ext uri="{FF2B5EF4-FFF2-40B4-BE49-F238E27FC236}">
                <a16:creationId xmlns:a16="http://schemas.microsoft.com/office/drawing/2014/main" id="{2503846A-07E6-4F52-8952-ADFC89A4D275}"/>
              </a:ext>
            </a:extLst>
          </p:cNvPr>
          <p:cNvGrpSpPr/>
          <p:nvPr/>
        </p:nvGrpSpPr>
        <p:grpSpPr>
          <a:xfrm>
            <a:off x="6011046" y="2151757"/>
            <a:ext cx="301752" cy="137160"/>
            <a:chOff x="840582" y="1350472"/>
            <a:chExt cx="301752" cy="137160"/>
          </a:xfrm>
        </p:grpSpPr>
        <p:sp>
          <p:nvSpPr>
            <p:cNvPr id="143" name="Switch Box">
              <a:extLst>
                <a:ext uri="{FF2B5EF4-FFF2-40B4-BE49-F238E27FC236}">
                  <a16:creationId xmlns:a16="http://schemas.microsoft.com/office/drawing/2014/main" id="{44CCFE71-0BEF-4D3A-8CC7-562176965516}"/>
                </a:ext>
              </a:extLst>
            </p:cNvPr>
            <p:cNvSpPr/>
            <p:nvPr/>
          </p:nvSpPr>
          <p:spPr>
            <a:xfrm>
              <a:off x="840582" y="1350472"/>
              <a:ext cx="301752" cy="137160"/>
            </a:xfrm>
            <a:prstGeom prst="roundRect">
              <a:avLst>
                <a:gd name="adj" fmla="val 50000"/>
              </a:avLst>
            </a:prstGeom>
            <a:noFill/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4" name="Switch">
              <a:extLst>
                <a:ext uri="{FF2B5EF4-FFF2-40B4-BE49-F238E27FC236}">
                  <a16:creationId xmlns:a16="http://schemas.microsoft.com/office/drawing/2014/main" id="{A6E5750F-7C23-4B3C-985F-954C940D8F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9634" y="1388096"/>
              <a:ext cx="61913" cy="61913"/>
            </a:xfrm>
            <a:prstGeom prst="ellipse">
              <a:avLst/>
            </a:prstGeom>
            <a:solidFill>
              <a:srgbClr val="000000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45" name="TextBox 1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2564131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 smtClean="0">
                <a:latin typeface="+mn-ea"/>
              </a:rPr>
              <a:t>[</a:t>
            </a:r>
            <a:r>
              <a:rPr lang="ko-KR" altLang="en-US" sz="800" dirty="0" smtClean="0">
                <a:latin typeface="+mn-ea"/>
              </a:rPr>
              <a:t>조달원</a:t>
            </a:r>
            <a:r>
              <a:rPr lang="en-US" altLang="ko-KR" sz="800" dirty="0" smtClean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납품실적증명서 </a:t>
            </a:r>
            <a:r>
              <a:rPr lang="ko-KR" altLang="en-US" sz="800" dirty="0" smtClean="0">
                <a:latin typeface="+mn-ea"/>
              </a:rPr>
              <a:t>발급</a:t>
            </a:r>
            <a:endParaRPr lang="ko-KR" altLang="en-US" sz="800" dirty="0">
              <a:latin typeface="+mn-ea"/>
            </a:endParaRP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2710186"/>
            <a:ext cx="185626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납품실적증명서 발급 시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</a:p>
        </p:txBody>
      </p:sp>
      <p:grpSp>
        <p:nvGrpSpPr>
          <p:cNvPr id="147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6011046" y="2625686"/>
            <a:ext cx="301752" cy="137160"/>
            <a:chOff x="840582" y="1601197"/>
            <a:chExt cx="301752" cy="137160"/>
          </a:xfrm>
        </p:grpSpPr>
        <p:sp>
          <p:nvSpPr>
            <p:cNvPr id="148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9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54" name="TextBox 1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2936060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 smtClean="0">
                <a:latin typeface="+mn-ea"/>
              </a:rPr>
              <a:t>[</a:t>
            </a:r>
            <a:r>
              <a:rPr lang="ko-KR" altLang="en-US" sz="800" dirty="0" smtClean="0">
                <a:latin typeface="+mn-ea"/>
              </a:rPr>
              <a:t>조달원</a:t>
            </a:r>
            <a:r>
              <a:rPr lang="en-US" altLang="ko-KR" sz="800" dirty="0" smtClean="0">
                <a:latin typeface="+mn-ea"/>
              </a:rPr>
              <a:t>] </a:t>
            </a:r>
            <a:r>
              <a:rPr lang="ko-KR" altLang="en-US" sz="800" dirty="0" err="1">
                <a:latin typeface="+mn-ea"/>
              </a:rPr>
              <a:t>품목등재</a:t>
            </a:r>
            <a:r>
              <a:rPr lang="ko-KR" altLang="en-US" sz="800" dirty="0">
                <a:latin typeface="+mn-ea"/>
              </a:rPr>
              <a:t> 신청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확정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 smtClean="0">
                <a:latin typeface="+mn-ea"/>
              </a:rPr>
              <a:t>갱신</a:t>
            </a:r>
            <a:endParaRPr lang="ko-KR" altLang="en-US" sz="800" dirty="0">
              <a:latin typeface="+mn-ea"/>
            </a:endParaRPr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082115"/>
            <a:ext cx="185626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품목등록</a:t>
            </a:r>
            <a:r>
              <a:rPr lang="ko-KR" altLang="en-US" sz="7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관련 사항을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 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56" name="Toggle Switch">
            <a:extLst>
              <a:ext uri="{FF2B5EF4-FFF2-40B4-BE49-F238E27FC236}">
                <a16:creationId xmlns:a16="http://schemas.microsoft.com/office/drawing/2014/main" id="{2503846A-07E6-4F52-8952-ADFC89A4D275}"/>
              </a:ext>
            </a:extLst>
          </p:cNvPr>
          <p:cNvGrpSpPr/>
          <p:nvPr/>
        </p:nvGrpSpPr>
        <p:grpSpPr>
          <a:xfrm>
            <a:off x="6011046" y="2997615"/>
            <a:ext cx="301752" cy="137160"/>
            <a:chOff x="840582" y="1350472"/>
            <a:chExt cx="301752" cy="137160"/>
          </a:xfrm>
        </p:grpSpPr>
        <p:sp>
          <p:nvSpPr>
            <p:cNvPr id="157" name="Switch Box">
              <a:extLst>
                <a:ext uri="{FF2B5EF4-FFF2-40B4-BE49-F238E27FC236}">
                  <a16:creationId xmlns:a16="http://schemas.microsoft.com/office/drawing/2014/main" id="{44CCFE71-0BEF-4D3A-8CC7-562176965516}"/>
                </a:ext>
              </a:extLst>
            </p:cNvPr>
            <p:cNvSpPr/>
            <p:nvPr/>
          </p:nvSpPr>
          <p:spPr>
            <a:xfrm>
              <a:off x="840582" y="1350472"/>
              <a:ext cx="301752" cy="137160"/>
            </a:xfrm>
            <a:prstGeom prst="roundRect">
              <a:avLst>
                <a:gd name="adj" fmla="val 50000"/>
              </a:avLst>
            </a:prstGeom>
            <a:noFill/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58" name="Switch">
              <a:extLst>
                <a:ext uri="{FF2B5EF4-FFF2-40B4-BE49-F238E27FC236}">
                  <a16:creationId xmlns:a16="http://schemas.microsoft.com/office/drawing/2014/main" id="{A6E5750F-7C23-4B3C-985F-954C940D8F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9634" y="1388096"/>
              <a:ext cx="61913" cy="61913"/>
            </a:xfrm>
            <a:prstGeom prst="ellipse">
              <a:avLst/>
            </a:prstGeom>
            <a:solidFill>
              <a:srgbClr val="000000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59" name="TextBox 1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375434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 smtClean="0">
                <a:latin typeface="+mn-ea"/>
              </a:rPr>
              <a:t>[</a:t>
            </a:r>
            <a:r>
              <a:rPr lang="ko-KR" altLang="en-US" sz="800" dirty="0" smtClean="0">
                <a:latin typeface="+mn-ea"/>
              </a:rPr>
              <a:t>조달원</a:t>
            </a:r>
            <a:r>
              <a:rPr lang="en-US" altLang="ko-KR" sz="800" dirty="0" smtClean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나토 </a:t>
            </a:r>
            <a:r>
              <a:rPr lang="ko-KR" altLang="en-US" sz="800" dirty="0" err="1">
                <a:latin typeface="+mn-ea"/>
              </a:rPr>
              <a:t>생산자부호</a:t>
            </a:r>
            <a:r>
              <a:rPr lang="ko-KR" altLang="en-US" sz="800" dirty="0">
                <a:latin typeface="+mn-ea"/>
              </a:rPr>
              <a:t> 접수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 smtClean="0">
                <a:latin typeface="+mn-ea"/>
              </a:rPr>
              <a:t>완료</a:t>
            </a:r>
            <a:endParaRPr lang="ko-KR" altLang="en-US" sz="800" dirty="0">
              <a:latin typeface="+mn-ea"/>
            </a:endParaRP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521489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나토 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생산자부호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접수 시 등록된 전화번호로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61" name="Toggle Switch">
            <a:extLst>
              <a:ext uri="{FF2B5EF4-FFF2-40B4-BE49-F238E27FC236}">
                <a16:creationId xmlns:a16="http://schemas.microsoft.com/office/drawing/2014/main" id="{2503846A-07E6-4F52-8952-ADFC89A4D275}"/>
              </a:ext>
            </a:extLst>
          </p:cNvPr>
          <p:cNvGrpSpPr/>
          <p:nvPr/>
        </p:nvGrpSpPr>
        <p:grpSpPr>
          <a:xfrm>
            <a:off x="6011046" y="3436989"/>
            <a:ext cx="301752" cy="137160"/>
            <a:chOff x="840582" y="1350472"/>
            <a:chExt cx="301752" cy="137160"/>
          </a:xfrm>
        </p:grpSpPr>
        <p:sp>
          <p:nvSpPr>
            <p:cNvPr id="165" name="Switch Box">
              <a:extLst>
                <a:ext uri="{FF2B5EF4-FFF2-40B4-BE49-F238E27FC236}">
                  <a16:creationId xmlns:a16="http://schemas.microsoft.com/office/drawing/2014/main" id="{44CCFE71-0BEF-4D3A-8CC7-562176965516}"/>
                </a:ext>
              </a:extLst>
            </p:cNvPr>
            <p:cNvSpPr/>
            <p:nvPr/>
          </p:nvSpPr>
          <p:spPr>
            <a:xfrm>
              <a:off x="840582" y="1350472"/>
              <a:ext cx="301752" cy="137160"/>
            </a:xfrm>
            <a:prstGeom prst="roundRect">
              <a:avLst>
                <a:gd name="adj" fmla="val 50000"/>
              </a:avLst>
            </a:prstGeom>
            <a:noFill/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66" name="Switch">
              <a:extLst>
                <a:ext uri="{FF2B5EF4-FFF2-40B4-BE49-F238E27FC236}">
                  <a16:creationId xmlns:a16="http://schemas.microsoft.com/office/drawing/2014/main" id="{A6E5750F-7C23-4B3C-985F-954C940D8F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9634" y="1388096"/>
              <a:ext cx="61913" cy="61913"/>
            </a:xfrm>
            <a:prstGeom prst="ellipse">
              <a:avLst/>
            </a:prstGeom>
            <a:solidFill>
              <a:srgbClr val="000000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67" name="TextBox 1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844723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 smtClean="0">
                <a:latin typeface="+mn-ea"/>
              </a:rPr>
              <a:t>[</a:t>
            </a:r>
            <a:r>
              <a:rPr lang="ko-KR" altLang="en-US" sz="800" dirty="0" smtClean="0">
                <a:latin typeface="+mn-ea"/>
              </a:rPr>
              <a:t>전자조달</a:t>
            </a:r>
            <a:r>
              <a:rPr lang="en-US" altLang="ko-KR" sz="800" dirty="0" smtClean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시스템 공지사항 안내</a:t>
            </a: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990778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국방전자조달시스템 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주요 공지사항을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71" name="Toggle Switch">
            <a:extLst>
              <a:ext uri="{FF2B5EF4-FFF2-40B4-BE49-F238E27FC236}">
                <a16:creationId xmlns:a16="http://schemas.microsoft.com/office/drawing/2014/main" id="{2503846A-07E6-4F52-8952-ADFC89A4D275}"/>
              </a:ext>
            </a:extLst>
          </p:cNvPr>
          <p:cNvGrpSpPr/>
          <p:nvPr/>
        </p:nvGrpSpPr>
        <p:grpSpPr>
          <a:xfrm>
            <a:off x="6011046" y="3906278"/>
            <a:ext cx="301752" cy="137160"/>
            <a:chOff x="840582" y="1350472"/>
            <a:chExt cx="301752" cy="137160"/>
          </a:xfrm>
        </p:grpSpPr>
        <p:sp>
          <p:nvSpPr>
            <p:cNvPr id="172" name="Switch Box">
              <a:extLst>
                <a:ext uri="{FF2B5EF4-FFF2-40B4-BE49-F238E27FC236}">
                  <a16:creationId xmlns:a16="http://schemas.microsoft.com/office/drawing/2014/main" id="{44CCFE71-0BEF-4D3A-8CC7-562176965516}"/>
                </a:ext>
              </a:extLst>
            </p:cNvPr>
            <p:cNvSpPr/>
            <p:nvPr/>
          </p:nvSpPr>
          <p:spPr>
            <a:xfrm>
              <a:off x="840582" y="1350472"/>
              <a:ext cx="301752" cy="137160"/>
            </a:xfrm>
            <a:prstGeom prst="roundRect">
              <a:avLst>
                <a:gd name="adj" fmla="val 50000"/>
              </a:avLst>
            </a:prstGeom>
            <a:noFill/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3" name="Switch">
              <a:extLst>
                <a:ext uri="{FF2B5EF4-FFF2-40B4-BE49-F238E27FC236}">
                  <a16:creationId xmlns:a16="http://schemas.microsoft.com/office/drawing/2014/main" id="{A6E5750F-7C23-4B3C-985F-954C940D8F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9634" y="1388096"/>
              <a:ext cx="61913" cy="61913"/>
            </a:xfrm>
            <a:prstGeom prst="ellipse">
              <a:avLst/>
            </a:prstGeom>
            <a:solidFill>
              <a:srgbClr val="000000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4313986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 smtClean="0">
                <a:latin typeface="+mn-ea"/>
              </a:rPr>
              <a:t>[</a:t>
            </a:r>
            <a:r>
              <a:rPr lang="ko-KR" altLang="en-US" sz="800" dirty="0" smtClean="0">
                <a:latin typeface="+mn-ea"/>
              </a:rPr>
              <a:t>전자조달</a:t>
            </a:r>
            <a:r>
              <a:rPr lang="en-US" altLang="ko-KR" sz="800" dirty="0" smtClean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장애발생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복구 안내</a:t>
            </a:r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4460041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국방전자조달시스템 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장애발생 및 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복구사항을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76" name="Toggle Switch">
            <a:extLst>
              <a:ext uri="{FF2B5EF4-FFF2-40B4-BE49-F238E27FC236}">
                <a16:creationId xmlns:a16="http://schemas.microsoft.com/office/drawing/2014/main" id="{2503846A-07E6-4F52-8952-ADFC89A4D275}"/>
              </a:ext>
            </a:extLst>
          </p:cNvPr>
          <p:cNvGrpSpPr/>
          <p:nvPr/>
        </p:nvGrpSpPr>
        <p:grpSpPr>
          <a:xfrm>
            <a:off x="6011046" y="4375541"/>
            <a:ext cx="301752" cy="137160"/>
            <a:chOff x="840582" y="1350472"/>
            <a:chExt cx="301752" cy="137160"/>
          </a:xfrm>
        </p:grpSpPr>
        <p:sp>
          <p:nvSpPr>
            <p:cNvPr id="177" name="Switch Box">
              <a:extLst>
                <a:ext uri="{FF2B5EF4-FFF2-40B4-BE49-F238E27FC236}">
                  <a16:creationId xmlns:a16="http://schemas.microsoft.com/office/drawing/2014/main" id="{44CCFE71-0BEF-4D3A-8CC7-562176965516}"/>
                </a:ext>
              </a:extLst>
            </p:cNvPr>
            <p:cNvSpPr/>
            <p:nvPr/>
          </p:nvSpPr>
          <p:spPr>
            <a:xfrm>
              <a:off x="840582" y="1350472"/>
              <a:ext cx="301752" cy="137160"/>
            </a:xfrm>
            <a:prstGeom prst="roundRect">
              <a:avLst>
                <a:gd name="adj" fmla="val 50000"/>
              </a:avLst>
            </a:prstGeom>
            <a:noFill/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8" name="Switch">
              <a:extLst>
                <a:ext uri="{FF2B5EF4-FFF2-40B4-BE49-F238E27FC236}">
                  <a16:creationId xmlns:a16="http://schemas.microsoft.com/office/drawing/2014/main" id="{A6E5750F-7C23-4B3C-985F-954C940D8F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9634" y="1388096"/>
              <a:ext cx="61913" cy="61913"/>
            </a:xfrm>
            <a:prstGeom prst="ellipse">
              <a:avLst/>
            </a:prstGeom>
            <a:solidFill>
              <a:srgbClr val="000000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79" name="TextBox 1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4790693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 smtClean="0">
                <a:latin typeface="+mn-ea"/>
              </a:rPr>
              <a:t>[</a:t>
            </a:r>
            <a:r>
              <a:rPr lang="ko-KR" altLang="en-US" sz="800" dirty="0" smtClean="0">
                <a:latin typeface="+mn-ea"/>
              </a:rPr>
              <a:t>전자조달</a:t>
            </a:r>
            <a:r>
              <a:rPr lang="en-US" altLang="ko-KR" sz="800" dirty="0" smtClean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시스템 공지사항 안내</a:t>
            </a:r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4936748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국방통합원가시스템 주요 공지사항을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</a:p>
        </p:txBody>
      </p:sp>
      <p:grpSp>
        <p:nvGrpSpPr>
          <p:cNvPr id="181" name="Toggle Switch">
            <a:extLst>
              <a:ext uri="{FF2B5EF4-FFF2-40B4-BE49-F238E27FC236}">
                <a16:creationId xmlns:a16="http://schemas.microsoft.com/office/drawing/2014/main" id="{2503846A-07E6-4F52-8952-ADFC89A4D275}"/>
              </a:ext>
            </a:extLst>
          </p:cNvPr>
          <p:cNvGrpSpPr/>
          <p:nvPr/>
        </p:nvGrpSpPr>
        <p:grpSpPr>
          <a:xfrm>
            <a:off x="6011046" y="4852248"/>
            <a:ext cx="301752" cy="137160"/>
            <a:chOff x="840582" y="1350472"/>
            <a:chExt cx="301752" cy="137160"/>
          </a:xfrm>
        </p:grpSpPr>
        <p:sp>
          <p:nvSpPr>
            <p:cNvPr id="182" name="Switch Box">
              <a:extLst>
                <a:ext uri="{FF2B5EF4-FFF2-40B4-BE49-F238E27FC236}">
                  <a16:creationId xmlns:a16="http://schemas.microsoft.com/office/drawing/2014/main" id="{44CCFE71-0BEF-4D3A-8CC7-562176965516}"/>
                </a:ext>
              </a:extLst>
            </p:cNvPr>
            <p:cNvSpPr/>
            <p:nvPr/>
          </p:nvSpPr>
          <p:spPr>
            <a:xfrm>
              <a:off x="840582" y="1350472"/>
              <a:ext cx="301752" cy="137160"/>
            </a:xfrm>
            <a:prstGeom prst="roundRect">
              <a:avLst>
                <a:gd name="adj" fmla="val 50000"/>
              </a:avLst>
            </a:prstGeom>
            <a:noFill/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3" name="Switch">
              <a:extLst>
                <a:ext uri="{FF2B5EF4-FFF2-40B4-BE49-F238E27FC236}">
                  <a16:creationId xmlns:a16="http://schemas.microsoft.com/office/drawing/2014/main" id="{A6E5750F-7C23-4B3C-985F-954C940D8F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9634" y="1388096"/>
              <a:ext cx="61913" cy="61913"/>
            </a:xfrm>
            <a:prstGeom prst="ellipse">
              <a:avLst/>
            </a:prstGeom>
            <a:solidFill>
              <a:srgbClr val="000000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4" name="타원 18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7374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85" name="타원 18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4115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</p:spTree>
    <p:extLst>
      <p:ext uri="{BB962C8B-B14F-4D97-AF65-F5344CB8AC3E}">
        <p14:creationId xmlns:p14="http://schemas.microsoft.com/office/powerpoint/2010/main" val="458192063"/>
      </p:ext>
    </p:extLst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196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60676" y="837094"/>
            <a:ext cx="268880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알림서비스신청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dl_notiSrvcList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1049594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enmtno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서비스분야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srvcFld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서비스분야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공통코드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CODE_IDEN=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‘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NSMS_IDEN’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서비스명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srvcNm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서비스명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공통코드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CODE_IDEN=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‘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NSMS_CODE’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5993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서비스설명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srvcExpln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서비스설명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공통코드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CODE_IDEN=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‘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NSMS_CODE’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78355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rcptnYn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수신여부 수정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79352795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2999" y="241699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28840451"/>
              </p:ext>
            </p:extLst>
          </p:nvPr>
        </p:nvGraphicFramePr>
        <p:xfrm>
          <a:off x="422425" y="2665093"/>
          <a:ext cx="8995591" cy="1141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알림 서비스를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개인정보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scwin.btn_phoneNumChgMdfcn_onclick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개인정보 상세 화면으로 이동한다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0302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scwin.btn_strg_onclick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알림 받을 서비스를 선택 후 저장한다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9464746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7B7AE143-4F02-387D-D43D-9D43795152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0000" y="2528803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 Box 73">
            <a:extLst>
              <a:ext uri="{FF2B5EF4-FFF2-40B4-BE49-F238E27FC236}">
                <a16:creationId xmlns:a16="http://schemas.microsoft.com/office/drawing/2014/main" id="{15D0FC77-43D8-6A54-39F8-E8491B20C8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30715359"/>
      </p:ext>
    </p:extLst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회원 탈퇴는 </a:t>
            </a:r>
            <a:r>
              <a:rPr lang="ko-KR" altLang="en-US" dirty="0" err="1" smtClean="0"/>
              <a:t>여러줄</a:t>
            </a:r>
            <a:r>
              <a:rPr lang="ko-KR" altLang="en-US" dirty="0" smtClean="0"/>
              <a:t> 입력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필요 시 확장하여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최대 </a:t>
            </a:r>
            <a:r>
              <a:rPr lang="en-US" altLang="ko-KR" dirty="0" smtClean="0"/>
              <a:t>5</a:t>
            </a:r>
            <a:r>
              <a:rPr lang="ko-KR" altLang="en-US" dirty="0" smtClean="0"/>
              <a:t>줄</a:t>
            </a:r>
            <a:r>
              <a:rPr lang="en-US" altLang="ko-KR" dirty="0" smtClean="0"/>
              <a:t>, </a:t>
            </a:r>
            <a:r>
              <a:rPr lang="ko-KR" altLang="en-US" dirty="0" smtClean="0"/>
              <a:t>이후 내부 스크롤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회원탈퇴 버튼 클릭 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회원탈퇴 확인 팝업 호출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확인 클릭 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토스트 메시지 </a:t>
            </a:r>
            <a:r>
              <a:rPr lang="en-US" altLang="ko-KR" dirty="0" smtClean="0"/>
              <a:t>: </a:t>
            </a:r>
            <a:r>
              <a:rPr lang="ko-KR" altLang="en-US" dirty="0" smtClean="0"/>
              <a:t>회원 탈퇴 되었습니다</a:t>
            </a:r>
            <a:r>
              <a:rPr lang="en-US" altLang="ko-KR" dirty="0" smtClean="0"/>
              <a:t>.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메인으로</a:t>
            </a:r>
            <a:r>
              <a:rPr lang="ko-KR" altLang="en-US" dirty="0" smtClean="0"/>
              <a:t> 이동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197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회원탈퇴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회원탈퇴</a:t>
            </a:r>
            <a:r>
              <a:rPr lang="ko-KR" altLang="en-US" dirty="0" smtClean="0"/>
              <a:t> 팝업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회원탈퇴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MUI-CM-02-P10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2678353"/>
            <a:ext cx="2712027" cy="3553189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27149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28493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28300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회원탈퇴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0914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9" name="모서리가 둥근 직사각형 168"/>
          <p:cNvSpPr/>
          <p:nvPr/>
        </p:nvSpPr>
        <p:spPr>
          <a:xfrm>
            <a:off x="804476" y="4099049"/>
            <a:ext cx="2485240" cy="244348"/>
          </a:xfrm>
          <a:prstGeom prst="roundRect">
            <a:avLst>
              <a:gd name="adj" fmla="val 17463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ko-KR" sz="800" dirty="0" smtClean="0">
                <a:solidFill>
                  <a:schemeClr val="tx1"/>
                </a:solidFill>
              </a:rPr>
              <a:t>Test1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941855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사용자 </a:t>
            </a:r>
            <a:r>
              <a:rPr lang="en-US" altLang="ko-KR" sz="800" dirty="0" smtClean="0">
                <a:latin typeface="+mn-ea"/>
              </a:rPr>
              <a:t>ID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97" name="그룹 96"/>
          <p:cNvGrpSpPr/>
          <p:nvPr/>
        </p:nvGrpSpPr>
        <p:grpSpPr>
          <a:xfrm>
            <a:off x="675399" y="5613954"/>
            <a:ext cx="2712027" cy="617588"/>
            <a:chOff x="675399" y="5614711"/>
            <a:chExt cx="2712027" cy="617588"/>
          </a:xfrm>
        </p:grpSpPr>
        <p:sp>
          <p:nvSpPr>
            <p:cNvPr id="98" name="직사각형 97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 smtClean="0">
                  <a:solidFill>
                    <a:srgbClr val="0070C0"/>
                  </a:solidFill>
                </a:rPr>
                <a:t>회원탈퇴</a:t>
              </a:r>
              <a:endParaRPr kumimoji="1" lang="en-US" altLang="ko-KR" sz="1000" kern="0" dirty="0">
                <a:solidFill>
                  <a:srgbClr val="0070C0"/>
                </a:solidFill>
              </a:endParaRPr>
            </a:p>
          </p:txBody>
        </p:sp>
        <p:sp>
          <p:nvSpPr>
            <p:cNvPr id="10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90" name="타원 8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583668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grpSp>
        <p:nvGrpSpPr>
          <p:cNvPr id="38" name="그룹 37"/>
          <p:cNvGrpSpPr/>
          <p:nvPr/>
        </p:nvGrpSpPr>
        <p:grpSpPr>
          <a:xfrm>
            <a:off x="705041" y="3147767"/>
            <a:ext cx="2652743" cy="626069"/>
            <a:chOff x="734683" y="4769160"/>
            <a:chExt cx="2652743" cy="626069"/>
          </a:xfrm>
        </p:grpSpPr>
        <p:sp>
          <p:nvSpPr>
            <p:cNvPr id="39" name="모서리가 둥근 직사각형 38"/>
            <p:cNvSpPr/>
            <p:nvPr/>
          </p:nvSpPr>
          <p:spPr>
            <a:xfrm>
              <a:off x="734683" y="4769160"/>
              <a:ext cx="2652743" cy="626069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</a:t>
              </a:r>
              <a:r>
                <a:rPr lang="ko-KR" altLang="en-US" sz="700" b="1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주의사항</a:t>
              </a:r>
              <a:endParaRPr lang="en-US" altLang="ko-KR" sz="7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Tx/>
                <a:buChar char="-"/>
              </a:pPr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회원탈퇴 시 회원정보가 삭제됩니다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Tx/>
                <a:buChar char="-"/>
              </a:pPr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회원탈퇴 시 되돌릴 수 없으며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 </a:t>
              </a:r>
              <a:r>
                <a:rPr lang="ko-KR" altLang="en-US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재가입 하셔야 합니다</a:t>
              </a:r>
              <a:r>
                <a:rPr lang="en-US" altLang="ko-KR" sz="7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</p:txBody>
        </p:sp>
        <p:sp>
          <p:nvSpPr>
            <p:cNvPr id="41" name="타원 40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42" name="그룹 41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43" name="직선 연결선 4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44" name="직선 연결선 4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45" name="모서리가 둥근 직사각형 44"/>
          <p:cNvSpPr/>
          <p:nvPr/>
        </p:nvSpPr>
        <p:spPr>
          <a:xfrm>
            <a:off x="804476" y="5224296"/>
            <a:ext cx="2485240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800" dirty="0" smtClean="0">
                <a:solidFill>
                  <a:schemeClr val="tx1"/>
                </a:solidFill>
              </a:rPr>
              <a:t>사용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5067102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탈퇴 사유 작성</a:t>
            </a:r>
            <a:r>
              <a:rPr lang="ko-KR" altLang="en-US" sz="800" dirty="0" smtClean="0">
                <a:solidFill>
                  <a:srgbClr val="FF0000"/>
                </a:solidFill>
                <a:latin typeface="+mn-ea"/>
              </a:rPr>
              <a:t> </a:t>
            </a:r>
            <a:r>
              <a:rPr lang="en-US" altLang="ko-KR" sz="800" dirty="0" smtClean="0">
                <a:solidFill>
                  <a:srgbClr val="FF0000"/>
                </a:solidFill>
                <a:latin typeface="+mn-ea"/>
              </a:rPr>
              <a:t>*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502029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8" name="모서리가 둥근 직사각형 47"/>
          <p:cNvSpPr/>
          <p:nvPr/>
        </p:nvSpPr>
        <p:spPr>
          <a:xfrm>
            <a:off x="804476" y="4683900"/>
            <a:ext cx="2485240" cy="244348"/>
          </a:xfrm>
          <a:prstGeom prst="roundRect">
            <a:avLst>
              <a:gd name="adj" fmla="val 17463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800" dirty="0" smtClean="0">
                <a:solidFill>
                  <a:schemeClr val="tx1"/>
                </a:solidFill>
              </a:rPr>
              <a:t>홍길동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4526706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사용자명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51" name="그룹 50"/>
          <p:cNvGrpSpPr/>
          <p:nvPr/>
        </p:nvGrpSpPr>
        <p:grpSpPr>
          <a:xfrm>
            <a:off x="3955360" y="3262742"/>
            <a:ext cx="2579992" cy="1200743"/>
            <a:chOff x="713510" y="2317399"/>
            <a:chExt cx="2579992" cy="1200743"/>
          </a:xfrm>
        </p:grpSpPr>
        <p:sp>
          <p:nvSpPr>
            <p:cNvPr id="52" name="모서리가 둥근 직사각형 51"/>
            <p:cNvSpPr/>
            <p:nvPr/>
          </p:nvSpPr>
          <p:spPr>
            <a:xfrm>
              <a:off x="713510" y="2317399"/>
              <a:ext cx="2579992" cy="1200743"/>
            </a:xfrm>
            <a:prstGeom prst="roundRect">
              <a:avLst>
                <a:gd name="adj" fmla="val 4663"/>
              </a:avLst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3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2056348" y="3076561"/>
              <a:ext cx="1080000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확인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5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831204" y="3076561"/>
              <a:ext cx="108000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31204" y="2464129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 smtClean="0">
                  <a:latin typeface="+mn-ea"/>
                </a:rPr>
                <a:t>회원탈퇴 확인</a:t>
              </a:r>
              <a:endParaRPr lang="ko-KR" altLang="en-US" sz="900" b="1" dirty="0">
                <a:latin typeface="+mn-ea"/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50934" y="2696638"/>
              <a:ext cx="230514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회원 탈퇴는 되돌릴 수 없습니다</a:t>
              </a:r>
              <a:r>
                <a:rPr lang="en-US" altLang="ko-KR" sz="700" dirty="0" smtClean="0">
                  <a:latin typeface="+mn-ea"/>
                </a:rPr>
                <a:t>.</a:t>
              </a:r>
            </a:p>
            <a:p>
              <a:r>
                <a:rPr lang="ko-KR" altLang="en-US" sz="700" dirty="0" smtClean="0">
                  <a:latin typeface="+mn-ea"/>
                </a:rPr>
                <a:t>정말 회원탈퇴를 할까요</a:t>
              </a:r>
              <a:r>
                <a:rPr lang="en-US" altLang="ko-KR" sz="700" dirty="0" smtClean="0">
                  <a:latin typeface="+mn-ea"/>
                </a:rPr>
                <a:t>?</a:t>
              </a:r>
            </a:p>
          </p:txBody>
        </p:sp>
        <p:grpSp>
          <p:nvGrpSpPr>
            <p:cNvPr id="57" name="그룹 56"/>
            <p:cNvGrpSpPr/>
            <p:nvPr/>
          </p:nvGrpSpPr>
          <p:grpSpPr>
            <a:xfrm>
              <a:off x="3042338" y="2464129"/>
              <a:ext cx="94010" cy="94010"/>
              <a:chOff x="6812560" y="3297172"/>
              <a:chExt cx="94010" cy="94010"/>
            </a:xfrm>
          </p:grpSpPr>
          <p:cxnSp>
            <p:nvCxnSpPr>
              <p:cNvPr id="58" name="직선 연결선 57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9" name="직선 연결선 58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60" name="타원 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852333" y="313024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405384094"/>
      </p:ext>
    </p:extLst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198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</a:t>
            </a:r>
            <a:r>
              <a:rPr lang="ko-KR" altLang="en-US" sz="1000" b="1" dirty="0" smtClean="0">
                <a:solidFill>
                  <a:prstClr val="black"/>
                </a:solidFill>
              </a:rPr>
              <a:t>설명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A73FBE65-022B-2CC9-82D0-8B051EDF8A19}"/>
              </a:ext>
            </a:extLst>
          </p:cNvPr>
          <p:cNvSpPr txBox="1"/>
          <p:nvPr/>
        </p:nvSpPr>
        <p:spPr>
          <a:xfrm>
            <a:off x="453000" y="840586"/>
            <a:ext cx="284269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 smtClean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업체 사용자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9E1EC257-A23A-4293-2A62-B6B72FC492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9165816"/>
              </p:ext>
            </p:extLst>
          </p:nvPr>
        </p:nvGraphicFramePr>
        <p:xfrm>
          <a:off x="453000" y="1051789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탈퇴사유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비고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whdwlRsn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탈퇴사유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비고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탈퇴사유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0883308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9646A461-BCAF-034A-1179-54DE17ACB2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B96F37B1-F84C-2A3A-7E62-143A78C7C08B}"/>
              </a:ext>
            </a:extLst>
          </p:cNvPr>
          <p:cNvSpPr txBox="1"/>
          <p:nvPr/>
        </p:nvSpPr>
        <p:spPr>
          <a:xfrm>
            <a:off x="455204" y="2564637"/>
            <a:ext cx="911074" cy="205992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B9231C4C-4641-0463-57E3-B0D9AC1324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28394642"/>
              </p:ext>
            </p:extLst>
          </p:nvPr>
        </p:nvGraphicFramePr>
        <p:xfrm>
          <a:off x="455204" y="2770629"/>
          <a:ext cx="8995591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).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사용자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smtClean="0"/>
                        <a:t>회원탈퇴 클릭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 smtClean="0"/>
                        <a:t>UserWhdwl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사용자 회원탈퇴 확인 팝업을 표시한다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/>
                        <a:t>회원탈퇴 확인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 smtClean="0"/>
                        <a:t>UserWhdwlIdnty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사용자 회원탈퇴를 한다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 smtClean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375491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FC288215-3957-73FE-9B76-59983CB7F9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2651184"/>
            <a:ext cx="1678016" cy="979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37674844"/>
      </p:ext>
    </p:extLst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199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3. </a:t>
            </a:r>
            <a:r>
              <a:rPr lang="ko-KR" altLang="en-US" dirty="0"/>
              <a:t>고객센터 메뉴</a:t>
            </a:r>
            <a:endParaRPr lang="en-US" altLang="ko-KR" dirty="0"/>
          </a:p>
          <a:p>
            <a:r>
              <a:rPr lang="en-US" altLang="ko-KR" dirty="0"/>
              <a:t>3.1 </a:t>
            </a:r>
            <a:r>
              <a:rPr lang="ko-KR" altLang="en-US" dirty="0"/>
              <a:t>화면 목록</a:t>
            </a:r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85157564"/>
              </p:ext>
            </p:extLst>
          </p:nvPr>
        </p:nvGraphicFramePr>
        <p:xfrm>
          <a:off x="635474" y="1413419"/>
          <a:ext cx="8701200" cy="466750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MUI-CM-04-M01</a:t>
                      </a:r>
                      <a:endParaRPr lang="ko-KR" alt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게시판 목록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NoticeListPage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공지사항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방위사업청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공지사항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수요부대별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공지사항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자료실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noticeList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NoticeListPage.tsx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MUI-CM-04-M02</a:t>
                      </a:r>
                      <a:endParaRPr lang="ko-KR" alt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게시판 상세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NoticeDtlPage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공지사항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방위사업청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공지사항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수요부대별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공지사항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자료실 상세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noticeDtl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NoticeDtlPage.tsx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자주묻는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질문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FaqListPage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자주묻는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질문 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및 답변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faqList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FaqListPage.tsx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UC-ZZ-04-01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UC-ZZ-04-02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752799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민원서류 신청절차 및 안내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AplyStepInfoPage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민원서류 신청절차 및 안내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aplyStepInfo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AplyStepInfoPage.tsx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8967815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신청 목록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신청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PrfmncPrdocPage.tsx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0720425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상세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PrfmncPrdocDtlPage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상세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prfmncPrdocDtl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PrfmncPrdocDtlPage.tsx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2439337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MUI-CM-04-P20</a:t>
                      </a:r>
                      <a:endParaRPr 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실적증명서 제출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PrfmncPrdocSbmsn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실적증명서 온라인 제출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prfmncPrdocDtl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PrfmncPrdocSbmsn.tsx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2759759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신청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PrfmncPrdocRegPage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신청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prfmncPrdocReg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PrfmncPrdocRegPagetsx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3431404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MUI-CM-04-P21</a:t>
                      </a:r>
                      <a:endParaRPr 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계약 검색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PrfmncPrdoc_srchCtrt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실적증명서 발급할 계약 검색 화면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prfmncPrdocReg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PrfmncPrdoc_srchCtrt.tsx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0185049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국외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조달원 등록증 신청 목록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OvsSosCnfdocListPage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국외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조달원 등록증 신청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OvsSosCnfdocListPage.tsx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UC-ZZ-07-04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494551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MUI-CM-04-P10</a:t>
                      </a:r>
                      <a:endParaRPr 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국외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조달원 등록증 신청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OvsSosCnfdocReg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국외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조달원 등록증 신청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OvsSosCnfdocReg.tsx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UC-ZZ-07-03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411773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MUI-CM-04-P11</a:t>
                      </a:r>
                      <a:endParaRPr 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조달업체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선택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OvsSosCnfdocChc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국외 조달원 등록증 신청할 </a:t>
                      </a:r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조달업체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선택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OvsSosCnfdocChc.tsx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UC-ZZ-07-03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061864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MUI-CM-04-M12</a:t>
                      </a:r>
                      <a:endParaRPr lang="ko-KR" alt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 목록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SttInfoListPage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sttInfoList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SttInfoListPaget.tsx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UC-ZZ-11-08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770116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720494414"/>
      </p:ext>
    </p:extLst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200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3.2.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게시판 목록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1191585" y="1529049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>
                <a:solidFill>
                  <a:schemeClr val="tx1"/>
                </a:solidFill>
              </a:rPr>
              <a:t>사용자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게시판 상세</a:t>
            </a: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22" idx="1"/>
          </p:cNvCxnSpPr>
          <p:nvPr/>
        </p:nvCxnSpPr>
        <p:spPr>
          <a:xfrm>
            <a:off x="3266608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2403476" y="1938391"/>
            <a:ext cx="410369" cy="24622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공지사항</a:t>
            </a:r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>
                <a:solidFill>
                  <a:schemeClr val="tx1"/>
                </a:solidFill>
              </a:rPr>
              <a:t>자료실</a:t>
            </a:r>
          </a:p>
        </p:txBody>
      </p:sp>
      <p:sp>
        <p:nvSpPr>
          <p:cNvPr id="9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337683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실적증명서 신청</a:t>
            </a:r>
          </a:p>
        </p:txBody>
      </p:sp>
      <p:sp>
        <p:nvSpPr>
          <p:cNvPr id="9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395945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실적증명서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7619879" y="3038863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7648876" y="2848208"/>
            <a:ext cx="180000" cy="180000"/>
            <a:chOff x="5058274" y="2498299"/>
            <a:chExt cx="180000" cy="180000"/>
          </a:xfrm>
        </p:grpSpPr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5" name="타원 104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5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454207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국외 </a:t>
            </a:r>
            <a:r>
              <a:rPr lang="ko-KR" altLang="en-US" sz="800" dirty="0">
                <a:solidFill>
                  <a:schemeClr val="tx1"/>
                </a:solidFill>
              </a:rPr>
              <a:t>조달원 등록증 신청</a:t>
            </a:r>
          </a:p>
        </p:txBody>
      </p:sp>
      <p:cxnSp>
        <p:nvCxnSpPr>
          <p:cNvPr id="18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0" idx="3"/>
            <a:endCxn id="91" idx="1"/>
          </p:cNvCxnSpPr>
          <p:nvPr/>
        </p:nvCxnSpPr>
        <p:spPr>
          <a:xfrm>
            <a:off x="3266608" y="2938208"/>
            <a:ext cx="931134" cy="58262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221158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자주묻는</a:t>
            </a:r>
            <a:r>
              <a:rPr lang="ko-KR" altLang="en-US" sz="800" dirty="0">
                <a:solidFill>
                  <a:schemeClr val="tx1"/>
                </a:solidFill>
              </a:rPr>
              <a:t> 질문 목록</a:t>
            </a:r>
          </a:p>
        </p:txBody>
      </p:sp>
      <p:sp>
        <p:nvSpPr>
          <p:cNvPr id="6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279420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민원서류 발급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실적증명서 신청 목록</a:t>
            </a:r>
          </a:p>
        </p:txBody>
      </p:sp>
      <p:sp>
        <p:nvSpPr>
          <p:cNvPr id="6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79420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신청절자</a:t>
            </a:r>
            <a:r>
              <a:rPr lang="ko-KR" altLang="en-US" sz="800" dirty="0">
                <a:solidFill>
                  <a:schemeClr val="tx1"/>
                </a:solidFill>
              </a:rPr>
              <a:t> 및 안내</a:t>
            </a:r>
          </a:p>
        </p:txBody>
      </p:sp>
      <p:cxnSp>
        <p:nvCxnSpPr>
          <p:cNvPr id="6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0" idx="3"/>
            <a:endCxn id="98" idx="1"/>
          </p:cNvCxnSpPr>
          <p:nvPr/>
        </p:nvCxnSpPr>
        <p:spPr>
          <a:xfrm>
            <a:off x="3266608" y="2938208"/>
            <a:ext cx="931134" cy="116524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" idx="6"/>
            <a:endCxn id="57" idx="1"/>
          </p:cNvCxnSpPr>
          <p:nvPr/>
        </p:nvCxnSpPr>
        <p:spPr>
          <a:xfrm>
            <a:off x="1435474" y="1772964"/>
            <a:ext cx="931134" cy="58262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" idx="6"/>
            <a:endCxn id="60" idx="1"/>
          </p:cNvCxnSpPr>
          <p:nvPr/>
        </p:nvCxnSpPr>
        <p:spPr>
          <a:xfrm>
            <a:off x="1435474" y="1772964"/>
            <a:ext cx="931134" cy="116524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570731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법령 목록</a:t>
            </a:r>
          </a:p>
        </p:txBody>
      </p:sp>
      <p:cxnSp>
        <p:nvCxnSpPr>
          <p:cNvPr id="7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" idx="6"/>
            <a:endCxn id="75" idx="1"/>
          </p:cNvCxnSpPr>
          <p:nvPr/>
        </p:nvCxnSpPr>
        <p:spPr>
          <a:xfrm>
            <a:off x="1435474" y="1772964"/>
            <a:ext cx="931134" cy="407835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5707317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법령 상세 </a:t>
            </a:r>
            <a:r>
              <a:rPr lang="en-US" altLang="ko-KR" sz="800" dirty="0">
                <a:solidFill>
                  <a:schemeClr val="tx1"/>
                </a:solidFill>
              </a:rPr>
              <a:t>(</a:t>
            </a:r>
            <a:r>
              <a:rPr lang="ko-KR" altLang="en-US" sz="800" dirty="0">
                <a:solidFill>
                  <a:schemeClr val="tx1"/>
                </a:solidFill>
              </a:rPr>
              <a:t>외부링크</a:t>
            </a:r>
            <a:r>
              <a:rPr lang="en-US" altLang="ko-KR" sz="8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81" name="직선 화살표 연결선 8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5" idx="3"/>
            <a:endCxn id="80" idx="1"/>
          </p:cNvCxnSpPr>
          <p:nvPr/>
        </p:nvCxnSpPr>
        <p:spPr>
          <a:xfrm>
            <a:off x="3266608" y="5851317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직선 화살표 연결선 8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0" idx="3"/>
            <a:endCxn id="62" idx="1"/>
          </p:cNvCxnSpPr>
          <p:nvPr/>
        </p:nvCxnSpPr>
        <p:spPr>
          <a:xfrm>
            <a:off x="3266608" y="2938208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454207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국외 </a:t>
            </a:r>
            <a:r>
              <a:rPr lang="ko-KR" altLang="en-US" sz="800" dirty="0">
                <a:solidFill>
                  <a:schemeClr val="tx1"/>
                </a:solidFill>
              </a:rPr>
              <a:t>조달원 등록증 목록</a:t>
            </a:r>
          </a:p>
        </p:txBody>
      </p:sp>
      <p:cxnSp>
        <p:nvCxnSpPr>
          <p:cNvPr id="9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" idx="6"/>
            <a:endCxn id="93" idx="1"/>
          </p:cNvCxnSpPr>
          <p:nvPr/>
        </p:nvCxnSpPr>
        <p:spPr>
          <a:xfrm>
            <a:off x="1435474" y="1772964"/>
            <a:ext cx="931134" cy="291311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직선 화살표 연결선 106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3" idx="3"/>
            <a:endCxn id="151" idx="1"/>
          </p:cNvCxnSpPr>
          <p:nvPr/>
        </p:nvCxnSpPr>
        <p:spPr>
          <a:xfrm>
            <a:off x="3266608" y="468607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직선 화살표 연결선 108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2" idx="3"/>
            <a:endCxn id="104" idx="2"/>
          </p:cNvCxnSpPr>
          <p:nvPr/>
        </p:nvCxnSpPr>
        <p:spPr>
          <a:xfrm>
            <a:off x="5097742" y="2938208"/>
            <a:ext cx="255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2" idx="3"/>
            <a:endCxn id="104" idx="2"/>
          </p:cNvCxnSpPr>
          <p:nvPr/>
        </p:nvCxnSpPr>
        <p:spPr>
          <a:xfrm>
            <a:off x="5097742" y="1772964"/>
            <a:ext cx="2551134" cy="1165244"/>
          </a:xfrm>
          <a:prstGeom prst="bentConnector3">
            <a:avLst>
              <a:gd name="adj1" fmla="val 86184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57" idx="3"/>
            <a:endCxn id="104" idx="2"/>
          </p:cNvCxnSpPr>
          <p:nvPr/>
        </p:nvCxnSpPr>
        <p:spPr>
          <a:xfrm>
            <a:off x="3266608" y="2355586"/>
            <a:ext cx="4382268" cy="582622"/>
          </a:xfrm>
          <a:prstGeom prst="bentConnector3">
            <a:avLst>
              <a:gd name="adj1" fmla="val 91931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47" idx="3"/>
            <a:endCxn id="104" idx="2"/>
          </p:cNvCxnSpPr>
          <p:nvPr/>
        </p:nvCxnSpPr>
        <p:spPr>
          <a:xfrm flipV="1">
            <a:off x="6931639" y="2938208"/>
            <a:ext cx="717237" cy="58262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48" idx="3"/>
            <a:endCxn id="104" idx="2"/>
          </p:cNvCxnSpPr>
          <p:nvPr/>
        </p:nvCxnSpPr>
        <p:spPr>
          <a:xfrm flipV="1">
            <a:off x="6931639" y="2938208"/>
            <a:ext cx="717237" cy="116524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51" idx="3"/>
            <a:endCxn id="104" idx="2"/>
          </p:cNvCxnSpPr>
          <p:nvPr/>
        </p:nvCxnSpPr>
        <p:spPr>
          <a:xfrm flipV="1">
            <a:off x="5097742" y="2938208"/>
            <a:ext cx="2551134" cy="1747866"/>
          </a:xfrm>
          <a:prstGeom prst="bentConnector3">
            <a:avLst>
              <a:gd name="adj1" fmla="val 86526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80" idx="3"/>
            <a:endCxn id="104" idx="2"/>
          </p:cNvCxnSpPr>
          <p:nvPr/>
        </p:nvCxnSpPr>
        <p:spPr>
          <a:xfrm flipV="1">
            <a:off x="5097742" y="2938208"/>
            <a:ext cx="2551134" cy="2913109"/>
          </a:xfrm>
          <a:prstGeom prst="bentConnector3">
            <a:avLst>
              <a:gd name="adj1" fmla="val 86184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31639" y="337683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계약 검색</a:t>
            </a:r>
          </a:p>
        </p:txBody>
      </p:sp>
      <p:sp>
        <p:nvSpPr>
          <p:cNvPr id="4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31639" y="395945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실적증명서제출</a:t>
            </a:r>
          </a:p>
        </p:txBody>
      </p:sp>
      <p:cxnSp>
        <p:nvCxnSpPr>
          <p:cNvPr id="59" name="직선 화살표 연결선 58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1" idx="3"/>
            <a:endCxn id="47" idx="1"/>
          </p:cNvCxnSpPr>
          <p:nvPr/>
        </p:nvCxnSpPr>
        <p:spPr>
          <a:xfrm>
            <a:off x="5097742" y="3520830"/>
            <a:ext cx="933897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직선 화살표 연결선 6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8" idx="3"/>
            <a:endCxn id="48" idx="1"/>
          </p:cNvCxnSpPr>
          <p:nvPr/>
        </p:nvCxnSpPr>
        <p:spPr>
          <a:xfrm>
            <a:off x="5097742" y="4103452"/>
            <a:ext cx="933897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02889685"/>
      </p:ext>
    </p:extLst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201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3.3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게시판 목록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NoticeListPage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게시판 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NoticeDtlPage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자주묻는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질문</a:t>
            </a:r>
            <a:endParaRPr lang="en-US" altLang="ko-KR" sz="7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700" dirty="0" err="1">
                <a:solidFill>
                  <a:schemeClr val="tx1"/>
                </a:solidFill>
                <a:latin typeface="+mn-ea"/>
              </a:rPr>
              <a:t>FaqListPage</a:t>
            </a:r>
            <a:r>
              <a:rPr lang="en-US" altLang="ko-KR" sz="7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7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&lt;&lt;Controller&gt;&gt;</a:t>
            </a:r>
          </a:p>
          <a:p>
            <a:pPr algn="ctr"/>
            <a:r>
              <a:rPr lang="ko-KR" altLang="en-US" sz="1100" dirty="0"/>
              <a:t>고객센터 </a:t>
            </a:r>
            <a:r>
              <a:rPr lang="en-US" altLang="ko-KR" sz="1100" dirty="0"/>
              <a:t>Controller</a:t>
            </a:r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민원서류 발급 신청 목록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AplyStepInfoPage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신청절자</a:t>
            </a:r>
            <a:r>
              <a:rPr lang="ko-KR" altLang="en-US" sz="1000" dirty="0">
                <a:solidFill>
                  <a:schemeClr val="tx1"/>
                </a:solidFill>
              </a:rPr>
              <a:t> 및 안내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AplyStepInfoPage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실적증명서 신청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PrfmncPrdocRegPage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실적증명서 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PrfmncPrdocDtlPage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 smtClean="0">
                <a:solidFill>
                  <a:schemeClr val="tx1"/>
                </a:solidFill>
                <a:latin typeface="+mn-ea"/>
              </a:rPr>
              <a:t>.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smtClean="0">
                <a:solidFill>
                  <a:schemeClr val="tx1"/>
                </a:solidFill>
              </a:rPr>
              <a:t>국외 </a:t>
            </a:r>
            <a:r>
              <a:rPr lang="ko-KR" altLang="en-US" sz="1000" dirty="0">
                <a:solidFill>
                  <a:schemeClr val="tx1"/>
                </a:solidFill>
              </a:rPr>
              <a:t>조달원 등록증 목록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OvsSosCnfdocListPage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298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smtClean="0">
                <a:solidFill>
                  <a:schemeClr val="tx1"/>
                </a:solidFill>
              </a:rPr>
              <a:t>국외 </a:t>
            </a:r>
            <a:r>
              <a:rPr lang="ko-KR" altLang="en-US" sz="1000" dirty="0">
                <a:solidFill>
                  <a:schemeClr val="tx1"/>
                </a:solidFill>
              </a:rPr>
              <a:t>조달원 등록증 신청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OvsSosCnfdocReg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4435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법령 목록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SttInfoListPage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7" idx="3"/>
            <a:endCxn id="9" idx="1"/>
          </p:cNvCxnSpPr>
          <p:nvPr/>
        </p:nvCxnSpPr>
        <p:spPr>
          <a:xfrm flipV="1">
            <a:off x="2992582" y="2990174"/>
            <a:ext cx="967509" cy="22264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8" idx="3"/>
            <a:endCxn id="9" idx="1"/>
          </p:cNvCxnSpPr>
          <p:nvPr/>
        </p:nvCxnSpPr>
        <p:spPr>
          <a:xfrm flipV="1">
            <a:off x="2992582" y="2990174"/>
            <a:ext cx="967509" cy="26400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096492" y="5443501"/>
            <a:ext cx="1388325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실적증명서 </a:t>
            </a:r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제출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PrfmncPrdocSbmsn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568339" y="5443501"/>
            <a:ext cx="1388325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계약 검색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PrfmncPrdoc_srchCtrt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4" name="직선 화살표 연결선 33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1" idx="0"/>
            <a:endCxn id="9" idx="2"/>
          </p:cNvCxnSpPr>
          <p:nvPr/>
        </p:nvCxnSpPr>
        <p:spPr>
          <a:xfrm flipV="1">
            <a:off x="3790655" y="3810190"/>
            <a:ext cx="1033036" cy="163331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7" name="직선 화살표 연결선 3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3" idx="0"/>
            <a:endCxn id="9" idx="2"/>
          </p:cNvCxnSpPr>
          <p:nvPr/>
        </p:nvCxnSpPr>
        <p:spPr>
          <a:xfrm flipH="1" flipV="1">
            <a:off x="4823691" y="3810190"/>
            <a:ext cx="438811" cy="163331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67660632"/>
      </p:ext>
    </p:extLst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게시판 제목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공지사항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일반 공지사항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 smtClean="0"/>
              <a:t>방위사업청</a:t>
            </a:r>
            <a:r>
              <a:rPr lang="ko-KR" altLang="en-US" dirty="0" smtClean="0"/>
              <a:t> 공지사항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 smtClean="0"/>
              <a:t>수요부대별</a:t>
            </a:r>
            <a:r>
              <a:rPr lang="ko-KR" altLang="en-US" dirty="0" smtClean="0"/>
              <a:t> 공지사항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자료실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>
                <a:latin typeface="+mn-ea"/>
              </a:rPr>
              <a:t>일반 자료실</a:t>
            </a:r>
            <a:r>
              <a:rPr lang="en-US" altLang="ko-KR" dirty="0" smtClean="0">
                <a:latin typeface="+mn-ea"/>
              </a:rPr>
              <a:t/>
            </a:r>
            <a:br>
              <a:rPr lang="en-US" altLang="ko-KR" dirty="0" smtClean="0">
                <a:latin typeface="+mn-ea"/>
              </a:rPr>
            </a:br>
            <a:r>
              <a:rPr lang="en-US" altLang="ko-KR" dirty="0" smtClean="0">
                <a:latin typeface="+mn-ea"/>
              </a:rPr>
              <a:t>  &gt; </a:t>
            </a:r>
            <a:r>
              <a:rPr lang="ko-KR" altLang="en-US" dirty="0" smtClean="0">
                <a:latin typeface="+mn-ea"/>
              </a:rPr>
              <a:t>수요부대별자료실</a:t>
            </a:r>
            <a:r>
              <a:rPr lang="en-US" altLang="ko-KR" dirty="0" smtClean="0">
                <a:latin typeface="+mn-ea"/>
              </a:rPr>
              <a:t/>
            </a:r>
            <a:br>
              <a:rPr lang="en-US" altLang="ko-KR" dirty="0" smtClean="0">
                <a:latin typeface="+mn-ea"/>
              </a:rPr>
            </a:br>
            <a:r>
              <a:rPr lang="en-US" altLang="ko-KR" dirty="0" smtClean="0">
                <a:latin typeface="+mn-ea"/>
              </a:rPr>
              <a:t>  &gt; </a:t>
            </a:r>
            <a:r>
              <a:rPr lang="ko-KR" altLang="en-US" dirty="0" smtClean="0">
                <a:latin typeface="+mn-ea"/>
              </a:rPr>
              <a:t>계약관련서식자료실</a:t>
            </a:r>
            <a:r>
              <a:rPr lang="en-US" altLang="ko-KR" dirty="0" smtClean="0">
                <a:latin typeface="+mn-ea"/>
              </a:rPr>
              <a:t/>
            </a:r>
            <a:br>
              <a:rPr lang="en-US" altLang="ko-KR" dirty="0" smtClean="0">
                <a:latin typeface="+mn-ea"/>
              </a:rPr>
            </a:br>
            <a:r>
              <a:rPr lang="en-US" altLang="ko-KR" dirty="0" smtClean="0">
                <a:latin typeface="+mn-ea"/>
              </a:rPr>
              <a:t>  &gt; </a:t>
            </a:r>
            <a:r>
              <a:rPr lang="ko-KR" altLang="en-US" dirty="0">
                <a:latin typeface="+mn-ea"/>
              </a:rPr>
              <a:t>시스템개선안내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업무도움</a:t>
            </a:r>
            <a:r>
              <a:rPr lang="en-US" altLang="ko-KR" dirty="0" smtClean="0">
                <a:solidFill>
                  <a:srgbClr val="FF0000"/>
                </a:solidFill>
              </a:rPr>
              <a:t/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내용이 없을 때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err="1" smtClean="0">
                <a:solidFill>
                  <a:srgbClr val="FF0000"/>
                </a:solidFill>
              </a:rPr>
              <a:t>업무도움</a:t>
            </a:r>
            <a:r>
              <a:rPr lang="ko-KR" altLang="en-US" dirty="0" smtClean="0">
                <a:solidFill>
                  <a:srgbClr val="FF0000"/>
                </a:solidFill>
              </a:rPr>
              <a:t> </a:t>
            </a:r>
            <a:r>
              <a:rPr lang="ko-KR" altLang="en-US" dirty="0" err="1" smtClean="0">
                <a:solidFill>
                  <a:srgbClr val="FF0000"/>
                </a:solidFill>
              </a:rPr>
              <a:t>미표시</a:t>
            </a:r>
            <a:endParaRPr lang="en-US" altLang="ko-KR" dirty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상단 검색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기본값 </a:t>
            </a:r>
            <a:r>
              <a:rPr lang="en-US" altLang="ko-KR" dirty="0"/>
              <a:t>: </a:t>
            </a:r>
            <a:r>
              <a:rPr lang="ko-KR" altLang="en-US" dirty="0" smtClean="0"/>
              <a:t>제목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내용이 있는 경우 초기화 버튼 </a:t>
            </a:r>
            <a:r>
              <a:rPr lang="ko-KR" altLang="en-US" dirty="0" smtClean="0"/>
              <a:t>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목록 정보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긴급 상태</a:t>
            </a:r>
            <a:r>
              <a:rPr lang="en-US" altLang="ko-KR" dirty="0" smtClean="0"/>
              <a:t>, </a:t>
            </a:r>
            <a:r>
              <a:rPr lang="ko-KR" altLang="en-US" dirty="0" smtClean="0"/>
              <a:t>구분</a:t>
            </a:r>
            <a:r>
              <a:rPr lang="en-US" altLang="ko-KR" dirty="0" smtClean="0"/>
              <a:t>, </a:t>
            </a:r>
            <a:r>
              <a:rPr lang="ko-KR" altLang="en-US" dirty="0" smtClean="0"/>
              <a:t>첨부파일 유무에 따라 레이블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상위 고정 게시물 상단 고정 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제목 </a:t>
            </a:r>
            <a:r>
              <a:rPr lang="en-US" altLang="ko-KR" dirty="0" smtClean="0"/>
              <a:t>2</a:t>
            </a:r>
            <a:r>
              <a:rPr lang="ko-KR" altLang="en-US" dirty="0" smtClean="0"/>
              <a:t>줄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표시 </a:t>
            </a:r>
            <a:r>
              <a:rPr lang="ko-KR" altLang="en-US" dirty="0"/>
              <a:t>레이블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상태는 코드에 따라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202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게시판 목록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게시판 목록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전체 공지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 err="1">
                <a:latin typeface="+mn-ea"/>
              </a:rPr>
              <a:t>방위사업청</a:t>
            </a:r>
            <a:r>
              <a:rPr lang="ko-KR" altLang="en-US" dirty="0">
                <a:latin typeface="+mn-ea"/>
              </a:rPr>
              <a:t> 공지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 err="1">
                <a:latin typeface="+mn-ea"/>
              </a:rPr>
              <a:t>수요부대별</a:t>
            </a:r>
            <a:r>
              <a:rPr lang="ko-KR" altLang="en-US" dirty="0">
                <a:latin typeface="+mn-ea"/>
              </a:rPr>
              <a:t> 공지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자료실 등 게시판 목록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게시판 목록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MUI-CM-04-M01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/>
              <a:t>게시판 제목 표시 영역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8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54973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3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24" name="그룹 23"/>
          <p:cNvGrpSpPr/>
          <p:nvPr/>
        </p:nvGrpSpPr>
        <p:grpSpPr>
          <a:xfrm>
            <a:off x="781461" y="3301466"/>
            <a:ext cx="2473257" cy="960061"/>
            <a:chOff x="781461" y="2610063"/>
            <a:chExt cx="2473257" cy="960061"/>
          </a:xfrm>
        </p:grpSpPr>
        <p:sp>
          <p:nvSpPr>
            <p:cNvPr id="2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769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b="1" dirty="0" smtClean="0"/>
                <a:t>공지사항</a:t>
              </a:r>
              <a:r>
                <a:rPr lang="en-US" altLang="ko-KR" sz="900" b="1" dirty="0" smtClean="0"/>
                <a:t>, </a:t>
              </a:r>
              <a:r>
                <a:rPr lang="ko-KR" altLang="en-US" sz="900" b="1" dirty="0" smtClean="0"/>
                <a:t>게시물의 제목은 최대 </a:t>
              </a:r>
              <a:r>
                <a:rPr lang="en-US" altLang="ko-KR" sz="900" b="1" dirty="0" smtClean="0"/>
                <a:t>2</a:t>
              </a:r>
              <a:r>
                <a:rPr lang="ko-KR" altLang="en-US" sz="900" b="1" dirty="0" smtClean="0"/>
                <a:t>줄로 표시합니다</a:t>
              </a:r>
              <a:r>
                <a:rPr lang="en-US" altLang="ko-KR" sz="900" b="1" dirty="0" smtClean="0"/>
                <a:t>. </a:t>
              </a:r>
              <a:r>
                <a:rPr lang="ko-KR" altLang="en-US" sz="900" b="1" dirty="0" smtClean="0"/>
                <a:t>표시 이후 내용이 긴 경우 </a:t>
              </a:r>
              <a:r>
                <a:rPr lang="en-US" altLang="ko-KR" sz="900" b="1" dirty="0" smtClean="0"/>
                <a:t>… </a:t>
              </a:r>
              <a:r>
                <a:rPr lang="ko-KR" altLang="en-US" sz="900" b="1" dirty="0" smtClean="0"/>
                <a:t>으로 </a:t>
              </a:r>
              <a:r>
                <a:rPr lang="ko-KR" altLang="en-US" sz="900" b="1" dirty="0" err="1" smtClean="0"/>
                <a:t>처리합</a:t>
              </a:r>
              <a:endParaRPr lang="ko-KR" altLang="en-US" sz="900" b="1" dirty="0"/>
            </a:p>
          </p:txBody>
        </p:sp>
        <p:sp>
          <p:nvSpPr>
            <p:cNvPr id="26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담당부서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작성자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작성일자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27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139237"/>
              <a:ext cx="397545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총무부</a:t>
              </a:r>
              <a:endParaRPr lang="en-US" altLang="ko-KR" sz="600" dirty="0" smtClean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홍길동</a:t>
              </a:r>
              <a:endParaRPr lang="en-US" altLang="ko-KR" sz="600" dirty="0" smtClean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2026-02-01</a:t>
              </a:r>
            </a:p>
          </p:txBody>
        </p:sp>
        <p:sp>
          <p:nvSpPr>
            <p:cNvPr id="28" name="모서리가 둥근 직사각형 27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  <a:ln>
              <a:solidFill>
                <a:srgbClr val="FF0000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smtClean="0">
                  <a:solidFill>
                    <a:srgbClr val="FF0000"/>
                  </a:solidFill>
                </a:rPr>
                <a:t>긴급</a:t>
              </a:r>
              <a:endParaRPr lang="ko-KR" altLang="en-US" sz="600" dirty="0">
                <a:solidFill>
                  <a:srgbClr val="FF0000"/>
                </a:solidFill>
              </a:endParaRPr>
            </a:p>
          </p:txBody>
        </p:sp>
        <p:sp>
          <p:nvSpPr>
            <p:cNvPr id="93" name="모서리가 둥근 직사각형 92"/>
            <p:cNvSpPr/>
            <p:nvPr/>
          </p:nvSpPr>
          <p:spPr>
            <a:xfrm>
              <a:off x="1075985" y="2610063"/>
              <a:ext cx="243478" cy="119400"/>
            </a:xfrm>
            <a:prstGeom prst="roundRect">
              <a:avLst>
                <a:gd name="adj" fmla="val 23409"/>
              </a:avLst>
            </a:prstGeom>
            <a:ln>
              <a:solidFill>
                <a:schemeClr val="tx1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tx1"/>
                  </a:solidFill>
                </a:rPr>
                <a:t>공통</a:t>
              </a:r>
              <a:endParaRPr lang="ko-KR" altLang="en-US" sz="600" dirty="0">
                <a:solidFill>
                  <a:schemeClr val="tx1"/>
                </a:solidFill>
              </a:endParaRPr>
            </a:p>
          </p:txBody>
        </p:sp>
        <p:sp>
          <p:nvSpPr>
            <p:cNvPr id="146" name="모서리가 둥근 직사각형 145"/>
            <p:cNvSpPr/>
            <p:nvPr/>
          </p:nvSpPr>
          <p:spPr>
            <a:xfrm>
              <a:off x="1376986" y="2610063"/>
              <a:ext cx="243478" cy="119400"/>
            </a:xfrm>
            <a:prstGeom prst="roundRect">
              <a:avLst>
                <a:gd name="adj" fmla="val 23409"/>
              </a:avLst>
            </a:prstGeom>
            <a:ln>
              <a:solidFill>
                <a:schemeClr val="tx1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tx1"/>
                  </a:solidFill>
                </a:rPr>
                <a:t>첨부</a:t>
              </a:r>
              <a:endParaRPr lang="ko-KR" altLang="en-US" sz="6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422320"/>
            <a:ext cx="76863" cy="292489"/>
            <a:chOff x="3750067" y="4683795"/>
            <a:chExt cx="76863" cy="292489"/>
          </a:xfrm>
        </p:grpSpPr>
        <p:sp>
          <p:nvSpPr>
            <p:cNvPr id="31" name="타원 30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2" name="타원 31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3" name="타원 32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6033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77575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1902673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43" name="타원 42"/>
          <p:cNvSpPr/>
          <p:nvPr/>
        </p:nvSpPr>
        <p:spPr>
          <a:xfrm>
            <a:off x="783686" y="19340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4" name="그룹 43"/>
          <p:cNvGrpSpPr/>
          <p:nvPr/>
        </p:nvGrpSpPr>
        <p:grpSpPr>
          <a:xfrm>
            <a:off x="3143548" y="2016004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타원 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7466878" y="603851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421034" y="5720540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표시 레이블</a:t>
            </a:r>
          </a:p>
        </p:txBody>
      </p:sp>
      <p:sp>
        <p:nvSpPr>
          <p:cNvPr id="54" name="모서리가 둥근 직사각형 53"/>
          <p:cNvSpPr/>
          <p:nvPr/>
        </p:nvSpPr>
        <p:spPr>
          <a:xfrm>
            <a:off x="8423455" y="5898778"/>
            <a:ext cx="241057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rgbClr val="FF0000"/>
                </a:solidFill>
              </a:rPr>
              <a:t>긴급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42846" y="5904617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상태</a:t>
            </a:r>
            <a:endParaRPr lang="ko-KR" altLang="en-US" sz="700" dirty="0">
              <a:latin typeface="+mn-ea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874722"/>
            <a:ext cx="135706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2,010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 smtClean="0">
                <a:latin typeface="+mn-ea"/>
              </a:rPr>
              <a:t>명</a:t>
            </a:r>
            <a:endParaRPr lang="ko-KR" altLang="en-US" sz="700" dirty="0">
              <a:latin typeface="+mn-ea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8206" y="2870668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70668"/>
            <a:ext cx="50571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63" name="그룹 62"/>
          <p:cNvGrpSpPr/>
          <p:nvPr/>
        </p:nvGrpSpPr>
        <p:grpSpPr>
          <a:xfrm>
            <a:off x="3143548" y="2983035"/>
            <a:ext cx="94010" cy="47005"/>
            <a:chOff x="6812560" y="3297172"/>
            <a:chExt cx="94010" cy="47005"/>
          </a:xfrm>
        </p:grpSpPr>
        <p:cxnSp>
          <p:nvCxnSpPr>
            <p:cNvPr id="64" name="직선 연결선 6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5" name="직선 연결선 6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66" name="그룹 65"/>
          <p:cNvGrpSpPr/>
          <p:nvPr/>
        </p:nvGrpSpPr>
        <p:grpSpPr>
          <a:xfrm>
            <a:off x="767702" y="2274581"/>
            <a:ext cx="2527420" cy="473693"/>
            <a:chOff x="786326" y="2274581"/>
            <a:chExt cx="2527420" cy="473693"/>
          </a:xfrm>
        </p:grpSpPr>
        <p:sp>
          <p:nvSpPr>
            <p:cNvPr id="67" name="모서리가 둥근 직사각형 66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8" name="타원 67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70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95625" y="2274581"/>
              <a:ext cx="615387" cy="155984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제목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71" name="타원 70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/>
                <a:t>V</a:t>
              </a:r>
              <a:endParaRPr lang="ko-KR" altLang="en-US" sz="600" dirty="0"/>
            </a:p>
          </p:txBody>
        </p:sp>
        <p:sp>
          <p:nvSpPr>
            <p:cNvPr id="72" name="타원 71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73" name="그룹 72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74" name="직선 연결선 73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5" name="직선 연결선 74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76" name="직선 연결선 7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1015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77" name="직선 연결선 7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3550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8" name="타원 7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2243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88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1460916" y="2274581"/>
            <a:ext cx="615387" cy="155984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 smtClean="0">
                <a:latin typeface="맑은 고딕"/>
                <a:ea typeface="맑은 고딕" panose="020B0503020000020004" pitchFamily="50" charset="-127"/>
              </a:rPr>
              <a:t>내용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89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707397" y="2270279"/>
            <a:ext cx="582849" cy="154795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 err="1">
                <a:latin typeface="맑은 고딕"/>
                <a:ea typeface="맑은 고딕" panose="020B0503020000020004" pitchFamily="50" charset="-127"/>
              </a:rPr>
              <a:t>검색필터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90" name="타원 8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8436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91" name="모서리가 둥근 직사각형 90"/>
          <p:cNvSpPr/>
          <p:nvPr/>
        </p:nvSpPr>
        <p:spPr>
          <a:xfrm>
            <a:off x="8423455" y="6082855"/>
            <a:ext cx="241057" cy="119400"/>
          </a:xfrm>
          <a:prstGeom prst="roundRect">
            <a:avLst>
              <a:gd name="adj" fmla="val 23409"/>
            </a:avLst>
          </a:prstGeom>
          <a:ln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smtClean="0">
                <a:solidFill>
                  <a:schemeClr val="tx1"/>
                </a:solidFill>
              </a:rPr>
              <a:t>첨부</a:t>
            </a:r>
            <a:endParaRPr lang="ko-KR" altLang="en-US" sz="600" dirty="0">
              <a:solidFill>
                <a:schemeClr val="tx1"/>
              </a:solidFill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42846" y="6088694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첨부파일</a:t>
            </a:r>
            <a:endParaRPr lang="ko-KR" altLang="en-US" sz="700" dirty="0">
              <a:latin typeface="+mn-ea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96" name="그룹 95"/>
          <p:cNvGrpSpPr/>
          <p:nvPr/>
        </p:nvGrpSpPr>
        <p:grpSpPr>
          <a:xfrm>
            <a:off x="6255425" y="1650089"/>
            <a:ext cx="94010" cy="94010"/>
            <a:chOff x="6812560" y="3297172"/>
            <a:chExt cx="94010" cy="94010"/>
          </a:xfrm>
        </p:grpSpPr>
        <p:cxnSp>
          <p:nvCxnSpPr>
            <p:cNvPr id="97" name="직선 연결선 96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8" name="직선 연결선 97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9" name="타원 98"/>
          <p:cNvSpPr/>
          <p:nvPr/>
        </p:nvSpPr>
        <p:spPr>
          <a:xfrm>
            <a:off x="5890147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5563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4505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grpSp>
        <p:nvGrpSpPr>
          <p:cNvPr id="102" name="그룹 101"/>
          <p:cNvGrpSpPr/>
          <p:nvPr/>
        </p:nvGrpSpPr>
        <p:grpSpPr>
          <a:xfrm>
            <a:off x="3792447" y="1974264"/>
            <a:ext cx="2712027" cy="797589"/>
            <a:chOff x="675399" y="3490553"/>
            <a:chExt cx="2712027" cy="797589"/>
          </a:xfrm>
        </p:grpSpPr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490553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기간 </a:t>
              </a:r>
              <a:r>
                <a:rPr lang="ko-KR" altLang="en-US" sz="700" b="1" dirty="0" smtClean="0">
                  <a:latin typeface="+mn-ea"/>
                </a:rPr>
                <a:t>설정 </a:t>
              </a:r>
              <a:r>
                <a:rPr lang="en-US" altLang="ko-KR" sz="700" b="1" dirty="0" smtClean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713091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검색 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빠른 설정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5" name="그룹 104"/>
            <p:cNvGrpSpPr/>
            <p:nvPr/>
          </p:nvGrpSpPr>
          <p:grpSpPr>
            <a:xfrm flipV="1">
              <a:off x="3140949" y="3588243"/>
              <a:ext cx="91438" cy="45719"/>
              <a:chOff x="6812560" y="3297172"/>
              <a:chExt cx="94010" cy="47005"/>
            </a:xfrm>
          </p:grpSpPr>
          <p:cxnSp>
            <p:nvCxnSpPr>
              <p:cNvPr id="118" name="직선 연결선 11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19" name="직선 연결선 11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06" name="그룹 105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1464781" y="3740722"/>
              <a:ext cx="859319" cy="188244"/>
              <a:chOff x="5613534" y="2854836"/>
              <a:chExt cx="804671" cy="188244"/>
            </a:xfrm>
          </p:grpSpPr>
          <p:sp>
            <p:nvSpPr>
              <p:cNvPr id="116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2025-12-15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17" name="그림 116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sp>
          <p:nvSpPr>
            <p:cNvPr id="107" name="TextBox 91">
              <a:extLst>
                <a:ext uri="{FF2B5EF4-FFF2-40B4-BE49-F238E27FC236}">
                  <a16:creationId xmlns:a16="http://schemas.microsoft.com/office/drawing/2014/main" id="{02490888-B81F-0F94-5D5F-078AEEB39DDB}"/>
                </a:ext>
              </a:extLst>
            </p:cNvPr>
            <p:cNvSpPr txBox="1"/>
            <p:nvPr/>
          </p:nvSpPr>
          <p:spPr>
            <a:xfrm>
              <a:off x="2347279" y="3760669"/>
              <a:ext cx="80150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 dirty="0">
                  <a:solidFill>
                    <a:prstClr val="black"/>
                  </a:solidFill>
                  <a:cs typeface="Pretendard Medium" panose="02000603000000020004" pitchFamily="50" charset="-127"/>
                </a:rPr>
                <a:t>~</a:t>
              </a:r>
              <a:endParaRPr lang="ko-KR" altLang="en-US" sz="900" dirty="0">
                <a:solidFill>
                  <a:prstClr val="black"/>
                </a:solidFill>
                <a:cs typeface="Pretendard Medium" panose="02000603000000020004" pitchFamily="50" charset="-127"/>
              </a:endParaRPr>
            </a:p>
          </p:txBody>
        </p:sp>
        <p:grpSp>
          <p:nvGrpSpPr>
            <p:cNvPr id="108" name="그룹 107"/>
            <p:cNvGrpSpPr/>
            <p:nvPr/>
          </p:nvGrpSpPr>
          <p:grpSpPr>
            <a:xfrm>
              <a:off x="1464781" y="3971391"/>
              <a:ext cx="1845146" cy="188135"/>
              <a:chOff x="1430277" y="4057651"/>
              <a:chExt cx="1845146" cy="188135"/>
            </a:xfrm>
          </p:grpSpPr>
          <p:sp>
            <p:nvSpPr>
              <p:cNvPr id="113" name="사각형: 둥근 모서리 169">
                <a:extLst>
                  <a:ext uri="{FF2B5EF4-FFF2-40B4-BE49-F238E27FC236}">
                    <a16:creationId xmlns:a16="http://schemas.microsoft.com/office/drawing/2014/main" id="{A28DD831-0E4B-31EE-CB08-9E188754698D}"/>
                  </a:ext>
                </a:extLst>
              </p:cNvPr>
              <p:cNvSpPr/>
              <p:nvPr/>
            </p:nvSpPr>
            <p:spPr>
              <a:xfrm>
                <a:off x="1430277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최근 </a:t>
                </a:r>
                <a:r>
                  <a:rPr kumimoji="1" lang="en-US" altLang="ko-KR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개월</a:t>
                </a:r>
                <a:endParaRPr kumimoji="1" 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4" name="사각형: 둥근 모서리 171">
                <a:extLst>
                  <a:ext uri="{FF2B5EF4-FFF2-40B4-BE49-F238E27FC236}">
                    <a16:creationId xmlns:a16="http://schemas.microsoft.com/office/drawing/2014/main" id="{75BECEC6-4045-95B1-98C2-242CA0FC5A06}"/>
                  </a:ext>
                </a:extLst>
              </p:cNvPr>
              <p:cNvSpPr/>
              <p:nvPr/>
            </p:nvSpPr>
            <p:spPr>
              <a:xfrm>
                <a:off x="2061841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latin typeface="+mn-ea"/>
                  </a:rPr>
                  <a:t>최근 </a:t>
                </a:r>
                <a:r>
                  <a:rPr kumimoji="1" lang="en-US" altLang="ko-KR" sz="700" kern="0" dirty="0">
                    <a:latin typeface="+mn-ea"/>
                  </a:rPr>
                  <a:t>3</a:t>
                </a:r>
                <a:r>
                  <a:rPr kumimoji="1" lang="ko-KR" altLang="en-US" sz="700" kern="0" dirty="0">
                    <a:latin typeface="+mn-ea"/>
                  </a:rPr>
                  <a:t>개월</a:t>
                </a:r>
                <a:endParaRPr kumimoji="1" lang="en-US" altLang="ko-KR" sz="700" kern="0" dirty="0">
                  <a:latin typeface="+mn-ea"/>
                </a:endParaRPr>
              </a:p>
            </p:txBody>
          </p:sp>
          <p:sp>
            <p:nvSpPr>
              <p:cNvPr id="115" name="사각형: 둥근 모서리 172">
                <a:extLst>
                  <a:ext uri="{FF2B5EF4-FFF2-40B4-BE49-F238E27FC236}">
                    <a16:creationId xmlns:a16="http://schemas.microsoft.com/office/drawing/2014/main" id="{7F182F00-C81F-5F02-6A1E-826222B231A9}"/>
                  </a:ext>
                </a:extLst>
              </p:cNvPr>
              <p:cNvSpPr/>
              <p:nvPr/>
            </p:nvSpPr>
            <p:spPr>
              <a:xfrm>
                <a:off x="2693406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최근 </a:t>
                </a:r>
                <a:r>
                  <a:rPr kumimoji="1" lang="en-US" altLang="ko-KR" sz="700" kern="0" dirty="0">
                    <a:solidFill>
                      <a:prstClr val="black"/>
                    </a:solidFill>
                    <a:latin typeface="+mn-ea"/>
                  </a:rPr>
                  <a:t>6</a:t>
                </a: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개월</a:t>
                </a:r>
                <a:endParaRPr kumimoji="1" lang="en-US" altLang="ko-KR" sz="7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grpSp>
          <p:nvGrpSpPr>
            <p:cNvPr id="109" name="그룹 108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2450608" y="3740722"/>
              <a:ext cx="859319" cy="188244"/>
              <a:chOff x="5613534" y="2854836"/>
              <a:chExt cx="804671" cy="188244"/>
            </a:xfrm>
          </p:grpSpPr>
          <p:sp>
            <p:nvSpPr>
              <p:cNvPr id="111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2026-01-15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12" name="그림 111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28814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20" name="그룹 119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121" name="직사각형 120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2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24" name="그룹 123"/>
          <p:cNvGrpSpPr/>
          <p:nvPr/>
        </p:nvGrpSpPr>
        <p:grpSpPr>
          <a:xfrm>
            <a:off x="3795734" y="3982653"/>
            <a:ext cx="2712027" cy="505089"/>
            <a:chOff x="3795734" y="4353857"/>
            <a:chExt cx="2712027" cy="505089"/>
          </a:xfrm>
        </p:grpSpPr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391255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구분 설정</a:t>
              </a:r>
            </a:p>
          </p:txBody>
        </p:sp>
        <p:grpSp>
          <p:nvGrpSpPr>
            <p:cNvPr id="126" name="그룹 125"/>
            <p:cNvGrpSpPr/>
            <p:nvPr/>
          </p:nvGrpSpPr>
          <p:grpSpPr>
            <a:xfrm flipV="1">
              <a:off x="6261284" y="4488945"/>
              <a:ext cx="91438" cy="45719"/>
              <a:chOff x="6812560" y="3297172"/>
              <a:chExt cx="94010" cy="47005"/>
            </a:xfrm>
          </p:grpSpPr>
          <p:cxnSp>
            <p:nvCxnSpPr>
              <p:cNvPr id="133" name="직선 연결선 13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4" name="직선 연결선 13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7" name="모서리가 둥근 직사각형 126"/>
            <p:cNvSpPr/>
            <p:nvPr/>
          </p:nvSpPr>
          <p:spPr>
            <a:xfrm>
              <a:off x="4569619" y="4671746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tx1"/>
                  </a:solidFill>
                </a:rPr>
                <a:t>전체</a:t>
              </a: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619620"/>
              <a:ext cx="670770" cy="18921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10000"/>
                </a:lnSpc>
              </a:pPr>
              <a:r>
                <a:rPr lang="ko-KR" altLang="en-US" sz="700" dirty="0" smtClean="0">
                  <a:latin typeface="+mn-ea"/>
                </a:rPr>
                <a:t>상태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>
              <a:off x="6261284" y="4742486"/>
              <a:ext cx="91438" cy="45719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2" name="직선 연결선 13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435385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5" name="그룹 134"/>
          <p:cNvGrpSpPr/>
          <p:nvPr/>
        </p:nvGrpSpPr>
        <p:grpSpPr>
          <a:xfrm>
            <a:off x="3903622" y="2893083"/>
            <a:ext cx="2516607" cy="962554"/>
            <a:chOff x="778515" y="4388257"/>
            <a:chExt cx="2516607" cy="962554"/>
          </a:xfrm>
        </p:grpSpPr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38825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err="1" smtClean="0">
                  <a:latin typeface="+mn-ea"/>
                </a:rPr>
                <a:t>검색어</a:t>
              </a:r>
              <a:endParaRPr lang="ko-KR" altLang="en-US" sz="700" b="1" dirty="0">
                <a:latin typeface="+mn-ea"/>
              </a:endParaRPr>
            </a:p>
          </p:txBody>
        </p:sp>
        <p:grpSp>
          <p:nvGrpSpPr>
            <p:cNvPr id="137" name="그룹 136"/>
            <p:cNvGrpSpPr/>
            <p:nvPr/>
          </p:nvGrpSpPr>
          <p:grpSpPr>
            <a:xfrm flipV="1">
              <a:off x="3140949" y="4485947"/>
              <a:ext cx="91438" cy="45719"/>
              <a:chOff x="6812560" y="3297172"/>
              <a:chExt cx="94010" cy="47005"/>
            </a:xfrm>
          </p:grpSpPr>
          <p:cxnSp>
            <p:nvCxnSpPr>
              <p:cNvPr id="140" name="직선 연결선 13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1" name="직선 연결선 14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38" name="모서리가 둥근 직사각형 137"/>
            <p:cNvSpPr/>
            <p:nvPr/>
          </p:nvSpPr>
          <p:spPr>
            <a:xfrm>
              <a:off x="1449284" y="466874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 smtClean="0">
                  <a:solidFill>
                    <a:schemeClr val="bg1">
                      <a:lumMod val="65000"/>
                    </a:schemeClr>
                  </a:solidFill>
                </a:rPr>
                <a:t>제목을 </a:t>
              </a:r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39" name="TextBox 13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655417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제목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2" name="모서리가 둥근 직사각형 141"/>
            <p:cNvSpPr/>
            <p:nvPr/>
          </p:nvSpPr>
          <p:spPr>
            <a:xfrm>
              <a:off x="1449284" y="4911422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 smtClean="0">
                  <a:solidFill>
                    <a:schemeClr val="bg1">
                      <a:lumMod val="65000"/>
                    </a:schemeClr>
                  </a:solidFill>
                </a:rPr>
                <a:t>내용을 </a:t>
              </a:r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898091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내용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4" name="모서리가 둥근 직사각형 143"/>
            <p:cNvSpPr/>
            <p:nvPr/>
          </p:nvSpPr>
          <p:spPr>
            <a:xfrm>
              <a:off x="1449284" y="5163611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 smtClean="0">
                  <a:solidFill>
                    <a:schemeClr val="bg1">
                      <a:lumMod val="65000"/>
                    </a:schemeClr>
                  </a:solidFill>
                </a:rPr>
                <a:t>작성자를 </a:t>
              </a:r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5150280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작성자</a:t>
              </a:r>
              <a:endParaRPr lang="en-US" altLang="ko-KR" sz="700" dirty="0">
                <a:latin typeface="+mn-ea"/>
              </a:endParaRPr>
            </a:p>
          </p:txBody>
        </p:sp>
      </p:grpSp>
      <p:grpSp>
        <p:nvGrpSpPr>
          <p:cNvPr id="147" name="그룹 146"/>
          <p:cNvGrpSpPr/>
          <p:nvPr/>
        </p:nvGrpSpPr>
        <p:grpSpPr>
          <a:xfrm>
            <a:off x="781461" y="4459429"/>
            <a:ext cx="2473257" cy="960061"/>
            <a:chOff x="781461" y="2610063"/>
            <a:chExt cx="2473257" cy="960061"/>
          </a:xfrm>
        </p:grpSpPr>
        <p:sp>
          <p:nvSpPr>
            <p:cNvPr id="14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769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b="1" dirty="0" smtClean="0"/>
                <a:t>공지사항</a:t>
              </a:r>
              <a:r>
                <a:rPr lang="en-US" altLang="ko-KR" sz="900" b="1" dirty="0" smtClean="0"/>
                <a:t>, </a:t>
              </a:r>
              <a:r>
                <a:rPr lang="ko-KR" altLang="en-US" sz="900" b="1" dirty="0" smtClean="0"/>
                <a:t>게시물의 제목은 최대 </a:t>
              </a:r>
              <a:r>
                <a:rPr lang="en-US" altLang="ko-KR" sz="900" b="1" dirty="0" smtClean="0"/>
                <a:t>2</a:t>
              </a:r>
              <a:r>
                <a:rPr lang="ko-KR" altLang="en-US" sz="900" b="1" dirty="0" smtClean="0"/>
                <a:t>줄로 표시합니다</a:t>
              </a:r>
              <a:r>
                <a:rPr lang="en-US" altLang="ko-KR" sz="900" b="1" dirty="0" smtClean="0"/>
                <a:t>. </a:t>
              </a:r>
              <a:r>
                <a:rPr lang="ko-KR" altLang="en-US" sz="900" b="1" dirty="0" smtClean="0"/>
                <a:t>표시 이후 내용이 긴 경우 </a:t>
              </a:r>
              <a:r>
                <a:rPr lang="en-US" altLang="ko-KR" sz="900" b="1" dirty="0" smtClean="0"/>
                <a:t>… </a:t>
              </a:r>
              <a:r>
                <a:rPr lang="ko-KR" altLang="en-US" sz="900" b="1" dirty="0" smtClean="0"/>
                <a:t>으로 </a:t>
              </a:r>
              <a:r>
                <a:rPr lang="ko-KR" altLang="en-US" sz="900" b="1" dirty="0" err="1" smtClean="0"/>
                <a:t>처리합</a:t>
              </a:r>
              <a:endParaRPr lang="ko-KR" altLang="en-US" sz="900" b="1" dirty="0"/>
            </a:p>
          </p:txBody>
        </p:sp>
        <p:sp>
          <p:nvSpPr>
            <p:cNvPr id="14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담당부서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작성자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작성일자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5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139237"/>
              <a:ext cx="397545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총무부</a:t>
              </a:r>
              <a:endParaRPr lang="en-US" altLang="ko-KR" sz="600" dirty="0" smtClean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홍길동</a:t>
              </a:r>
              <a:endParaRPr lang="en-US" altLang="ko-KR" sz="600" dirty="0" smtClean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2026-02-01</a:t>
              </a:r>
            </a:p>
          </p:txBody>
        </p:sp>
        <p:sp>
          <p:nvSpPr>
            <p:cNvPr id="152" name="모서리가 둥근 직사각형 151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  <a:ln>
              <a:solidFill>
                <a:schemeClr val="tx1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tx1"/>
                  </a:solidFill>
                </a:rPr>
                <a:t>공통</a:t>
              </a:r>
              <a:endParaRPr lang="ko-KR" altLang="en-US" sz="600" dirty="0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23247179"/>
      </p:ext>
    </p:extLst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78625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203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61080"/>
            <a:ext cx="1739826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</a:t>
            </a:r>
            <a:r>
              <a:rPr lang="ko-KR" altLang="en-US" sz="1000" b="1" dirty="0" smtClean="0">
                <a:solidFill>
                  <a:prstClr val="black"/>
                </a:solidFill>
              </a:rPr>
              <a:t>설명 </a:t>
            </a:r>
            <a:r>
              <a:rPr lang="en-US" altLang="ko-KR" sz="1000" b="1" dirty="0" smtClean="0">
                <a:solidFill>
                  <a:prstClr val="black"/>
                </a:solidFill>
              </a:rPr>
              <a:t>– </a:t>
            </a:r>
            <a:r>
              <a:rPr lang="ko-KR" altLang="en-US" sz="1000" b="1" dirty="0" smtClean="0">
                <a:solidFill>
                  <a:prstClr val="black"/>
                </a:solidFill>
              </a:rPr>
              <a:t>일반 공지사항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791237"/>
            <a:ext cx="2643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일반공지사항목록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9" y="487725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359880"/>
            <a:ext cx="266475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일반공지사항목록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02440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69532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57900217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5582286"/>
              </p:ext>
            </p:extLst>
          </p:nvPr>
        </p:nvGraphicFramePr>
        <p:xfrm>
          <a:off x="455204" y="5117006"/>
          <a:ext cx="8995591" cy="9433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7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7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/>
                        <a:t>공통코드 정보를 </a:t>
                      </a:r>
                      <a:r>
                        <a:rPr lang="ko-KR" altLang="en-US" sz="700" dirty="0" err="1"/>
                        <a:t>로드한다</a:t>
                      </a:r>
                      <a:r>
                        <a:rPr lang="en-US" altLang="ko-KR" sz="700" dirty="0"/>
                        <a:t>.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작성일자를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한달전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~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현재일로 기본 값 설정한다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공지사항목록조회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/>
                        <a:t>그리드</a:t>
                      </a:r>
                      <a:r>
                        <a:rPr lang="en-US" altLang="ko-KR" sz="700" dirty="0"/>
                        <a:t>-</a:t>
                      </a:r>
                      <a:r>
                        <a:rPr lang="ko-KR" altLang="en-US" sz="700" dirty="0"/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scwin.grd_noticeList_oncellclick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700" dirty="0"/>
                        <a:t>UI-CM-04-M02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 참조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공지사항상세조회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8" y="2563605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공지사항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1108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emrg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긴급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u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pFix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상위고정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fileCnt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tkcgDeptNm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담당부서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629660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inqCnt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4BAA8C08-5016-C79A-863D-E64DA69FFE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9829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 Box 73">
            <a:extLst>
              <a:ext uri="{FF2B5EF4-FFF2-40B4-BE49-F238E27FC236}">
                <a16:creationId xmlns:a16="http://schemas.microsoft.com/office/drawing/2014/main" id="{4199A64B-B24C-1023-3D68-79D630B45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82429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810816926"/>
      </p:ext>
    </p:extLst>
  </p:cSld>
  <p:clrMapOvr>
    <a:masterClrMapping/>
  </p:clrMapOvr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204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137371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</a:t>
            </a:r>
            <a:r>
              <a:rPr lang="ko-KR" altLang="en-US" sz="1000" b="1" dirty="0" smtClean="0">
                <a:solidFill>
                  <a:prstClr val="black"/>
                </a:solidFill>
              </a:rPr>
              <a:t>설명 </a:t>
            </a:r>
            <a:r>
              <a:rPr lang="en-US" altLang="ko-KR" sz="1000" b="1" dirty="0" smtClean="0">
                <a:solidFill>
                  <a:prstClr val="black"/>
                </a:solidFill>
              </a:rPr>
              <a:t>– </a:t>
            </a:r>
            <a:r>
              <a:rPr lang="ko-KR" altLang="en-US" sz="1000" b="1" dirty="0" err="1" smtClean="0">
                <a:solidFill>
                  <a:prstClr val="black"/>
                </a:solidFill>
              </a:rPr>
              <a:t>방위사업청</a:t>
            </a:r>
            <a:r>
              <a:rPr lang="ko-KR" altLang="en-US" sz="1000" b="1" dirty="0" smtClean="0">
                <a:solidFill>
                  <a:prstClr val="black"/>
                </a:solidFill>
              </a:rPr>
              <a:t> 공지사항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77216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방위사업청공지사항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9" y="493844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382915"/>
            <a:ext cx="282025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방위사업청공지사항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1431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69532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74083225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49317824"/>
              </p:ext>
            </p:extLst>
          </p:nvPr>
        </p:nvGraphicFramePr>
        <p:xfrm>
          <a:off x="452999" y="5126719"/>
          <a:ext cx="8995591" cy="9433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7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/>
                        <a:t>공통코드 정보를 </a:t>
                      </a:r>
                      <a:r>
                        <a:rPr lang="ko-KR" altLang="en-US" sz="700" dirty="0" err="1"/>
                        <a:t>로드한다</a:t>
                      </a:r>
                      <a:r>
                        <a:rPr lang="en-US" altLang="ko-KR" sz="700" dirty="0"/>
                        <a:t>.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작성일자를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한달전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~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현재일로 기본 값 설정한다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공지사항목록조회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/>
                        <a:t>그리드</a:t>
                      </a:r>
                      <a:r>
                        <a:rPr lang="en-US" altLang="ko-KR" sz="700" dirty="0"/>
                        <a:t>-</a:t>
                      </a:r>
                      <a:r>
                        <a:rPr lang="ko-KR" altLang="en-US" sz="700" dirty="0"/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scwin.grd_noticeList_oncellclick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700" dirty="0"/>
                        <a:t>UI-CM-04-M06 </a:t>
                      </a:r>
                      <a:r>
                        <a:rPr lang="ko-KR" altLang="en-US" sz="700" dirty="0"/>
                        <a:t>참조</a:t>
                      </a:r>
                      <a:endParaRPr lang="en-US" altLang="ko-KR" sz="700" dirty="0"/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공지사항상세조회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597665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공지사항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117851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emrg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긴급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u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pFix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상위고정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비고정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fileCnt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tkcgDeptNm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담당부서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48216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inqCnt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E9C0B345-5E63-11C0-48DC-C656AFA843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5" y="4999513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 Box 73">
            <a:extLst>
              <a:ext uri="{FF2B5EF4-FFF2-40B4-BE49-F238E27FC236}">
                <a16:creationId xmlns:a16="http://schemas.microsoft.com/office/drawing/2014/main" id="{133D4DE3-F911-78F2-10FE-A62911F361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904199084"/>
      </p:ext>
    </p:extLst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205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137371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</a:t>
            </a:r>
            <a:r>
              <a:rPr lang="ko-KR" altLang="en-US" sz="1000" b="1" dirty="0" smtClean="0">
                <a:solidFill>
                  <a:prstClr val="black"/>
                </a:solidFill>
              </a:rPr>
              <a:t>설명 </a:t>
            </a:r>
            <a:r>
              <a:rPr lang="en-US" altLang="ko-KR" sz="1000" b="1" dirty="0" smtClean="0">
                <a:solidFill>
                  <a:prstClr val="black"/>
                </a:solidFill>
              </a:rPr>
              <a:t>– </a:t>
            </a:r>
            <a:r>
              <a:rPr lang="ko-KR" altLang="en-US" sz="1000" b="1" dirty="0" err="1" smtClean="0">
                <a:solidFill>
                  <a:prstClr val="black"/>
                </a:solidFill>
              </a:rPr>
              <a:t>수요부대별</a:t>
            </a:r>
            <a:r>
              <a:rPr lang="ko-KR" altLang="en-US" sz="1000" b="1" dirty="0" smtClean="0">
                <a:solidFill>
                  <a:prstClr val="black"/>
                </a:solidFill>
              </a:rPr>
              <a:t> 공지사항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785299"/>
            <a:ext cx="300299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수요부대별공지사항목록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9" y="488206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2999" y="2361869"/>
            <a:ext cx="282025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수요부대별공지사항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996502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69532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39671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07688252"/>
              </p:ext>
            </p:extLst>
          </p:nvPr>
        </p:nvGraphicFramePr>
        <p:xfrm>
          <a:off x="453000" y="5122562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scwin.onpageload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한달전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~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현재일로 기본 값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그리드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scwin.grd_noticeList_oncellclick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dirty="0"/>
                        <a:t>UI-CM-04-M10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589478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공지사항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345244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emrg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긴급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u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pFix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상위고정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비고정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fileCnt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tkcgDeptNm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담당부서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795414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inqCnt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3E69730-F912-80BF-AFBC-7B3EDB49EC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99535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 Box 73">
            <a:extLst>
              <a:ext uri="{FF2B5EF4-FFF2-40B4-BE49-F238E27FC236}">
                <a16:creationId xmlns:a16="http://schemas.microsoft.com/office/drawing/2014/main" id="{BCAF160D-5373-A7C1-903A-743FE32289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0258097"/>
      </p:ext>
    </p:extLst>
  </p:cSld>
  <p:clrMapOvr>
    <a:masterClrMapping/>
  </p:clrMapOvr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206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624410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</a:t>
            </a:r>
            <a:r>
              <a:rPr lang="ko-KR" altLang="en-US" sz="1000" b="1" dirty="0" smtClean="0">
                <a:solidFill>
                  <a:prstClr val="black"/>
                </a:solidFill>
              </a:rPr>
              <a:t>설명 </a:t>
            </a:r>
            <a:r>
              <a:rPr lang="en-US" altLang="ko-KR" sz="1000" b="1" dirty="0" smtClean="0">
                <a:solidFill>
                  <a:prstClr val="black"/>
                </a:solidFill>
              </a:rPr>
              <a:t>– </a:t>
            </a:r>
            <a:r>
              <a:rPr lang="ko-KR" altLang="en-US" sz="1000" b="1" dirty="0" smtClean="0">
                <a:solidFill>
                  <a:prstClr val="black"/>
                </a:solidFill>
              </a:rPr>
              <a:t>일반 자료실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3104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일반자료실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8117" y="452472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424473"/>
            <a:ext cx="23185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일반자료실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1431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8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5143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07111004"/>
                  </a:ext>
                </a:extLst>
              </a:tr>
              <a:tr h="133807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contsCn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83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2598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8969614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55859305"/>
              </p:ext>
            </p:extLst>
          </p:nvPr>
        </p:nvGraphicFramePr>
        <p:xfrm>
          <a:off x="453000" y="4802860"/>
          <a:ext cx="8995591" cy="1141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한달전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~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현재일로 기본 값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자료실목록조회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그리드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scwin.grd_</a:t>
                      </a:r>
                      <a:r>
                        <a:rPr lang="en-US" altLang="ko-KR" sz="7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rpstrList</a:t>
                      </a: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_oncellclick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dirty="0"/>
                        <a:t>UI-CM-04-M14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자료실상세조회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2651410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자료실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22076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fileCnt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rgtrId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inqNocs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B0846136-7F2D-81A6-A241-F149868921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681607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80A3B3B5-2CBC-AA8F-2EC1-0AA497716347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5BB55024-1BA7-9735-B079-6CF7208C64BF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D68D08FD-FECB-107D-6044-66A77FB6CD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09559936"/>
      </p:ext>
    </p:extLst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207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009131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</a:t>
            </a:r>
            <a:r>
              <a:rPr lang="ko-KR" altLang="en-US" sz="1000" b="1" dirty="0" smtClean="0">
                <a:solidFill>
                  <a:prstClr val="black"/>
                </a:solidFill>
              </a:rPr>
              <a:t>설명 </a:t>
            </a:r>
            <a:r>
              <a:rPr lang="en-US" altLang="ko-KR" sz="1000" b="1" dirty="0" smtClean="0">
                <a:solidFill>
                  <a:prstClr val="black"/>
                </a:solidFill>
              </a:rPr>
              <a:t>– </a:t>
            </a:r>
            <a:r>
              <a:rPr lang="ko-KR" altLang="en-US" sz="1000" b="1" dirty="0" err="1" smtClean="0">
                <a:solidFill>
                  <a:prstClr val="black"/>
                </a:solidFill>
              </a:rPr>
              <a:t>수요부대별</a:t>
            </a:r>
            <a:r>
              <a:rPr lang="ko-KR" altLang="en-US" sz="1000" b="1" dirty="0" smtClean="0">
                <a:solidFill>
                  <a:prstClr val="black"/>
                </a:solidFill>
              </a:rPr>
              <a:t> 자료실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65674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수요부대별자료실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8116" y="470396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495727"/>
            <a:ext cx="270483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수요부대별자료실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1431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07111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contsCn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83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2598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2655598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28847410"/>
              </p:ext>
            </p:extLst>
          </p:nvPr>
        </p:nvGraphicFramePr>
        <p:xfrm>
          <a:off x="452999" y="4982098"/>
          <a:ext cx="8995591" cy="1141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한달전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~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현재일로 기본 값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그리드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scwin.grd_noticeList_oncellclick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dirty="0"/>
                        <a:t>UI-CM-04-M18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자료실상세조회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706930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no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자료실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365178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fileCnt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rgtrId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inqNocs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95E07F60-1198-562C-BA09-023EF44C09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5" y="4854907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BA57D6A6-8272-5F70-29BF-68B8E46EC127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61858C29-5B48-9FAF-06BC-D55A9F546714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998645F1-9DDE-F296-834B-85F5E47FAF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9158677"/>
      </p:ext>
    </p:extLst>
  </p:cSld>
  <p:clrMapOvr>
    <a:masterClrMapping/>
  </p:clrMapOvr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208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18225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</a:t>
            </a:r>
            <a:r>
              <a:rPr lang="ko-KR" altLang="en-US" sz="1000" b="1" dirty="0" smtClean="0">
                <a:solidFill>
                  <a:prstClr val="black"/>
                </a:solidFill>
              </a:rPr>
              <a:t>설명 </a:t>
            </a:r>
            <a:r>
              <a:rPr lang="en-US" altLang="ko-KR" sz="1000" b="1" dirty="0" smtClean="0">
                <a:solidFill>
                  <a:prstClr val="black"/>
                </a:solidFill>
              </a:rPr>
              <a:t>– </a:t>
            </a:r>
            <a:r>
              <a:rPr lang="ko-KR" altLang="en-US" sz="1000" b="1" dirty="0" smtClean="0">
                <a:solidFill>
                  <a:prstClr val="black"/>
                </a:solidFill>
              </a:rPr>
              <a:t>계약관련 서식 자료실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77216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계약관련서식자료실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9" y="449287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507602"/>
            <a:ext cx="282025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계약관련서식자료실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 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1431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07111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contsCn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83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2598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0512867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9260240"/>
              </p:ext>
            </p:extLst>
          </p:nvPr>
        </p:nvGraphicFramePr>
        <p:xfrm>
          <a:off x="453000" y="4707856"/>
          <a:ext cx="8995591" cy="1263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한달전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~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현재일로 기본 값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그리드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 smtClean="0">
                          <a:latin typeface="+mn-ea"/>
                          <a:ea typeface="+mn-ea"/>
                        </a:rPr>
                        <a:t>scwin.grd_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rpstrList</a:t>
                      </a:r>
                      <a:r>
                        <a:rPr lang="en-US" altLang="ko-KR" sz="800" dirty="0" err="1" smtClean="0">
                          <a:latin typeface="+mn-ea"/>
                          <a:ea typeface="+mn-ea"/>
                        </a:rPr>
                        <a:t>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dirty="0"/>
                        <a:t>UI-CM-04-M22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자료실상세조회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709912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자료실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347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fileCnt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rgtrId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inqNocs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8D20C417-5A56-81AC-2847-631C94EE2E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57473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DC36601D-D2A4-3814-8239-B46BF340B172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FCC17A70-90BB-3652-DDCB-BE850EBB3964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926B8685-FC02-9CA0-9EB5-7B3C5330D6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00065645"/>
      </p:ext>
    </p:extLst>
  </p:cSld>
  <p:clrMapOvr>
    <a:masterClrMapping/>
  </p:clrMapOvr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209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880890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</a:t>
            </a:r>
            <a:r>
              <a:rPr lang="ko-KR" altLang="en-US" sz="1000" b="1" dirty="0" smtClean="0">
                <a:solidFill>
                  <a:prstClr val="black"/>
                </a:solidFill>
              </a:rPr>
              <a:t>설명 </a:t>
            </a:r>
            <a:r>
              <a:rPr lang="en-US" altLang="ko-KR" sz="1000" b="1" dirty="0" smtClean="0">
                <a:solidFill>
                  <a:prstClr val="black"/>
                </a:solidFill>
              </a:rPr>
              <a:t>– </a:t>
            </a:r>
            <a:r>
              <a:rPr lang="ko-KR" altLang="en-US" sz="1000" b="1" dirty="0" smtClean="0">
                <a:solidFill>
                  <a:prstClr val="black"/>
                </a:solidFill>
              </a:rPr>
              <a:t>시스템 개선안내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5413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시스템개선안내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8" y="457446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477914"/>
            <a:ext cx="258941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시스템개선안내 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 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1431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07111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83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2598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7825938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8026901"/>
              </p:ext>
            </p:extLst>
          </p:nvPr>
        </p:nvGraphicFramePr>
        <p:xfrm>
          <a:off x="453000" y="4814735"/>
          <a:ext cx="8995591" cy="1141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한달전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~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현재일로 기본 값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그리드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scwin.grd_</a:t>
                      </a:r>
                      <a:r>
                        <a:rPr lang="en-US" altLang="ko-KR" sz="7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rpstrList</a:t>
                      </a: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_oncellclick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dirty="0"/>
                        <a:t>UI-CM-04-M26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자료실상세조회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8" y="2708576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6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413045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bbsTtl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fileCnt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wrtrNm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inqCnt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091AC8A-3330-AEAC-F7A9-4EB782249C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68755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1A590530-954E-F8EA-7610-BF1A2C387471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8E60D4A2-25E6-85F7-28C9-C0A74FCE6EEE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3F3AA198-D955-4F5B-8500-EEF578B5B3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24527164"/>
      </p:ext>
    </p:extLst>
  </p:cSld>
  <p:clrMapOvr>
    <a:masterClrMapping/>
  </p:clrMapOvr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lvl="0" indent="-228600">
              <a:buFont typeface="+mj-lt"/>
              <a:buAutoNum type="arabicPeriod"/>
            </a:pPr>
            <a:r>
              <a:rPr lang="ko-KR" altLang="en-US" dirty="0">
                <a:solidFill>
                  <a:prstClr val="black"/>
                </a:solidFill>
              </a:rPr>
              <a:t>게시판 제목 표시</a:t>
            </a:r>
            <a:r>
              <a:rPr lang="en-US" altLang="ko-KR" dirty="0">
                <a:solidFill>
                  <a:prstClr val="black"/>
                </a:solidFill>
              </a:rPr>
              <a:t/>
            </a:r>
            <a:br>
              <a:rPr lang="en-US" altLang="ko-KR" dirty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>- </a:t>
            </a:r>
            <a:r>
              <a:rPr lang="ko-KR" altLang="en-US" dirty="0">
                <a:solidFill>
                  <a:prstClr val="black"/>
                </a:solidFill>
              </a:rPr>
              <a:t>공지사항</a:t>
            </a:r>
            <a:r>
              <a:rPr lang="en-US" altLang="ko-KR" dirty="0">
                <a:solidFill>
                  <a:prstClr val="black"/>
                </a:solidFill>
              </a:rPr>
              <a:t/>
            </a:r>
            <a:br>
              <a:rPr lang="en-US" altLang="ko-KR" dirty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>  &gt; </a:t>
            </a:r>
            <a:r>
              <a:rPr lang="ko-KR" altLang="en-US" dirty="0">
                <a:solidFill>
                  <a:prstClr val="black"/>
                </a:solidFill>
              </a:rPr>
              <a:t>일반 </a:t>
            </a:r>
            <a:r>
              <a:rPr lang="ko-KR" altLang="en-US" dirty="0" smtClean="0">
                <a:solidFill>
                  <a:prstClr val="black"/>
                </a:solidFill>
              </a:rPr>
              <a:t>공지사항 상세</a:t>
            </a:r>
            <a:r>
              <a:rPr lang="en-US" altLang="ko-KR" dirty="0">
                <a:solidFill>
                  <a:prstClr val="black"/>
                </a:solidFill>
              </a:rPr>
              <a:t/>
            </a:r>
            <a:br>
              <a:rPr lang="en-US" altLang="ko-KR" dirty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>  &gt; </a:t>
            </a:r>
            <a:r>
              <a:rPr lang="ko-KR" altLang="en-US" dirty="0" err="1">
                <a:solidFill>
                  <a:prstClr val="black"/>
                </a:solidFill>
              </a:rPr>
              <a:t>방위사업청</a:t>
            </a:r>
            <a:r>
              <a:rPr lang="ko-KR" altLang="en-US" dirty="0">
                <a:solidFill>
                  <a:prstClr val="black"/>
                </a:solidFill>
              </a:rPr>
              <a:t> </a:t>
            </a:r>
            <a:r>
              <a:rPr lang="ko-KR" altLang="en-US" dirty="0" smtClean="0">
                <a:solidFill>
                  <a:prstClr val="black"/>
                </a:solidFill>
              </a:rPr>
              <a:t>공지사항</a:t>
            </a:r>
            <a:r>
              <a:rPr lang="ko-KR" altLang="en-US" dirty="0">
                <a:solidFill>
                  <a:prstClr val="black"/>
                </a:solidFill>
              </a:rPr>
              <a:t> 상세</a:t>
            </a:r>
            <a:r>
              <a:rPr lang="en-US" altLang="ko-KR" dirty="0">
                <a:solidFill>
                  <a:prstClr val="black"/>
                </a:solidFill>
              </a:rPr>
              <a:t/>
            </a:r>
            <a:br>
              <a:rPr lang="en-US" altLang="ko-KR" dirty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>  &gt; </a:t>
            </a:r>
            <a:r>
              <a:rPr lang="ko-KR" altLang="en-US" dirty="0" err="1">
                <a:solidFill>
                  <a:prstClr val="black"/>
                </a:solidFill>
              </a:rPr>
              <a:t>수요부대별</a:t>
            </a:r>
            <a:r>
              <a:rPr lang="ko-KR" altLang="en-US" dirty="0">
                <a:solidFill>
                  <a:prstClr val="black"/>
                </a:solidFill>
              </a:rPr>
              <a:t> </a:t>
            </a:r>
            <a:r>
              <a:rPr lang="ko-KR" altLang="en-US" dirty="0" smtClean="0">
                <a:solidFill>
                  <a:prstClr val="black"/>
                </a:solidFill>
              </a:rPr>
              <a:t>공지사항</a:t>
            </a:r>
            <a:r>
              <a:rPr lang="ko-KR" altLang="en-US" dirty="0">
                <a:solidFill>
                  <a:prstClr val="black"/>
                </a:solidFill>
              </a:rPr>
              <a:t> 상세</a:t>
            </a:r>
            <a:r>
              <a:rPr lang="en-US" altLang="ko-KR" dirty="0">
                <a:solidFill>
                  <a:prstClr val="black"/>
                </a:solidFill>
              </a:rPr>
              <a:t/>
            </a:r>
            <a:br>
              <a:rPr lang="en-US" altLang="ko-KR" dirty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>- </a:t>
            </a:r>
            <a:r>
              <a:rPr lang="ko-KR" altLang="en-US" dirty="0">
                <a:solidFill>
                  <a:prstClr val="black"/>
                </a:solidFill>
              </a:rPr>
              <a:t>자료실</a:t>
            </a:r>
            <a:r>
              <a:rPr lang="en-US" altLang="ko-KR" dirty="0">
                <a:solidFill>
                  <a:prstClr val="black"/>
                </a:solidFill>
              </a:rPr>
              <a:t/>
            </a:r>
            <a:br>
              <a:rPr lang="en-US" altLang="ko-KR" dirty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>  &gt;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일반 </a:t>
            </a:r>
            <a:r>
              <a:rPr lang="ko-KR" altLang="en-US" dirty="0" smtClean="0">
                <a:solidFill>
                  <a:prstClr val="black"/>
                </a:solidFill>
                <a:latin typeface="맑은 고딕" panose="020B0503020000020004" pitchFamily="50" charset="-127"/>
              </a:rPr>
              <a:t>자료실</a:t>
            </a:r>
            <a:r>
              <a:rPr lang="ko-KR" altLang="en-US" dirty="0">
                <a:solidFill>
                  <a:prstClr val="black"/>
                </a:solidFill>
              </a:rPr>
              <a:t> 상세</a:t>
            </a: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/>
            </a:r>
            <a:b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</a:b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  &gt; </a:t>
            </a:r>
            <a:r>
              <a:rPr lang="ko-KR" altLang="en-US" dirty="0" smtClean="0">
                <a:solidFill>
                  <a:prstClr val="black"/>
                </a:solidFill>
                <a:latin typeface="맑은 고딕" panose="020B0503020000020004" pitchFamily="50" charset="-127"/>
              </a:rPr>
              <a:t>수요부대별자료실</a:t>
            </a:r>
            <a:r>
              <a:rPr lang="ko-KR" altLang="en-US" dirty="0">
                <a:solidFill>
                  <a:prstClr val="black"/>
                </a:solidFill>
              </a:rPr>
              <a:t> 상세</a:t>
            </a: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/>
            </a:r>
            <a:b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</a:b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  &gt; </a:t>
            </a:r>
            <a:r>
              <a:rPr lang="ko-KR" altLang="en-US" dirty="0" smtClean="0">
                <a:solidFill>
                  <a:prstClr val="black"/>
                </a:solidFill>
                <a:latin typeface="맑은 고딕" panose="020B0503020000020004" pitchFamily="50" charset="-127"/>
              </a:rPr>
              <a:t>계약관련서식자료실</a:t>
            </a:r>
            <a:r>
              <a:rPr lang="ko-KR" altLang="en-US" dirty="0">
                <a:solidFill>
                  <a:prstClr val="black"/>
                </a:solidFill>
              </a:rPr>
              <a:t> 상세</a:t>
            </a: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/>
            </a:r>
            <a:b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</a:b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  &gt; </a:t>
            </a:r>
            <a:r>
              <a:rPr lang="ko-KR" altLang="en-US" dirty="0" smtClean="0">
                <a:solidFill>
                  <a:prstClr val="black"/>
                </a:solidFill>
                <a:latin typeface="맑은 고딕" panose="020B0503020000020004" pitchFamily="50" charset="-127"/>
              </a:rPr>
              <a:t>시스템개선안내</a:t>
            </a:r>
            <a:r>
              <a:rPr lang="ko-KR" altLang="en-US" dirty="0">
                <a:solidFill>
                  <a:prstClr val="black"/>
                </a:solidFill>
              </a:rPr>
              <a:t> </a:t>
            </a:r>
            <a:r>
              <a:rPr lang="ko-KR" altLang="en-US" dirty="0" smtClean="0">
                <a:solidFill>
                  <a:prstClr val="black"/>
                </a:solidFill>
              </a:rPr>
              <a:t>상세</a:t>
            </a:r>
            <a:endParaRPr lang="en-US" altLang="ko-KR" dirty="0" smtClean="0">
              <a:solidFill>
                <a:prstClr val="black"/>
              </a:solidFill>
            </a:endParaRPr>
          </a:p>
          <a:p>
            <a:pPr marL="228600" lvl="0" indent="-228600">
              <a:buFont typeface="+mj-lt"/>
              <a:buAutoNum type="arabicPeriod"/>
            </a:pPr>
            <a:r>
              <a:rPr lang="ko-KR" altLang="en-US" dirty="0" smtClean="0">
                <a:solidFill>
                  <a:prstClr val="black"/>
                </a:solidFill>
              </a:rPr>
              <a:t>게시판 상세 내용 표시</a:t>
            </a:r>
            <a:endParaRPr lang="en-US" altLang="ko-KR" dirty="0" smtClean="0">
              <a:solidFill>
                <a:prstClr val="black"/>
              </a:solidFill>
            </a:endParaRPr>
          </a:p>
          <a:p>
            <a:pPr marL="228600" lvl="0" indent="-228600">
              <a:buFont typeface="+mj-lt"/>
              <a:buAutoNum type="arabicPeriod"/>
            </a:pPr>
            <a:r>
              <a:rPr lang="ko-KR" altLang="en-US" dirty="0" err="1" smtClean="0">
                <a:solidFill>
                  <a:prstClr val="black"/>
                </a:solidFill>
              </a:rPr>
              <a:t>이전글</a:t>
            </a:r>
            <a:r>
              <a:rPr lang="en-US" altLang="ko-KR" dirty="0" smtClean="0">
                <a:solidFill>
                  <a:prstClr val="black"/>
                </a:solidFill>
              </a:rPr>
              <a:t>, </a:t>
            </a:r>
            <a:r>
              <a:rPr lang="ko-KR" altLang="en-US" dirty="0" err="1" smtClean="0">
                <a:solidFill>
                  <a:prstClr val="black"/>
                </a:solidFill>
              </a:rPr>
              <a:t>다음글</a:t>
            </a:r>
            <a:r>
              <a:rPr lang="ko-KR" altLang="en-US" dirty="0" smtClean="0">
                <a:solidFill>
                  <a:prstClr val="black"/>
                </a:solidFill>
              </a:rPr>
              <a:t> 표시</a:t>
            </a:r>
            <a:r>
              <a:rPr lang="en-US" altLang="ko-KR" dirty="0" smtClean="0">
                <a:solidFill>
                  <a:prstClr val="black"/>
                </a:solidFill>
              </a:rPr>
              <a:t/>
            </a:r>
            <a:br>
              <a:rPr lang="en-US" altLang="ko-KR" dirty="0" smtClean="0">
                <a:solidFill>
                  <a:prstClr val="black"/>
                </a:solidFill>
              </a:rPr>
            </a:br>
            <a:r>
              <a:rPr lang="en-US" altLang="ko-KR" dirty="0" smtClean="0">
                <a:solidFill>
                  <a:prstClr val="black"/>
                </a:solidFill>
              </a:rPr>
              <a:t>- </a:t>
            </a:r>
            <a:r>
              <a:rPr lang="ko-KR" altLang="en-US" dirty="0" smtClean="0">
                <a:solidFill>
                  <a:prstClr val="black"/>
                </a:solidFill>
              </a:rPr>
              <a:t>목록 버튼은 </a:t>
            </a:r>
            <a:r>
              <a:rPr lang="ko-KR" altLang="en-US" dirty="0" err="1" smtClean="0">
                <a:solidFill>
                  <a:prstClr val="black"/>
                </a:solidFill>
              </a:rPr>
              <a:t>미표시</a:t>
            </a:r>
            <a:endParaRPr lang="en-US" altLang="ko-KR" dirty="0">
              <a:solidFill>
                <a:prstClr val="black"/>
              </a:solidFill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210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게시판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게시판 상세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전체 공지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 err="1">
                <a:latin typeface="+mn-ea"/>
              </a:rPr>
              <a:t>방위사업청</a:t>
            </a:r>
            <a:r>
              <a:rPr lang="ko-KR" altLang="en-US" dirty="0">
                <a:latin typeface="+mn-ea"/>
              </a:rPr>
              <a:t> 공지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 err="1">
                <a:latin typeface="+mn-ea"/>
              </a:rPr>
              <a:t>수요부대별</a:t>
            </a:r>
            <a:r>
              <a:rPr lang="ko-KR" altLang="en-US" dirty="0">
                <a:latin typeface="+mn-ea"/>
              </a:rPr>
              <a:t> 공지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자료실 등 게시판 상세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게시판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게시판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MUI-CM-04-M02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게시판 </a:t>
            </a:r>
            <a:r>
              <a:rPr lang="ko-KR" altLang="en-US" sz="800" dirty="0" smtClean="0"/>
              <a:t>제목 표시 </a:t>
            </a:r>
            <a:r>
              <a:rPr lang="ko-KR" altLang="en-US" sz="800" dirty="0"/>
              <a:t>영역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6" name="그룹 15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7" name="직선 연결선 1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" name="직선 연결선 1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9" name="타원 18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1970713"/>
            <a:ext cx="247394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제목</a:t>
            </a:r>
            <a:endParaRPr lang="en-US" altLang="ko-KR" sz="700" b="1" dirty="0">
              <a:latin typeface="맑은 고딕" panose="020B0503020000020004" pitchFamily="50" charset="-127"/>
            </a:endParaRPr>
          </a:p>
        </p:txBody>
      </p: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7412" y="267101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" name="TextBox 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2155145"/>
            <a:ext cx="2473940" cy="4154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 defTabSz="1013612">
              <a:defRPr/>
            </a:pPr>
            <a:r>
              <a:rPr lang="ko-KR" altLang="en-US" sz="900" dirty="0"/>
              <a:t>연초에 공개되는 조달계획에서  알림</a:t>
            </a:r>
            <a:r>
              <a:rPr lang="en-US" altLang="ko-KR" sz="900" dirty="0"/>
              <a:t> </a:t>
            </a:r>
            <a:r>
              <a:rPr lang="ko-KR" altLang="en-US" sz="900" dirty="0"/>
              <a:t>신청한 품목에 대한 입찰공고가 시스템에 게시되면 알려드리는 서비스입니다</a:t>
            </a:r>
            <a:r>
              <a:rPr lang="en-US" altLang="ko-KR" sz="900" dirty="0"/>
              <a:t>.</a:t>
            </a:r>
            <a:endParaRPr kumimoji="1" lang="en-US" altLang="ko-KR" sz="900" spc="-60" dirty="0">
              <a:solidFill>
                <a:srgbClr val="000000">
                  <a:lumMod val="65000"/>
                  <a:lumOff val="35000"/>
                </a:srgbClr>
              </a:solidFill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2770830"/>
            <a:ext cx="649855" cy="5601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30000"/>
              </a:lnSpc>
            </a:pPr>
            <a:r>
              <a:rPr lang="ko-KR" altLang="en-US" sz="7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작성자</a:t>
            </a:r>
            <a:endParaRPr lang="en-US" altLang="ko-KR" sz="700" b="1" dirty="0" smtClean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pPr>
              <a:lnSpc>
                <a:spcPct val="130000"/>
              </a:lnSpc>
            </a:pPr>
            <a:r>
              <a:rPr lang="ko-KR" altLang="en-US" sz="7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담당부서</a:t>
            </a:r>
            <a:endParaRPr lang="en-US" altLang="ko-KR" sz="700" b="1" dirty="0" smtClean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pPr>
              <a:lnSpc>
                <a:spcPct val="130000"/>
              </a:lnSpc>
            </a:pPr>
            <a:r>
              <a:rPr lang="ko-KR" altLang="en-US" sz="7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구분</a:t>
            </a:r>
            <a:endParaRPr lang="en-US" altLang="ko-KR" sz="700" b="1" dirty="0" smtClean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pPr>
              <a:lnSpc>
                <a:spcPct val="130000"/>
              </a:lnSpc>
            </a:pPr>
            <a:r>
              <a:rPr lang="ko-KR" altLang="en-US" sz="7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게시기간</a:t>
            </a:r>
            <a:endParaRPr lang="en-US" altLang="ko-KR" sz="700" b="1" dirty="0">
              <a:latin typeface="맑은 고딕" panose="020B0503020000020004" pitchFamily="50" charset="-127"/>
            </a:endParaRPr>
          </a:p>
        </p:txBody>
      </p:sp>
      <p:cxnSp>
        <p:nvCxnSpPr>
          <p:cNvPr id="24" name="직선 연결선 2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7412" y="341868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" name="TextBox 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93370" y="2770830"/>
            <a:ext cx="1885045" cy="5909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 algn="r" defTabSz="1013612">
              <a:lnSpc>
                <a:spcPct val="120000"/>
              </a:lnSpc>
              <a:defRPr/>
            </a:pPr>
            <a:r>
              <a:rPr lang="ko-KR" altLang="en-US" sz="800" dirty="0" smtClean="0"/>
              <a:t>홍길동</a:t>
            </a:r>
            <a:endParaRPr lang="en-US" altLang="ko-KR" sz="800" dirty="0" smtClean="0"/>
          </a:p>
          <a:p>
            <a:pPr lvl="0" algn="r" defTabSz="1013612">
              <a:lnSpc>
                <a:spcPct val="120000"/>
              </a:lnSpc>
              <a:defRPr/>
            </a:pPr>
            <a:r>
              <a:rPr lang="ko-KR" altLang="en-US" sz="800" dirty="0" smtClean="0"/>
              <a:t>총무부</a:t>
            </a:r>
            <a:endParaRPr lang="en-US" altLang="ko-KR" sz="800" dirty="0" smtClean="0"/>
          </a:p>
          <a:p>
            <a:pPr lvl="0" algn="r" defTabSz="1013612">
              <a:lnSpc>
                <a:spcPct val="120000"/>
              </a:lnSpc>
              <a:defRPr/>
            </a:pPr>
            <a:r>
              <a:rPr lang="ko-KR" altLang="en-US" sz="800" dirty="0" smtClean="0"/>
              <a:t>공통</a:t>
            </a:r>
            <a:endParaRPr lang="en-US" altLang="ko-KR" sz="800" dirty="0" smtClean="0"/>
          </a:p>
          <a:p>
            <a:pPr lvl="0" algn="r" defTabSz="1013612">
              <a:lnSpc>
                <a:spcPct val="120000"/>
              </a:lnSpc>
              <a:defRPr/>
            </a:pPr>
            <a:r>
              <a:rPr lang="en-US" altLang="ko-KR" sz="800" dirty="0" smtClean="0"/>
              <a:t>2025-03-20 ~ 2025-10-05</a:t>
            </a:r>
            <a:endParaRPr lang="en-US" altLang="ko-KR" sz="800" dirty="0"/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534966"/>
            <a:ext cx="247394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내용</a:t>
            </a:r>
            <a:endParaRPr lang="en-US" altLang="ko-KR" sz="700" b="1" dirty="0">
              <a:latin typeface="맑은 고딕" panose="020B0503020000020004" pitchFamily="50" charset="-127"/>
            </a:endParaRPr>
          </a:p>
        </p:txBody>
      </p: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7412" y="455777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8" name="TextBox 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719398"/>
            <a:ext cx="2473940" cy="66479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 defTabSz="1013612">
              <a:lnSpc>
                <a:spcPct val="120000"/>
              </a:lnSpc>
              <a:defRPr/>
            </a:pPr>
            <a:r>
              <a:rPr lang="ko-KR" altLang="en-US" sz="900" dirty="0" smtClean="0"/>
              <a:t>게시판에 작성된 내용이 표시됩니다</a:t>
            </a:r>
            <a:r>
              <a:rPr lang="en-US" altLang="ko-KR" sz="900" dirty="0" smtClean="0"/>
              <a:t>.</a:t>
            </a:r>
          </a:p>
          <a:p>
            <a:pPr lvl="0" defTabSz="1013612">
              <a:lnSpc>
                <a:spcPct val="120000"/>
              </a:lnSpc>
              <a:defRPr/>
            </a:pPr>
            <a:r>
              <a:rPr lang="ko-KR" altLang="en-US" sz="900" dirty="0" err="1" smtClean="0"/>
              <a:t>여러줄이</a:t>
            </a:r>
            <a:r>
              <a:rPr lang="ko-KR" altLang="en-US" sz="900" dirty="0" smtClean="0"/>
              <a:t> 작성되는 경우 모든 내용을 펼쳐서 표시합니다</a:t>
            </a:r>
            <a:r>
              <a:rPr lang="en-US" altLang="ko-KR" sz="900" dirty="0" smtClean="0"/>
              <a:t>.</a:t>
            </a:r>
          </a:p>
          <a:p>
            <a:pPr lvl="0" defTabSz="1013612">
              <a:lnSpc>
                <a:spcPct val="120000"/>
              </a:lnSpc>
              <a:defRPr/>
            </a:pPr>
            <a:r>
              <a:rPr lang="en-US" altLang="ko-KR" sz="900" dirty="0" smtClean="0"/>
              <a:t>⁞</a:t>
            </a:r>
            <a:endParaRPr lang="en-US" altLang="ko-KR" sz="900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4675957"/>
            <a:ext cx="247394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첨부파일 </a:t>
            </a:r>
            <a:r>
              <a:rPr lang="en-US" altLang="ko-KR" sz="7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– 1</a:t>
            </a:r>
            <a:r>
              <a:rPr lang="ko-KR" altLang="en-US" sz="700" b="1" dirty="0" smtClean="0">
                <a:solidFill>
                  <a:srgbClr val="000000"/>
                </a:solidFill>
                <a:latin typeface="Consolas" panose="020B0609020204030204" pitchFamily="49" charset="0"/>
              </a:rPr>
              <a:t>건</a:t>
            </a:r>
            <a:endParaRPr lang="en-US" altLang="ko-KR" sz="700" b="1" dirty="0">
              <a:latin typeface="맑은 고딕" panose="020B0503020000020004" pitchFamily="50" charset="-127"/>
            </a:endParaRPr>
          </a:p>
        </p:txBody>
      </p:sp>
      <p:cxnSp>
        <p:nvCxnSpPr>
          <p:cNvPr id="30" name="직선 연결선 2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7412" y="547642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" name="TextBox 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5591584"/>
            <a:ext cx="247394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이전글</a:t>
            </a:r>
            <a:endParaRPr lang="en-US" altLang="ko-KR" sz="700" b="1" dirty="0">
              <a:latin typeface="맑은 고딕" panose="020B0503020000020004" pitchFamily="50" charset="-127"/>
            </a:endParaRPr>
          </a:p>
        </p:txBody>
      </p:sp>
      <p:cxnSp>
        <p:nvCxnSpPr>
          <p:cNvPr id="35" name="직선 연결선 3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7412" y="602492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5776016"/>
            <a:ext cx="247394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 defTabSz="1013612">
              <a:defRPr/>
            </a:pPr>
            <a:r>
              <a:rPr lang="ko-KR" altLang="en-US" sz="800" dirty="0" err="1" smtClean="0"/>
              <a:t>이전글</a:t>
            </a:r>
            <a:r>
              <a:rPr lang="ko-KR" altLang="en-US" sz="800" dirty="0" smtClean="0"/>
              <a:t> 제목이 표시됩니다</a:t>
            </a:r>
            <a:r>
              <a:rPr lang="en-US" altLang="ko-KR" sz="800" dirty="0" smtClean="0"/>
              <a:t>. 1</a:t>
            </a:r>
            <a:r>
              <a:rPr lang="ko-KR" altLang="en-US" sz="800" dirty="0" smtClean="0"/>
              <a:t>줄 표시 후 </a:t>
            </a:r>
            <a:r>
              <a:rPr lang="en-US" altLang="ko-KR" sz="800" dirty="0" smtClean="0"/>
              <a:t>… </a:t>
            </a:r>
            <a:r>
              <a:rPr lang="ko-KR" altLang="en-US" sz="800" dirty="0" smtClean="0"/>
              <a:t>처리 </a:t>
            </a:r>
            <a:r>
              <a:rPr lang="ko-KR" altLang="en-US" sz="800" dirty="0" err="1" smtClean="0"/>
              <a:t>합니</a:t>
            </a:r>
            <a:endParaRPr lang="en-US" altLang="ko-KR" sz="800" dirty="0"/>
          </a:p>
        </p:txBody>
      </p:sp>
      <p:sp>
        <p:nvSpPr>
          <p:cNvPr id="37" name="모서리가 둥근 직사각형 36"/>
          <p:cNvSpPr/>
          <p:nvPr/>
        </p:nvSpPr>
        <p:spPr>
          <a:xfrm>
            <a:off x="720142" y="4992593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20810" y="5120975"/>
            <a:ext cx="168273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8338" y="5120975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</a:t>
            </a:r>
          </a:p>
        </p:txBody>
      </p:sp>
      <p:sp>
        <p:nvSpPr>
          <p:cNvPr id="40" name="타원 39"/>
          <p:cNvSpPr/>
          <p:nvPr/>
        </p:nvSpPr>
        <p:spPr>
          <a:xfrm>
            <a:off x="3108139" y="5102836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20810" y="4857475"/>
            <a:ext cx="47434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017655" y="4857475"/>
            <a:ext cx="32496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다운로드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26906" y="4857475"/>
            <a:ext cx="3906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항목번호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6080102"/>
            <a:ext cx="247394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 smtClean="0">
                <a:solidFill>
                  <a:srgbClr val="000000"/>
                </a:solidFill>
                <a:latin typeface="Consolas" panose="020B0609020204030204" pitchFamily="49" charset="0"/>
              </a:rPr>
              <a:t>다음글</a:t>
            </a:r>
            <a:endParaRPr lang="en-US" altLang="ko-KR" sz="700" b="1" dirty="0">
              <a:latin typeface="맑은 고딕" panose="020B0503020000020004" pitchFamily="50" charset="-127"/>
            </a:endParaRP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8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8436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52473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46339841"/>
      </p:ext>
    </p:extLst>
  </p:cSld>
  <p:clrMapOvr>
    <a:masterClrMapping/>
  </p:clrMapOvr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211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05401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</a:t>
            </a:r>
            <a:r>
              <a:rPr lang="ko-KR" altLang="en-US" sz="1000" b="1" dirty="0" smtClean="0">
                <a:solidFill>
                  <a:prstClr val="black"/>
                </a:solidFill>
              </a:rPr>
              <a:t>설명 </a:t>
            </a:r>
            <a:r>
              <a:rPr lang="en-US" altLang="ko-KR" sz="1000" b="1" dirty="0" smtClean="0">
                <a:solidFill>
                  <a:prstClr val="black"/>
                </a:solidFill>
              </a:rPr>
              <a:t>– </a:t>
            </a:r>
            <a:r>
              <a:rPr lang="ko-KR" altLang="en-US" sz="1000" b="1" dirty="0" smtClean="0">
                <a:solidFill>
                  <a:prstClr val="black"/>
                </a:solidFill>
              </a:rPr>
              <a:t>일반 공지사항 상세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0874" y="351033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1583" y="760338"/>
            <a:ext cx="280101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일반공지사항상세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dm_noticeInfo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83984326"/>
              </p:ext>
            </p:extLst>
          </p:nvPr>
        </p:nvGraphicFramePr>
        <p:xfrm>
          <a:off x="451583" y="3737759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smtClean="0"/>
                        <a:t>다운로드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latin typeface="+mn-ea"/>
                          <a:ea typeface="+mn-ea"/>
                        </a:rPr>
                        <a:t>scwin.btn_download_onclick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첨부파일을 다운로드한다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827302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291" y="973648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4596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  <a:cs typeface="+mn-cs"/>
                        </a:rPr>
                        <a:t>emrg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u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pFix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tkcgDeptNm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bizFldCd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pstgBgngYmd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pstgEndYmd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182737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347EF946-BFD5-F251-A853-A855178E4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8449" y="36283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 Box 73">
            <a:extLst>
              <a:ext uri="{FF2B5EF4-FFF2-40B4-BE49-F238E27FC236}">
                <a16:creationId xmlns:a16="http://schemas.microsoft.com/office/drawing/2014/main" id="{45E44886-453C-E2A8-43AB-45CD5DD5B8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08369279"/>
      </p:ext>
    </p:extLst>
  </p:cSld>
  <p:clrMapOvr>
    <a:masterClrMapping/>
  </p:clrMapOvr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212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43873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</a:t>
            </a:r>
            <a:r>
              <a:rPr lang="ko-KR" altLang="en-US" sz="1000" b="1" dirty="0" smtClean="0">
                <a:solidFill>
                  <a:prstClr val="black"/>
                </a:solidFill>
              </a:rPr>
              <a:t>설명 </a:t>
            </a:r>
            <a:r>
              <a:rPr lang="en-US" altLang="ko-KR" sz="1000" b="1" dirty="0" smtClean="0">
                <a:solidFill>
                  <a:prstClr val="black"/>
                </a:solidFill>
              </a:rPr>
              <a:t>– </a:t>
            </a:r>
            <a:r>
              <a:rPr lang="ko-KR" altLang="en-US" sz="1000" b="1" dirty="0" err="1" smtClean="0">
                <a:solidFill>
                  <a:prstClr val="black"/>
                </a:solidFill>
              </a:rPr>
              <a:t>방위사업청</a:t>
            </a:r>
            <a:r>
              <a:rPr lang="ko-KR" altLang="en-US" sz="1000" b="1" dirty="0" smtClean="0">
                <a:solidFill>
                  <a:prstClr val="black"/>
                </a:solidFill>
              </a:rPr>
              <a:t> 공지사항 상세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63235" y="799547"/>
            <a:ext cx="333802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방위사업청공지사항사항상세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dm_noticeInfo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8117" y="1083301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10485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  <a:cs typeface="+mn-cs"/>
                        </a:rPr>
                        <a:t>emrg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u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pFix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비고정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tkcgDeptNm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bizFldCd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pstgBgngYmd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pstgEndYmd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629608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C8C9C022-1BF5-DB29-C801-02C2DB81A3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0874" y="351033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82066662"/>
              </p:ext>
            </p:extLst>
          </p:nvPr>
        </p:nvGraphicFramePr>
        <p:xfrm>
          <a:off x="451583" y="3737759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smtClean="0"/>
                        <a:t>다운로드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latin typeface="+mn-ea"/>
                          <a:ea typeface="+mn-ea"/>
                        </a:rPr>
                        <a:t>scwin.btn_download_onclick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첨부파일을 다운로드한다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827302"/>
                  </a:ext>
                </a:extLst>
              </a:tr>
            </a:tbl>
          </a:graphicData>
        </a:graphic>
      </p:graphicFrame>
      <p:sp>
        <p:nvSpPr>
          <p:cNvPr id="14" name="Text Box 73">
            <a:extLst>
              <a:ext uri="{FF2B5EF4-FFF2-40B4-BE49-F238E27FC236}">
                <a16:creationId xmlns:a16="http://schemas.microsoft.com/office/drawing/2014/main" id="{347EF946-BFD5-F251-A853-A855178E4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8449" y="36283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593821953"/>
      </p:ext>
    </p:extLst>
  </p:cSld>
  <p:clrMapOvr>
    <a:masterClrMapping/>
  </p:clrMapOvr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213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43873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</a:t>
            </a:r>
            <a:r>
              <a:rPr lang="ko-KR" altLang="en-US" sz="1000" b="1" dirty="0" smtClean="0">
                <a:solidFill>
                  <a:prstClr val="black"/>
                </a:solidFill>
              </a:rPr>
              <a:t>설명 </a:t>
            </a:r>
            <a:r>
              <a:rPr lang="en-US" altLang="ko-KR" sz="1000" b="1" dirty="0" smtClean="0">
                <a:solidFill>
                  <a:prstClr val="black"/>
                </a:solidFill>
              </a:rPr>
              <a:t>– </a:t>
            </a:r>
            <a:r>
              <a:rPr lang="ko-KR" altLang="en-US" sz="1000" b="1" dirty="0" err="1" smtClean="0">
                <a:solidFill>
                  <a:prstClr val="black"/>
                </a:solidFill>
              </a:rPr>
              <a:t>수요부대별</a:t>
            </a:r>
            <a:r>
              <a:rPr lang="ko-KR" altLang="en-US" sz="1000" b="1" dirty="0" smtClean="0">
                <a:solidFill>
                  <a:prstClr val="black"/>
                </a:solidFill>
              </a:rPr>
              <a:t> 공지사항 상세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784924"/>
            <a:ext cx="33780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수요부대별공지사항사항상세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dm_noticeInfo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68678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39476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  <a:cs typeface="+mn-cs"/>
                        </a:rPr>
                        <a:t>emrg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u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pFix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비고정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tkcgDeptNm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bizFldCd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pstgBgngYmd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pstgEndYmd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205784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B571A97F-CF42-5A35-D1E1-AC4904698A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4" y="705373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0874" y="351033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65126529"/>
              </p:ext>
            </p:extLst>
          </p:nvPr>
        </p:nvGraphicFramePr>
        <p:xfrm>
          <a:off x="451583" y="3737759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smtClean="0"/>
                        <a:t>다운로드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latin typeface="+mn-ea"/>
                          <a:ea typeface="+mn-ea"/>
                        </a:rPr>
                        <a:t>scwin.btn_download_onclick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첨부파일을 다운로드한다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827302"/>
                  </a:ext>
                </a:extLst>
              </a:tr>
            </a:tbl>
          </a:graphicData>
        </a:graphic>
      </p:graphicFrame>
      <p:sp>
        <p:nvSpPr>
          <p:cNvPr id="14" name="Text Box 73">
            <a:extLst>
              <a:ext uri="{FF2B5EF4-FFF2-40B4-BE49-F238E27FC236}">
                <a16:creationId xmlns:a16="http://schemas.microsoft.com/office/drawing/2014/main" id="{347EF946-BFD5-F251-A853-A855178E4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8449" y="36283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02920920"/>
      </p:ext>
    </p:extLst>
  </p:cSld>
  <p:clrMapOvr>
    <a:masterClrMapping/>
  </p:clrMapOvr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214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92577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</a:t>
            </a:r>
            <a:r>
              <a:rPr lang="ko-KR" altLang="en-US" sz="1000" b="1" dirty="0" smtClean="0">
                <a:solidFill>
                  <a:prstClr val="black"/>
                </a:solidFill>
              </a:rPr>
              <a:t>설명 </a:t>
            </a:r>
            <a:r>
              <a:rPr lang="en-US" altLang="ko-KR" sz="1000" b="1" dirty="0" smtClean="0">
                <a:solidFill>
                  <a:prstClr val="black"/>
                </a:solidFill>
              </a:rPr>
              <a:t>– </a:t>
            </a:r>
            <a:r>
              <a:rPr lang="ko-KR" altLang="en-US" sz="1000" b="1" dirty="0" smtClean="0">
                <a:solidFill>
                  <a:prstClr val="black"/>
                </a:solidFill>
              </a:rPr>
              <a:t>일반 자료실 상세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63235" y="799547"/>
            <a:ext cx="260544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일반자료실상세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dm_rpstrInfo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8117" y="1025875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161918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00439192-9EF1-341E-46D3-72EF8CE108E2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B2D52ECC-C3A4-BA93-9971-1721B6FCA967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4" name="Text Box 73">
              <a:extLst>
                <a:ext uri="{FF2B5EF4-FFF2-40B4-BE49-F238E27FC236}">
                  <a16:creationId xmlns:a16="http://schemas.microsoft.com/office/drawing/2014/main" id="{66F04475-2B6C-28FB-3AC1-03C72F8B4A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0874" y="351033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13661687"/>
              </p:ext>
            </p:extLst>
          </p:nvPr>
        </p:nvGraphicFramePr>
        <p:xfrm>
          <a:off x="451583" y="3737759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smtClean="0"/>
                        <a:t>다운로드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latin typeface="+mn-ea"/>
                          <a:ea typeface="+mn-ea"/>
                        </a:rPr>
                        <a:t>scwin.btn_download_onclick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첨부파일을 다운로드한다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827302"/>
                  </a:ext>
                </a:extLst>
              </a:tr>
            </a:tbl>
          </a:graphicData>
        </a:graphic>
      </p:graphicFrame>
      <p:sp>
        <p:nvSpPr>
          <p:cNvPr id="17" name="Text Box 73">
            <a:extLst>
              <a:ext uri="{FF2B5EF4-FFF2-40B4-BE49-F238E27FC236}">
                <a16:creationId xmlns:a16="http://schemas.microsoft.com/office/drawing/2014/main" id="{347EF946-BFD5-F251-A853-A855178E4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8449" y="36283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613249723"/>
      </p:ext>
    </p:extLst>
  </p:cSld>
  <p:clrMapOvr>
    <a:masterClrMapping/>
  </p:clrMapOvr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215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31049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</a:t>
            </a:r>
            <a:r>
              <a:rPr lang="ko-KR" altLang="en-US" sz="1000" b="1" dirty="0" smtClean="0">
                <a:solidFill>
                  <a:prstClr val="black"/>
                </a:solidFill>
              </a:rPr>
              <a:t>설명 </a:t>
            </a:r>
            <a:r>
              <a:rPr lang="en-US" altLang="ko-KR" sz="1000" b="1" dirty="0" smtClean="0">
                <a:solidFill>
                  <a:prstClr val="black"/>
                </a:solidFill>
              </a:rPr>
              <a:t>– </a:t>
            </a:r>
            <a:r>
              <a:rPr lang="ko-KR" altLang="en-US" sz="1000" b="1" dirty="0" err="1" smtClean="0">
                <a:solidFill>
                  <a:prstClr val="black"/>
                </a:solidFill>
              </a:rPr>
              <a:t>수요부대별</a:t>
            </a:r>
            <a:r>
              <a:rPr lang="ko-KR" altLang="en-US" sz="1000" b="1" dirty="0" smtClean="0">
                <a:solidFill>
                  <a:prstClr val="black"/>
                </a:solidFill>
              </a:rPr>
              <a:t> 자료실 상세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63235" y="799547"/>
            <a:ext cx="295169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수요부대별자료실상세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dm_rpstrInfo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8117" y="1036550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588229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C6E5CCB0-8AFF-4C29-1159-B304CF288D05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7EB764B7-87CD-91BE-5496-3D8BBFD4624D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F8423D76-6C3E-2B19-C6A3-2906EAFED9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0874" y="351033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1039804"/>
              </p:ext>
            </p:extLst>
          </p:nvPr>
        </p:nvGraphicFramePr>
        <p:xfrm>
          <a:off x="451583" y="3737759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smtClean="0"/>
                        <a:t>다운로드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latin typeface="+mn-ea"/>
                          <a:ea typeface="+mn-ea"/>
                        </a:rPr>
                        <a:t>scwin.btn_download_onclick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첨부파일을 다운로드한다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827302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347EF946-BFD5-F251-A853-A855178E4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8449" y="36283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26148301"/>
      </p:ext>
    </p:extLst>
  </p:cSld>
  <p:clrMapOvr>
    <a:masterClrMapping/>
  </p:clrMapOvr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216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43873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</a:t>
            </a:r>
            <a:r>
              <a:rPr lang="ko-KR" altLang="en-US" sz="1000" b="1" dirty="0" smtClean="0">
                <a:solidFill>
                  <a:prstClr val="black"/>
                </a:solidFill>
              </a:rPr>
              <a:t>설명 </a:t>
            </a:r>
            <a:r>
              <a:rPr lang="en-US" altLang="ko-KR" sz="1000" b="1" dirty="0" smtClean="0">
                <a:solidFill>
                  <a:prstClr val="black"/>
                </a:solidFill>
              </a:rPr>
              <a:t>– </a:t>
            </a:r>
            <a:r>
              <a:rPr lang="ko-KR" altLang="en-US" sz="1000" b="1" dirty="0" smtClean="0">
                <a:solidFill>
                  <a:prstClr val="black"/>
                </a:solidFill>
              </a:rPr>
              <a:t>계약관련서식 자료실 상세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7409" y="799547"/>
            <a:ext cx="306711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계약관련서식자료실상세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dm_rpstrInfo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291" y="1025875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9180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0234F8FA-1E0E-58B2-149D-6DF150C6D039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5E0A0C8F-453B-36ED-E27D-3427DE0D8D1D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B335F206-DF0E-979F-DC20-E81D57CD10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0874" y="351033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81880188"/>
              </p:ext>
            </p:extLst>
          </p:nvPr>
        </p:nvGraphicFramePr>
        <p:xfrm>
          <a:off x="451583" y="3737759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smtClean="0"/>
                        <a:t>다운로드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latin typeface="+mn-ea"/>
                          <a:ea typeface="+mn-ea"/>
                        </a:rPr>
                        <a:t>scwin.btn_download_onclick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첨부파일을 다운로드한다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827302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347EF946-BFD5-F251-A853-A855178E4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8449" y="36283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210928915"/>
      </p:ext>
    </p:extLst>
  </p:cSld>
  <p:clrMapOvr>
    <a:masterClrMapping/>
  </p:clrMapOvr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217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18225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</a:t>
            </a:r>
            <a:r>
              <a:rPr lang="ko-KR" altLang="en-US" sz="1000" b="1" dirty="0" smtClean="0">
                <a:solidFill>
                  <a:prstClr val="black"/>
                </a:solidFill>
              </a:rPr>
              <a:t>설명 </a:t>
            </a:r>
            <a:r>
              <a:rPr lang="en-US" altLang="ko-KR" sz="1000" b="1" dirty="0" smtClean="0">
                <a:solidFill>
                  <a:prstClr val="black"/>
                </a:solidFill>
              </a:rPr>
              <a:t>– </a:t>
            </a:r>
            <a:r>
              <a:rPr lang="ko-KR" altLang="en-US" sz="1000" b="1" dirty="0" smtClean="0">
                <a:solidFill>
                  <a:prstClr val="black"/>
                </a:solidFill>
              </a:rPr>
              <a:t>시스템 개선안내 상세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8" y="799547"/>
            <a:ext cx="283628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시스템개선안내상세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dm_rpstrInfo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1036137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629488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bbsTtl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wrtrNm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tkcgDeptNm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bizFldCd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pstgBgngYmd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pstgEndYmd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13758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39C9A060-CA73-CEE0-3F7F-523F9C3CF9AD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594039D6-5A81-7A0D-8459-4FB791039E63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85C4AD37-DEDE-FDB5-4DF5-9E17FC006A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0874" y="351033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97853956"/>
              </p:ext>
            </p:extLst>
          </p:nvPr>
        </p:nvGraphicFramePr>
        <p:xfrm>
          <a:off x="451583" y="3737759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smtClean="0"/>
                        <a:t>다운로드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latin typeface="+mn-ea"/>
                          <a:ea typeface="+mn-ea"/>
                        </a:rPr>
                        <a:t>scwin.btn_download_onclick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첨부파일을 다운로드한다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827302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347EF946-BFD5-F251-A853-A855178E4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8449" y="36283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04387513"/>
      </p:ext>
    </p:extLst>
  </p:cSld>
  <p:clrMapOvr>
    <a:masterClrMapping/>
  </p:clrMapOvr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직사각형 2"/>
          <p:cNvSpPr/>
          <p:nvPr/>
        </p:nvSpPr>
        <p:spPr>
          <a:xfrm>
            <a:off x="720490" y="3916314"/>
            <a:ext cx="2621844" cy="78908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 smtClean="0"/>
              <a:t>구분 값을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선택 시 질문 정렬 표시</a:t>
            </a:r>
            <a:endParaRPr lang="en-US" altLang="ko-KR" dirty="0" smtClean="0"/>
          </a:p>
          <a:p>
            <a:pPr marL="228600" indent="-228600">
              <a:buAutoNum type="arabicPeriod"/>
            </a:pPr>
            <a:r>
              <a:rPr lang="ko-KR" altLang="en-US" dirty="0" smtClean="0"/>
              <a:t>헤드라인 및 제목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제목은 </a:t>
            </a:r>
            <a:r>
              <a:rPr lang="ko-KR" altLang="en-US" dirty="0" err="1" smtClean="0"/>
              <a:t>말줄임</a:t>
            </a:r>
            <a:r>
              <a:rPr lang="ko-KR" altLang="en-US" dirty="0" smtClean="0"/>
              <a:t> 없이 전체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클릭 시 답변 내용 확장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각 답변은 사용자 액션에 의해 닫힘 </a:t>
            </a:r>
            <a:r>
              <a:rPr lang="en-US" altLang="ko-KR" dirty="0" smtClean="0"/>
              <a:t>(</a:t>
            </a:r>
            <a:r>
              <a:rPr lang="ko-KR" altLang="en-US" dirty="0" smtClean="0"/>
              <a:t>다른 질문 클릭해도 이전 답변 닫히지 않음</a:t>
            </a:r>
            <a:r>
              <a:rPr lang="en-US" altLang="ko-KR" dirty="0" smtClean="0"/>
              <a:t>)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218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자주묻는</a:t>
            </a:r>
            <a:r>
              <a:rPr lang="ko-KR" altLang="en-US" dirty="0">
                <a:latin typeface="+mn-ea"/>
              </a:rPr>
              <a:t> </a:t>
            </a:r>
            <a:r>
              <a:rPr lang="ko-KR" altLang="en-US" dirty="0" smtClean="0">
                <a:latin typeface="+mn-ea"/>
              </a:rPr>
              <a:t>질문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자주묻는</a:t>
            </a:r>
            <a:r>
              <a:rPr lang="ko-KR" altLang="en-US" dirty="0">
                <a:latin typeface="+mn-ea"/>
              </a:rPr>
              <a:t> 질문 목록 표시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 err="1">
                <a:latin typeface="+mn-ea"/>
              </a:rPr>
              <a:t>자주묻는</a:t>
            </a:r>
            <a:r>
              <a:rPr lang="ko-KR" altLang="en-US" dirty="0">
                <a:latin typeface="+mn-ea"/>
              </a:rPr>
              <a:t> 질문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MUI-CM-04-M03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자주 묻는 </a:t>
            </a:r>
            <a:r>
              <a:rPr lang="ko-KR" altLang="en-US" sz="800" dirty="0">
                <a:latin typeface="+mn-ea"/>
              </a:rPr>
              <a:t>질문</a:t>
            </a:r>
          </a:p>
        </p:txBody>
      </p: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6" name="그룹 15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7" name="직선 연결선 1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" name="직선 연결선 1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9" name="타원 18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TextBox 19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3391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5256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2845075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45075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25" name="그룹 24"/>
          <p:cNvGrpSpPr/>
          <p:nvPr/>
        </p:nvGrpSpPr>
        <p:grpSpPr>
          <a:xfrm>
            <a:off x="3143548" y="2946898"/>
            <a:ext cx="94010" cy="47005"/>
            <a:chOff x="6812560" y="3297172"/>
            <a:chExt cx="94010" cy="47005"/>
          </a:xfrm>
        </p:grpSpPr>
        <p:cxnSp>
          <p:nvCxnSpPr>
            <p:cNvPr id="26" name="직선 연결선 2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7" name="직선 연결선 2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29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289330"/>
            <a:ext cx="2061246" cy="3847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en-US" altLang="ko-KR" sz="700" dirty="0" smtClean="0">
                <a:solidFill>
                  <a:prstClr val="black"/>
                </a:solidFill>
              </a:rPr>
              <a:t>[</a:t>
            </a:r>
            <a:r>
              <a:rPr lang="ko-KR" altLang="en-US" sz="700" dirty="0" err="1" smtClean="0">
                <a:solidFill>
                  <a:prstClr val="black"/>
                </a:solidFill>
              </a:rPr>
              <a:t>업체등록</a:t>
            </a:r>
            <a:r>
              <a:rPr lang="en-US" altLang="ko-KR" sz="700" dirty="0" smtClean="0">
                <a:solidFill>
                  <a:prstClr val="black"/>
                </a:solidFill>
              </a:rPr>
              <a:t>]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 err="1" smtClean="0">
                <a:solidFill>
                  <a:prstClr val="black"/>
                </a:solidFill>
              </a:rPr>
              <a:t>자주묻는</a:t>
            </a:r>
            <a:r>
              <a:rPr lang="ko-KR" altLang="en-US" sz="900" b="1" dirty="0" smtClean="0">
                <a:solidFill>
                  <a:prstClr val="black"/>
                </a:solidFill>
              </a:rPr>
              <a:t> 질문 제목 표시는 말 줄임 없이 전부 다 표시합니다</a:t>
            </a:r>
            <a:r>
              <a:rPr lang="en-US" altLang="ko-KR" sz="900" b="1" dirty="0" smtClean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443641"/>
            <a:ext cx="76863" cy="292489"/>
            <a:chOff x="3750067" y="4683795"/>
            <a:chExt cx="76863" cy="292489"/>
          </a:xfrm>
        </p:grpSpPr>
        <p:sp>
          <p:nvSpPr>
            <p:cNvPr id="31" name="타원 30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2" name="타원 31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5" name="타원 34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0540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4836860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en-US" altLang="ko-KR" sz="700" dirty="0" smtClean="0">
                <a:solidFill>
                  <a:prstClr val="black"/>
                </a:solidFill>
              </a:rPr>
              <a:t>[</a:t>
            </a:r>
            <a:r>
              <a:rPr lang="ko-KR" altLang="en-US" sz="700" dirty="0" smtClean="0">
                <a:solidFill>
                  <a:prstClr val="black"/>
                </a:solidFill>
              </a:rPr>
              <a:t>공통</a:t>
            </a:r>
            <a:r>
              <a:rPr lang="en-US" altLang="ko-KR" sz="700" dirty="0" smtClean="0">
                <a:solidFill>
                  <a:prstClr val="black"/>
                </a:solidFill>
              </a:rPr>
              <a:t>]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방위사업법 시행규칙</a:t>
            </a:r>
          </a:p>
        </p:txBody>
      </p: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369726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8" name="TextBox 4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3393136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12</a:t>
            </a:r>
            <a:endParaRPr lang="ko-KR" altLang="en-US" sz="800" dirty="0">
              <a:latin typeface="+mn-ea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4976009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11</a:t>
            </a:r>
            <a:endParaRPr lang="ko-KR" altLang="en-US" sz="800" dirty="0">
              <a:latin typeface="+mn-ea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2913532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9731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4" name="그룹 53"/>
          <p:cNvGrpSpPr/>
          <p:nvPr/>
        </p:nvGrpSpPr>
        <p:grpSpPr>
          <a:xfrm>
            <a:off x="767702" y="1934600"/>
            <a:ext cx="2527420" cy="473693"/>
            <a:chOff x="786326" y="2274581"/>
            <a:chExt cx="2527420" cy="473693"/>
          </a:xfrm>
        </p:grpSpPr>
        <p:sp>
          <p:nvSpPr>
            <p:cNvPr id="55" name="모서리가 둥근 직사각형 54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6" name="타원 55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8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95625" y="2274581"/>
              <a:ext cx="615387" cy="155984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제목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59" name="타원 58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/>
                <a:t>V</a:t>
              </a:r>
              <a:endParaRPr lang="ko-KR" altLang="en-US" sz="600" dirty="0"/>
            </a:p>
          </p:txBody>
        </p:sp>
        <p:sp>
          <p:nvSpPr>
            <p:cNvPr id="60" name="타원 59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61" name="그룹 60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62" name="직선 연결선 61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3" name="직선 연결선 62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84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1461057" y="2274581"/>
              <a:ext cx="615387" cy="155984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smtClean="0">
                  <a:latin typeface="맑은 고딕"/>
                  <a:ea typeface="맑은 고딕" panose="020B0503020000020004" pitchFamily="50" charset="-127"/>
                </a:rPr>
                <a:t>내용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cxnSp>
        <p:nvCxnSpPr>
          <p:cNvPr id="64" name="직선 연결선 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56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79669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258008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전체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8545" y="2580085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 smtClean="0">
                <a:latin typeface="+mn-ea"/>
              </a:rPr>
              <a:t>업체등록</a:t>
            </a:r>
            <a:endParaRPr lang="ko-KR" altLang="en-US" sz="700" dirty="0">
              <a:latin typeface="+mn-ea"/>
            </a:endParaRP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760915" y="2580085"/>
            <a:ext cx="396163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 smtClean="0">
                <a:latin typeface="+mn-ea"/>
              </a:rPr>
              <a:t>전자계약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79669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0" name="그룹 69"/>
          <p:cNvGrpSpPr/>
          <p:nvPr/>
        </p:nvGrpSpPr>
        <p:grpSpPr>
          <a:xfrm>
            <a:off x="2924086" y="2541962"/>
            <a:ext cx="422853" cy="187961"/>
            <a:chOff x="3641308" y="2234886"/>
            <a:chExt cx="422853" cy="187961"/>
          </a:xfrm>
        </p:grpSpPr>
        <p:sp>
          <p:nvSpPr>
            <p:cNvPr id="71" name="타원 70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72" name="그룹 71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77" name="직선 연결선 7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8" name="직선 연결선 7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73" name="타원 72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74" name="그룹 73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75" name="직선 연결선 7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6" name="직선 연결선 7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79" name="TextBox 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331827" y="2580085"/>
            <a:ext cx="396163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latin typeface="+mn-ea"/>
              </a:rPr>
              <a:t>기타</a:t>
            </a:r>
            <a:endParaRPr lang="ko-KR" altLang="en-US" sz="700" dirty="0">
              <a:latin typeface="+mn-ea"/>
            </a:endParaRPr>
          </a:p>
        </p:txBody>
      </p:sp>
      <p:sp>
        <p:nvSpPr>
          <p:cNvPr id="80" name="타원 7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53106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81" name="그룹 80"/>
          <p:cNvGrpSpPr/>
          <p:nvPr/>
        </p:nvGrpSpPr>
        <p:grpSpPr>
          <a:xfrm flipV="1">
            <a:off x="3143548" y="3426991"/>
            <a:ext cx="94010" cy="47005"/>
            <a:chOff x="6812560" y="3297172"/>
            <a:chExt cx="94010" cy="47005"/>
          </a:xfrm>
        </p:grpSpPr>
        <p:cxnSp>
          <p:nvCxnSpPr>
            <p:cNvPr id="82" name="직선 연결선 8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3" name="직선 연결선 8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85" name="직선 연결선 8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91631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6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829117" y="4053395"/>
            <a:ext cx="236959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b="1" dirty="0" smtClean="0">
                <a:solidFill>
                  <a:prstClr val="black"/>
                </a:solidFill>
              </a:rPr>
              <a:t>답변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87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829117" y="4250562"/>
            <a:ext cx="2369594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900" dirty="0" err="1" smtClean="0">
                <a:solidFill>
                  <a:prstClr val="black"/>
                </a:solidFill>
              </a:rPr>
              <a:t>자주묻는</a:t>
            </a:r>
            <a:r>
              <a:rPr lang="ko-KR" altLang="en-US" sz="900" dirty="0" smtClean="0">
                <a:solidFill>
                  <a:prstClr val="black"/>
                </a:solidFill>
              </a:rPr>
              <a:t> 질문 답변은 작성 내용에 맞게 아코디언으로 최대 높이를 조정하여 표시합니다</a:t>
            </a:r>
            <a:r>
              <a:rPr lang="en-US" altLang="ko-KR" sz="900" dirty="0" smtClean="0">
                <a:solidFill>
                  <a:prstClr val="black"/>
                </a:solidFill>
              </a:rPr>
              <a:t>.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grpSp>
        <p:nvGrpSpPr>
          <p:cNvPr id="88" name="그룹 87"/>
          <p:cNvGrpSpPr/>
          <p:nvPr/>
        </p:nvGrpSpPr>
        <p:grpSpPr>
          <a:xfrm>
            <a:off x="3143548" y="5014062"/>
            <a:ext cx="94010" cy="47005"/>
            <a:chOff x="6812560" y="3297172"/>
            <a:chExt cx="94010" cy="47005"/>
          </a:xfrm>
        </p:grpSpPr>
        <p:cxnSp>
          <p:nvCxnSpPr>
            <p:cNvPr id="89" name="직선 연결선 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0" name="직선 연결선 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733282"/>
            <a:ext cx="20612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작성일 </a:t>
            </a:r>
            <a:r>
              <a:rPr lang="en-US" altLang="ko-KR" sz="700" dirty="0" smtClean="0">
                <a:solidFill>
                  <a:prstClr val="black"/>
                </a:solidFill>
              </a:rPr>
              <a:t>2025-12-01 | </a:t>
            </a:r>
            <a:r>
              <a:rPr lang="ko-KR" altLang="en-US" sz="700" dirty="0" smtClean="0">
                <a:solidFill>
                  <a:prstClr val="black"/>
                </a:solidFill>
              </a:rPr>
              <a:t>조회수 </a:t>
            </a:r>
            <a:r>
              <a:rPr lang="en-US" altLang="ko-KR" sz="700" dirty="0" smtClean="0">
                <a:solidFill>
                  <a:prstClr val="black"/>
                </a:solidFill>
              </a:rPr>
              <a:t>99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92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5126184"/>
            <a:ext cx="20612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smtClean="0">
                <a:solidFill>
                  <a:prstClr val="black"/>
                </a:solidFill>
              </a:rPr>
              <a:t>작성일 </a:t>
            </a:r>
            <a:r>
              <a:rPr lang="en-US" altLang="ko-KR" sz="700" dirty="0" smtClean="0">
                <a:solidFill>
                  <a:prstClr val="black"/>
                </a:solidFill>
              </a:rPr>
              <a:t>2025-12-01 | </a:t>
            </a:r>
            <a:r>
              <a:rPr lang="ko-KR" altLang="en-US" sz="700" dirty="0" smtClean="0">
                <a:solidFill>
                  <a:prstClr val="black"/>
                </a:solidFill>
              </a:rPr>
              <a:t>조회수 </a:t>
            </a:r>
            <a:r>
              <a:rPr lang="en-US" altLang="ko-KR" sz="700" dirty="0" smtClean="0">
                <a:solidFill>
                  <a:prstClr val="black"/>
                </a:solidFill>
              </a:rPr>
              <a:t>99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96058455"/>
      </p:ext>
    </p:extLst>
  </p:cSld>
  <p:clrMapOvr>
    <a:masterClrMapping/>
  </p:clrMapOvr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219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44679"/>
            <a:ext cx="24259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자주묻는질문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9" y="444524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1931646"/>
            <a:ext cx="247400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자주묻는질문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55882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qstnTtl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자주묻는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질문 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FAQCD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83003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7810025"/>
              </p:ext>
            </p:extLst>
          </p:nvPr>
        </p:nvGraphicFramePr>
        <p:xfrm>
          <a:off x="453000" y="4646513"/>
          <a:ext cx="8995591" cy="989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자주묻는질문목록조회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/>
                        <a:t>카드 </a:t>
                      </a:r>
                      <a:r>
                        <a:rPr lang="ko-KR" altLang="en-US" sz="800" dirty="0"/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scwin.grd_noticeList_oncellclick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27104451"/>
              </p:ext>
            </p:extLst>
          </p:nvPr>
        </p:nvGraphicFramePr>
        <p:xfrm>
          <a:off x="452999" y="2132856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자료실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자주묻는질문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자주묻는질문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23521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bizFldCd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자주묻는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질문 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FAQCD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qstnTtl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inqNocs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17912979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EF7EE0FB-D8AF-8ECC-1B05-8EC3FFBB1B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525282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25393379-8E81-A2EF-EC6A-2F674260DD5A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E0B2CBBE-A1E0-F75D-090F-7145E4B0A812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FBFF2EDC-A101-D11D-326F-BDDDEBB0BF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5372412"/>
      </p:ext>
    </p:extLst>
  </p:cSld>
  <p:clrMapOvr>
    <a:masterClrMapping/>
  </p:clrMapOvr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 smtClean="0"/>
              <a:t>콘텐츠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220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민원서류 신청절차 및 안내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신청절차 및 안내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신청절차 및 안내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MUI-CM-04-M05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6983" y="2188499"/>
            <a:ext cx="2468859" cy="35086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>
                <a:latin typeface="Consolas" panose="020B0609020204030204" pitchFamily="49" charset="0"/>
              </a:rPr>
              <a:t>국방전자조달 로그인 </a:t>
            </a:r>
            <a:r>
              <a:rPr lang="en-US" altLang="ko-KR" sz="800" dirty="0">
                <a:latin typeface="Consolas" panose="020B0609020204030204" pitchFamily="49" charset="0"/>
              </a:rPr>
              <a:t>&gt; </a:t>
            </a:r>
            <a:r>
              <a:rPr lang="ko-KR" altLang="en-US" sz="800" dirty="0">
                <a:latin typeface="Consolas" panose="020B0609020204030204" pitchFamily="49" charset="0"/>
              </a:rPr>
              <a:t>고객센터 </a:t>
            </a:r>
            <a:r>
              <a:rPr lang="en-US" altLang="ko-KR" sz="800" dirty="0">
                <a:latin typeface="Consolas" panose="020B0609020204030204" pitchFamily="49" charset="0"/>
              </a:rPr>
              <a:t>&gt; </a:t>
            </a:r>
            <a:r>
              <a:rPr lang="ko-KR" altLang="en-US" sz="800" dirty="0">
                <a:latin typeface="Consolas" panose="020B0609020204030204" pitchFamily="49" charset="0"/>
              </a:rPr>
              <a:t>민원서류발급신청 </a:t>
            </a:r>
            <a:r>
              <a:rPr lang="en-US" altLang="ko-KR" sz="800" dirty="0">
                <a:latin typeface="Consolas" panose="020B0609020204030204" pitchFamily="49" charset="0"/>
              </a:rPr>
              <a:t>&gt; </a:t>
            </a:r>
            <a:r>
              <a:rPr lang="ko-KR" altLang="en-US" sz="800" dirty="0">
                <a:latin typeface="Consolas" panose="020B0609020204030204" pitchFamily="49" charset="0"/>
              </a:rPr>
              <a:t>실적증명서 </a:t>
            </a:r>
            <a:r>
              <a:rPr lang="en-US" altLang="ko-KR" sz="800" dirty="0">
                <a:latin typeface="Consolas" panose="020B0609020204030204" pitchFamily="49" charset="0"/>
              </a:rPr>
              <a:t>&gt; </a:t>
            </a:r>
            <a:r>
              <a:rPr lang="ko-KR" altLang="en-US" sz="800" dirty="0">
                <a:latin typeface="Consolas" panose="020B0609020204030204" pitchFamily="49" charset="0"/>
              </a:rPr>
              <a:t>실적증명서 신청에서 납품 </a:t>
            </a:r>
            <a:r>
              <a:rPr lang="ko-KR" altLang="en-US" sz="800" dirty="0" err="1">
                <a:latin typeface="Consolas" panose="020B0609020204030204" pitchFamily="49" charset="0"/>
              </a:rPr>
              <a:t>계약정보</a:t>
            </a:r>
            <a:r>
              <a:rPr lang="ko-KR" altLang="en-US" sz="800" dirty="0">
                <a:latin typeface="Consolas" panose="020B0609020204030204" pitchFamily="49" charset="0"/>
              </a:rPr>
              <a:t> 목록에서 원하는 계약 선택 </a:t>
            </a:r>
            <a:r>
              <a:rPr lang="en-US" altLang="ko-KR" sz="800" dirty="0">
                <a:latin typeface="Consolas" panose="020B0609020204030204" pitchFamily="49" charset="0"/>
              </a:rPr>
              <a:t>&gt; </a:t>
            </a:r>
            <a:r>
              <a:rPr lang="ko-KR" altLang="en-US" sz="800" dirty="0" err="1">
                <a:latin typeface="Consolas" panose="020B0609020204030204" pitchFamily="49" charset="0"/>
              </a:rPr>
              <a:t>신청정보</a:t>
            </a:r>
            <a:r>
              <a:rPr lang="ko-KR" altLang="en-US" sz="800" dirty="0">
                <a:latin typeface="Consolas" panose="020B0609020204030204" pitchFamily="49" charset="0"/>
              </a:rPr>
              <a:t> 입력 </a:t>
            </a:r>
            <a:r>
              <a:rPr lang="en-US" altLang="ko-KR" sz="800" dirty="0">
                <a:latin typeface="Consolas" panose="020B0609020204030204" pitchFamily="49" charset="0"/>
              </a:rPr>
              <a:t>&gt; </a:t>
            </a:r>
            <a:r>
              <a:rPr lang="ko-KR" altLang="en-US" sz="800" dirty="0" err="1">
                <a:latin typeface="Consolas" panose="020B0609020204030204" pitchFamily="49" charset="0"/>
              </a:rPr>
              <a:t>미리보기</a:t>
            </a:r>
            <a:r>
              <a:rPr lang="ko-KR" altLang="en-US" sz="800" dirty="0">
                <a:latin typeface="Consolas" panose="020B0609020204030204" pitchFamily="49" charset="0"/>
              </a:rPr>
              <a:t> 및 신청 </a:t>
            </a:r>
            <a:r>
              <a:rPr lang="en-US" altLang="ko-KR" sz="800" dirty="0">
                <a:latin typeface="Consolas" panose="020B0609020204030204" pitchFamily="49" charset="0"/>
              </a:rPr>
              <a:t>&gt; </a:t>
            </a:r>
            <a:r>
              <a:rPr lang="ko-KR" altLang="en-US" sz="800" dirty="0" err="1">
                <a:latin typeface="Consolas" panose="020B0609020204030204" pitchFamily="49" charset="0"/>
              </a:rPr>
              <a:t>실적증명</a:t>
            </a:r>
            <a:r>
              <a:rPr lang="ko-KR" altLang="en-US" sz="800" dirty="0">
                <a:latin typeface="Consolas" panose="020B0609020204030204" pitchFamily="49" charset="0"/>
              </a:rPr>
              <a:t> 확인 및 </a:t>
            </a:r>
            <a:r>
              <a:rPr lang="ko-KR" altLang="en-US" sz="800" dirty="0" smtClean="0">
                <a:latin typeface="Consolas" panose="020B0609020204030204" pitchFamily="49" charset="0"/>
              </a:rPr>
              <a:t>신청</a:t>
            </a:r>
            <a:endParaRPr lang="en-US" altLang="ko-KR" sz="800" dirty="0" smtClean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endParaRPr lang="ko-KR" altLang="en-US" sz="800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 err="1">
                <a:latin typeface="Consolas" panose="020B0609020204030204" pitchFamily="49" charset="0"/>
              </a:rPr>
              <a:t>증명원의</a:t>
            </a:r>
            <a:r>
              <a:rPr lang="ko-KR" altLang="en-US" sz="800" dirty="0">
                <a:latin typeface="Consolas" panose="020B0609020204030204" pitchFamily="49" charset="0"/>
              </a:rPr>
              <a:t> 사용목적에 따라서 </a:t>
            </a:r>
            <a:r>
              <a:rPr lang="ko-KR" altLang="en-US" sz="800" dirty="0" err="1">
                <a:latin typeface="Consolas" panose="020B0609020204030204" pitchFamily="49" charset="0"/>
              </a:rPr>
              <a:t>방위사업청</a:t>
            </a:r>
            <a:r>
              <a:rPr lang="ko-KR" altLang="en-US" sz="800" dirty="0">
                <a:latin typeface="Consolas" panose="020B0609020204030204" pitchFamily="49" charset="0"/>
              </a:rPr>
              <a:t> </a:t>
            </a:r>
            <a:r>
              <a:rPr lang="ko-KR" altLang="en-US" sz="800" dirty="0" err="1">
                <a:latin typeface="Consolas" panose="020B0609020204030204" pitchFamily="49" charset="0"/>
              </a:rPr>
              <a:t>계약건에</a:t>
            </a:r>
            <a:r>
              <a:rPr lang="ko-KR" altLang="en-US" sz="800" dirty="0">
                <a:latin typeface="Consolas" panose="020B0609020204030204" pitchFamily="49" charset="0"/>
              </a:rPr>
              <a:t> 대한 실적증명서의 경우 납품</a:t>
            </a:r>
            <a:r>
              <a:rPr lang="en-US" altLang="ko-KR" sz="800" dirty="0">
                <a:latin typeface="Consolas" panose="020B0609020204030204" pitchFamily="49" charset="0"/>
              </a:rPr>
              <a:t>,</a:t>
            </a:r>
            <a:r>
              <a:rPr lang="ko-KR" altLang="en-US" sz="800" dirty="0">
                <a:latin typeface="Consolas" panose="020B0609020204030204" pitchFamily="49" charset="0"/>
              </a:rPr>
              <a:t>정산</a:t>
            </a:r>
            <a:r>
              <a:rPr lang="en-US" altLang="ko-KR" sz="800" dirty="0">
                <a:latin typeface="Consolas" panose="020B0609020204030204" pitchFamily="49" charset="0"/>
              </a:rPr>
              <a:t>,</a:t>
            </a:r>
            <a:r>
              <a:rPr lang="ko-KR" altLang="en-US" sz="800" dirty="0">
                <a:latin typeface="Consolas" panose="020B0609020204030204" pitchFamily="49" charset="0"/>
              </a:rPr>
              <a:t>선착중도금을 넣을 수 있으며</a:t>
            </a:r>
            <a:r>
              <a:rPr lang="en-US" altLang="ko-KR" sz="800" dirty="0">
                <a:latin typeface="Consolas" panose="020B0609020204030204" pitchFamily="49" charset="0"/>
              </a:rPr>
              <a:t>, </a:t>
            </a:r>
            <a:r>
              <a:rPr lang="ko-KR" altLang="en-US" sz="800" dirty="0">
                <a:latin typeface="Consolas" panose="020B0609020204030204" pitchFamily="49" charset="0"/>
              </a:rPr>
              <a:t>국방부 및 각군 </a:t>
            </a:r>
            <a:r>
              <a:rPr lang="ko-KR" altLang="en-US" sz="800" dirty="0" err="1">
                <a:latin typeface="Consolas" panose="020B0609020204030204" pitchFamily="49" charset="0"/>
              </a:rPr>
              <a:t>계약건에</a:t>
            </a:r>
            <a:r>
              <a:rPr lang="ko-KR" altLang="en-US" sz="800" dirty="0">
                <a:latin typeface="Consolas" panose="020B0609020204030204" pitchFamily="49" charset="0"/>
              </a:rPr>
              <a:t> 대한 실적증명서의 경우 </a:t>
            </a:r>
            <a:r>
              <a:rPr lang="ko-KR" altLang="en-US" sz="800" dirty="0" err="1">
                <a:latin typeface="Consolas" panose="020B0609020204030204" pitchFamily="49" charset="0"/>
              </a:rPr>
              <a:t>실적비율</a:t>
            </a:r>
            <a:r>
              <a:rPr lang="ko-KR" altLang="en-US" sz="800" dirty="0">
                <a:latin typeface="Consolas" panose="020B0609020204030204" pitchFamily="49" charset="0"/>
              </a:rPr>
              <a:t> 및 </a:t>
            </a:r>
            <a:r>
              <a:rPr lang="ko-KR" altLang="en-US" sz="800" dirty="0" err="1">
                <a:latin typeface="Consolas" panose="020B0609020204030204" pitchFamily="49" charset="0"/>
              </a:rPr>
              <a:t>실적금액을</a:t>
            </a:r>
            <a:r>
              <a:rPr lang="ko-KR" altLang="en-US" sz="800" dirty="0">
                <a:latin typeface="Consolas" panose="020B0609020204030204" pitchFamily="49" charset="0"/>
              </a:rPr>
              <a:t> 넣을 수 있습니다</a:t>
            </a:r>
            <a:r>
              <a:rPr lang="en-US" altLang="ko-KR" sz="800" dirty="0" smtClean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endParaRPr lang="en-US" altLang="ko-KR" sz="800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 err="1">
                <a:latin typeface="Consolas" panose="020B0609020204030204" pitchFamily="49" charset="0"/>
              </a:rPr>
              <a:t>실적증명</a:t>
            </a:r>
            <a:r>
              <a:rPr lang="ko-KR" altLang="en-US" sz="800" dirty="0">
                <a:latin typeface="Consolas" panose="020B0609020204030204" pitchFamily="49" charset="0"/>
              </a:rPr>
              <a:t> 확인 후 반드시 신청을 하셔야 </a:t>
            </a:r>
            <a:r>
              <a:rPr lang="ko-KR" altLang="en-US" sz="800" dirty="0" err="1">
                <a:latin typeface="Consolas" panose="020B0609020204030204" pitchFamily="49" charset="0"/>
              </a:rPr>
              <a:t>방위사업청</a:t>
            </a:r>
            <a:r>
              <a:rPr lang="ko-KR" altLang="en-US" sz="800" dirty="0">
                <a:latin typeface="Consolas" panose="020B0609020204030204" pitchFamily="49" charset="0"/>
              </a:rPr>
              <a:t> 또는 국방부 및 각군에서 처리됩니다</a:t>
            </a:r>
            <a:r>
              <a:rPr lang="en-US" altLang="ko-KR" sz="800" dirty="0" smtClean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endParaRPr lang="en-US" altLang="ko-KR" sz="800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>
                <a:latin typeface="Consolas" panose="020B0609020204030204" pitchFamily="49" charset="0"/>
              </a:rPr>
              <a:t>접수번호를 클릭하여 상세정보를 확인합니다</a:t>
            </a:r>
            <a:r>
              <a:rPr lang="en-US" altLang="ko-KR" sz="800" dirty="0" smtClean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endParaRPr lang="en-US" altLang="ko-KR" sz="800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>
                <a:latin typeface="Consolas" panose="020B0609020204030204" pitchFamily="49" charset="0"/>
              </a:rPr>
              <a:t>실적증명서는 상세정보 하단의 </a:t>
            </a:r>
            <a:r>
              <a:rPr lang="ko-KR" altLang="en-US" sz="800" dirty="0" err="1">
                <a:latin typeface="Consolas" panose="020B0609020204030204" pitchFamily="49" charset="0"/>
              </a:rPr>
              <a:t>발급버튼을</a:t>
            </a:r>
            <a:r>
              <a:rPr lang="ko-KR" altLang="en-US" sz="800" dirty="0">
                <a:latin typeface="Consolas" panose="020B0609020204030204" pitchFamily="49" charset="0"/>
              </a:rPr>
              <a:t> 클릭하여 출력 가능합니다</a:t>
            </a:r>
            <a:r>
              <a:rPr lang="en-US" altLang="ko-KR" sz="800" dirty="0" smtClean="0">
                <a:latin typeface="Consolas" panose="020B0609020204030204" pitchFamily="49" charset="0"/>
              </a:rPr>
              <a:t>.</a:t>
            </a:r>
          </a:p>
        </p:txBody>
      </p: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340206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1934740"/>
            <a:ext cx="2154318" cy="18453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latin typeface="Consolas" panose="020B0609020204030204" pitchFamily="49" charset="0"/>
              </a:rPr>
              <a:t>신청절차 및 안내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/>
              <a:t>실적증명서 신청 절차 및 안내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" name="그룹 19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21" name="직선 연결선 2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" name="직선 연결선 2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" name="타원 2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2669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14777" y="3500559"/>
            <a:ext cx="2154318" cy="18453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latin typeface="Consolas" panose="020B0609020204030204" pitchFamily="49" charset="0"/>
              </a:rPr>
              <a:t>담당부서 및 연락처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17318" y="3783575"/>
            <a:ext cx="2468859" cy="145674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 err="1">
                <a:latin typeface="Consolas" panose="020B0609020204030204" pitchFamily="49" charset="0"/>
              </a:rPr>
              <a:t>방위사업청</a:t>
            </a:r>
            <a:r>
              <a:rPr lang="ko-KR" altLang="en-US" sz="800" dirty="0">
                <a:latin typeface="Consolas" panose="020B0609020204030204" pitchFamily="49" charset="0"/>
              </a:rPr>
              <a:t> 계약 </a:t>
            </a:r>
            <a:r>
              <a:rPr lang="en-US" altLang="ko-KR" sz="800" dirty="0">
                <a:latin typeface="Consolas" panose="020B0609020204030204" pitchFamily="49" charset="0"/>
              </a:rPr>
              <a:t>: 1577-1118(①</a:t>
            </a:r>
            <a:r>
              <a:rPr lang="ko-KR" altLang="en-US" sz="800" dirty="0">
                <a:latin typeface="Consolas" panose="020B0609020204030204" pitchFamily="49" charset="0"/>
              </a:rPr>
              <a:t>번</a:t>
            </a:r>
            <a:r>
              <a:rPr lang="en-US" altLang="ko-KR" sz="800" dirty="0">
                <a:latin typeface="Consolas" panose="020B0609020204030204" pitchFamily="49" charset="0"/>
              </a:rPr>
              <a:t>)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 err="1">
                <a:latin typeface="Consolas" panose="020B0609020204030204" pitchFamily="49" charset="0"/>
              </a:rPr>
              <a:t>방위사업청</a:t>
            </a:r>
            <a:r>
              <a:rPr lang="ko-KR" altLang="en-US" sz="800" dirty="0">
                <a:latin typeface="Consolas" panose="020B0609020204030204" pitchFamily="49" charset="0"/>
              </a:rPr>
              <a:t> 계약 </a:t>
            </a:r>
            <a:r>
              <a:rPr lang="ko-KR" altLang="en-US" sz="800" dirty="0" err="1">
                <a:latin typeface="Consolas" panose="020B0609020204030204" pitchFamily="49" charset="0"/>
              </a:rPr>
              <a:t>발급담당자</a:t>
            </a:r>
            <a:endParaRPr lang="ko-KR" altLang="en-US" sz="800" dirty="0">
              <a:latin typeface="Consolas" panose="020B0609020204030204" pitchFamily="49" charset="0"/>
            </a:endParaRPr>
          </a:p>
          <a:p>
            <a:pPr>
              <a:lnSpc>
                <a:spcPct val="150000"/>
              </a:lnSpc>
            </a:pPr>
            <a:r>
              <a:rPr lang="ko-KR" altLang="en-US" sz="800" dirty="0">
                <a:latin typeface="Consolas" panose="020B0609020204030204" pitchFamily="49" charset="0"/>
              </a:rPr>
              <a:t>   </a:t>
            </a:r>
            <a:r>
              <a:rPr lang="en-US" altLang="ko-KR" sz="800" dirty="0">
                <a:latin typeface="Consolas" panose="020B0609020204030204" pitchFamily="49" charset="0"/>
              </a:rPr>
              <a:t>- </a:t>
            </a:r>
            <a:r>
              <a:rPr lang="ko-KR" altLang="en-US" sz="800" dirty="0" err="1" smtClean="0">
                <a:latin typeface="Consolas" panose="020B0609020204030204" pitchFamily="49" charset="0"/>
              </a:rPr>
              <a:t>기반전력사업총괄팀</a:t>
            </a:r>
            <a:r>
              <a:rPr lang="en-US" altLang="ko-KR" sz="800" dirty="0" smtClean="0">
                <a:latin typeface="Consolas" panose="020B0609020204030204" pitchFamily="49" charset="0"/>
              </a:rPr>
              <a:t/>
            </a:r>
            <a:br>
              <a:rPr lang="en-US" altLang="ko-KR" sz="800" dirty="0" smtClean="0">
                <a:latin typeface="Consolas" panose="020B0609020204030204" pitchFamily="49" charset="0"/>
              </a:rPr>
            </a:br>
            <a:r>
              <a:rPr lang="en-US" altLang="ko-KR" sz="800" dirty="0" smtClean="0">
                <a:latin typeface="Consolas" panose="020B0609020204030204" pitchFamily="49" charset="0"/>
              </a:rPr>
              <a:t>     </a:t>
            </a:r>
            <a:r>
              <a:rPr lang="ko-KR" altLang="en-US" sz="800" dirty="0" err="1" smtClean="0">
                <a:latin typeface="Consolas" panose="020B0609020204030204" pitchFamily="49" charset="0"/>
              </a:rPr>
              <a:t>윤준혁</a:t>
            </a:r>
            <a:r>
              <a:rPr lang="ko-KR" altLang="en-US" sz="800" dirty="0" smtClean="0">
                <a:latin typeface="Consolas" panose="020B0609020204030204" pitchFamily="49" charset="0"/>
              </a:rPr>
              <a:t> </a:t>
            </a:r>
            <a:r>
              <a:rPr lang="ko-KR" altLang="en-US" sz="800" dirty="0" err="1">
                <a:latin typeface="Consolas" panose="020B0609020204030204" pitchFamily="49" charset="0"/>
              </a:rPr>
              <a:t>주무관</a:t>
            </a:r>
            <a:r>
              <a:rPr lang="ko-KR" altLang="en-US" sz="800" dirty="0">
                <a:latin typeface="Consolas" panose="020B0609020204030204" pitchFamily="49" charset="0"/>
              </a:rPr>
              <a:t> </a:t>
            </a:r>
            <a:r>
              <a:rPr lang="en-US" altLang="ko-KR" sz="800" dirty="0">
                <a:latin typeface="Consolas" panose="020B0609020204030204" pitchFamily="49" charset="0"/>
              </a:rPr>
              <a:t>(☎02-2079-4793)</a:t>
            </a:r>
          </a:p>
          <a:p>
            <a:pPr>
              <a:lnSpc>
                <a:spcPct val="150000"/>
              </a:lnSpc>
            </a:pPr>
            <a:r>
              <a:rPr lang="en-US" altLang="ko-KR" sz="800" dirty="0">
                <a:latin typeface="Consolas" panose="020B0609020204030204" pitchFamily="49" charset="0"/>
              </a:rPr>
              <a:t>   - </a:t>
            </a:r>
            <a:r>
              <a:rPr lang="ko-KR" altLang="en-US" sz="800" dirty="0" err="1" smtClean="0">
                <a:latin typeface="Consolas" panose="020B0609020204030204" pitchFamily="49" charset="0"/>
              </a:rPr>
              <a:t>미래전력사업총괄팀</a:t>
            </a:r>
            <a:endParaRPr lang="en-US" altLang="ko-KR" sz="800" dirty="0" smtClean="0">
              <a:latin typeface="Consolas" panose="020B0609020204030204" pitchFamily="49" charset="0"/>
            </a:endParaRPr>
          </a:p>
          <a:p>
            <a:pPr>
              <a:lnSpc>
                <a:spcPct val="150000"/>
              </a:lnSpc>
            </a:pPr>
            <a:r>
              <a:rPr lang="en-US" altLang="ko-KR" sz="800" dirty="0">
                <a:latin typeface="Consolas" panose="020B0609020204030204" pitchFamily="49" charset="0"/>
              </a:rPr>
              <a:t> </a:t>
            </a:r>
            <a:r>
              <a:rPr lang="en-US" altLang="ko-KR" sz="800" dirty="0" smtClean="0">
                <a:latin typeface="Consolas" panose="020B0609020204030204" pitchFamily="49" charset="0"/>
              </a:rPr>
              <a:t>    </a:t>
            </a:r>
            <a:r>
              <a:rPr lang="ko-KR" altLang="en-US" sz="800" dirty="0" smtClean="0">
                <a:latin typeface="Consolas" panose="020B0609020204030204" pitchFamily="49" charset="0"/>
              </a:rPr>
              <a:t>서정화 </a:t>
            </a:r>
            <a:r>
              <a:rPr lang="ko-KR" altLang="en-US" sz="800" dirty="0" err="1">
                <a:latin typeface="Consolas" panose="020B0609020204030204" pitchFamily="49" charset="0"/>
              </a:rPr>
              <a:t>주무관</a:t>
            </a:r>
            <a:r>
              <a:rPr lang="ko-KR" altLang="en-US" sz="800" dirty="0">
                <a:latin typeface="Consolas" panose="020B0609020204030204" pitchFamily="49" charset="0"/>
              </a:rPr>
              <a:t> </a:t>
            </a:r>
            <a:r>
              <a:rPr lang="en-US" altLang="ko-KR" sz="800" dirty="0">
                <a:latin typeface="Consolas" panose="020B0609020204030204" pitchFamily="49" charset="0"/>
              </a:rPr>
              <a:t>(☎02-2079-4021)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>
                <a:latin typeface="Consolas" panose="020B0609020204030204" pitchFamily="49" charset="0"/>
              </a:rPr>
              <a:t>국방부 및 각 군 계약 </a:t>
            </a:r>
            <a:r>
              <a:rPr lang="en-US" altLang="ko-KR" sz="800" dirty="0">
                <a:latin typeface="Consolas" panose="020B0609020204030204" pitchFamily="49" charset="0"/>
              </a:rPr>
              <a:t>: </a:t>
            </a:r>
            <a:r>
              <a:rPr lang="ko-KR" altLang="en-US" sz="800" dirty="0">
                <a:latin typeface="Consolas" panose="020B0609020204030204" pitchFamily="49" charset="0"/>
              </a:rPr>
              <a:t>국방부 및 각 군 계약담당부서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38325" y="1616997"/>
            <a:ext cx="2468859" cy="166199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 smtClean="0">
                <a:latin typeface="Consolas" panose="020B0609020204030204" pitchFamily="49" charset="0"/>
              </a:rPr>
              <a:t>국방부 </a:t>
            </a:r>
            <a:r>
              <a:rPr lang="ko-KR" altLang="en-US" sz="800" dirty="0">
                <a:latin typeface="Consolas" panose="020B0609020204030204" pitchFamily="49" charset="0"/>
              </a:rPr>
              <a:t>및 각군에서 발급된 실적증명서는 </a:t>
            </a:r>
            <a:r>
              <a:rPr lang="ko-KR" altLang="en-US" sz="800" dirty="0" err="1">
                <a:latin typeface="Consolas" panose="020B0609020204030204" pitchFamily="49" charset="0"/>
              </a:rPr>
              <a:t>진본성</a:t>
            </a:r>
            <a:r>
              <a:rPr lang="ko-KR" altLang="en-US" sz="800" dirty="0">
                <a:latin typeface="Consolas" panose="020B0609020204030204" pitchFamily="49" charset="0"/>
              </a:rPr>
              <a:t> 정보가 포함되어 있으며</a:t>
            </a:r>
            <a:r>
              <a:rPr lang="en-US" altLang="ko-KR" sz="800" dirty="0">
                <a:latin typeface="Consolas" panose="020B0609020204030204" pitchFamily="49" charset="0"/>
              </a:rPr>
              <a:t>, </a:t>
            </a:r>
            <a:r>
              <a:rPr lang="ko-KR" altLang="en-US" sz="800" dirty="0" err="1">
                <a:latin typeface="Consolas" panose="020B0609020204030204" pitchFamily="49" charset="0"/>
              </a:rPr>
              <a:t>진본성</a:t>
            </a:r>
            <a:r>
              <a:rPr lang="ko-KR" altLang="en-US" sz="800" dirty="0">
                <a:latin typeface="Consolas" panose="020B0609020204030204" pitchFamily="49" charset="0"/>
              </a:rPr>
              <a:t> 정보를 확인하려면 해당 프로그램을 설치하셔야 합니다</a:t>
            </a:r>
            <a:r>
              <a:rPr lang="en-US" altLang="ko-KR" sz="800" dirty="0">
                <a:latin typeface="Consolas" panose="020B0609020204030204" pitchFamily="49" charset="0"/>
              </a:rPr>
              <a:t>. </a:t>
            </a:r>
            <a:r>
              <a:rPr lang="en-US" altLang="ko-KR" sz="800" dirty="0">
                <a:solidFill>
                  <a:srgbClr val="0070C0"/>
                </a:solidFill>
                <a:latin typeface="Consolas" panose="020B0609020204030204" pitchFamily="49" charset="0"/>
              </a:rPr>
              <a:t>(PDF </a:t>
            </a:r>
            <a:r>
              <a:rPr lang="ko-KR" altLang="en-US" sz="800" dirty="0" err="1">
                <a:solidFill>
                  <a:srgbClr val="0070C0"/>
                </a:solidFill>
                <a:latin typeface="Consolas" panose="020B0609020204030204" pitchFamily="49" charset="0"/>
              </a:rPr>
              <a:t>진본성</a:t>
            </a:r>
            <a:r>
              <a:rPr lang="ko-KR" altLang="en-US" sz="800" dirty="0">
                <a:solidFill>
                  <a:srgbClr val="0070C0"/>
                </a:solidFill>
                <a:latin typeface="Consolas" panose="020B0609020204030204" pitchFamily="49" charset="0"/>
              </a:rPr>
              <a:t> 파일 </a:t>
            </a:r>
            <a:r>
              <a:rPr lang="ko-KR" altLang="en-US" sz="800" dirty="0" err="1">
                <a:solidFill>
                  <a:srgbClr val="0070C0"/>
                </a:solidFill>
                <a:latin typeface="Consolas" panose="020B0609020204030204" pitchFamily="49" charset="0"/>
              </a:rPr>
              <a:t>미검증시</a:t>
            </a:r>
            <a:r>
              <a:rPr lang="ko-KR" altLang="en-US" sz="800" dirty="0">
                <a:solidFill>
                  <a:srgbClr val="0070C0"/>
                </a:solidFill>
                <a:latin typeface="Consolas" panose="020B0609020204030204" pitchFamily="49" charset="0"/>
              </a:rPr>
              <a:t> 조치 방법</a:t>
            </a:r>
            <a:r>
              <a:rPr lang="en-US" altLang="ko-KR" sz="800" dirty="0">
                <a:solidFill>
                  <a:srgbClr val="0070C0"/>
                </a:solidFill>
                <a:latin typeface="Consolas" panose="020B0609020204030204" pitchFamily="49" charset="0"/>
              </a:rPr>
              <a:t>)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endParaRPr lang="en-US" altLang="ko-KR" sz="800" dirty="0" smtClean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 smtClean="0">
                <a:latin typeface="Consolas" panose="020B0609020204030204" pitchFamily="49" charset="0"/>
              </a:rPr>
              <a:t>물품</a:t>
            </a:r>
            <a:r>
              <a:rPr lang="en-US" altLang="ko-KR" sz="800" dirty="0">
                <a:latin typeface="Consolas" panose="020B0609020204030204" pitchFamily="49" charset="0"/>
              </a:rPr>
              <a:t>(</a:t>
            </a:r>
            <a:r>
              <a:rPr lang="ko-KR" altLang="en-US" sz="800" dirty="0">
                <a:latin typeface="Consolas" panose="020B0609020204030204" pitchFamily="49" charset="0"/>
              </a:rPr>
              <a:t>내자</a:t>
            </a:r>
            <a:r>
              <a:rPr lang="en-US" altLang="ko-KR" sz="800" dirty="0">
                <a:latin typeface="Consolas" panose="020B0609020204030204" pitchFamily="49" charset="0"/>
              </a:rPr>
              <a:t>) </a:t>
            </a:r>
            <a:r>
              <a:rPr lang="ko-KR" altLang="en-US" sz="800" dirty="0">
                <a:latin typeface="Consolas" panose="020B0609020204030204" pitchFamily="49" charset="0"/>
              </a:rPr>
              <a:t>납품실적증명서 발급은 방위사업청과 계약한 건에 한해 방위사업청에서 처리 가능하며</a:t>
            </a:r>
            <a:r>
              <a:rPr lang="en-US" altLang="ko-KR" sz="800" dirty="0">
                <a:latin typeface="Consolas" panose="020B0609020204030204" pitchFamily="49" charset="0"/>
              </a:rPr>
              <a:t>, </a:t>
            </a:r>
            <a:r>
              <a:rPr lang="ko-KR" altLang="en-US" sz="800" dirty="0">
                <a:latin typeface="Consolas" panose="020B0609020204030204" pitchFamily="49" charset="0"/>
              </a:rPr>
              <a:t>타 기관 및 부대와의 </a:t>
            </a:r>
            <a:r>
              <a:rPr lang="ko-KR" altLang="en-US" sz="800" dirty="0" err="1">
                <a:latin typeface="Consolas" panose="020B0609020204030204" pitchFamily="49" charset="0"/>
              </a:rPr>
              <a:t>계약건은</a:t>
            </a:r>
            <a:r>
              <a:rPr lang="ko-KR" altLang="en-US" sz="800" dirty="0">
                <a:latin typeface="Consolas" panose="020B0609020204030204" pitchFamily="49" charset="0"/>
              </a:rPr>
              <a:t> 국방부 및 각군의 계약담당부서로 요청하셔야 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</p:spTree>
    <p:extLst>
      <p:ext uri="{BB962C8B-B14F-4D97-AF65-F5344CB8AC3E}">
        <p14:creationId xmlns:p14="http://schemas.microsoft.com/office/powerpoint/2010/main" val="3291660458"/>
      </p:ext>
    </p:extLst>
  </p:cSld>
  <p:clrMapOvr>
    <a:masterClrMapping/>
  </p:clrMapOvr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 err="1" smtClean="0"/>
              <a:t>계약번호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검색필터</a:t>
            </a:r>
            <a:r>
              <a:rPr lang="ko-KR" altLang="en-US" dirty="0" smtClean="0"/>
              <a:t> 영역</a:t>
            </a:r>
            <a:endParaRPr lang="en-US" altLang="ko-KR" dirty="0" smtClean="0"/>
          </a:p>
          <a:p>
            <a:pPr marL="228600" indent="-228600">
              <a:buAutoNum type="arabicPeriod"/>
            </a:pPr>
            <a:r>
              <a:rPr lang="ko-KR" altLang="en-US" dirty="0" smtClean="0"/>
              <a:t>신청</a:t>
            </a:r>
            <a:r>
              <a:rPr lang="en-US" altLang="ko-KR" dirty="0" smtClean="0"/>
              <a:t>, </a:t>
            </a:r>
            <a:r>
              <a:rPr lang="ko-KR" altLang="en-US" dirty="0" smtClean="0"/>
              <a:t>접수 목록 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클릭 시 상세 화면 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신청</a:t>
            </a:r>
            <a:r>
              <a:rPr lang="en-US" altLang="ko-KR" dirty="0" smtClean="0"/>
              <a:t>, </a:t>
            </a:r>
            <a:r>
              <a:rPr lang="ko-KR" altLang="en-US" dirty="0" smtClean="0"/>
              <a:t>발급</a:t>
            </a:r>
            <a:r>
              <a:rPr lang="en-US" altLang="ko-KR" dirty="0" smtClean="0"/>
              <a:t>, </a:t>
            </a:r>
            <a:r>
              <a:rPr lang="ko-KR" altLang="en-US" dirty="0" smtClean="0"/>
              <a:t>접수 등 진행상태 표시</a:t>
            </a:r>
            <a:endParaRPr lang="en-US" altLang="ko-KR" dirty="0" smtClean="0"/>
          </a:p>
          <a:p>
            <a:pPr marL="228600" indent="-228600">
              <a:buAutoNum type="arabicPeriod"/>
            </a:pPr>
            <a:r>
              <a:rPr lang="ko-KR" altLang="en-US" dirty="0" smtClean="0"/>
              <a:t>목록에서 신청 접수할 수 있도록 </a:t>
            </a:r>
            <a:r>
              <a:rPr lang="en-US" altLang="ko-KR" dirty="0" smtClean="0"/>
              <a:t>(+) </a:t>
            </a:r>
            <a:r>
              <a:rPr lang="ko-KR" altLang="en-US" dirty="0" err="1" smtClean="0"/>
              <a:t>플로팅</a:t>
            </a:r>
            <a:r>
              <a:rPr lang="ko-KR" altLang="en-US" dirty="0" smtClean="0"/>
              <a:t> 버튼 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바텀시트</a:t>
            </a:r>
            <a:r>
              <a:rPr lang="ko-KR" altLang="en-US" dirty="0" smtClean="0"/>
              <a:t> 노출 버튼 </a:t>
            </a:r>
            <a:r>
              <a:rPr lang="en-US" altLang="ko-KR" dirty="0" smtClean="0"/>
              <a:t>[</a:t>
            </a:r>
            <a:r>
              <a:rPr lang="ko-KR" altLang="en-US" dirty="0" smtClean="0"/>
              <a:t>실적증명서 신청</a:t>
            </a:r>
            <a:r>
              <a:rPr lang="en-US" altLang="ko-KR" dirty="0" smtClean="0"/>
              <a:t>]</a:t>
            </a:r>
            <a:r>
              <a:rPr lang="ko-KR" altLang="en-US" dirty="0" smtClean="0"/>
              <a:t> </a:t>
            </a:r>
            <a:r>
              <a:rPr lang="en-US" altLang="ko-KR" dirty="0" smtClean="0"/>
              <a:t>1</a:t>
            </a:r>
            <a:r>
              <a:rPr lang="ko-KR" altLang="en-US" dirty="0" smtClean="0"/>
              <a:t>종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221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목록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목록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MUI-CM-04-M06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실적증명서 신청 목록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22" name="그룹 21"/>
          <p:cNvGrpSpPr/>
          <p:nvPr/>
        </p:nvGrpSpPr>
        <p:grpSpPr>
          <a:xfrm>
            <a:off x="781461" y="3301466"/>
            <a:ext cx="2473257" cy="1098561"/>
            <a:chOff x="781461" y="2610063"/>
            <a:chExt cx="2473257" cy="1098561"/>
          </a:xfrm>
        </p:grpSpPr>
        <p:sp>
          <p:nvSpPr>
            <p:cNvPr id="23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smtClean="0"/>
                <a:t>접수번호 </a:t>
              </a:r>
              <a:r>
                <a:rPr lang="en-US" altLang="ko-KR" sz="700" dirty="0" smtClean="0"/>
                <a:t>2025NC00179 </a:t>
              </a:r>
              <a:r>
                <a:rPr lang="ko-KR" altLang="en-US" sz="700" dirty="0" err="1" smtClean="0"/>
                <a:t>계약번호</a:t>
              </a:r>
              <a:r>
                <a:rPr lang="ko-KR" altLang="en-US" sz="700" dirty="0" smtClean="0"/>
                <a:t> </a:t>
              </a:r>
              <a:r>
                <a:rPr lang="en-US" altLang="ko-KR" sz="700" dirty="0" smtClean="0"/>
                <a:t>2025093455</a:t>
              </a:r>
              <a:endParaRPr lang="en-US" altLang="ko-KR" sz="700" dirty="0"/>
            </a:p>
            <a:p>
              <a:r>
                <a:rPr lang="ko-KR" altLang="en-US" sz="900" b="1" dirty="0"/>
                <a:t>파카</a:t>
              </a:r>
              <a:r>
                <a:rPr lang="en-US" altLang="ko-KR" sz="900" b="1" dirty="0"/>
                <a:t>,</a:t>
              </a:r>
              <a:r>
                <a:rPr lang="ko-KR" altLang="en-US" sz="900" b="1" dirty="0"/>
                <a:t>외피</a:t>
              </a:r>
            </a:p>
          </p:txBody>
        </p:sp>
        <p:sp>
          <p:nvSpPr>
            <p:cNvPr id="24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488916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실적 신청금액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발급기관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신청일자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처리일자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25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661962" y="3139237"/>
              <a:ext cx="472950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11,616,000 </a:t>
              </a:r>
              <a:r>
                <a:rPr lang="ko-KR" altLang="en-US" sz="600" dirty="0" smtClean="0">
                  <a:latin typeface="+mn-ea"/>
                </a:rPr>
                <a:t>원</a:t>
              </a:r>
              <a:endParaRPr lang="en-US" altLang="ko-KR" sz="600" dirty="0" smtClean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방위사업청</a:t>
              </a:r>
              <a:endParaRPr lang="en-US" altLang="ko-KR" sz="600" dirty="0" smtClean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2026-03-05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-</a:t>
              </a:r>
            </a:p>
          </p:txBody>
        </p:sp>
        <p:sp>
          <p:nvSpPr>
            <p:cNvPr id="26" name="모서리가 둥근 직사각형 25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27" name="모서리가 둥근 직사각형 26"/>
            <p:cNvSpPr/>
            <p:nvPr/>
          </p:nvSpPr>
          <p:spPr>
            <a:xfrm>
              <a:off x="1075655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계약구분</a:t>
              </a:r>
              <a:endParaRPr lang="ko-KR" altLang="en-US" sz="600" dirty="0"/>
            </a:p>
          </p:txBody>
        </p:sp>
        <p:sp>
          <p:nvSpPr>
            <p:cNvPr id="116" name="모서리가 둥근 직사각형 115"/>
            <p:cNvSpPr/>
            <p:nvPr/>
          </p:nvSpPr>
          <p:spPr>
            <a:xfrm>
              <a:off x="1526393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신청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422320"/>
            <a:ext cx="76863" cy="292489"/>
            <a:chOff x="3750067" y="4683795"/>
            <a:chExt cx="76863" cy="292489"/>
          </a:xfrm>
        </p:grpSpPr>
        <p:sp>
          <p:nvSpPr>
            <p:cNvPr id="29" name="타원 28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0" name="타원 29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1" name="타원 3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32" name="그룹 31"/>
          <p:cNvGrpSpPr/>
          <p:nvPr/>
        </p:nvGrpSpPr>
        <p:grpSpPr>
          <a:xfrm>
            <a:off x="778515" y="4600795"/>
            <a:ext cx="2476203" cy="1083172"/>
            <a:chOff x="778515" y="2610063"/>
            <a:chExt cx="2476203" cy="1083172"/>
          </a:xfrm>
        </p:grpSpPr>
        <p:sp>
          <p:nvSpPr>
            <p:cNvPr id="3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판단번호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2026-00590</a:t>
              </a:r>
            </a:p>
            <a:p>
              <a:r>
                <a:rPr lang="en-US" altLang="ko-KR" sz="900" b="1" dirty="0"/>
                <a:t>26-</a:t>
              </a:r>
              <a:r>
                <a:rPr lang="ko-KR" altLang="en-US" sz="900" b="1" dirty="0"/>
                <a:t>평 절개지 복구공사</a:t>
              </a:r>
            </a:p>
          </p:txBody>
        </p:sp>
        <p:sp>
          <p:nvSpPr>
            <p:cNvPr id="36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488916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실적 신청금액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발급기관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처리일자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37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239" y="3139237"/>
              <a:ext cx="472950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방위사업청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2026-03-20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38" name="모서리가 둥근 직사각형 37"/>
            <p:cNvSpPr/>
            <p:nvPr/>
          </p:nvSpPr>
          <p:spPr>
            <a:xfrm>
              <a:off x="778515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공사</a:t>
              </a:r>
            </a:p>
          </p:txBody>
        </p:sp>
        <p:sp>
          <p:nvSpPr>
            <p:cNvPr id="39" name="모서리가 둥근 직사각형 38"/>
            <p:cNvSpPr/>
            <p:nvPr/>
          </p:nvSpPr>
          <p:spPr>
            <a:xfrm>
              <a:off x="1075655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118" name="모서리가 둥근 직사각형 117"/>
            <p:cNvSpPr/>
            <p:nvPr/>
          </p:nvSpPr>
          <p:spPr>
            <a:xfrm>
              <a:off x="1521812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발급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48227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77575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1902673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43" name="타원 42"/>
          <p:cNvSpPr/>
          <p:nvPr/>
        </p:nvSpPr>
        <p:spPr>
          <a:xfrm>
            <a:off x="783686" y="19340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4" name="그룹 43"/>
          <p:cNvGrpSpPr/>
          <p:nvPr/>
        </p:nvGrpSpPr>
        <p:grpSpPr>
          <a:xfrm>
            <a:off x="3143548" y="2016004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TextBox 4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874722"/>
            <a:ext cx="135706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2,010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8206" y="2870668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70668"/>
            <a:ext cx="50571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50" name="그룹 49"/>
          <p:cNvGrpSpPr/>
          <p:nvPr/>
        </p:nvGrpSpPr>
        <p:grpSpPr>
          <a:xfrm>
            <a:off x="3143548" y="2983035"/>
            <a:ext cx="94010" cy="47005"/>
            <a:chOff x="6812560" y="3297172"/>
            <a:chExt cx="94010" cy="47005"/>
          </a:xfrm>
        </p:grpSpPr>
        <p:cxnSp>
          <p:nvCxnSpPr>
            <p:cNvPr id="51" name="직선 연결선 5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2" name="직선 연결선 5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53" name="그룹 52"/>
          <p:cNvGrpSpPr/>
          <p:nvPr/>
        </p:nvGrpSpPr>
        <p:grpSpPr>
          <a:xfrm>
            <a:off x="767702" y="2270279"/>
            <a:ext cx="2527420" cy="477995"/>
            <a:chOff x="786326" y="2270279"/>
            <a:chExt cx="2527420" cy="477995"/>
          </a:xfrm>
        </p:grpSpPr>
        <p:sp>
          <p:nvSpPr>
            <p:cNvPr id="54" name="모서리가 둥근 직사각형 53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5" name="타원 54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4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95625" y="2274581"/>
              <a:ext cx="615387" cy="155984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계약번호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58" name="타원 57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/>
                <a:t>V</a:t>
              </a:r>
              <a:endParaRPr lang="ko-KR" altLang="en-US" sz="600" dirty="0"/>
            </a:p>
          </p:txBody>
        </p:sp>
        <p:sp>
          <p:nvSpPr>
            <p:cNvPr id="59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726021" y="2270279"/>
              <a:ext cx="582849" cy="15479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>
                  <a:latin typeface="맑은 고딕"/>
                  <a:ea typeface="맑은 고딕" panose="020B0503020000020004" pitchFamily="50" charset="-127"/>
                </a:rPr>
                <a:t>검색필터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60" name="타원 59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61" name="그룹 60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62" name="직선 연결선 61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3" name="직선 연결선 62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66" name="직선 연결선 6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1015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67" name="직선 연결선 6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3550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0" name="그룹 69"/>
          <p:cNvGrpSpPr/>
          <p:nvPr/>
        </p:nvGrpSpPr>
        <p:grpSpPr>
          <a:xfrm>
            <a:off x="6255425" y="1650089"/>
            <a:ext cx="94010" cy="94010"/>
            <a:chOff x="6812560" y="3297172"/>
            <a:chExt cx="94010" cy="94010"/>
          </a:xfrm>
        </p:grpSpPr>
        <p:cxnSp>
          <p:nvCxnSpPr>
            <p:cNvPr id="71" name="직선 연결선 70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2" name="직선 연결선 7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3" name="타원 72"/>
          <p:cNvSpPr/>
          <p:nvPr/>
        </p:nvSpPr>
        <p:spPr>
          <a:xfrm>
            <a:off x="5890147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5563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4505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grpSp>
        <p:nvGrpSpPr>
          <p:cNvPr id="76" name="그룹 75"/>
          <p:cNvGrpSpPr/>
          <p:nvPr/>
        </p:nvGrpSpPr>
        <p:grpSpPr>
          <a:xfrm>
            <a:off x="3792447" y="1974264"/>
            <a:ext cx="2712027" cy="797589"/>
            <a:chOff x="675399" y="3490553"/>
            <a:chExt cx="2712027" cy="797589"/>
          </a:xfrm>
        </p:grpSpPr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490553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기간 </a:t>
              </a:r>
              <a:r>
                <a:rPr lang="ko-KR" altLang="en-US" sz="700" b="1" dirty="0" smtClean="0">
                  <a:latin typeface="+mn-ea"/>
                </a:rPr>
                <a:t>설정 </a:t>
              </a:r>
              <a:r>
                <a:rPr lang="en-US" altLang="ko-KR" sz="700" b="1" dirty="0" smtClean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713091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검색 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빠른 설정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79" name="그룹 78"/>
            <p:cNvGrpSpPr/>
            <p:nvPr/>
          </p:nvGrpSpPr>
          <p:grpSpPr>
            <a:xfrm flipV="1">
              <a:off x="3140949" y="3588243"/>
              <a:ext cx="91438" cy="45719"/>
              <a:chOff x="6812560" y="3297172"/>
              <a:chExt cx="94010" cy="47005"/>
            </a:xfrm>
          </p:grpSpPr>
          <p:cxnSp>
            <p:nvCxnSpPr>
              <p:cNvPr id="92" name="직선 연결선 9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3" name="직선 연결선 9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80" name="그룹 79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1464781" y="3740722"/>
              <a:ext cx="859319" cy="188244"/>
              <a:chOff x="5613534" y="2854836"/>
              <a:chExt cx="804671" cy="188244"/>
            </a:xfrm>
          </p:grpSpPr>
          <p:sp>
            <p:nvSpPr>
              <p:cNvPr id="90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2025-12-15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91" name="그림 90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sp>
          <p:nvSpPr>
            <p:cNvPr id="81" name="TextBox 91">
              <a:extLst>
                <a:ext uri="{FF2B5EF4-FFF2-40B4-BE49-F238E27FC236}">
                  <a16:creationId xmlns:a16="http://schemas.microsoft.com/office/drawing/2014/main" id="{02490888-B81F-0F94-5D5F-078AEEB39DDB}"/>
                </a:ext>
              </a:extLst>
            </p:cNvPr>
            <p:cNvSpPr txBox="1"/>
            <p:nvPr/>
          </p:nvSpPr>
          <p:spPr>
            <a:xfrm>
              <a:off x="2347279" y="3760669"/>
              <a:ext cx="80150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 dirty="0">
                  <a:solidFill>
                    <a:prstClr val="black"/>
                  </a:solidFill>
                  <a:cs typeface="Pretendard Medium" panose="02000603000000020004" pitchFamily="50" charset="-127"/>
                </a:rPr>
                <a:t>~</a:t>
              </a:r>
              <a:endParaRPr lang="ko-KR" altLang="en-US" sz="900" dirty="0">
                <a:solidFill>
                  <a:prstClr val="black"/>
                </a:solidFill>
                <a:cs typeface="Pretendard Medium" panose="02000603000000020004" pitchFamily="50" charset="-127"/>
              </a:endParaRPr>
            </a:p>
          </p:txBody>
        </p:sp>
        <p:grpSp>
          <p:nvGrpSpPr>
            <p:cNvPr id="82" name="그룹 81"/>
            <p:cNvGrpSpPr/>
            <p:nvPr/>
          </p:nvGrpSpPr>
          <p:grpSpPr>
            <a:xfrm>
              <a:off x="1464781" y="3971391"/>
              <a:ext cx="1845146" cy="188135"/>
              <a:chOff x="1430277" y="4057651"/>
              <a:chExt cx="1845146" cy="188135"/>
            </a:xfrm>
          </p:grpSpPr>
          <p:sp>
            <p:nvSpPr>
              <p:cNvPr id="87" name="사각형: 둥근 모서리 169">
                <a:extLst>
                  <a:ext uri="{FF2B5EF4-FFF2-40B4-BE49-F238E27FC236}">
                    <a16:creationId xmlns:a16="http://schemas.microsoft.com/office/drawing/2014/main" id="{A28DD831-0E4B-31EE-CB08-9E188754698D}"/>
                  </a:ext>
                </a:extLst>
              </p:cNvPr>
              <p:cNvSpPr/>
              <p:nvPr/>
            </p:nvSpPr>
            <p:spPr>
              <a:xfrm>
                <a:off x="1430277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최근 </a:t>
                </a:r>
                <a:r>
                  <a:rPr kumimoji="1" lang="en-US" altLang="ko-KR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개월</a:t>
                </a:r>
                <a:endParaRPr kumimoji="1" 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88" name="사각형: 둥근 모서리 171">
                <a:extLst>
                  <a:ext uri="{FF2B5EF4-FFF2-40B4-BE49-F238E27FC236}">
                    <a16:creationId xmlns:a16="http://schemas.microsoft.com/office/drawing/2014/main" id="{75BECEC6-4045-95B1-98C2-242CA0FC5A06}"/>
                  </a:ext>
                </a:extLst>
              </p:cNvPr>
              <p:cNvSpPr/>
              <p:nvPr/>
            </p:nvSpPr>
            <p:spPr>
              <a:xfrm>
                <a:off x="2061841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latin typeface="+mn-ea"/>
                  </a:rPr>
                  <a:t>최근 </a:t>
                </a:r>
                <a:r>
                  <a:rPr kumimoji="1" lang="en-US" altLang="ko-KR" sz="700" kern="0" dirty="0">
                    <a:latin typeface="+mn-ea"/>
                  </a:rPr>
                  <a:t>3</a:t>
                </a:r>
                <a:r>
                  <a:rPr kumimoji="1" lang="ko-KR" altLang="en-US" sz="700" kern="0" dirty="0">
                    <a:latin typeface="+mn-ea"/>
                  </a:rPr>
                  <a:t>개월</a:t>
                </a:r>
                <a:endParaRPr kumimoji="1" lang="en-US" altLang="ko-KR" sz="700" kern="0" dirty="0">
                  <a:latin typeface="+mn-ea"/>
                </a:endParaRPr>
              </a:p>
            </p:txBody>
          </p:sp>
          <p:sp>
            <p:nvSpPr>
              <p:cNvPr id="89" name="사각형: 둥근 모서리 172">
                <a:extLst>
                  <a:ext uri="{FF2B5EF4-FFF2-40B4-BE49-F238E27FC236}">
                    <a16:creationId xmlns:a16="http://schemas.microsoft.com/office/drawing/2014/main" id="{7F182F00-C81F-5F02-6A1E-826222B231A9}"/>
                  </a:ext>
                </a:extLst>
              </p:cNvPr>
              <p:cNvSpPr/>
              <p:nvPr/>
            </p:nvSpPr>
            <p:spPr>
              <a:xfrm>
                <a:off x="2693406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최근 </a:t>
                </a:r>
                <a:r>
                  <a:rPr kumimoji="1" lang="en-US" altLang="ko-KR" sz="700" kern="0" dirty="0">
                    <a:solidFill>
                      <a:prstClr val="black"/>
                    </a:solidFill>
                    <a:latin typeface="+mn-ea"/>
                  </a:rPr>
                  <a:t>6</a:t>
                </a: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개월</a:t>
                </a:r>
                <a:endParaRPr kumimoji="1" lang="en-US" altLang="ko-KR" sz="7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grpSp>
          <p:nvGrpSpPr>
            <p:cNvPr id="83" name="그룹 82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2450608" y="3740722"/>
              <a:ext cx="859319" cy="188244"/>
              <a:chOff x="5613534" y="2854836"/>
              <a:chExt cx="804671" cy="188244"/>
            </a:xfrm>
          </p:grpSpPr>
          <p:sp>
            <p:nvSpPr>
              <p:cNvPr id="85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2026-01-15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86" name="그림 85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28814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4" name="그룹 93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95" name="직사각형 9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9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98" name="그룹 97"/>
          <p:cNvGrpSpPr/>
          <p:nvPr/>
        </p:nvGrpSpPr>
        <p:grpSpPr>
          <a:xfrm>
            <a:off x="3795734" y="3581561"/>
            <a:ext cx="2712027" cy="505089"/>
            <a:chOff x="3795734" y="4353857"/>
            <a:chExt cx="2712027" cy="505089"/>
          </a:xfrm>
        </p:grpSpPr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391255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구분 설정</a:t>
              </a:r>
            </a:p>
          </p:txBody>
        </p:sp>
        <p:grpSp>
          <p:nvGrpSpPr>
            <p:cNvPr id="100" name="그룹 99"/>
            <p:cNvGrpSpPr/>
            <p:nvPr/>
          </p:nvGrpSpPr>
          <p:grpSpPr>
            <a:xfrm flipV="1">
              <a:off x="6261284" y="4488945"/>
              <a:ext cx="91438" cy="45719"/>
              <a:chOff x="6812560" y="3297172"/>
              <a:chExt cx="94010" cy="47005"/>
            </a:xfrm>
          </p:grpSpPr>
          <p:cxnSp>
            <p:nvCxnSpPr>
              <p:cNvPr id="107" name="직선 연결선 10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8" name="직선 연결선 10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01" name="모서리가 둥근 직사각형 100"/>
            <p:cNvSpPr/>
            <p:nvPr/>
          </p:nvSpPr>
          <p:spPr>
            <a:xfrm>
              <a:off x="4569619" y="4671746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tx1"/>
                  </a:solidFill>
                </a:rPr>
                <a:t>전체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619620"/>
              <a:ext cx="670770" cy="18921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10000"/>
                </a:lnSpc>
              </a:pPr>
              <a:r>
                <a:rPr lang="ko-KR" altLang="en-US" sz="700" dirty="0" err="1" smtClean="0">
                  <a:latin typeface="+mn-ea"/>
                </a:rPr>
                <a:t>처리상태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3" name="그룹 102"/>
            <p:cNvGrpSpPr/>
            <p:nvPr/>
          </p:nvGrpSpPr>
          <p:grpSpPr>
            <a:xfrm>
              <a:off x="6261284" y="4742486"/>
              <a:ext cx="91438" cy="45719"/>
              <a:chOff x="6812560" y="3297172"/>
              <a:chExt cx="94010" cy="47005"/>
            </a:xfrm>
          </p:grpSpPr>
          <p:cxnSp>
            <p:nvCxnSpPr>
              <p:cNvPr id="105" name="직선 연결선 10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6" name="직선 연결선 10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435385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09" name="그룹 108"/>
          <p:cNvGrpSpPr/>
          <p:nvPr/>
        </p:nvGrpSpPr>
        <p:grpSpPr>
          <a:xfrm>
            <a:off x="3903622" y="2893083"/>
            <a:ext cx="2516607" cy="467691"/>
            <a:chOff x="778515" y="4388257"/>
            <a:chExt cx="2516607" cy="467691"/>
          </a:xfrm>
        </p:grpSpPr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38825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err="1" smtClean="0">
                  <a:latin typeface="+mn-ea"/>
                </a:rPr>
                <a:t>검색어</a:t>
              </a:r>
              <a:endParaRPr lang="ko-KR" altLang="en-US" sz="700" b="1" dirty="0">
                <a:latin typeface="+mn-ea"/>
              </a:endParaRPr>
            </a:p>
          </p:txBody>
        </p:sp>
        <p:grpSp>
          <p:nvGrpSpPr>
            <p:cNvPr id="111" name="그룹 110"/>
            <p:cNvGrpSpPr/>
            <p:nvPr/>
          </p:nvGrpSpPr>
          <p:grpSpPr>
            <a:xfrm flipV="1">
              <a:off x="3140949" y="4485947"/>
              <a:ext cx="91438" cy="45719"/>
              <a:chOff x="6812560" y="3297172"/>
              <a:chExt cx="94010" cy="47005"/>
            </a:xfrm>
          </p:grpSpPr>
          <p:cxnSp>
            <p:nvCxnSpPr>
              <p:cNvPr id="114" name="직선 연결선 1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15" name="직선 연결선 1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2" name="모서리가 둥근 직사각형 111"/>
            <p:cNvSpPr/>
            <p:nvPr/>
          </p:nvSpPr>
          <p:spPr>
            <a:xfrm>
              <a:off x="1449284" y="466874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 err="1" smtClean="0">
                  <a:solidFill>
                    <a:schemeClr val="bg1">
                      <a:lumMod val="65000"/>
                    </a:schemeClr>
                  </a:solidFill>
                </a:rPr>
                <a:t>계약번호를</a:t>
              </a:r>
              <a:r>
                <a:rPr lang="ko-KR" altLang="en-US" sz="700" dirty="0" smtClean="0">
                  <a:solidFill>
                    <a:schemeClr val="bg1">
                      <a:lumMod val="65000"/>
                    </a:schemeClr>
                  </a:solidFill>
                </a:rPr>
                <a:t> </a:t>
              </a:r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655417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119" name="타원 11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53106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20" name="타원 1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51485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17" name="타원 116"/>
          <p:cNvSpPr/>
          <p:nvPr/>
        </p:nvSpPr>
        <p:spPr>
          <a:xfrm>
            <a:off x="6596790" y="4685201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1" name="그룹 120"/>
          <p:cNvGrpSpPr/>
          <p:nvPr/>
        </p:nvGrpSpPr>
        <p:grpSpPr>
          <a:xfrm>
            <a:off x="6726256" y="4802272"/>
            <a:ext cx="124144" cy="148935"/>
            <a:chOff x="161606" y="5392781"/>
            <a:chExt cx="97885" cy="117432"/>
          </a:xfrm>
        </p:grpSpPr>
        <p:cxnSp>
          <p:nvCxnSpPr>
            <p:cNvPr id="122" name="직선 연결선 121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3" name="직선 연결선 122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4" name="직선 연결선 123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5" name="직선 연결선 124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6" name="타원 125"/>
          <p:cNvSpPr/>
          <p:nvPr/>
        </p:nvSpPr>
        <p:spPr>
          <a:xfrm>
            <a:off x="6596790" y="5170451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7" name="그룹 126"/>
          <p:cNvGrpSpPr/>
          <p:nvPr/>
        </p:nvGrpSpPr>
        <p:grpSpPr>
          <a:xfrm>
            <a:off x="6726257" y="5299917"/>
            <a:ext cx="124144" cy="124144"/>
            <a:chOff x="162544" y="5299917"/>
            <a:chExt cx="124144" cy="124144"/>
          </a:xfrm>
        </p:grpSpPr>
        <p:cxnSp>
          <p:nvCxnSpPr>
            <p:cNvPr id="128" name="직선 연결선 12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9" name="직선 연결선 12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613787799"/>
      </p:ext>
    </p:extLst>
  </p:cSld>
  <p:clrMapOvr>
    <a:masterClrMapping/>
  </p:clrMapOvr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222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285231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실적증명서 신청 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1431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aplyYmdFrom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aplyYmdTo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2738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62700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prcsStts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처리상태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처리중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44419953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2AF88A98-DF3E-37F5-1D9F-FCE47A9DEB4E}"/>
              </a:ext>
            </a:extLst>
          </p:cNvPr>
          <p:cNvSpPr txBox="1"/>
          <p:nvPr/>
        </p:nvSpPr>
        <p:spPr>
          <a:xfrm>
            <a:off x="458117" y="2157281"/>
            <a:ext cx="286032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실적증명서 신청 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99A839B-AA49-58B4-C132-06B25B96EB6B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441035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prfmncRcptNo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ctrtNo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ctrtSe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rprsItemNm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525561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실적신청금액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실적신청금액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17,2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5309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20188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aplyYmd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32914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prcsYmd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처리일자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585951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prgrsStcd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2664820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8DFB58E3-7D79-F186-0A97-7AE818C4DC2B}"/>
              </a:ext>
            </a:extLst>
          </p:cNvPr>
          <p:cNvSpPr txBox="1"/>
          <p:nvPr/>
        </p:nvSpPr>
        <p:spPr>
          <a:xfrm>
            <a:off x="460676" y="4869440"/>
            <a:ext cx="398563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실적증명서 신청 업체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dm_prfmncPrdocAplyBzentyInfo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9C0F32E6-E72F-D829-812E-A5DD7D1444C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5153194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rgstrtIdntyYn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정상등록업체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(‘Y’)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525561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공통코드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CODE_IDEN = 'MBTC'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5309708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1CE08BAD-60BD-D79C-6308-E11F16EC77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4" y="69182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505332946"/>
      </p:ext>
    </p:extLst>
  </p:cSld>
  <p:clrMapOvr>
    <a:masterClrMapping/>
  </p:clrMapOvr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223</a:t>
            </a:fld>
            <a:endParaRPr lang="ko-KR" altLang="en-US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29918" y="79263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4454732-E597-33F1-5B5D-6BAFE23E8D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03917015"/>
              </p:ext>
            </p:extLst>
          </p:nvPr>
        </p:nvGraphicFramePr>
        <p:xfrm>
          <a:off x="429918" y="1022848"/>
          <a:ext cx="8995591" cy="1141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신청한 실적증명서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scwin.btn_prfmncPrdocAplyList_onclick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실적증명서 신청 목록을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40544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카드 클릭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scwin.grd_prfmncPrdocAplyList_oncellclick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신청한 실적증명서 상세 내용이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2614139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DD5411A9-86B9-51C9-3795-C78FEC2B56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7493" y="85207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572152727"/>
      </p:ext>
    </p:extLst>
  </p:cSld>
  <p:clrMapOvr>
    <a:masterClrMapping/>
  </p:clrMapOvr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 smtClean="0"/>
              <a:t>발급 상태에서만 출력 버튼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신청</a:t>
            </a:r>
            <a:r>
              <a:rPr lang="en-US" altLang="ko-KR" dirty="0" smtClean="0"/>
              <a:t>, </a:t>
            </a:r>
            <a:r>
              <a:rPr lang="ko-KR" altLang="en-US" dirty="0" smtClean="0"/>
              <a:t>저장 등 타 상태 출력 버튼 숨김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발급 문서는 </a:t>
            </a:r>
            <a:r>
              <a:rPr lang="en-US" altLang="ko-KR" dirty="0" smtClean="0"/>
              <a:t>PDF </a:t>
            </a:r>
            <a:r>
              <a:rPr lang="ko-KR" altLang="en-US" dirty="0" smtClean="0"/>
              <a:t>파일로 </a:t>
            </a:r>
            <a:r>
              <a:rPr lang="ko-KR" altLang="en-US" dirty="0" err="1" smtClean="0"/>
              <a:t>진본성</a:t>
            </a:r>
            <a:r>
              <a:rPr lang="ko-KR" altLang="en-US" dirty="0" smtClean="0"/>
              <a:t> 검사 대상</a:t>
            </a:r>
            <a:endParaRPr lang="en-US" altLang="ko-KR" dirty="0" smtClean="0"/>
          </a:p>
          <a:p>
            <a:pPr marL="228600" indent="-228600">
              <a:buAutoNum type="arabicPeriod"/>
            </a:pPr>
            <a:r>
              <a:rPr lang="ko-KR" altLang="en-US" dirty="0" smtClean="0"/>
              <a:t>문서 세부 탭</a:t>
            </a:r>
            <a:endParaRPr lang="en-US" altLang="ko-KR" dirty="0" smtClean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smtClean="0"/>
              <a:t>세부 내역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기관</a:t>
            </a:r>
            <a:r>
              <a:rPr lang="en-US" altLang="ko-KR" dirty="0" smtClean="0"/>
              <a:t>, </a:t>
            </a:r>
            <a:r>
              <a:rPr lang="ko-KR" altLang="en-US" dirty="0" smtClean="0"/>
              <a:t>계약에 </a:t>
            </a:r>
            <a:r>
              <a:rPr lang="ko-KR" altLang="en-US" dirty="0"/>
              <a:t>따라 </a:t>
            </a:r>
            <a:r>
              <a:rPr lang="ko-KR" altLang="en-US" dirty="0" err="1" smtClean="0"/>
              <a:t>세부정보</a:t>
            </a:r>
            <a:r>
              <a:rPr lang="en-US" altLang="ko-KR" dirty="0" smtClean="0"/>
              <a:t>(</a:t>
            </a:r>
            <a:r>
              <a:rPr lang="ko-KR" altLang="en-US" dirty="0" err="1" smtClean="0"/>
              <a:t>신청정보</a:t>
            </a:r>
            <a:r>
              <a:rPr lang="en-US" altLang="ko-KR" dirty="0" smtClean="0"/>
              <a:t>)</a:t>
            </a:r>
            <a:r>
              <a:rPr lang="ko-KR" altLang="en-US" dirty="0" smtClean="0"/>
              <a:t>표시 </a:t>
            </a:r>
            <a:r>
              <a:rPr lang="ko-KR" altLang="en-US" dirty="0"/>
              <a:t>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실적증명서 신청과 동일하게 크게 </a:t>
            </a:r>
            <a:r>
              <a:rPr lang="en-US" altLang="ko-KR" dirty="0"/>
              <a:t>3</a:t>
            </a:r>
            <a:r>
              <a:rPr lang="ko-KR" altLang="en-US" dirty="0"/>
              <a:t>분류로 나누어짐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</a:t>
            </a:r>
            <a:r>
              <a:rPr lang="en-US" altLang="ko-KR" dirty="0"/>
              <a:t>-</a:t>
            </a:r>
            <a:r>
              <a:rPr lang="ko-KR" altLang="en-US" dirty="0"/>
              <a:t> </a:t>
            </a:r>
            <a:r>
              <a:rPr lang="ko-KR" altLang="en-US" dirty="0" err="1"/>
              <a:t>방위사업청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</a:t>
            </a:r>
            <a:r>
              <a:rPr lang="en-US" altLang="ko-KR" dirty="0"/>
              <a:t>-</a:t>
            </a:r>
            <a:r>
              <a:rPr lang="ko-KR" altLang="en-US" dirty="0"/>
              <a:t> </a:t>
            </a:r>
            <a:r>
              <a:rPr lang="ko-KR" altLang="en-US" dirty="0" err="1"/>
              <a:t>부대면서</a:t>
            </a:r>
            <a:r>
              <a:rPr lang="ko-KR" altLang="en-US" dirty="0"/>
              <a:t> 시설공사일때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</a:t>
            </a:r>
            <a:r>
              <a:rPr lang="en-US" altLang="ko-KR" dirty="0"/>
              <a:t>-</a:t>
            </a:r>
            <a:r>
              <a:rPr lang="ko-KR" altLang="en-US" dirty="0"/>
              <a:t> </a:t>
            </a:r>
            <a:r>
              <a:rPr lang="ko-KR" altLang="en-US" dirty="0" err="1"/>
              <a:t>부대면서</a:t>
            </a:r>
            <a:r>
              <a:rPr lang="ko-KR" altLang="en-US" dirty="0"/>
              <a:t> 시설공사 </a:t>
            </a:r>
            <a:r>
              <a:rPr lang="ko-KR" altLang="en-US" dirty="0" err="1" smtClean="0"/>
              <a:t>아닐때</a:t>
            </a:r>
            <a:endParaRPr lang="en-US" altLang="ko-KR" dirty="0" smtClean="0"/>
          </a:p>
          <a:p>
            <a:pPr marL="228600" indent="-228600">
              <a:buAutoNum type="arabicPeriod"/>
            </a:pPr>
            <a:r>
              <a:rPr lang="ko-KR" altLang="en-US" dirty="0" smtClean="0"/>
              <a:t>더하기 </a:t>
            </a:r>
            <a:r>
              <a:rPr lang="ko-KR" altLang="en-US" dirty="0"/>
              <a:t>버튼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신청 및 수정은 </a:t>
            </a:r>
            <a:r>
              <a:rPr lang="ko-KR" altLang="en-US" dirty="0" err="1" smtClean="0"/>
              <a:t>저장상태</a:t>
            </a:r>
            <a:r>
              <a:rPr lang="ko-KR" altLang="en-US" dirty="0" smtClean="0"/>
              <a:t> 일 때</a:t>
            </a:r>
            <a:r>
              <a:rPr lang="en-US" altLang="ko-KR" dirty="0" smtClean="0"/>
              <a:t>, 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발급</a:t>
            </a:r>
            <a:r>
              <a:rPr lang="en-US" altLang="ko-KR" dirty="0" smtClean="0"/>
              <a:t>,</a:t>
            </a:r>
            <a:r>
              <a:rPr lang="ko-KR" altLang="en-US" dirty="0" smtClean="0"/>
              <a:t>제출은 </a:t>
            </a:r>
            <a:r>
              <a:rPr lang="ko-KR" altLang="en-US" dirty="0" err="1" smtClean="0"/>
              <a:t>발급상태</a:t>
            </a:r>
            <a:r>
              <a:rPr lang="ko-KR" altLang="en-US" dirty="0" smtClean="0"/>
              <a:t> 일 때</a:t>
            </a:r>
            <a:r>
              <a:rPr lang="en-US" altLang="ko-KR" dirty="0" smtClean="0"/>
              <a:t>, 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제출 팝업 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실적증명서 제출 </a:t>
            </a:r>
            <a:r>
              <a:rPr lang="en-US" altLang="ko-KR" dirty="0"/>
              <a:t>(MUI-CM-04-P20)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삭제는 반려</a:t>
            </a:r>
            <a:r>
              <a:rPr lang="en-US" altLang="ko-KR" dirty="0" smtClean="0"/>
              <a:t>/</a:t>
            </a:r>
            <a:r>
              <a:rPr lang="ko-KR" altLang="en-US" dirty="0" smtClean="0"/>
              <a:t>저장</a:t>
            </a:r>
            <a:r>
              <a:rPr lang="en-US" altLang="ko-KR" dirty="0" smtClean="0"/>
              <a:t>/</a:t>
            </a:r>
            <a:r>
              <a:rPr lang="ko-KR" altLang="en-US" dirty="0" err="1" smtClean="0"/>
              <a:t>회송상태</a:t>
            </a:r>
            <a:r>
              <a:rPr lang="ko-KR" altLang="en-US" dirty="0" smtClean="0"/>
              <a:t> 일 때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확인 팝업 </a:t>
            </a:r>
            <a:r>
              <a:rPr lang="en-US" altLang="ko-KR" dirty="0" smtClean="0"/>
              <a:t>– </a:t>
            </a:r>
            <a:r>
              <a:rPr lang="ko-KR" altLang="en-US" dirty="0" smtClean="0"/>
              <a:t>정말 삭제하시겠습니까</a:t>
            </a:r>
            <a:r>
              <a:rPr lang="en-US" altLang="ko-KR" dirty="0" smtClean="0"/>
              <a:t>? (N/Y)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224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상세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 smtClean="0">
                <a:latin typeface="+mn-ea"/>
              </a:rPr>
              <a:t>공통 영역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실적증명서 상세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타원 35"/>
          <p:cNvSpPr/>
          <p:nvPr/>
        </p:nvSpPr>
        <p:spPr>
          <a:xfrm>
            <a:off x="2926040" y="1957671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모서리가 둥근 직사각형 36"/>
          <p:cNvSpPr/>
          <p:nvPr/>
        </p:nvSpPr>
        <p:spPr>
          <a:xfrm>
            <a:off x="3070040" y="1974079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출력</a:t>
            </a:r>
          </a:p>
        </p:txBody>
      </p:sp>
      <p:grpSp>
        <p:nvGrpSpPr>
          <p:cNvPr id="3" name="그룹 2"/>
          <p:cNvGrpSpPr/>
          <p:nvPr/>
        </p:nvGrpSpPr>
        <p:grpSpPr>
          <a:xfrm>
            <a:off x="675399" y="3154885"/>
            <a:ext cx="2712027" cy="354413"/>
            <a:chOff x="720490" y="3853802"/>
            <a:chExt cx="2621844" cy="354413"/>
          </a:xfrm>
        </p:grpSpPr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85380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08215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3292691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 smtClean="0">
                <a:latin typeface="+mn-ea"/>
              </a:rPr>
              <a:t>계약정보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8545" y="3292691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 smtClean="0">
                <a:latin typeface="+mn-ea"/>
              </a:rPr>
              <a:t>신청정보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43" name="직선 연결선 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509298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9" name="타원 68"/>
          <p:cNvSpPr/>
          <p:nvPr/>
        </p:nvSpPr>
        <p:spPr>
          <a:xfrm>
            <a:off x="6596790" y="4685201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70" name="그룹 69"/>
          <p:cNvGrpSpPr/>
          <p:nvPr/>
        </p:nvGrpSpPr>
        <p:grpSpPr>
          <a:xfrm>
            <a:off x="6726256" y="4802272"/>
            <a:ext cx="124144" cy="148935"/>
            <a:chOff x="161606" y="5392781"/>
            <a:chExt cx="97885" cy="117432"/>
          </a:xfrm>
        </p:grpSpPr>
        <p:cxnSp>
          <p:nvCxnSpPr>
            <p:cNvPr id="71" name="직선 연결선 70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2" name="직선 연결선 71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3" name="직선 연결선 72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4" name="직선 연결선 73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7" name="타원 106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모서리가 둥근 직사각형 107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출력</a:t>
            </a:r>
          </a:p>
        </p:txBody>
      </p: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계약정보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신청정보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50157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00816" y="1336107"/>
            <a:ext cx="24732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 smtClean="0"/>
              <a:t>스크롤 시 표시 영역 상단 달라붙음 처리 </a:t>
            </a:r>
            <a:r>
              <a:rPr lang="en-US" altLang="ko-KR" sz="700" dirty="0" smtClean="0"/>
              <a:t>(sticky)</a:t>
            </a:r>
            <a:endParaRPr lang="ko-KR" altLang="en-US" sz="900" b="1" dirty="0"/>
          </a:p>
        </p:txBody>
      </p:sp>
      <p:sp>
        <p:nvSpPr>
          <p:cNvPr id="165" name="평행 사변형 164"/>
          <p:cNvSpPr/>
          <p:nvPr/>
        </p:nvSpPr>
        <p:spPr>
          <a:xfrm rot="16200000" flipH="1">
            <a:off x="3105747" y="1776324"/>
            <a:ext cx="971670" cy="408309"/>
          </a:xfrm>
          <a:prstGeom prst="parallelogram">
            <a:avLst>
              <a:gd name="adj" fmla="val 86804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6" name="평행 사변형 165"/>
          <p:cNvSpPr/>
          <p:nvPr/>
        </p:nvSpPr>
        <p:spPr>
          <a:xfrm rot="16200000" flipH="1">
            <a:off x="2906771" y="2615839"/>
            <a:ext cx="1369624" cy="408308"/>
          </a:xfrm>
          <a:prstGeom prst="parallelogram">
            <a:avLst>
              <a:gd name="adj" fmla="val 245603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8" name="타원 16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98190" y="440511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69" name="타원 168"/>
          <p:cNvSpPr/>
          <p:nvPr/>
        </p:nvSpPr>
        <p:spPr>
          <a:xfrm>
            <a:off x="6596790" y="5170451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70" name="그룹 169"/>
          <p:cNvGrpSpPr/>
          <p:nvPr/>
        </p:nvGrpSpPr>
        <p:grpSpPr>
          <a:xfrm>
            <a:off x="6726257" y="5299917"/>
            <a:ext cx="124144" cy="124144"/>
            <a:chOff x="162544" y="5299917"/>
            <a:chExt cx="124144" cy="124144"/>
          </a:xfrm>
        </p:grpSpPr>
        <p:cxnSp>
          <p:nvCxnSpPr>
            <p:cNvPr id="171" name="직선 연결선 170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72" name="직선 연결선 171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9" name="그룹 28"/>
          <p:cNvGrpSpPr/>
          <p:nvPr/>
        </p:nvGrpSpPr>
        <p:grpSpPr>
          <a:xfrm>
            <a:off x="675400" y="3615629"/>
            <a:ext cx="2712026" cy="2504309"/>
            <a:chOff x="675400" y="3615629"/>
            <a:chExt cx="2712026" cy="2504309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615629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3728960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3923114"/>
              <a:ext cx="792000" cy="108593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9231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923114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계약번호</a:t>
              </a: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 smtClean="0">
                  <a:latin typeface="+mn-ea"/>
                </a:rPr>
                <a:t>차수</a:t>
              </a:r>
              <a:r>
                <a:rPr lang="en-US" altLang="ko-KR" sz="700" dirty="0" smtClean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계약건명</a:t>
              </a:r>
              <a:r>
                <a:rPr lang="en-US" altLang="ko-KR" sz="700" dirty="0" smtClean="0">
                  <a:latin typeface="+mn-ea"/>
                </a:rPr>
                <a:t>/</a:t>
              </a:r>
              <a:r>
                <a:rPr lang="ko-KR" altLang="en-US" sz="700" dirty="0" err="1" smtClean="0">
                  <a:latin typeface="+mn-ea"/>
                </a:rPr>
                <a:t>대표물품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 smtClean="0">
                  <a:latin typeface="+mn-ea"/>
                </a:rPr>
                <a:t>원</a:t>
              </a:r>
              <a:r>
                <a:rPr lang="en-US" altLang="ko-KR" sz="700" dirty="0" smtClean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발주기관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923114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98765432101(00)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물품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휴지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5421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679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58163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7953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90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6" name="그룹 5"/>
            <p:cNvGrpSpPr/>
            <p:nvPr/>
          </p:nvGrpSpPr>
          <p:grpSpPr>
            <a:xfrm>
              <a:off x="675400" y="5085365"/>
              <a:ext cx="2712026" cy="1034573"/>
              <a:chOff x="675400" y="2441260"/>
              <a:chExt cx="2712026" cy="1034573"/>
            </a:xfrm>
          </p:grpSpPr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57745" y="2576379"/>
                <a:ext cx="728875" cy="181140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200000"/>
                  </a:lnSpc>
                </a:pPr>
                <a:r>
                  <a:rPr lang="ko-KR" altLang="en-US" sz="700" spc="-52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계약담당관</a:t>
                </a:r>
                <a:r>
                  <a:rPr lang="ko-KR" altLang="en-US" sz="700" spc="-52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 </a:t>
                </a:r>
                <a:r>
                  <a:rPr lang="en-US" altLang="ko-KR" sz="700" spc="-52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(</a:t>
                </a:r>
                <a:r>
                  <a:rPr lang="ko-KR" altLang="en-US" sz="700" spc="-52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연락처</a:t>
                </a:r>
                <a:r>
                  <a:rPr lang="en-US" altLang="ko-KR" sz="700" spc="-52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)</a:t>
                </a:r>
                <a:endParaRPr lang="ko-KR" altLang="en-US" sz="700" dirty="0">
                  <a:latin typeface="+mn-ea"/>
                </a:endParaRPr>
              </a:p>
            </p:txBody>
          </p:sp>
          <p:grpSp>
            <p:nvGrpSpPr>
              <p:cNvPr id="175" name="그룹 174"/>
              <p:cNvGrpSpPr/>
              <p:nvPr/>
            </p:nvGrpSpPr>
            <p:grpSpPr>
              <a:xfrm flipV="1">
                <a:off x="3119832" y="2689710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76" name="직선 연결선 17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77" name="직선 연결선 17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8" name="직선 연결선 17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75400" y="2441260"/>
                <a:ext cx="2712026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9" name="직선 연결선 17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75400" y="3475833"/>
                <a:ext cx="2712026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180" name="모서리가 둥근 직사각형 179"/>
              <p:cNvSpPr/>
              <p:nvPr/>
            </p:nvSpPr>
            <p:spPr>
              <a:xfrm>
                <a:off x="705042" y="3048695"/>
                <a:ext cx="2652743" cy="344810"/>
              </a:xfrm>
              <a:prstGeom prst="roundRect">
                <a:avLst>
                  <a:gd name="adj" fmla="val 9062"/>
                </a:avLst>
              </a:prstGeom>
              <a:noFill/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81" name="그룹 180"/>
              <p:cNvGrpSpPr/>
              <p:nvPr/>
            </p:nvGrpSpPr>
            <p:grpSpPr>
              <a:xfrm>
                <a:off x="854871" y="2888603"/>
                <a:ext cx="2353084" cy="386358"/>
                <a:chOff x="854511" y="2888603"/>
                <a:chExt cx="2353084" cy="386358"/>
              </a:xfrm>
            </p:grpSpPr>
            <p:sp>
              <p:nvSpPr>
                <p:cNvPr id="182" name="TextBox 181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854511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기관 부서명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3" name="TextBox 182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1647519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담당자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4" name="TextBox 183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2560081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연락처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5" name="TextBox 184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854511" y="3167239"/>
                  <a:ext cx="493904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700" dirty="0" err="1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방위사업청</a:t>
                  </a:r>
                  <a:endPara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6" name="TextBox 185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1647519" y="3167239"/>
                  <a:ext cx="638280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700" dirty="0" smtClean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대령</a:t>
                  </a:r>
                  <a:r>
                    <a:rPr lang="en-US" altLang="ko-KR" sz="700" dirty="0" smtClean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/</a:t>
                  </a:r>
                  <a:r>
                    <a:rPr lang="ko-KR" altLang="en-US" sz="700" dirty="0" smtClean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운영자</a:t>
                  </a:r>
                  <a:endPara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7" name="TextBox 186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2560081" y="3167239"/>
                  <a:ext cx="647514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altLang="ko-KR" sz="700" dirty="0" smtClean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02-1234-5678</a:t>
                  </a:r>
                  <a:endPara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</p:grpSp>
        </p:grpSp>
      </p:grpSp>
      <p:grpSp>
        <p:nvGrpSpPr>
          <p:cNvPr id="159" name="그룹 158"/>
          <p:cNvGrpSpPr/>
          <p:nvPr/>
        </p:nvGrpSpPr>
        <p:grpSpPr>
          <a:xfrm>
            <a:off x="781461" y="1974079"/>
            <a:ext cx="2473257" cy="1098561"/>
            <a:chOff x="781461" y="2610063"/>
            <a:chExt cx="2473257" cy="1098561"/>
          </a:xfrm>
        </p:grpSpPr>
        <p:sp>
          <p:nvSpPr>
            <p:cNvPr id="160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smtClean="0"/>
                <a:t>접수번호 </a:t>
              </a:r>
              <a:r>
                <a:rPr lang="en-US" altLang="ko-KR" sz="700" dirty="0" smtClean="0"/>
                <a:t>2025NC00179 </a:t>
              </a:r>
              <a:r>
                <a:rPr lang="ko-KR" altLang="en-US" sz="700" dirty="0" err="1" smtClean="0"/>
                <a:t>계약번호</a:t>
              </a:r>
              <a:r>
                <a:rPr lang="ko-KR" altLang="en-US" sz="700" dirty="0" smtClean="0"/>
                <a:t> </a:t>
              </a:r>
              <a:r>
                <a:rPr lang="en-US" altLang="ko-KR" sz="700" dirty="0" smtClean="0"/>
                <a:t>2025093455</a:t>
              </a:r>
              <a:endParaRPr lang="en-US" altLang="ko-KR" sz="700" dirty="0"/>
            </a:p>
            <a:p>
              <a:r>
                <a:rPr lang="ko-KR" altLang="en-US" sz="900" b="1" dirty="0"/>
                <a:t>파카</a:t>
              </a:r>
              <a:r>
                <a:rPr lang="en-US" altLang="ko-KR" sz="900" b="1" dirty="0"/>
                <a:t>,</a:t>
              </a:r>
              <a:r>
                <a:rPr lang="ko-KR" altLang="en-US" sz="900" b="1" dirty="0"/>
                <a:t>외피</a:t>
              </a:r>
            </a:p>
          </p:txBody>
        </p:sp>
        <p:sp>
          <p:nvSpPr>
            <p:cNvPr id="161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488916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실적 신청금액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발급기관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신청일자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처리일자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62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661962" y="3139237"/>
              <a:ext cx="472950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11,616,000 </a:t>
              </a:r>
              <a:r>
                <a:rPr lang="ko-KR" altLang="en-US" sz="600" dirty="0" smtClean="0">
                  <a:latin typeface="+mn-ea"/>
                </a:rPr>
                <a:t>원</a:t>
              </a:r>
              <a:endParaRPr lang="en-US" altLang="ko-KR" sz="600" dirty="0" smtClean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방위사업청</a:t>
              </a:r>
              <a:endParaRPr lang="en-US" altLang="ko-KR" sz="600" dirty="0" smtClean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2026-03-05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-</a:t>
              </a:r>
            </a:p>
          </p:txBody>
        </p:sp>
        <p:sp>
          <p:nvSpPr>
            <p:cNvPr id="163" name="모서리가 둥근 직사각형 162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188" name="모서리가 둥근 직사각형 187"/>
            <p:cNvSpPr/>
            <p:nvPr/>
          </p:nvSpPr>
          <p:spPr>
            <a:xfrm>
              <a:off x="1075655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계약구분</a:t>
              </a:r>
              <a:endParaRPr lang="ko-KR" altLang="en-US" sz="600" dirty="0"/>
            </a:p>
          </p:txBody>
        </p:sp>
        <p:sp>
          <p:nvSpPr>
            <p:cNvPr id="189" name="모서리가 둥근 직사각형 188"/>
            <p:cNvSpPr/>
            <p:nvPr/>
          </p:nvSpPr>
          <p:spPr>
            <a:xfrm>
              <a:off x="1526393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발급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8" name="그룹 7"/>
          <p:cNvGrpSpPr/>
          <p:nvPr/>
        </p:nvGrpSpPr>
        <p:grpSpPr>
          <a:xfrm>
            <a:off x="3888348" y="1604378"/>
            <a:ext cx="988410" cy="119400"/>
            <a:chOff x="933861" y="2126479"/>
            <a:chExt cx="988410" cy="119400"/>
          </a:xfrm>
        </p:grpSpPr>
        <p:sp>
          <p:nvSpPr>
            <p:cNvPr id="190" name="모서리가 둥근 직사각형 189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191" name="모서리가 둥근 직사각형 190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계약구분</a:t>
              </a:r>
              <a:endParaRPr lang="ko-KR" altLang="en-US" sz="600" dirty="0"/>
            </a:p>
          </p:txBody>
        </p:sp>
        <p:sp>
          <p:nvSpPr>
            <p:cNvPr id="192" name="모서리가 둥근 직사각형 191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발급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193" name="그룹 192"/>
          <p:cNvGrpSpPr/>
          <p:nvPr/>
        </p:nvGrpSpPr>
        <p:grpSpPr>
          <a:xfrm>
            <a:off x="3795735" y="2557240"/>
            <a:ext cx="2712026" cy="2504309"/>
            <a:chOff x="675400" y="3615629"/>
            <a:chExt cx="2712026" cy="2504309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615629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95" name="그룹 194"/>
            <p:cNvGrpSpPr/>
            <p:nvPr/>
          </p:nvGrpSpPr>
          <p:grpSpPr>
            <a:xfrm flipV="1">
              <a:off x="3143548" y="3728960"/>
              <a:ext cx="94010" cy="47005"/>
              <a:chOff x="6812560" y="3297172"/>
              <a:chExt cx="94010" cy="47005"/>
            </a:xfrm>
          </p:grpSpPr>
          <p:cxnSp>
            <p:nvCxnSpPr>
              <p:cNvPr id="220" name="직선 연결선 21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1" name="직선 연결선 22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6" name="직사각형 195"/>
            <p:cNvSpPr/>
            <p:nvPr/>
          </p:nvSpPr>
          <p:spPr>
            <a:xfrm>
              <a:off x="722583" y="3923114"/>
              <a:ext cx="792000" cy="108593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9231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923114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계약번호</a:t>
              </a: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 smtClean="0">
                  <a:latin typeface="+mn-ea"/>
                </a:rPr>
                <a:t>차수</a:t>
              </a:r>
              <a:r>
                <a:rPr lang="en-US" altLang="ko-KR" sz="700" dirty="0" smtClean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계약구분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계약건명</a:t>
              </a:r>
              <a:r>
                <a:rPr lang="en-US" altLang="ko-KR" sz="700" dirty="0" smtClean="0">
                  <a:latin typeface="+mn-ea"/>
                </a:rPr>
                <a:t>/</a:t>
              </a:r>
              <a:r>
                <a:rPr lang="ko-KR" altLang="en-US" sz="700" dirty="0" err="1" smtClean="0">
                  <a:latin typeface="+mn-ea"/>
                </a:rPr>
                <a:t>대표물품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 smtClean="0">
                  <a:latin typeface="+mn-ea"/>
                </a:rPr>
                <a:t>원</a:t>
              </a:r>
              <a:r>
                <a:rPr lang="en-US" altLang="ko-KR" sz="700" dirty="0" smtClean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발주기관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923114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98765432101(00)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물품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휴지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5421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679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58163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7953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90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05" name="그룹 204"/>
            <p:cNvGrpSpPr/>
            <p:nvPr/>
          </p:nvGrpSpPr>
          <p:grpSpPr>
            <a:xfrm>
              <a:off x="675400" y="5085365"/>
              <a:ext cx="2712026" cy="1034573"/>
              <a:chOff x="675400" y="2441260"/>
              <a:chExt cx="2712026" cy="1034573"/>
            </a:xfrm>
          </p:grpSpPr>
          <p:sp>
            <p:nvSpPr>
              <p:cNvPr id="206" name="TextBox 20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57745" y="2576379"/>
                <a:ext cx="728875" cy="181140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200000"/>
                  </a:lnSpc>
                </a:pPr>
                <a:r>
                  <a:rPr lang="ko-KR" altLang="en-US" sz="700" spc="-52" dirty="0" err="1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계약담당관</a:t>
                </a:r>
                <a:r>
                  <a:rPr lang="ko-KR" altLang="en-US" sz="700" spc="-52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 </a:t>
                </a:r>
                <a:r>
                  <a:rPr lang="en-US" altLang="ko-KR" sz="700" spc="-52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(</a:t>
                </a:r>
                <a:r>
                  <a:rPr lang="ko-KR" altLang="en-US" sz="700" spc="-52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연락처</a:t>
                </a:r>
                <a:r>
                  <a:rPr lang="en-US" altLang="ko-KR" sz="700" spc="-52" dirty="0" smtClean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)</a:t>
                </a:r>
                <a:endParaRPr lang="ko-KR" altLang="en-US" sz="700" dirty="0">
                  <a:latin typeface="+mn-ea"/>
                </a:endParaRPr>
              </a:p>
            </p:txBody>
          </p:sp>
          <p:grpSp>
            <p:nvGrpSpPr>
              <p:cNvPr id="207" name="그룹 206"/>
              <p:cNvGrpSpPr/>
              <p:nvPr/>
            </p:nvGrpSpPr>
            <p:grpSpPr>
              <a:xfrm flipV="1">
                <a:off x="3119832" y="2689710"/>
                <a:ext cx="94010" cy="47005"/>
                <a:chOff x="6812560" y="3297172"/>
                <a:chExt cx="94010" cy="47005"/>
              </a:xfrm>
            </p:grpSpPr>
            <p:cxnSp>
              <p:nvCxnSpPr>
                <p:cNvPr id="218" name="직선 연결선 217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19" name="직선 연결선 218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08" name="직선 연결선 20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75400" y="2441260"/>
                <a:ext cx="2712026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209" name="직선 연결선 20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75400" y="3475833"/>
                <a:ext cx="2712026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210" name="모서리가 둥근 직사각형 209"/>
              <p:cNvSpPr/>
              <p:nvPr/>
            </p:nvSpPr>
            <p:spPr>
              <a:xfrm>
                <a:off x="705042" y="3048695"/>
                <a:ext cx="2652743" cy="344810"/>
              </a:xfrm>
              <a:prstGeom prst="roundRect">
                <a:avLst>
                  <a:gd name="adj" fmla="val 9062"/>
                </a:avLst>
              </a:prstGeom>
              <a:noFill/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11" name="그룹 210"/>
              <p:cNvGrpSpPr/>
              <p:nvPr/>
            </p:nvGrpSpPr>
            <p:grpSpPr>
              <a:xfrm>
                <a:off x="854871" y="2888603"/>
                <a:ext cx="2353084" cy="386358"/>
                <a:chOff x="854511" y="2888603"/>
                <a:chExt cx="2353084" cy="386358"/>
              </a:xfrm>
            </p:grpSpPr>
            <p:sp>
              <p:nvSpPr>
                <p:cNvPr id="212" name="TextBox 211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854511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기관 부서명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213" name="TextBox 212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1647519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담당자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214" name="TextBox 213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2560081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연락처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215" name="TextBox 214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854511" y="3167239"/>
                  <a:ext cx="493904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700" dirty="0" err="1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방위사업청</a:t>
                  </a:r>
                  <a:endPara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216" name="TextBox 215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1647519" y="3167239"/>
                  <a:ext cx="638280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700" dirty="0" smtClean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대령</a:t>
                  </a:r>
                  <a:r>
                    <a:rPr lang="en-US" altLang="ko-KR" sz="700" dirty="0" smtClean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/</a:t>
                  </a:r>
                  <a:r>
                    <a:rPr lang="ko-KR" altLang="en-US" sz="700" dirty="0" smtClean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운영자</a:t>
                  </a:r>
                  <a:endPara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217" name="TextBox 216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2560081" y="3167239"/>
                  <a:ext cx="647514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altLang="ko-KR" sz="700" dirty="0" smtClean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02-1234-5678</a:t>
                  </a:r>
                  <a:endPara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</p:grpSp>
        </p:grpSp>
      </p:grpSp>
      <p:sp>
        <p:nvSpPr>
          <p:cNvPr id="21" name="타원 2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0851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68" name="타원 6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3376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95940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924988270"/>
      </p:ext>
    </p:extLst>
  </p:cSld>
  <p:clrMapOvr>
    <a:masterClrMapping/>
  </p:clrMapOvr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신청 정보에 따라 </a:t>
            </a:r>
            <a:r>
              <a:rPr lang="ko-KR" altLang="en-US" dirty="0" smtClean="0"/>
              <a:t>세부정보표시 </a:t>
            </a:r>
            <a:r>
              <a:rPr lang="ko-KR" altLang="en-US" dirty="0"/>
              <a:t>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실적증명서 신청과 동일하게 크게 </a:t>
            </a:r>
            <a:r>
              <a:rPr lang="en-US" altLang="ko-KR" dirty="0"/>
              <a:t>3</a:t>
            </a:r>
            <a:r>
              <a:rPr lang="ko-KR" altLang="en-US" dirty="0"/>
              <a:t>분류로 나누어짐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</a:t>
            </a:r>
            <a:r>
              <a:rPr lang="en-US" altLang="ko-KR" dirty="0"/>
              <a:t>-</a:t>
            </a:r>
            <a:r>
              <a:rPr lang="ko-KR" altLang="en-US" dirty="0" smtClean="0"/>
              <a:t> </a:t>
            </a:r>
            <a:r>
              <a:rPr lang="ko-KR" altLang="en-US" dirty="0" err="1"/>
              <a:t>방위사업청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</a:t>
            </a:r>
            <a:r>
              <a:rPr lang="en-US" altLang="ko-KR" dirty="0" smtClean="0"/>
              <a:t>-</a:t>
            </a:r>
            <a:r>
              <a:rPr lang="ko-KR" altLang="en-US" dirty="0" smtClean="0"/>
              <a:t> </a:t>
            </a:r>
            <a:r>
              <a:rPr lang="ko-KR" altLang="en-US" dirty="0" err="1" smtClean="0"/>
              <a:t>부대면서</a:t>
            </a:r>
            <a:r>
              <a:rPr lang="ko-KR" altLang="en-US" dirty="0" smtClean="0"/>
              <a:t> </a:t>
            </a:r>
            <a:r>
              <a:rPr lang="ko-KR" altLang="en-US" dirty="0"/>
              <a:t>시설공사일때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</a:t>
            </a:r>
            <a:r>
              <a:rPr lang="en-US" altLang="ko-KR" dirty="0" smtClean="0"/>
              <a:t>-</a:t>
            </a:r>
            <a:r>
              <a:rPr lang="ko-KR" altLang="en-US" dirty="0" smtClean="0"/>
              <a:t> </a:t>
            </a:r>
            <a:r>
              <a:rPr lang="ko-KR" altLang="en-US" dirty="0" err="1" smtClean="0"/>
              <a:t>부대면서</a:t>
            </a:r>
            <a:r>
              <a:rPr lang="ko-KR" altLang="en-US" dirty="0" smtClean="0"/>
              <a:t> 시설공사 </a:t>
            </a:r>
            <a:r>
              <a:rPr lang="ko-KR" altLang="en-US" dirty="0" err="1" smtClean="0"/>
              <a:t>아닐때</a:t>
            </a:r>
            <a:endParaRPr lang="en-US" altLang="ko-KR" dirty="0" smtClean="0"/>
          </a:p>
          <a:p>
            <a:pPr marL="228600" indent="-228600">
              <a:buAutoNum type="arabicPeriod"/>
            </a:pPr>
            <a:r>
              <a:rPr lang="ko-KR" altLang="en-US" dirty="0" smtClean="0"/>
              <a:t>사용 목적에 따라 </a:t>
            </a:r>
            <a:r>
              <a:rPr lang="ko-KR" altLang="en-US" dirty="0" err="1" smtClean="0"/>
              <a:t>세부정보</a:t>
            </a:r>
            <a:r>
              <a:rPr lang="ko-KR" altLang="en-US" dirty="0" smtClean="0"/>
              <a:t> 표시 변경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신청정보는</a:t>
            </a:r>
            <a:r>
              <a:rPr lang="ko-KR" altLang="en-US" dirty="0" smtClean="0"/>
              <a:t> 공통 사항</a:t>
            </a:r>
            <a:r>
              <a:rPr lang="en-US" altLang="ko-KR" dirty="0" smtClean="0"/>
              <a:t>, </a:t>
            </a:r>
            <a:r>
              <a:rPr lang="ko-KR" altLang="en-US" dirty="0" smtClean="0"/>
              <a:t>모두 표시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 err="1" smtClean="0"/>
              <a:t>세부정보</a:t>
            </a:r>
            <a:r>
              <a:rPr lang="ko-KR" altLang="en-US" dirty="0" smtClean="0"/>
              <a:t>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>
                <a:solidFill>
                  <a:srgbClr val="FF0000"/>
                </a:solidFill>
              </a:rPr>
              <a:t>아래 사용 목적 정보에 따라 표시 내역 다름에 주의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납품</a:t>
            </a:r>
            <a:r>
              <a:rPr lang="en-US" altLang="ko-KR" dirty="0" smtClean="0"/>
              <a:t>)</a:t>
            </a:r>
            <a:br>
              <a:rPr lang="en-US" altLang="ko-KR" dirty="0" smtClean="0"/>
            </a:br>
            <a:r>
              <a:rPr lang="en-US" altLang="ko-KR" dirty="0" smtClean="0"/>
              <a:t>  &gt; 1. </a:t>
            </a:r>
            <a:r>
              <a:rPr lang="ko-KR" altLang="en-US" dirty="0" smtClean="0"/>
              <a:t>납품</a:t>
            </a:r>
            <a:r>
              <a:rPr lang="en-US" altLang="ko-KR" dirty="0" smtClean="0"/>
              <a:t>,</a:t>
            </a:r>
            <a:r>
              <a:rPr lang="ko-KR" altLang="en-US" dirty="0" smtClean="0"/>
              <a:t> </a:t>
            </a:r>
            <a:r>
              <a:rPr lang="en-US" altLang="ko-KR" dirty="0" smtClean="0"/>
              <a:t>5. </a:t>
            </a:r>
            <a:r>
              <a:rPr lang="ko-KR" altLang="en-US" dirty="0" smtClean="0"/>
              <a:t>정산</a:t>
            </a:r>
            <a:r>
              <a:rPr lang="en-US" altLang="ko-KR" dirty="0" smtClean="0"/>
              <a:t>, 7. </a:t>
            </a:r>
            <a:r>
              <a:rPr lang="ko-KR" altLang="en-US" dirty="0" err="1" smtClean="0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선금</a:t>
            </a:r>
            <a:r>
              <a:rPr lang="en-US" altLang="ko-KR" dirty="0" smtClean="0"/>
              <a:t>)</a:t>
            </a:r>
            <a:r>
              <a:rPr lang="en-US" altLang="ko-KR" dirty="0"/>
              <a:t>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3. </a:t>
            </a:r>
            <a:r>
              <a:rPr lang="ko-KR" altLang="en-US" dirty="0" smtClean="0"/>
              <a:t>선금</a:t>
            </a:r>
            <a:r>
              <a:rPr lang="en-US" altLang="ko-KR" dirty="0" smtClean="0"/>
              <a:t>, </a:t>
            </a:r>
            <a:r>
              <a:rPr lang="en-US" altLang="ko-KR" dirty="0"/>
              <a:t>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착수금</a:t>
            </a:r>
            <a:r>
              <a:rPr lang="en-US" altLang="ko-KR" dirty="0" smtClean="0"/>
              <a:t>)</a:t>
            </a:r>
            <a:r>
              <a:rPr lang="en-US" altLang="ko-KR" dirty="0"/>
              <a:t>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2. </a:t>
            </a:r>
            <a:r>
              <a:rPr lang="ko-KR" altLang="en-US" dirty="0" smtClean="0"/>
              <a:t>착수금</a:t>
            </a:r>
            <a:r>
              <a:rPr lang="en-US" altLang="ko-KR" dirty="0" smtClean="0"/>
              <a:t>, 7. </a:t>
            </a:r>
            <a:r>
              <a:rPr lang="ko-KR" altLang="en-US" dirty="0" err="1" smtClean="0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중도금</a:t>
            </a:r>
            <a:r>
              <a:rPr lang="en-US" altLang="ko-KR" dirty="0" smtClean="0"/>
              <a:t>)</a:t>
            </a:r>
            <a:r>
              <a:rPr lang="en-US" altLang="ko-KR" dirty="0"/>
              <a:t>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4. </a:t>
            </a:r>
            <a:r>
              <a:rPr lang="ko-KR" altLang="en-US" dirty="0" smtClean="0"/>
              <a:t>중도금</a:t>
            </a:r>
            <a:r>
              <a:rPr lang="en-US" altLang="ko-KR" dirty="0" smtClean="0"/>
              <a:t>, 7. </a:t>
            </a:r>
            <a:r>
              <a:rPr lang="ko-KR" altLang="en-US" dirty="0" err="1" smtClean="0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예정</a:t>
            </a:r>
            <a:r>
              <a:rPr lang="en-US" altLang="ko-KR" dirty="0"/>
              <a:t>(</a:t>
            </a:r>
            <a:r>
              <a:rPr lang="ko-KR" altLang="en-US" dirty="0" err="1"/>
              <a:t>납품금</a:t>
            </a:r>
            <a:r>
              <a:rPr lang="en-US" altLang="ko-KR" dirty="0" smtClean="0"/>
              <a:t>)</a:t>
            </a:r>
            <a:r>
              <a:rPr lang="en-US" altLang="ko-KR" dirty="0"/>
              <a:t>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1. </a:t>
            </a:r>
            <a:r>
              <a:rPr lang="ko-KR" altLang="en-US" dirty="0" smtClean="0"/>
              <a:t>납품</a:t>
            </a:r>
            <a:r>
              <a:rPr lang="en-US" altLang="ko-KR" dirty="0" smtClean="0"/>
              <a:t>, 5. </a:t>
            </a:r>
            <a:r>
              <a:rPr lang="ko-KR" altLang="en-US" dirty="0" smtClean="0"/>
              <a:t>정산</a:t>
            </a:r>
            <a:r>
              <a:rPr lang="en-US" altLang="ko-KR" dirty="0" smtClean="0"/>
              <a:t>, 7. </a:t>
            </a:r>
            <a:r>
              <a:rPr lang="ko-KR" altLang="en-US" dirty="0" err="1" smtClean="0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보증회사제출</a:t>
            </a:r>
            <a:r>
              <a:rPr lang="en-US" altLang="ko-KR" dirty="0" smtClean="0"/>
              <a:t>-</a:t>
            </a:r>
            <a:r>
              <a:rPr lang="ko-KR" altLang="en-US" dirty="0" smtClean="0"/>
              <a:t>당해</a:t>
            </a:r>
            <a:r>
              <a:rPr lang="en-US" altLang="ko-KR" dirty="0" smtClean="0"/>
              <a:t>(</a:t>
            </a:r>
            <a:r>
              <a:rPr lang="ko-KR" altLang="en-US" dirty="0" err="1"/>
              <a:t>납품금</a:t>
            </a:r>
            <a:r>
              <a:rPr lang="en-US" altLang="ko-KR" dirty="0" smtClean="0"/>
              <a:t>)</a:t>
            </a:r>
            <a:r>
              <a:rPr lang="en-US" altLang="ko-KR" dirty="0"/>
              <a:t>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1. </a:t>
            </a:r>
            <a:r>
              <a:rPr lang="ko-KR" altLang="en-US" dirty="0" smtClean="0"/>
              <a:t>납품</a:t>
            </a:r>
            <a:r>
              <a:rPr lang="en-US" altLang="ko-KR" dirty="0" smtClean="0"/>
              <a:t>, 5. </a:t>
            </a:r>
            <a:r>
              <a:rPr lang="ko-KR" altLang="en-US" dirty="0" smtClean="0"/>
              <a:t>정산</a:t>
            </a:r>
            <a:r>
              <a:rPr lang="en-US" altLang="ko-KR" dirty="0" smtClean="0"/>
              <a:t>, 6. </a:t>
            </a:r>
            <a:r>
              <a:rPr lang="ko-KR" altLang="en-US" dirty="0" smtClean="0"/>
              <a:t>보증보험번호 및 확인요청사항</a:t>
            </a:r>
            <a:r>
              <a:rPr lang="en-US" altLang="ko-KR" dirty="0" smtClean="0"/>
              <a:t>, </a:t>
            </a:r>
            <a:r>
              <a:rPr lang="en-US" altLang="ko-KR" dirty="0" smtClean="0">
                <a:solidFill>
                  <a:srgbClr val="FF0000"/>
                </a:solidFill>
              </a:rPr>
              <a:t>7. </a:t>
            </a:r>
            <a:r>
              <a:rPr lang="ko-KR" altLang="en-US" dirty="0" err="1" smtClean="0">
                <a:solidFill>
                  <a:srgbClr val="FF0000"/>
                </a:solidFill>
              </a:rPr>
              <a:t>정산일자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보증회사제출</a:t>
            </a:r>
            <a:r>
              <a:rPr lang="en-US" altLang="ko-KR" dirty="0"/>
              <a:t>-</a:t>
            </a:r>
            <a:r>
              <a:rPr lang="ko-KR" altLang="en-US" dirty="0"/>
              <a:t>예정</a:t>
            </a:r>
            <a:r>
              <a:rPr lang="en-US" altLang="ko-KR" dirty="0"/>
              <a:t>(</a:t>
            </a:r>
            <a:r>
              <a:rPr lang="ko-KR" altLang="en-US" dirty="0" err="1"/>
              <a:t>납품금</a:t>
            </a:r>
            <a:r>
              <a:rPr lang="en-US" altLang="ko-KR" dirty="0" smtClean="0"/>
              <a:t>)</a:t>
            </a:r>
            <a:r>
              <a:rPr lang="en-US" altLang="ko-KR" dirty="0"/>
              <a:t> </a:t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5. </a:t>
            </a:r>
            <a:r>
              <a:rPr lang="ko-KR" altLang="en-US" dirty="0"/>
              <a:t>정산</a:t>
            </a:r>
            <a:r>
              <a:rPr lang="en-US" altLang="ko-KR" dirty="0"/>
              <a:t>, 6. </a:t>
            </a:r>
            <a:r>
              <a:rPr lang="ko-KR" altLang="en-US" dirty="0"/>
              <a:t>보증보험번호 및 확인요청사항</a:t>
            </a:r>
            <a:r>
              <a:rPr lang="en-US" altLang="ko-KR" dirty="0"/>
              <a:t>, </a:t>
            </a:r>
            <a:r>
              <a:rPr lang="en-US" altLang="ko-KR" dirty="0">
                <a:solidFill>
                  <a:srgbClr val="FF0000"/>
                </a:solidFill>
              </a:rPr>
              <a:t>7. </a:t>
            </a:r>
            <a:r>
              <a:rPr lang="ko-KR" altLang="en-US" dirty="0" err="1">
                <a:solidFill>
                  <a:srgbClr val="FF0000"/>
                </a:solidFill>
              </a:rPr>
              <a:t>정산일자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smtClean="0"/>
              <a:t>적격심사제출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1. </a:t>
            </a:r>
            <a:r>
              <a:rPr lang="ko-KR" altLang="en-US" dirty="0" smtClean="0"/>
              <a:t>납품</a:t>
            </a:r>
            <a:r>
              <a:rPr lang="en-US" altLang="ko-KR" dirty="0" smtClean="0"/>
              <a:t>, 7. </a:t>
            </a:r>
            <a:r>
              <a:rPr lang="ko-KR" altLang="en-US" dirty="0" err="1" smtClean="0"/>
              <a:t>납품일자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입찰참가용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기타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  &gt; 1~7. </a:t>
            </a:r>
            <a:r>
              <a:rPr lang="ko-KR" altLang="en-US" dirty="0" err="1" smtClean="0"/>
              <a:t>납품일자</a:t>
            </a:r>
            <a:r>
              <a:rPr lang="ko-KR" altLang="en-US" dirty="0" smtClean="0"/>
              <a:t> 전부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225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상세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 err="1" smtClean="0">
                <a:latin typeface="+mn-ea"/>
              </a:rPr>
              <a:t>방위사업청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7" name="타원 106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모서리가 둥근 직사각형 107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출력</a:t>
            </a:r>
          </a:p>
        </p:txBody>
      </p: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64658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0" name="타원 149"/>
          <p:cNvSpPr/>
          <p:nvPr/>
        </p:nvSpPr>
        <p:spPr>
          <a:xfrm>
            <a:off x="2909237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모서리가 둥근 직사각형 150"/>
          <p:cNvSpPr/>
          <p:nvPr/>
        </p:nvSpPr>
        <p:spPr>
          <a:xfrm>
            <a:off x="3053237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출력</a:t>
            </a:r>
          </a:p>
        </p:txBody>
      </p: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0" name="그룹 199"/>
          <p:cNvGrpSpPr/>
          <p:nvPr/>
        </p:nvGrpSpPr>
        <p:grpSpPr>
          <a:xfrm>
            <a:off x="3888348" y="1604378"/>
            <a:ext cx="988410" cy="119400"/>
            <a:chOff x="933861" y="2126479"/>
            <a:chExt cx="988410" cy="119400"/>
          </a:xfrm>
        </p:grpSpPr>
        <p:sp>
          <p:nvSpPr>
            <p:cNvPr id="201" name="모서리가 둥근 직사각형 200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202" name="모서리가 둥근 직사각형 201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계약구분</a:t>
              </a:r>
              <a:endParaRPr lang="ko-KR" altLang="en-US" sz="600" dirty="0"/>
            </a:p>
          </p:txBody>
        </p:sp>
        <p:sp>
          <p:nvSpPr>
            <p:cNvPr id="203" name="모서리가 둥근 직사각형 202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발급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204" name="그룹 203"/>
          <p:cNvGrpSpPr/>
          <p:nvPr/>
        </p:nvGrpSpPr>
        <p:grpSpPr>
          <a:xfrm>
            <a:off x="764658" y="1600627"/>
            <a:ext cx="988410" cy="119400"/>
            <a:chOff x="933861" y="2126479"/>
            <a:chExt cx="988410" cy="119400"/>
          </a:xfrm>
        </p:grpSpPr>
        <p:sp>
          <p:nvSpPr>
            <p:cNvPr id="205" name="모서리가 둥근 직사각형 204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206" name="모서리가 둥근 직사각형 205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계약구분</a:t>
              </a:r>
              <a:endParaRPr lang="ko-KR" altLang="en-US" sz="600" dirty="0"/>
            </a:p>
          </p:txBody>
        </p:sp>
        <p:sp>
          <p:nvSpPr>
            <p:cNvPr id="207" name="모서리가 둥근 직사각형 206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발급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3" name="그룹 2"/>
          <p:cNvGrpSpPr/>
          <p:nvPr/>
        </p:nvGrpSpPr>
        <p:grpSpPr>
          <a:xfrm>
            <a:off x="675400" y="2590223"/>
            <a:ext cx="2712026" cy="1252381"/>
            <a:chOff x="675400" y="2590223"/>
            <a:chExt cx="2712026" cy="1252381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87222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사용목적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신청인 연락처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제출처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기타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err="1" smtClean="0">
                  <a:latin typeface="+mn-ea"/>
                </a:rPr>
                <a:t>실적확인용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방위사업청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</a:t>
              </a:r>
              <a:r>
                <a:rPr lang="ko-KR" altLang="en-US" sz="700" dirty="0" smtClean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2" name="직선 연결선 2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400" y="3842604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3" name="그룹 22"/>
          <p:cNvGrpSpPr/>
          <p:nvPr/>
        </p:nvGrpSpPr>
        <p:grpSpPr>
          <a:xfrm>
            <a:off x="720490" y="3930133"/>
            <a:ext cx="2630093" cy="2302166"/>
            <a:chOff x="720490" y="3930133"/>
            <a:chExt cx="2630093" cy="2302166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세부정보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22583" y="4237619"/>
              <a:ext cx="792000" cy="19946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납품</a:t>
              </a:r>
              <a:r>
                <a:rPr lang="en-US" altLang="ko-KR" sz="700" dirty="0" smtClean="0">
                  <a:latin typeface="+mn-ea"/>
                </a:rPr>
                <a:t>/</a:t>
              </a:r>
              <a:r>
                <a:rPr lang="ko-KR" altLang="en-US" sz="700" dirty="0" err="1" smtClean="0">
                  <a:latin typeface="+mn-ea"/>
                </a:rPr>
                <a:t>지출년도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처리사유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납품신청금액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납품발급금액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착수금신청금액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착수금발급금액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선금신청금액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선금발급금액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중도금신청금액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237618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2026 </a:t>
              </a:r>
              <a:r>
                <a:rPr lang="ko-KR" altLang="en-US" sz="700" dirty="0" smtClean="0">
                  <a:latin typeface="+mn-ea"/>
                </a:rPr>
                <a:t>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처리사유</a:t>
              </a:r>
              <a:r>
                <a:rPr lang="ko-KR" altLang="en-US" sz="700" dirty="0" smtClean="0">
                  <a:latin typeface="+mn-ea"/>
                </a:rPr>
                <a:t> 표시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4" name="직선 연결선 2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3104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5" name="직선 연결선 2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474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6" name="직선 연결선 2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845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7" name="직선 연결선 22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18531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29" name="TextBox 2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2590223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세부정보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30" name="그룹 229"/>
          <p:cNvGrpSpPr/>
          <p:nvPr/>
        </p:nvGrpSpPr>
        <p:grpSpPr>
          <a:xfrm flipV="1">
            <a:off x="6259759" y="2703554"/>
            <a:ext cx="94010" cy="47005"/>
            <a:chOff x="6812560" y="3297172"/>
            <a:chExt cx="94010" cy="47005"/>
          </a:xfrm>
        </p:grpSpPr>
        <p:cxnSp>
          <p:nvCxnSpPr>
            <p:cNvPr id="244" name="직선 연결선 24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45" name="직선 연결선 24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1" name="직사각형 230"/>
          <p:cNvSpPr/>
          <p:nvPr/>
        </p:nvSpPr>
        <p:spPr>
          <a:xfrm>
            <a:off x="3838794" y="2897709"/>
            <a:ext cx="792000" cy="321904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289770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897708"/>
            <a:ext cx="792000" cy="32316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납품</a:t>
            </a:r>
            <a:r>
              <a:rPr lang="en-US" altLang="ko-KR" sz="700" dirty="0" smtClean="0">
                <a:latin typeface="+mn-ea"/>
              </a:rPr>
              <a:t>/</a:t>
            </a:r>
            <a:r>
              <a:rPr lang="ko-KR" altLang="en-US" sz="700" dirty="0" err="1" smtClean="0">
                <a:latin typeface="+mn-ea"/>
              </a:rPr>
              <a:t>지출년도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처리사유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납품신청금액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납품발급금액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착수금신청금액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착수금발급금액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선금신청금액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선금발급금액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중도금신청금액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중고금발급금액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정산신청금액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정산발급금액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보증보험번호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확인요청사항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납품일자</a:t>
            </a:r>
            <a:endParaRPr lang="en-US" altLang="ko-KR" sz="700" dirty="0">
              <a:latin typeface="+mn-ea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2897708"/>
            <a:ext cx="1784088" cy="32316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 </a:t>
            </a:r>
            <a:r>
              <a:rPr lang="ko-KR" altLang="en-US" sz="700" dirty="0" smtClean="0">
                <a:latin typeface="+mn-ea"/>
              </a:rPr>
              <a:t>년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처리사유</a:t>
            </a:r>
            <a:r>
              <a:rPr lang="ko-KR" altLang="en-US" sz="700" dirty="0" smtClean="0">
                <a:latin typeface="+mn-ea"/>
              </a:rPr>
              <a:t> 표시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1,000,000 </a:t>
            </a:r>
            <a:r>
              <a:rPr lang="ko-KR" altLang="en-US" sz="700" dirty="0" smtClean="0">
                <a:latin typeface="+mn-ea"/>
              </a:rPr>
              <a:t>원</a:t>
            </a: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1234567890</a:t>
            </a: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없음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2026-02-02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12881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34252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55622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76993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97742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19113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40483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2" name="직선 연결선 24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61854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3" name="직선 연결선 2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84540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6" name="직선 연결선 24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504127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7" name="직선 연결선 24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524876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8" name="직선 연결선 24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546247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9" name="직선 연결선 2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567617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0" name="직선 연결선 24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588988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1" name="직선 연결선 2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611674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" name="모서리가 둥근 직사각형 24"/>
          <p:cNvSpPr/>
          <p:nvPr/>
        </p:nvSpPr>
        <p:spPr>
          <a:xfrm>
            <a:off x="3577373" y="3497649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3-1</a:t>
            </a:r>
            <a:endParaRPr lang="ko-KR" altLang="en-US" sz="900" b="1" dirty="0"/>
          </a:p>
        </p:txBody>
      </p:sp>
      <p:sp>
        <p:nvSpPr>
          <p:cNvPr id="254" name="모서리가 둥근 직사각형 253"/>
          <p:cNvSpPr/>
          <p:nvPr/>
        </p:nvSpPr>
        <p:spPr>
          <a:xfrm>
            <a:off x="3577373" y="3931902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3-2</a:t>
            </a:r>
            <a:endParaRPr lang="ko-KR" altLang="en-US" sz="900" b="1" dirty="0"/>
          </a:p>
        </p:txBody>
      </p:sp>
      <p:sp>
        <p:nvSpPr>
          <p:cNvPr id="255" name="모서리가 둥근 직사각형 254"/>
          <p:cNvSpPr/>
          <p:nvPr/>
        </p:nvSpPr>
        <p:spPr>
          <a:xfrm>
            <a:off x="3577373" y="4367526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3-3</a:t>
            </a:r>
            <a:endParaRPr lang="ko-KR" altLang="en-US" sz="900" b="1" dirty="0"/>
          </a:p>
        </p:txBody>
      </p:sp>
      <p:sp>
        <p:nvSpPr>
          <p:cNvPr id="256" name="모서리가 둥근 직사각형 255"/>
          <p:cNvSpPr/>
          <p:nvPr/>
        </p:nvSpPr>
        <p:spPr>
          <a:xfrm>
            <a:off x="3577373" y="4766648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3-4</a:t>
            </a:r>
            <a:endParaRPr lang="ko-KR" altLang="en-US" sz="900" b="1" dirty="0"/>
          </a:p>
        </p:txBody>
      </p:sp>
      <p:sp>
        <p:nvSpPr>
          <p:cNvPr id="257" name="모서리가 둥근 직사각형 256"/>
          <p:cNvSpPr/>
          <p:nvPr/>
        </p:nvSpPr>
        <p:spPr>
          <a:xfrm>
            <a:off x="3577373" y="5204294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3-5</a:t>
            </a:r>
            <a:endParaRPr lang="ko-KR" altLang="en-US" sz="900" b="1" dirty="0"/>
          </a:p>
        </p:txBody>
      </p:sp>
      <p:sp>
        <p:nvSpPr>
          <p:cNvPr id="258" name="모서리가 둥근 직사각형 257"/>
          <p:cNvSpPr/>
          <p:nvPr/>
        </p:nvSpPr>
        <p:spPr>
          <a:xfrm>
            <a:off x="3577373" y="5614854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3-6</a:t>
            </a:r>
            <a:endParaRPr lang="ko-KR" altLang="en-US" sz="900" b="1" dirty="0"/>
          </a:p>
        </p:txBody>
      </p:sp>
      <p:sp>
        <p:nvSpPr>
          <p:cNvPr id="259" name="모서리가 둥근 직사각형 258"/>
          <p:cNvSpPr/>
          <p:nvPr/>
        </p:nvSpPr>
        <p:spPr>
          <a:xfrm>
            <a:off x="3577373" y="5927787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3-7</a:t>
            </a:r>
            <a:endParaRPr lang="ko-KR" altLang="en-US" sz="900" b="1" dirty="0"/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3399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09" name="타원 20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18429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93555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716557683"/>
      </p:ext>
    </p:extLst>
  </p:cSld>
  <p:clrMapOvr>
    <a:masterClrMapping/>
  </p:clrMapOvr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 smtClean="0"/>
              <a:t>제출유형에</a:t>
            </a:r>
            <a:r>
              <a:rPr lang="ko-KR" altLang="en-US" dirty="0" smtClean="0"/>
              <a:t> 따라 하단 표시 정보 변경 </a:t>
            </a:r>
            <a:r>
              <a:rPr lang="en-US" altLang="ko-KR" dirty="0" smtClean="0"/>
              <a:t>(</a:t>
            </a:r>
            <a:r>
              <a:rPr lang="ko-KR" altLang="en-US" dirty="0" smtClean="0"/>
              <a:t>신청도 동일</a:t>
            </a:r>
            <a:r>
              <a:rPr lang="en-US" altLang="ko-KR" dirty="0" smtClean="0"/>
              <a:t>)</a:t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- Unit B – </a:t>
            </a:r>
            <a:r>
              <a:rPr lang="ko-KR" altLang="en-US" dirty="0" smtClean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  &gt; 1. </a:t>
            </a:r>
            <a:r>
              <a:rPr lang="ko-KR" altLang="en-US" dirty="0" smtClean="0"/>
              <a:t>시공실적증명서 </a:t>
            </a:r>
            <a:r>
              <a:rPr lang="en-US" altLang="ko-KR" dirty="0"/>
              <a:t>[</a:t>
            </a:r>
            <a:r>
              <a:rPr lang="ko-KR" altLang="en-US" dirty="0" err="1"/>
              <a:t>군시설공사</a:t>
            </a:r>
            <a:r>
              <a:rPr lang="ko-KR" altLang="en-US" dirty="0"/>
              <a:t> 적격심사기준에 관한 훈령</a:t>
            </a:r>
            <a:r>
              <a:rPr lang="en-US" altLang="ko-KR" dirty="0"/>
              <a:t>/</a:t>
            </a:r>
            <a:r>
              <a:rPr lang="ko-KR" altLang="en-US" dirty="0"/>
              <a:t>국방부</a:t>
            </a:r>
            <a:r>
              <a:rPr lang="en-US" altLang="ko-KR" dirty="0" smtClean="0"/>
              <a:t>]</a:t>
            </a:r>
            <a:br>
              <a:rPr lang="en-US" altLang="ko-KR" dirty="0" smtClean="0"/>
            </a:br>
            <a:r>
              <a:rPr lang="en-US" altLang="ko-KR" dirty="0" smtClean="0"/>
              <a:t>  &gt; 2. </a:t>
            </a:r>
            <a:r>
              <a:rPr lang="ko-KR" altLang="en-US" dirty="0" err="1" smtClean="0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 </a:t>
            </a:r>
            <a:r>
              <a:rPr lang="en-US" altLang="ko-KR" dirty="0"/>
              <a:t>[</a:t>
            </a:r>
            <a:r>
              <a:rPr lang="ko-KR" altLang="en-US" dirty="0" err="1"/>
              <a:t>군시설공사</a:t>
            </a:r>
            <a:r>
              <a:rPr lang="ko-KR" altLang="en-US" dirty="0"/>
              <a:t> </a:t>
            </a:r>
            <a:r>
              <a:rPr lang="ko-KR" altLang="en-US" dirty="0" err="1"/>
              <a:t>입찰참가자격사전심사</a:t>
            </a:r>
            <a:r>
              <a:rPr lang="ko-KR" altLang="en-US" dirty="0"/>
              <a:t> 세부운영기준에 관한 훈령</a:t>
            </a:r>
            <a:r>
              <a:rPr lang="en-US" altLang="ko-KR" dirty="0"/>
              <a:t>/</a:t>
            </a:r>
            <a:r>
              <a:rPr lang="ko-KR" altLang="en-US" dirty="0"/>
              <a:t>국방부</a:t>
            </a:r>
            <a:r>
              <a:rPr lang="en-US" altLang="ko-KR" dirty="0" smtClean="0"/>
              <a:t>]</a:t>
            </a:r>
            <a:br>
              <a:rPr lang="en-US" altLang="ko-KR" dirty="0" smtClean="0"/>
            </a:br>
            <a:r>
              <a:rPr lang="en-US" altLang="ko-KR" dirty="0" smtClean="0"/>
              <a:t>  &gt; 5. </a:t>
            </a:r>
            <a:r>
              <a:rPr lang="ko-KR" altLang="en-US" dirty="0" err="1" smtClean="0"/>
              <a:t>실적자료</a:t>
            </a:r>
            <a:r>
              <a:rPr lang="ko-KR" altLang="en-US" dirty="0" smtClean="0"/>
              <a:t> </a:t>
            </a:r>
            <a:r>
              <a:rPr lang="ko-KR" altLang="en-US" dirty="0"/>
              <a:t>발주기관 확인서 </a:t>
            </a:r>
            <a:r>
              <a:rPr lang="en-US" altLang="ko-KR" dirty="0"/>
              <a:t>[</a:t>
            </a:r>
            <a:r>
              <a:rPr lang="ko-KR" altLang="en-US" dirty="0"/>
              <a:t>최저가낙찰제 </a:t>
            </a:r>
            <a:r>
              <a:rPr lang="ko-KR" altLang="en-US" dirty="0" err="1"/>
              <a:t>대상공사의</a:t>
            </a:r>
            <a:r>
              <a:rPr lang="ko-KR" altLang="en-US" dirty="0"/>
              <a:t> 입찰금액 </a:t>
            </a:r>
            <a:r>
              <a:rPr lang="en-US" altLang="ko-KR" dirty="0"/>
              <a:t>(</a:t>
            </a:r>
            <a:r>
              <a:rPr lang="ko-KR" altLang="en-US" dirty="0"/>
              <a:t>원</a:t>
            </a:r>
            <a:r>
              <a:rPr lang="en-US" altLang="ko-KR" dirty="0"/>
              <a:t>) </a:t>
            </a:r>
            <a:r>
              <a:rPr lang="ko-KR" altLang="en-US" dirty="0"/>
              <a:t>적정성 세부심사기준에 관한 훈령</a:t>
            </a:r>
            <a:r>
              <a:rPr lang="en-US" altLang="ko-KR" dirty="0"/>
              <a:t>/</a:t>
            </a:r>
            <a:r>
              <a:rPr lang="ko-KR" altLang="en-US" dirty="0"/>
              <a:t>국방부</a:t>
            </a:r>
            <a:r>
              <a:rPr lang="en-US" altLang="ko-KR" dirty="0" smtClean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smtClean="0"/>
              <a:t>세부 정보 표시</a:t>
            </a:r>
            <a:endParaRPr lang="en-US" altLang="ko-KR" dirty="0" smtClean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 smtClean="0"/>
              <a:t>[5. </a:t>
            </a:r>
            <a:r>
              <a:rPr lang="ko-KR" altLang="en-US" dirty="0" err="1" smtClean="0"/>
              <a:t>실적자료</a:t>
            </a:r>
            <a:r>
              <a:rPr lang="ko-KR" altLang="en-US" dirty="0" smtClean="0"/>
              <a:t> </a:t>
            </a:r>
            <a:r>
              <a:rPr lang="ko-KR" altLang="en-US" dirty="0"/>
              <a:t>발주기관 </a:t>
            </a:r>
            <a:r>
              <a:rPr lang="ko-KR" altLang="en-US" dirty="0" smtClean="0"/>
              <a:t>확인서</a:t>
            </a:r>
            <a:r>
              <a:rPr lang="en-US" altLang="ko-KR" dirty="0" smtClean="0"/>
              <a:t>]</a:t>
            </a:r>
            <a:r>
              <a:rPr lang="ko-KR" altLang="en-US" dirty="0" smtClean="0"/>
              <a:t>인 경우 표기 변경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준공일자</a:t>
            </a:r>
            <a:r>
              <a:rPr lang="ko-KR" altLang="en-US" dirty="0" smtClean="0"/>
              <a:t> </a:t>
            </a:r>
            <a:r>
              <a:rPr lang="en-US" altLang="ko-KR" dirty="0" smtClean="0">
                <a:sym typeface="Wingdings" panose="05000000000000000000" pitchFamily="2" charset="2"/>
              </a:rPr>
              <a:t> </a:t>
            </a:r>
            <a:r>
              <a:rPr lang="ko-KR" altLang="en-US" dirty="0" smtClean="0">
                <a:sym typeface="Wingdings" panose="05000000000000000000" pitchFamily="2" charset="2"/>
              </a:rPr>
              <a:t>준공예정일자</a:t>
            </a:r>
            <a:r>
              <a:rPr lang="en-US" altLang="ko-KR" dirty="0" smtClean="0">
                <a:sym typeface="Wingdings" panose="05000000000000000000" pitchFamily="2" charset="2"/>
              </a:rPr>
              <a:t/>
            </a:r>
            <a:br>
              <a:rPr lang="en-US" altLang="ko-KR" dirty="0" smtClean="0">
                <a:sym typeface="Wingdings" panose="05000000000000000000" pitchFamily="2" charset="2"/>
              </a:rPr>
            </a:br>
            <a:r>
              <a:rPr lang="en-US" altLang="ko-KR" dirty="0" smtClean="0">
                <a:sym typeface="Wingdings" panose="05000000000000000000" pitchFamily="2" charset="2"/>
              </a:rPr>
              <a:t>- </a:t>
            </a:r>
            <a:r>
              <a:rPr lang="ko-KR" altLang="en-US" dirty="0" err="1" smtClean="0">
                <a:sym typeface="Wingdings" panose="05000000000000000000" pitchFamily="2" charset="2"/>
              </a:rPr>
              <a:t>중공금액</a:t>
            </a:r>
            <a:r>
              <a:rPr lang="ko-KR" altLang="en-US" dirty="0" smtClean="0">
                <a:sym typeface="Wingdings" panose="05000000000000000000" pitchFamily="2" charset="2"/>
              </a:rPr>
              <a:t> </a:t>
            </a:r>
            <a:r>
              <a:rPr lang="en-US" altLang="ko-KR" dirty="0" smtClean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계약금액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226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상세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</a:t>
            </a:r>
            <a:r>
              <a:rPr lang="ko-KR" altLang="en-US" dirty="0" smtClean="0">
                <a:latin typeface="+mn-ea"/>
              </a:rPr>
              <a:t>구분 </a:t>
            </a:r>
            <a:r>
              <a:rPr lang="ko-KR" altLang="en-US" dirty="0" err="1" smtClean="0">
                <a:latin typeface="+mn-ea"/>
              </a:rPr>
              <a:t>부대면서</a:t>
            </a:r>
            <a:r>
              <a:rPr lang="ko-KR" altLang="en-US" dirty="0" smtClean="0">
                <a:latin typeface="+mn-ea"/>
              </a:rPr>
              <a:t> 시설공사일 때 </a:t>
            </a:r>
            <a:r>
              <a:rPr lang="en-US" altLang="ko-KR" dirty="0" smtClean="0">
                <a:latin typeface="+mn-ea"/>
              </a:rPr>
              <a:t>–</a:t>
            </a:r>
            <a:r>
              <a:rPr lang="ko-KR" altLang="en-US" dirty="0" smtClean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7" name="타원 106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모서리가 둥근 직사각형 107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출력</a:t>
            </a:r>
          </a:p>
        </p:txBody>
      </p: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64658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0" name="타원 149"/>
          <p:cNvSpPr/>
          <p:nvPr/>
        </p:nvSpPr>
        <p:spPr>
          <a:xfrm>
            <a:off x="2909237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모서리가 둥근 직사각형 150"/>
          <p:cNvSpPr/>
          <p:nvPr/>
        </p:nvSpPr>
        <p:spPr>
          <a:xfrm>
            <a:off x="3053237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출력</a:t>
            </a:r>
          </a:p>
        </p:txBody>
      </p: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0" name="그룹 199"/>
          <p:cNvGrpSpPr/>
          <p:nvPr/>
        </p:nvGrpSpPr>
        <p:grpSpPr>
          <a:xfrm>
            <a:off x="3888348" y="1604378"/>
            <a:ext cx="988410" cy="119400"/>
            <a:chOff x="933861" y="2126479"/>
            <a:chExt cx="988410" cy="119400"/>
          </a:xfrm>
        </p:grpSpPr>
        <p:sp>
          <p:nvSpPr>
            <p:cNvPr id="201" name="모서리가 둥근 직사각형 200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공사</a:t>
              </a:r>
            </a:p>
          </p:txBody>
        </p:sp>
        <p:sp>
          <p:nvSpPr>
            <p:cNvPr id="202" name="모서리가 둥근 직사각형 201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계약구분</a:t>
              </a:r>
              <a:endParaRPr lang="ko-KR" altLang="en-US" sz="600" dirty="0"/>
            </a:p>
          </p:txBody>
        </p:sp>
        <p:sp>
          <p:nvSpPr>
            <p:cNvPr id="203" name="모서리가 둥근 직사각형 202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발급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204" name="그룹 203"/>
          <p:cNvGrpSpPr/>
          <p:nvPr/>
        </p:nvGrpSpPr>
        <p:grpSpPr>
          <a:xfrm>
            <a:off x="764658" y="1600627"/>
            <a:ext cx="988410" cy="119400"/>
            <a:chOff x="933861" y="2126479"/>
            <a:chExt cx="988410" cy="119400"/>
          </a:xfrm>
        </p:grpSpPr>
        <p:sp>
          <p:nvSpPr>
            <p:cNvPr id="205" name="모서리가 둥근 직사각형 204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공사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206" name="모서리가 둥근 직사각형 205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계약구분</a:t>
              </a:r>
              <a:endParaRPr lang="ko-KR" altLang="en-US" sz="600" dirty="0"/>
            </a:p>
          </p:txBody>
        </p:sp>
        <p:sp>
          <p:nvSpPr>
            <p:cNvPr id="207" name="모서리가 둥근 직사각형 206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발급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949854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3" name="그룹 22"/>
          <p:cNvGrpSpPr/>
          <p:nvPr/>
        </p:nvGrpSpPr>
        <p:grpSpPr>
          <a:xfrm>
            <a:off x="3836701" y="2590223"/>
            <a:ext cx="2630093" cy="1611734"/>
            <a:chOff x="720490" y="3930133"/>
            <a:chExt cx="2630093" cy="1611734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및 준공 </a:t>
              </a: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 err="1" smtClean="0">
                  <a:latin typeface="+mn-ea"/>
                </a:rPr>
                <a:t>총공사</a:t>
              </a:r>
              <a:r>
                <a:rPr lang="ko-KR" altLang="en-US" sz="700" dirty="0" smtClean="0">
                  <a:latin typeface="+mn-ea"/>
                </a:rPr>
                <a:t> 기준</a:t>
              </a:r>
              <a:r>
                <a:rPr lang="en-US" altLang="ko-KR" sz="700" dirty="0" smtClean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22583" y="4237619"/>
              <a:ext cx="792000" cy="13042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착공일자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준공일자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준공금액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23761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2016-01-02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2016-01-02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2016-01-02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5,000,000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5,000,000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89962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공사금액</a:t>
              </a:r>
              <a:endParaRPr lang="en-US" altLang="ko-KR" sz="700" dirty="0" smtClean="0">
                <a:latin typeface="+mn-ea"/>
              </a:endParaRPr>
            </a:p>
            <a:p>
              <a:r>
                <a:rPr lang="en-US" altLang="ko-KR" sz="700" dirty="0" smtClean="0">
                  <a:latin typeface="+mn-ea"/>
                </a:rPr>
                <a:t>[</a:t>
              </a:r>
              <a:r>
                <a:rPr lang="ko-KR" altLang="en-US" sz="700" dirty="0" smtClean="0">
                  <a:latin typeface="+mn-ea"/>
                </a:rPr>
                <a:t>준공</a:t>
              </a:r>
              <a:r>
                <a:rPr lang="en-US" altLang="ko-KR" sz="700" dirty="0" smtClean="0">
                  <a:latin typeface="+mn-ea"/>
                </a:rPr>
                <a:t>+</a:t>
              </a:r>
              <a:r>
                <a:rPr lang="ko-KR" altLang="en-US" sz="700" dirty="0" smtClean="0">
                  <a:latin typeface="+mn-ea"/>
                </a:rPr>
                <a:t>관급</a:t>
              </a:r>
              <a:r>
                <a:rPr lang="en-US" altLang="ko-KR" sz="700" dirty="0" smtClean="0">
                  <a:latin typeface="+mn-ea"/>
                </a:rPr>
                <a:t>]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4041215"/>
            <a:ext cx="2630093" cy="1389048"/>
            <a:chOff x="720490" y="2590223"/>
            <a:chExt cx="2630093" cy="1389048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시공자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대표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10815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04291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회사명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면허번호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영업소재지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104291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123456-7890123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7316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12" name="그룹 111"/>
          <p:cNvGrpSpPr/>
          <p:nvPr/>
        </p:nvGrpSpPr>
        <p:grpSpPr>
          <a:xfrm>
            <a:off x="3836701" y="4369934"/>
            <a:ext cx="2630093" cy="1611734"/>
            <a:chOff x="720490" y="3930133"/>
            <a:chExt cx="2630093" cy="1611734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및 준공 </a:t>
              </a: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 err="1" smtClean="0">
                  <a:latin typeface="+mn-ea"/>
                </a:rPr>
                <a:t>금차공사</a:t>
              </a:r>
              <a:r>
                <a:rPr lang="ko-KR" altLang="en-US" sz="700" dirty="0" smtClean="0">
                  <a:latin typeface="+mn-ea"/>
                </a:rPr>
                <a:t> 기준</a:t>
              </a:r>
              <a:r>
                <a:rPr lang="en-US" altLang="ko-KR" sz="700" dirty="0" smtClean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14" name="그룹 113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126" name="직선 연결선 12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7" name="직선 연결선 12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5" name="직사각형 114"/>
            <p:cNvSpPr/>
            <p:nvPr/>
          </p:nvSpPr>
          <p:spPr>
            <a:xfrm>
              <a:off x="722583" y="4237619"/>
              <a:ext cx="792000" cy="13042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착공일자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준공일자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준공금액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23761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2016-01-02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2016-01-02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2016-01-02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5,000,000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5,000,000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89962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공사금액</a:t>
              </a:r>
              <a:endParaRPr lang="en-US" altLang="ko-KR" sz="700" dirty="0" smtClean="0">
                <a:latin typeface="+mn-ea"/>
              </a:endParaRPr>
            </a:p>
            <a:p>
              <a:r>
                <a:rPr lang="en-US" altLang="ko-KR" sz="700" dirty="0" smtClean="0">
                  <a:latin typeface="+mn-ea"/>
                </a:rPr>
                <a:t>[</a:t>
              </a:r>
              <a:r>
                <a:rPr lang="ko-KR" altLang="en-US" sz="700" dirty="0" smtClean="0">
                  <a:latin typeface="+mn-ea"/>
                </a:rPr>
                <a:t>준공</a:t>
              </a:r>
              <a:r>
                <a:rPr lang="en-US" altLang="ko-KR" sz="700" dirty="0" smtClean="0">
                  <a:latin typeface="+mn-ea"/>
                </a:rPr>
                <a:t>+</a:t>
              </a:r>
              <a:r>
                <a:rPr lang="ko-KR" altLang="en-US" sz="700" dirty="0" smtClean="0">
                  <a:latin typeface="+mn-ea"/>
                </a:rPr>
                <a:t>관급</a:t>
              </a:r>
              <a:r>
                <a:rPr lang="en-US" altLang="ko-KR" sz="700" dirty="0" smtClean="0">
                  <a:latin typeface="+mn-ea"/>
                </a:rPr>
                <a:t>]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2590223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32544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1. </a:t>
              </a:r>
              <a:r>
                <a:rPr lang="ko-KR" altLang="en-US" sz="700" dirty="0">
                  <a:latin typeface="+mn-ea"/>
                </a:rPr>
                <a:t>시공실적증명서 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 err="1">
                  <a:latin typeface="+mn-ea"/>
                </a:rPr>
                <a:t>군시설공사</a:t>
              </a:r>
              <a:r>
                <a:rPr lang="ko-KR" altLang="en-US" sz="700" dirty="0">
                  <a:latin typeface="+mn-ea"/>
                </a:rPr>
                <a:t> 적격심사기준에 관한 훈령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국방부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방위사업청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</a:t>
              </a:r>
              <a:r>
                <a:rPr lang="ko-KR" altLang="en-US" sz="700" dirty="0" smtClean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신청인 연락처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제출처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78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53199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06963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72" name="타원 1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5207" y="262340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72379393"/>
      </p:ext>
    </p:extLst>
  </p:cSld>
  <p:clrMapOvr>
    <a:masterClrMapping/>
  </p:clrMapOvr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227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상세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</a:t>
            </a:r>
            <a:r>
              <a:rPr lang="ko-KR" altLang="en-US" dirty="0" smtClean="0">
                <a:latin typeface="+mn-ea"/>
              </a:rPr>
              <a:t>구분 </a:t>
            </a:r>
            <a:r>
              <a:rPr lang="ko-KR" altLang="en-US" dirty="0" err="1" smtClean="0">
                <a:latin typeface="+mn-ea"/>
              </a:rPr>
              <a:t>부대면서</a:t>
            </a:r>
            <a:r>
              <a:rPr lang="ko-KR" altLang="en-US" dirty="0" smtClean="0">
                <a:latin typeface="+mn-ea"/>
              </a:rPr>
              <a:t> 시설공사일 때 </a:t>
            </a:r>
            <a:r>
              <a:rPr lang="en-US" altLang="ko-KR" dirty="0" smtClean="0">
                <a:latin typeface="+mn-ea"/>
              </a:rPr>
              <a:t>–</a:t>
            </a:r>
            <a:r>
              <a:rPr lang="ko-KR" altLang="en-US" dirty="0" smtClean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7" name="타원 106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모서리가 둥근 직사각형 107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출력</a:t>
            </a:r>
          </a:p>
        </p:txBody>
      </p: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64658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0" name="타원 149"/>
          <p:cNvSpPr/>
          <p:nvPr/>
        </p:nvSpPr>
        <p:spPr>
          <a:xfrm>
            <a:off x="2909237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모서리가 둥근 직사각형 150"/>
          <p:cNvSpPr/>
          <p:nvPr/>
        </p:nvSpPr>
        <p:spPr>
          <a:xfrm>
            <a:off x="3053237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출력</a:t>
            </a:r>
          </a:p>
        </p:txBody>
      </p: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0" name="그룹 199"/>
          <p:cNvGrpSpPr/>
          <p:nvPr/>
        </p:nvGrpSpPr>
        <p:grpSpPr>
          <a:xfrm>
            <a:off x="3888348" y="1604378"/>
            <a:ext cx="988410" cy="119400"/>
            <a:chOff x="933861" y="2126479"/>
            <a:chExt cx="988410" cy="119400"/>
          </a:xfrm>
        </p:grpSpPr>
        <p:sp>
          <p:nvSpPr>
            <p:cNvPr id="201" name="모서리가 둥근 직사각형 200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공사</a:t>
              </a:r>
            </a:p>
          </p:txBody>
        </p:sp>
        <p:sp>
          <p:nvSpPr>
            <p:cNvPr id="202" name="모서리가 둥근 직사각형 201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계약구분</a:t>
              </a:r>
              <a:endParaRPr lang="ko-KR" altLang="en-US" sz="600" dirty="0"/>
            </a:p>
          </p:txBody>
        </p:sp>
        <p:sp>
          <p:nvSpPr>
            <p:cNvPr id="203" name="모서리가 둥근 직사각형 202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발급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204" name="그룹 203"/>
          <p:cNvGrpSpPr/>
          <p:nvPr/>
        </p:nvGrpSpPr>
        <p:grpSpPr>
          <a:xfrm>
            <a:off x="764658" y="1600627"/>
            <a:ext cx="988410" cy="119400"/>
            <a:chOff x="933861" y="2126479"/>
            <a:chExt cx="988410" cy="119400"/>
          </a:xfrm>
        </p:grpSpPr>
        <p:sp>
          <p:nvSpPr>
            <p:cNvPr id="205" name="모서리가 둥근 직사각형 204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공사</a:t>
              </a:r>
            </a:p>
          </p:txBody>
        </p:sp>
        <p:sp>
          <p:nvSpPr>
            <p:cNvPr id="206" name="모서리가 둥근 직사각형 205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계약구분</a:t>
              </a:r>
              <a:endParaRPr lang="ko-KR" altLang="en-US" sz="600" dirty="0"/>
            </a:p>
          </p:txBody>
        </p:sp>
        <p:sp>
          <p:nvSpPr>
            <p:cNvPr id="207" name="모서리가 둥근 직사각형 206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발급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9" name="직선 연결선 12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655580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" name="그룹 2"/>
          <p:cNvGrpSpPr/>
          <p:nvPr/>
        </p:nvGrpSpPr>
        <p:grpSpPr>
          <a:xfrm>
            <a:off x="716366" y="2575200"/>
            <a:ext cx="2630093" cy="1904757"/>
            <a:chOff x="1108393" y="2993988"/>
            <a:chExt cx="2630093" cy="1904757"/>
          </a:xfrm>
        </p:grpSpPr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69364" y="2993988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공사성질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32" name="그룹 131"/>
            <p:cNvGrpSpPr/>
            <p:nvPr/>
          </p:nvGrpSpPr>
          <p:grpSpPr>
            <a:xfrm flipV="1">
              <a:off x="3531451" y="3107319"/>
              <a:ext cx="94010" cy="47005"/>
              <a:chOff x="6812560" y="3297172"/>
              <a:chExt cx="94010" cy="47005"/>
            </a:xfrm>
          </p:grpSpPr>
          <p:cxnSp>
            <p:nvCxnSpPr>
              <p:cNvPr id="148" name="직선 연결선 14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2" name="직선 연결선 15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36" name="직사각형 135"/>
            <p:cNvSpPr/>
            <p:nvPr/>
          </p:nvSpPr>
          <p:spPr>
            <a:xfrm>
              <a:off x="1110486" y="3301474"/>
              <a:ext cx="792000" cy="159126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08393" y="33014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9" name="TextBox 13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97550" y="3556270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10486" y="39512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97550" y="4371103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준공일자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54" name="그룹 153"/>
            <p:cNvGrpSpPr/>
            <p:nvPr/>
          </p:nvGrpSpPr>
          <p:grpSpPr>
            <a:xfrm>
              <a:off x="1955552" y="3384977"/>
              <a:ext cx="1711564" cy="484748"/>
              <a:chOff x="712771" y="2321043"/>
              <a:chExt cx="1711564" cy="484748"/>
            </a:xfrm>
          </p:grpSpPr>
          <p:sp>
            <p:nvSpPr>
              <p:cNvPr id="159" name="TextBox 15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41620" y="2321043"/>
                <a:ext cx="1482715" cy="48474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 smtClean="0">
                    <a:latin typeface="+mn-ea"/>
                  </a:rPr>
                  <a:t>신규공사</a:t>
                </a:r>
                <a:endParaRPr lang="en-US" altLang="ko-KR" sz="700" dirty="0" smtClean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smtClean="0">
                    <a:latin typeface="+mn-ea"/>
                  </a:rPr>
                  <a:t>확장공사</a:t>
                </a:r>
                <a:endParaRPr lang="en-US" altLang="ko-KR" sz="700" dirty="0" smtClean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err="1" smtClean="0">
                    <a:latin typeface="+mn-ea"/>
                  </a:rPr>
                  <a:t>개보수공사</a:t>
                </a:r>
                <a:endParaRPr lang="en-US" altLang="ko-KR" sz="700" dirty="0">
                  <a:latin typeface="+mn-ea"/>
                </a:endParaRPr>
              </a:p>
            </p:txBody>
          </p:sp>
          <p:sp>
            <p:nvSpPr>
              <p:cNvPr id="160" name="직사각형 159"/>
              <p:cNvSpPr/>
              <p:nvPr/>
            </p:nvSpPr>
            <p:spPr>
              <a:xfrm>
                <a:off x="772169" y="233595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1" name="직사각형 160"/>
              <p:cNvSpPr/>
              <p:nvPr/>
            </p:nvSpPr>
            <p:spPr>
              <a:xfrm>
                <a:off x="772169" y="2509633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3" name="직사각형 162"/>
              <p:cNvSpPr/>
              <p:nvPr/>
            </p:nvSpPr>
            <p:spPr>
              <a:xfrm>
                <a:off x="772169" y="268930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4" name="TextBox 163"/>
              <p:cNvSpPr txBox="1"/>
              <p:nvPr/>
            </p:nvSpPr>
            <p:spPr>
              <a:xfrm>
                <a:off x="712771" y="2471275"/>
                <a:ext cx="22153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600" dirty="0">
                    <a:solidFill>
                      <a:schemeClr val="bg1"/>
                    </a:solidFill>
                  </a:rPr>
                  <a:t>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173" name="그룹 172"/>
            <p:cNvGrpSpPr/>
            <p:nvPr/>
          </p:nvGrpSpPr>
          <p:grpSpPr>
            <a:xfrm>
              <a:off x="1955552" y="4029869"/>
              <a:ext cx="1711564" cy="807913"/>
              <a:chOff x="712771" y="2321043"/>
              <a:chExt cx="1711564" cy="807913"/>
            </a:xfrm>
          </p:grpSpPr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41620" y="2321043"/>
                <a:ext cx="1482715" cy="807913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 smtClean="0">
                    <a:latin typeface="+mn-ea"/>
                  </a:rPr>
                  <a:t>신규공사</a:t>
                </a:r>
                <a:endParaRPr lang="en-US" altLang="ko-KR" sz="700" dirty="0" smtClean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smtClean="0">
                    <a:latin typeface="+mn-ea"/>
                  </a:rPr>
                  <a:t>증설공사</a:t>
                </a:r>
                <a:endParaRPr lang="en-US" altLang="ko-KR" sz="700" dirty="0" smtClean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smtClean="0">
                    <a:latin typeface="+mn-ea"/>
                  </a:rPr>
                  <a:t>이설공사</a:t>
                </a:r>
                <a:endParaRPr lang="en-US" altLang="ko-KR" sz="700" dirty="0" smtClean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smtClean="0">
                    <a:latin typeface="+mn-ea"/>
                  </a:rPr>
                  <a:t>개설공사</a:t>
                </a:r>
                <a:endParaRPr lang="en-US" altLang="ko-KR" sz="700" dirty="0" smtClean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smtClean="0">
                    <a:latin typeface="+mn-ea"/>
                  </a:rPr>
                  <a:t>보수공사</a:t>
                </a:r>
                <a:endParaRPr lang="en-US" altLang="ko-KR" sz="700" dirty="0">
                  <a:latin typeface="+mn-ea"/>
                </a:endParaRPr>
              </a:p>
            </p:txBody>
          </p:sp>
          <p:sp>
            <p:nvSpPr>
              <p:cNvPr id="175" name="직사각형 174"/>
              <p:cNvSpPr/>
              <p:nvPr/>
            </p:nvSpPr>
            <p:spPr>
              <a:xfrm>
                <a:off x="772169" y="233595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6" name="직사각형 175"/>
              <p:cNvSpPr/>
              <p:nvPr/>
            </p:nvSpPr>
            <p:spPr>
              <a:xfrm>
                <a:off x="772169" y="2509633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7" name="직사각형 176"/>
              <p:cNvSpPr/>
              <p:nvPr/>
            </p:nvSpPr>
            <p:spPr>
              <a:xfrm>
                <a:off x="772169" y="2680596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TextBox 177"/>
              <p:cNvSpPr txBox="1"/>
              <p:nvPr/>
            </p:nvSpPr>
            <p:spPr>
              <a:xfrm>
                <a:off x="712771" y="2471275"/>
                <a:ext cx="22153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600" dirty="0">
                    <a:solidFill>
                      <a:schemeClr val="bg1"/>
                    </a:solidFill>
                  </a:rPr>
                  <a:t>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79" name="직사각형 178"/>
              <p:cNvSpPr/>
              <p:nvPr/>
            </p:nvSpPr>
            <p:spPr>
              <a:xfrm>
                <a:off x="772169" y="2830783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직사각형 179"/>
              <p:cNvSpPr/>
              <p:nvPr/>
            </p:nvSpPr>
            <p:spPr>
              <a:xfrm>
                <a:off x="772169" y="299077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10486" y="489874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3399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7" name="그룹 6"/>
          <p:cNvGrpSpPr/>
          <p:nvPr/>
        </p:nvGrpSpPr>
        <p:grpSpPr>
          <a:xfrm>
            <a:off x="716366" y="4635456"/>
            <a:ext cx="2630093" cy="957295"/>
            <a:chOff x="716366" y="4635456"/>
            <a:chExt cx="2630093" cy="957295"/>
          </a:xfrm>
        </p:grpSpPr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4635456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공동도급 여부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 flipV="1">
              <a:off x="3139424" y="4748787"/>
              <a:ext cx="94010" cy="47005"/>
              <a:chOff x="6812560" y="3297172"/>
              <a:chExt cx="94010" cy="47005"/>
            </a:xfrm>
          </p:grpSpPr>
          <p:cxnSp>
            <p:nvCxnSpPr>
              <p:cNvPr id="188" name="직선 연결선 18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9" name="직선 연결선 18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5" name="직사각형 144"/>
            <p:cNvSpPr/>
            <p:nvPr/>
          </p:nvSpPr>
          <p:spPr>
            <a:xfrm>
              <a:off x="718459" y="4942942"/>
              <a:ext cx="792000" cy="64379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4942941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5197738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건설공사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59275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6" name="그룹 5"/>
            <p:cNvGrpSpPr/>
            <p:nvPr/>
          </p:nvGrpSpPr>
          <p:grpSpPr>
            <a:xfrm>
              <a:off x="1621527" y="5026445"/>
              <a:ext cx="1653562" cy="476212"/>
              <a:chOff x="1621527" y="4558451"/>
              <a:chExt cx="1653562" cy="476212"/>
            </a:xfrm>
          </p:grpSpPr>
          <p:sp>
            <p:nvSpPr>
              <p:cNvPr id="183" name="TextBox 18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92374" y="4558451"/>
                <a:ext cx="1482715" cy="463910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 smtClean="0">
                    <a:latin typeface="+mn-ea"/>
                  </a:rPr>
                  <a:t>공동이행방식</a:t>
                </a:r>
                <a:r>
                  <a:rPr lang="en-US" altLang="ko-KR" sz="700" dirty="0" smtClean="0">
                    <a:latin typeface="+mn-ea"/>
                  </a:rPr>
                  <a:t>1</a:t>
                </a: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smtClean="0">
                    <a:latin typeface="+mn-ea"/>
                  </a:rPr>
                  <a:t>분담이행방식</a:t>
                </a:r>
                <a:endParaRPr lang="en-US" altLang="ko-KR" sz="700" dirty="0" smtClean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err="1" smtClean="0">
                    <a:latin typeface="+mn-ea"/>
                  </a:rPr>
                  <a:t>단독도급</a:t>
                </a:r>
                <a:endParaRPr lang="en-US" altLang="ko-KR" sz="700" dirty="0">
                  <a:latin typeface="+mn-ea"/>
                </a:endParaRPr>
              </a:p>
            </p:txBody>
          </p:sp>
          <p:grpSp>
            <p:nvGrpSpPr>
              <p:cNvPr id="198" name="그룹 197"/>
              <p:cNvGrpSpPr/>
              <p:nvPr/>
            </p:nvGrpSpPr>
            <p:grpSpPr>
              <a:xfrm>
                <a:off x="1621527" y="4575499"/>
                <a:ext cx="107950" cy="459164"/>
                <a:chOff x="794115" y="2294987"/>
                <a:chExt cx="107950" cy="459164"/>
              </a:xfrm>
            </p:grpSpPr>
            <p:sp>
              <p:nvSpPr>
                <p:cNvPr id="199" name="타원 198"/>
                <p:cNvSpPr/>
                <p:nvPr/>
              </p:nvSpPr>
              <p:spPr>
                <a:xfrm>
                  <a:off x="794115" y="2294987"/>
                  <a:ext cx="107950" cy="107950"/>
                </a:xfrm>
                <a:prstGeom prst="ellipse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08" name="타원 207"/>
                <p:cNvSpPr/>
                <p:nvPr/>
              </p:nvSpPr>
              <p:spPr>
                <a:xfrm>
                  <a:off x="794115" y="2465121"/>
                  <a:ext cx="107950" cy="107950"/>
                </a:xfrm>
                <a:prstGeom prst="ellipse">
                  <a:avLst/>
                </a:prstGeom>
                <a:noFill/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09" name="타원 208"/>
                <p:cNvSpPr/>
                <p:nvPr/>
              </p:nvSpPr>
              <p:spPr>
                <a:xfrm>
                  <a:off x="794115" y="2646201"/>
                  <a:ext cx="107950" cy="107950"/>
                </a:xfrm>
                <a:prstGeom prst="ellipse">
                  <a:avLst/>
                </a:prstGeom>
                <a:noFill/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</p:grpSp>
      </p:grpSp>
      <p:cxnSp>
        <p:nvCxnSpPr>
          <p:cNvPr id="224" name="직선 연결선 22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540653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" name="그룹 4"/>
          <p:cNvGrpSpPr/>
          <p:nvPr/>
        </p:nvGrpSpPr>
        <p:grpSpPr>
          <a:xfrm>
            <a:off x="3836701" y="2575200"/>
            <a:ext cx="2630093" cy="2026729"/>
            <a:chOff x="3836701" y="2575200"/>
            <a:chExt cx="2630093" cy="2026729"/>
          </a:xfrm>
        </p:grpSpPr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2575200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실적의 종류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27" name="그룹 226"/>
            <p:cNvGrpSpPr/>
            <p:nvPr/>
          </p:nvGrpSpPr>
          <p:grpSpPr>
            <a:xfrm flipV="1">
              <a:off x="6259759" y="2688531"/>
              <a:ext cx="94010" cy="47005"/>
              <a:chOff x="6812560" y="3297172"/>
              <a:chExt cx="94010" cy="47005"/>
            </a:xfrm>
          </p:grpSpPr>
          <p:cxnSp>
            <p:nvCxnSpPr>
              <p:cNvPr id="248" name="직선 연결선 24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9" name="직선 연결선 24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28" name="직사각형 227"/>
            <p:cNvSpPr/>
            <p:nvPr/>
          </p:nvSpPr>
          <p:spPr>
            <a:xfrm>
              <a:off x="3838794" y="2882686"/>
              <a:ext cx="792000" cy="171127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29" name="직선 연결선 2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882685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368446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전기</a:t>
              </a:r>
              <a:r>
                <a:rPr lang="en-US" altLang="ko-KR" sz="700" dirty="0" smtClean="0">
                  <a:latin typeface="+mn-ea"/>
                </a:rPr>
                <a:t>/</a:t>
              </a:r>
              <a:r>
                <a:rPr lang="ko-KR" altLang="en-US" sz="700" dirty="0" smtClean="0">
                  <a:latin typeface="+mn-ea"/>
                </a:rPr>
                <a:t>그 밖의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234" name="그룹 233"/>
            <p:cNvGrpSpPr/>
            <p:nvPr/>
          </p:nvGrpSpPr>
          <p:grpSpPr>
            <a:xfrm>
              <a:off x="4683860" y="2935851"/>
              <a:ext cx="1711564" cy="1615827"/>
              <a:chOff x="712771" y="2321043"/>
              <a:chExt cx="1711564" cy="1615827"/>
            </a:xfrm>
          </p:grpSpPr>
          <p:sp>
            <p:nvSpPr>
              <p:cNvPr id="236" name="TextBox 23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41620" y="2321043"/>
                <a:ext cx="1482715" cy="1615827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 smtClean="0">
                    <a:latin typeface="+mn-ea"/>
                  </a:rPr>
                  <a:t>개념설계</a:t>
                </a:r>
                <a:endParaRPr lang="en-US" altLang="ko-KR" sz="700" dirty="0" smtClean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smtClean="0">
                    <a:latin typeface="+mn-ea"/>
                  </a:rPr>
                  <a:t>기본설계</a:t>
                </a:r>
                <a:endParaRPr lang="en-US" altLang="ko-KR" sz="700" dirty="0" smtClean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smtClean="0">
                    <a:latin typeface="+mn-ea"/>
                  </a:rPr>
                  <a:t>실시설계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smtClean="0">
                    <a:latin typeface="+mn-ea"/>
                  </a:rPr>
                  <a:t>시공</a:t>
                </a:r>
                <a:endParaRPr lang="en-US" altLang="ko-KR" sz="700" dirty="0" smtClean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smtClean="0">
                    <a:latin typeface="+mn-ea"/>
                  </a:rPr>
                  <a:t>감리</a:t>
                </a:r>
                <a:endParaRPr lang="en-US" altLang="ko-KR" sz="700" dirty="0" smtClean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smtClean="0">
                    <a:latin typeface="+mn-ea"/>
                  </a:rPr>
                  <a:t>품질</a:t>
                </a:r>
                <a:r>
                  <a:rPr lang="en-US" altLang="ko-KR" sz="700" dirty="0" smtClean="0">
                    <a:latin typeface="+mn-ea"/>
                  </a:rPr>
                  <a:t>, </a:t>
                </a:r>
                <a:r>
                  <a:rPr lang="ko-KR" altLang="en-US" sz="700" dirty="0" smtClean="0">
                    <a:latin typeface="+mn-ea"/>
                  </a:rPr>
                  <a:t>공사관리</a:t>
                </a:r>
                <a:endParaRPr lang="en-US" altLang="ko-KR" sz="700" dirty="0" smtClean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smtClean="0">
                    <a:latin typeface="+mn-ea"/>
                  </a:rPr>
                  <a:t>시운전</a:t>
                </a:r>
                <a:endParaRPr lang="en-US" altLang="ko-KR" sz="700" dirty="0" smtClean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smtClean="0">
                    <a:latin typeface="+mn-ea"/>
                  </a:rPr>
                  <a:t>기자재제작설치</a:t>
                </a:r>
                <a:endParaRPr lang="en-US" altLang="ko-KR" sz="700" dirty="0" smtClean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err="1" smtClean="0">
                    <a:latin typeface="+mn-ea"/>
                  </a:rPr>
                  <a:t>기자재설치</a:t>
                </a:r>
                <a:endParaRPr lang="en-US" altLang="ko-KR" sz="700" dirty="0" smtClean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smtClean="0">
                    <a:latin typeface="+mn-ea"/>
                  </a:rPr>
                  <a:t>기타</a:t>
                </a:r>
                <a:endParaRPr lang="en-US" altLang="ko-KR" sz="700" dirty="0" smtClean="0">
                  <a:latin typeface="+mn-ea"/>
                </a:endParaRPr>
              </a:p>
            </p:txBody>
          </p:sp>
          <p:sp>
            <p:nvSpPr>
              <p:cNvPr id="237" name="직사각형 236"/>
              <p:cNvSpPr/>
              <p:nvPr/>
            </p:nvSpPr>
            <p:spPr>
              <a:xfrm>
                <a:off x="772169" y="233595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38" name="직사각형 237"/>
              <p:cNvSpPr/>
              <p:nvPr/>
            </p:nvSpPr>
            <p:spPr>
              <a:xfrm>
                <a:off x="772169" y="2509633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39" name="직사각형 238"/>
              <p:cNvSpPr/>
              <p:nvPr/>
            </p:nvSpPr>
            <p:spPr>
              <a:xfrm>
                <a:off x="772169" y="2680596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0" name="TextBox 239"/>
              <p:cNvSpPr txBox="1"/>
              <p:nvPr/>
            </p:nvSpPr>
            <p:spPr>
              <a:xfrm>
                <a:off x="712771" y="2471275"/>
                <a:ext cx="22153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600" dirty="0">
                    <a:solidFill>
                      <a:schemeClr val="bg1"/>
                    </a:solidFill>
                  </a:rPr>
                  <a:t>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41" name="직사각형 240"/>
              <p:cNvSpPr/>
              <p:nvPr/>
            </p:nvSpPr>
            <p:spPr>
              <a:xfrm>
                <a:off x="772169" y="2830783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2" name="직사각형 241"/>
              <p:cNvSpPr/>
              <p:nvPr/>
            </p:nvSpPr>
            <p:spPr>
              <a:xfrm>
                <a:off x="772169" y="299077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0" name="직사각형 249"/>
              <p:cNvSpPr/>
              <p:nvPr/>
            </p:nvSpPr>
            <p:spPr>
              <a:xfrm>
                <a:off x="772169" y="314818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1" name="직사각형 250"/>
              <p:cNvSpPr/>
              <p:nvPr/>
            </p:nvSpPr>
            <p:spPr>
              <a:xfrm>
                <a:off x="772169" y="329837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3" name="직사각형 252"/>
              <p:cNvSpPr/>
              <p:nvPr/>
            </p:nvSpPr>
            <p:spPr>
              <a:xfrm>
                <a:off x="772169" y="3458370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4" name="직사각형 253"/>
              <p:cNvSpPr/>
              <p:nvPr/>
            </p:nvSpPr>
            <p:spPr>
              <a:xfrm>
                <a:off x="772169" y="3616573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5" name="직사각형 254"/>
              <p:cNvSpPr/>
              <p:nvPr/>
            </p:nvSpPr>
            <p:spPr>
              <a:xfrm>
                <a:off x="772169" y="377656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235" name="직선 연결선 2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0192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3291737065"/>
      </p:ext>
    </p:extLst>
  </p:cSld>
  <p:clrMapOvr>
    <a:masterClrMapping/>
  </p:clrMapOvr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 smtClean="0"/>
              <a:t>]</a:t>
            </a:r>
            <a:r>
              <a:rPr lang="ko-KR" altLang="en-US" dirty="0" smtClean="0"/>
              <a:t> </a:t>
            </a:r>
            <a:r>
              <a:rPr lang="ko-KR" altLang="en-US" dirty="0"/>
              <a:t>인 </a:t>
            </a:r>
            <a:r>
              <a:rPr lang="ko-KR" altLang="en-US" dirty="0" smtClean="0"/>
              <a:t>경우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시공자</a:t>
            </a:r>
            <a:r>
              <a:rPr lang="ko-KR" altLang="en-US" dirty="0" smtClean="0"/>
              <a:t> </a:t>
            </a:r>
            <a:r>
              <a:rPr lang="en-US" altLang="ko-KR" dirty="0" smtClean="0"/>
              <a:t>1 </a:t>
            </a:r>
            <a:r>
              <a:rPr lang="ko-KR" altLang="en-US" dirty="0" smtClean="0"/>
              <a:t>및 </a:t>
            </a:r>
            <a:r>
              <a:rPr lang="ko-KR" altLang="en-US" dirty="0" err="1" smtClean="0"/>
              <a:t>시공자</a:t>
            </a:r>
            <a:r>
              <a:rPr lang="ko-KR" altLang="en-US" dirty="0" smtClean="0"/>
              <a:t> </a:t>
            </a:r>
            <a:r>
              <a:rPr lang="en-US" altLang="ko-KR" dirty="0" smtClean="0"/>
              <a:t>2</a:t>
            </a:r>
            <a:r>
              <a:rPr lang="ko-KR" altLang="en-US" dirty="0" smtClean="0"/>
              <a:t>도 동일</a:t>
            </a:r>
            <a:endParaRPr lang="en-US" altLang="ko-KR" dirty="0" smtClean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 smtClean="0"/>
              <a:t>]</a:t>
            </a:r>
            <a:r>
              <a:rPr lang="ko-KR" altLang="en-US" dirty="0" smtClean="0"/>
              <a:t> </a:t>
            </a:r>
            <a:r>
              <a:rPr lang="ko-KR" altLang="en-US" dirty="0"/>
              <a:t>인 </a:t>
            </a:r>
            <a:r>
              <a:rPr lang="ko-KR" altLang="en-US" dirty="0" smtClean="0"/>
              <a:t>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1 </a:t>
            </a:r>
            <a:r>
              <a:rPr lang="ko-KR" altLang="en-US" dirty="0"/>
              <a:t>및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2</a:t>
            </a:r>
            <a:r>
              <a:rPr lang="ko-KR" altLang="en-US" dirty="0"/>
              <a:t>도 </a:t>
            </a:r>
            <a:r>
              <a:rPr lang="ko-KR" altLang="en-US" dirty="0" smtClean="0"/>
              <a:t>동일</a:t>
            </a:r>
            <a:endParaRPr lang="en-US" altLang="ko-KR" dirty="0" smtClean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 smtClean="0"/>
              <a:t>], [</a:t>
            </a:r>
            <a:r>
              <a:rPr lang="en-US" altLang="ko-KR" dirty="0"/>
              <a:t>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 인 경우 </a:t>
            </a:r>
            <a:r>
              <a:rPr lang="ko-KR" altLang="en-US" dirty="0" smtClean="0"/>
              <a:t>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 smtClean="0"/>
              <a:t>]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 smtClean="0"/>
              <a:t>관급금액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en-US" altLang="ko-KR" dirty="0"/>
              <a:t>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 smtClean="0"/>
              <a:t>]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 smtClean="0"/>
              <a:t>도급자설치</a:t>
            </a:r>
            <a:r>
              <a:rPr lang="ko-KR" altLang="en-US" dirty="0" smtClean="0"/>
              <a:t> </a:t>
            </a:r>
            <a:r>
              <a:rPr lang="ko-KR" altLang="en-US" dirty="0" err="1"/>
              <a:t>관급금액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 smtClean="0"/>
              <a:t> </a:t>
            </a:r>
            <a:r>
              <a:rPr lang="ko-KR" altLang="en-US" dirty="0"/>
              <a:t>인 경우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 smtClean="0"/>
              <a:t>]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/>
              <a:t>전체공사</a:t>
            </a:r>
            <a:r>
              <a:rPr lang="ko-KR" altLang="en-US" dirty="0"/>
              <a:t> </a:t>
            </a:r>
            <a:r>
              <a:rPr lang="ko-KR" altLang="en-US" dirty="0" err="1"/>
              <a:t>시공규모</a:t>
            </a:r>
            <a:r>
              <a:rPr lang="ko-KR" altLang="en-US" dirty="0"/>
              <a:t> </a:t>
            </a:r>
            <a:r>
              <a:rPr lang="en-US" altLang="ko-KR" dirty="0" smtClean="0"/>
              <a:t>: </a:t>
            </a:r>
            <a:r>
              <a:rPr lang="ko-KR" altLang="en-US" dirty="0"/>
              <a:t>구체적인 </a:t>
            </a:r>
            <a:r>
              <a:rPr lang="ko-KR" altLang="en-US" dirty="0" err="1" smtClean="0"/>
              <a:t>시공물량</a:t>
            </a:r>
            <a:r>
              <a:rPr lang="ko-KR" altLang="en-US" dirty="0" smtClean="0"/>
              <a:t>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en-US" altLang="ko-KR" dirty="0"/>
              <a:t>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 smtClean="0"/>
              <a:t>]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/>
              <a:t>전체공사</a:t>
            </a:r>
            <a:r>
              <a:rPr lang="ko-KR" altLang="en-US" dirty="0"/>
              <a:t> </a:t>
            </a:r>
            <a:r>
              <a:rPr lang="ko-KR" altLang="en-US" dirty="0" err="1"/>
              <a:t>계약규모</a:t>
            </a:r>
            <a:r>
              <a:rPr lang="ko-KR" altLang="en-US" dirty="0"/>
              <a:t> </a:t>
            </a:r>
            <a:r>
              <a:rPr lang="en-US" altLang="ko-KR" dirty="0" smtClean="0"/>
              <a:t>:</a:t>
            </a:r>
            <a:r>
              <a:rPr lang="ko-KR" altLang="en-US" dirty="0"/>
              <a:t> 구체적인 </a:t>
            </a:r>
            <a:r>
              <a:rPr lang="ko-KR" altLang="en-US" dirty="0" err="1"/>
              <a:t>시공물량</a:t>
            </a:r>
            <a:r>
              <a:rPr lang="ko-KR" altLang="en-US" dirty="0"/>
              <a:t>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 smtClean="0"/>
              <a:t>[</a:t>
            </a:r>
            <a:r>
              <a:rPr lang="en-US" altLang="ko-KR" dirty="0"/>
              <a:t>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인 경우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 smtClean="0"/>
              <a:t>]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/>
              <a:t>시공회사별</a:t>
            </a:r>
            <a:r>
              <a:rPr lang="ko-KR" altLang="en-US" dirty="0"/>
              <a:t> </a:t>
            </a:r>
            <a:r>
              <a:rPr lang="ko-KR" altLang="en-US" dirty="0" err="1" smtClean="0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</a:t>
            </a:r>
            <a:r>
              <a:rPr lang="ko-KR" altLang="en-US" dirty="0"/>
              <a:t> </a:t>
            </a:r>
            <a:r>
              <a:rPr lang="ko-KR" altLang="en-US" dirty="0" err="1"/>
              <a:t>시공규모</a:t>
            </a:r>
            <a:r>
              <a:rPr lang="en-US" altLang="ko-KR" dirty="0" smtClean="0"/>
              <a:t>, </a:t>
            </a:r>
            <a:r>
              <a:rPr lang="ko-KR" altLang="en-US" dirty="0"/>
              <a:t>방법</a:t>
            </a:r>
            <a:r>
              <a:rPr lang="en-US" altLang="ko-KR" dirty="0"/>
              <a:t>(</a:t>
            </a:r>
            <a:r>
              <a:rPr lang="ko-KR" altLang="en-US" dirty="0"/>
              <a:t>공법</a:t>
            </a:r>
            <a:r>
              <a:rPr lang="en-US" altLang="ko-KR" dirty="0" smtClean="0"/>
              <a:t>)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en-US" altLang="ko-KR" dirty="0"/>
              <a:t>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 smtClean="0"/>
              <a:t>]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/>
              <a:t>실적증명</a:t>
            </a:r>
            <a:r>
              <a:rPr lang="ko-KR" altLang="en-US" dirty="0"/>
              <a:t> 발급일 기준 </a:t>
            </a:r>
            <a:r>
              <a:rPr lang="ko-KR" altLang="en-US" dirty="0" err="1"/>
              <a:t>전체공사의</a:t>
            </a:r>
            <a:r>
              <a:rPr lang="ko-KR" altLang="en-US" dirty="0"/>
              <a:t> </a:t>
            </a:r>
            <a:r>
              <a:rPr lang="ko-KR" altLang="en-US" dirty="0" err="1"/>
              <a:t>시공내용</a:t>
            </a:r>
            <a:r>
              <a:rPr lang="en-US" altLang="ko-KR" dirty="0"/>
              <a:t>, </a:t>
            </a:r>
            <a:r>
              <a:rPr lang="ko-KR" altLang="en-US" dirty="0"/>
              <a:t>공법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228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상세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</a:t>
            </a:r>
            <a:r>
              <a:rPr lang="ko-KR" altLang="en-US" dirty="0" smtClean="0">
                <a:latin typeface="+mn-ea"/>
              </a:rPr>
              <a:t>구분 </a:t>
            </a:r>
            <a:r>
              <a:rPr lang="ko-KR" altLang="en-US" dirty="0" err="1" smtClean="0">
                <a:latin typeface="+mn-ea"/>
              </a:rPr>
              <a:t>부대면서</a:t>
            </a:r>
            <a:r>
              <a:rPr lang="ko-KR" altLang="en-US" dirty="0" smtClean="0">
                <a:latin typeface="+mn-ea"/>
              </a:rPr>
              <a:t> 시설공사일 때 </a:t>
            </a:r>
            <a:r>
              <a:rPr lang="en-US" altLang="ko-KR" dirty="0" smtClean="0">
                <a:latin typeface="+mn-ea"/>
              </a:rPr>
              <a:t>–</a:t>
            </a:r>
            <a:r>
              <a:rPr lang="ko-KR" altLang="en-US" dirty="0" smtClean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7" name="타원 106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모서리가 둥근 직사각형 107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출력</a:t>
            </a:r>
          </a:p>
        </p:txBody>
      </p: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64658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0" name="타원 149"/>
          <p:cNvSpPr/>
          <p:nvPr/>
        </p:nvSpPr>
        <p:spPr>
          <a:xfrm>
            <a:off x="2909237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모서리가 둥근 직사각형 150"/>
          <p:cNvSpPr/>
          <p:nvPr/>
        </p:nvSpPr>
        <p:spPr>
          <a:xfrm>
            <a:off x="3053237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출력</a:t>
            </a:r>
          </a:p>
        </p:txBody>
      </p: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0" name="그룹 199"/>
          <p:cNvGrpSpPr/>
          <p:nvPr/>
        </p:nvGrpSpPr>
        <p:grpSpPr>
          <a:xfrm>
            <a:off x="3888348" y="1604378"/>
            <a:ext cx="988410" cy="119400"/>
            <a:chOff x="933861" y="2126479"/>
            <a:chExt cx="988410" cy="119400"/>
          </a:xfrm>
        </p:grpSpPr>
        <p:sp>
          <p:nvSpPr>
            <p:cNvPr id="201" name="모서리가 둥근 직사각형 200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공사</a:t>
              </a:r>
            </a:p>
          </p:txBody>
        </p:sp>
        <p:sp>
          <p:nvSpPr>
            <p:cNvPr id="202" name="모서리가 둥근 직사각형 201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계약구분</a:t>
              </a:r>
              <a:endParaRPr lang="ko-KR" altLang="en-US" sz="600" dirty="0"/>
            </a:p>
          </p:txBody>
        </p:sp>
        <p:sp>
          <p:nvSpPr>
            <p:cNvPr id="203" name="모서리가 둥근 직사각형 202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발급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204" name="그룹 203"/>
          <p:cNvGrpSpPr/>
          <p:nvPr/>
        </p:nvGrpSpPr>
        <p:grpSpPr>
          <a:xfrm>
            <a:off x="764658" y="1600627"/>
            <a:ext cx="988410" cy="119400"/>
            <a:chOff x="933861" y="2126479"/>
            <a:chExt cx="988410" cy="119400"/>
          </a:xfrm>
        </p:grpSpPr>
        <p:sp>
          <p:nvSpPr>
            <p:cNvPr id="205" name="모서리가 둥근 직사각형 204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공사</a:t>
              </a:r>
            </a:p>
          </p:txBody>
        </p:sp>
        <p:sp>
          <p:nvSpPr>
            <p:cNvPr id="206" name="모서리가 둥근 직사각형 205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계약구분</a:t>
              </a:r>
              <a:endParaRPr lang="ko-KR" altLang="en-US" sz="600" dirty="0"/>
            </a:p>
          </p:txBody>
        </p:sp>
        <p:sp>
          <p:nvSpPr>
            <p:cNvPr id="207" name="모서리가 둥근 직사각형 206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발급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3" name="그룹 2"/>
          <p:cNvGrpSpPr/>
          <p:nvPr/>
        </p:nvGrpSpPr>
        <p:grpSpPr>
          <a:xfrm>
            <a:off x="675400" y="2590223"/>
            <a:ext cx="2712026" cy="1870687"/>
            <a:chOff x="675400" y="2590223"/>
            <a:chExt cx="2712026" cy="1870687"/>
          </a:xfrm>
        </p:grpSpPr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5688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시공자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 smtClean="0">
                  <a:latin typeface="+mn-ea"/>
                </a:rPr>
                <a:t>대표</a:t>
              </a:r>
              <a:r>
                <a:rPr lang="en-US" altLang="ko-KR" sz="700" dirty="0" smtClean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05" name="그룹 104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19" name="직선 연결선 11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0" name="직선 연결선 11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4" name="직사각형 123"/>
            <p:cNvSpPr/>
            <p:nvPr/>
          </p:nvSpPr>
          <p:spPr>
            <a:xfrm>
              <a:off x="722583" y="2897708"/>
              <a:ext cx="792000" cy="15339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회사명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공시금액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준공금액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관급금액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조달테스트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 </a:t>
              </a:r>
              <a:r>
                <a:rPr lang="ko-KR" altLang="en-US" sz="700" dirty="0" err="1" smtClean="0">
                  <a:latin typeface="+mn-ea"/>
                </a:rPr>
                <a:t>지분율</a:t>
              </a:r>
              <a:r>
                <a:rPr lang="en-US" altLang="ko-KR" sz="700" dirty="0" smtClean="0">
                  <a:latin typeface="+mn-ea"/>
                </a:rPr>
                <a:t>: 00%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 </a:t>
              </a:r>
              <a:r>
                <a:rPr lang="ko-KR" altLang="en-US" sz="700" dirty="0" err="1">
                  <a:latin typeface="+mn-ea"/>
                </a:rPr>
                <a:t>지분율</a:t>
              </a:r>
              <a:r>
                <a:rPr lang="en-US" altLang="ko-KR" sz="700" dirty="0">
                  <a:latin typeface="+mn-ea"/>
                </a:rPr>
                <a:t>: 00%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400" y="4460910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792571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 smtClean="0">
                  <a:latin typeface="+mn-ea"/>
                </a:rPr>
                <a:t>시공금액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 smtClean="0">
                  <a:latin typeface="+mn-ea"/>
                </a:rPr>
                <a:t>관급포함</a:t>
              </a:r>
              <a:r>
                <a:rPr lang="en-US" altLang="ko-KR" sz="700" dirty="0">
                  <a:latin typeface="+mn-ea"/>
                </a:rPr>
                <a:t>)</a:t>
              </a:r>
              <a:endParaRPr lang="en-US" altLang="ko-KR" sz="700" dirty="0" smtClean="0">
                <a:latin typeface="+mn-ea"/>
              </a:endParaRPr>
            </a:p>
          </p:txBody>
        </p: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00644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2201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338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5" name="그룹 4"/>
          <p:cNvGrpSpPr/>
          <p:nvPr/>
        </p:nvGrpSpPr>
        <p:grpSpPr>
          <a:xfrm>
            <a:off x="675400" y="4489784"/>
            <a:ext cx="2712026" cy="1888105"/>
            <a:chOff x="675400" y="4489784"/>
            <a:chExt cx="2712026" cy="1888105"/>
          </a:xfrm>
        </p:grpSpPr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89784"/>
              <a:ext cx="125688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시공자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1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5" name="그룹 184"/>
            <p:cNvGrpSpPr/>
            <p:nvPr/>
          </p:nvGrpSpPr>
          <p:grpSpPr>
            <a:xfrm flipV="1">
              <a:off x="3143548" y="4603115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6" name="직사각형 185"/>
            <p:cNvSpPr/>
            <p:nvPr/>
          </p:nvSpPr>
          <p:spPr>
            <a:xfrm>
              <a:off x="722583" y="4797269"/>
              <a:ext cx="792000" cy="15339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7" name="직선 연결선 1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9726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97269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회사명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공시금액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준공금액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관급금액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97269"/>
              <a:ext cx="1784088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업체 </a:t>
              </a:r>
              <a:r>
                <a:rPr lang="en-US" altLang="ko-KR" sz="700" dirty="0" smtClean="0">
                  <a:latin typeface="+mn-ea"/>
                </a:rPr>
                <a:t>1</a:t>
              </a:r>
              <a:r>
                <a:rPr lang="ko-KR" altLang="en-US" sz="700" dirty="0" smtClean="0">
                  <a:latin typeface="+mn-ea"/>
                </a:rPr>
                <a:t>명칭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111-22-33333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박길동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 </a:t>
              </a:r>
              <a:r>
                <a:rPr lang="ko-KR" altLang="en-US" sz="700" dirty="0" err="1" smtClean="0">
                  <a:latin typeface="+mn-ea"/>
                </a:rPr>
                <a:t>지분율</a:t>
              </a:r>
              <a:r>
                <a:rPr lang="en-US" altLang="ko-KR" sz="700" dirty="0" smtClean="0">
                  <a:latin typeface="+mn-ea"/>
                </a:rPr>
                <a:t>: 00%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 </a:t>
              </a:r>
              <a:r>
                <a:rPr lang="ko-KR" altLang="en-US" sz="700" dirty="0" err="1">
                  <a:latin typeface="+mn-ea"/>
                </a:rPr>
                <a:t>지분율</a:t>
              </a:r>
              <a:r>
                <a:rPr lang="en-US" altLang="ko-KR" sz="700" dirty="0">
                  <a:latin typeface="+mn-ea"/>
                </a:rPr>
                <a:t>: 00%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2837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4208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557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6949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400" y="6377889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692132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 smtClean="0">
                  <a:latin typeface="+mn-ea"/>
                </a:rPr>
                <a:t>시공금액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 smtClean="0">
                  <a:latin typeface="+mn-ea"/>
                </a:rPr>
                <a:t>관급포함</a:t>
              </a:r>
              <a:r>
                <a:rPr lang="en-US" altLang="ko-KR" sz="700" dirty="0">
                  <a:latin typeface="+mn-ea"/>
                </a:rPr>
                <a:t>)</a:t>
              </a:r>
              <a:endParaRPr lang="en-US" altLang="ko-KR" sz="700" dirty="0" smtClean="0">
                <a:latin typeface="+mn-ea"/>
              </a:endParaRPr>
            </a:p>
          </p:txBody>
        </p:sp>
        <p:cxnSp>
          <p:nvCxnSpPr>
            <p:cNvPr id="211" name="직선 연결선 2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0600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2" name="직선 연결선 2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11971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3" name="직선 연결선 2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33341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8" name="그룹 7"/>
          <p:cNvGrpSpPr/>
          <p:nvPr/>
        </p:nvGrpSpPr>
        <p:grpSpPr>
          <a:xfrm>
            <a:off x="3795734" y="2590223"/>
            <a:ext cx="2712026" cy="1888105"/>
            <a:chOff x="3832578" y="3081088"/>
            <a:chExt cx="2712026" cy="1888105"/>
          </a:xfrm>
        </p:grpSpPr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38639" y="3081088"/>
              <a:ext cx="125688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시공자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2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17" name="그룹 216"/>
            <p:cNvGrpSpPr/>
            <p:nvPr/>
          </p:nvGrpSpPr>
          <p:grpSpPr>
            <a:xfrm flipV="1">
              <a:off x="6300726" y="3194419"/>
              <a:ext cx="94010" cy="47005"/>
              <a:chOff x="6812560" y="3297172"/>
              <a:chExt cx="94010" cy="47005"/>
            </a:xfrm>
          </p:grpSpPr>
          <p:cxnSp>
            <p:nvCxnSpPr>
              <p:cNvPr id="218" name="직선 연결선 21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9" name="직선 연결선 21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20" name="직사각형 219"/>
            <p:cNvSpPr/>
            <p:nvPr/>
          </p:nvSpPr>
          <p:spPr>
            <a:xfrm>
              <a:off x="3879761" y="3388573"/>
              <a:ext cx="792000" cy="15339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7668" y="33885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388573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회사명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공시금액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준공금액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관급금액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23673" y="3388573"/>
              <a:ext cx="1784088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업체 </a:t>
              </a:r>
              <a:r>
                <a:rPr lang="en-US" altLang="ko-KR" sz="700" dirty="0" smtClean="0">
                  <a:latin typeface="+mn-ea"/>
                </a:rPr>
                <a:t>2</a:t>
              </a:r>
              <a:r>
                <a:rPr lang="ko-KR" altLang="en-US" sz="700" dirty="0" smtClean="0">
                  <a:latin typeface="+mn-ea"/>
                </a:rPr>
                <a:t>명칭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222-33-44444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김길동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 </a:t>
              </a:r>
              <a:r>
                <a:rPr lang="ko-KR" altLang="en-US" sz="700" dirty="0" err="1" smtClean="0">
                  <a:latin typeface="+mn-ea"/>
                </a:rPr>
                <a:t>지분율</a:t>
              </a:r>
              <a:r>
                <a:rPr lang="en-US" altLang="ko-KR" sz="700" dirty="0" smtClean="0">
                  <a:latin typeface="+mn-ea"/>
                </a:rPr>
                <a:t>: 00%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 </a:t>
              </a:r>
              <a:r>
                <a:rPr lang="ko-KR" altLang="en-US" sz="700" dirty="0" err="1">
                  <a:latin typeface="+mn-ea"/>
                </a:rPr>
                <a:t>지분율</a:t>
              </a:r>
              <a:r>
                <a:rPr lang="en-US" altLang="ko-KR" sz="700" dirty="0">
                  <a:latin typeface="+mn-ea"/>
                </a:rPr>
                <a:t>: 00%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 smtClean="0">
                  <a:latin typeface="+mn-ea"/>
                </a:rPr>
                <a:t>원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25" name="직선 연결선 2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6196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0" name="직선 연결선 2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8333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1" name="직선 연결선 2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0470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3" name="직선 연결선 2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26079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3" name="직선 연결선 2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2578" y="496919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428343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 smtClean="0">
                  <a:latin typeface="+mn-ea"/>
                </a:rPr>
                <a:t>시공금액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 smtClean="0">
                  <a:latin typeface="+mn-ea"/>
                </a:rPr>
                <a:t>관급포함</a:t>
              </a:r>
              <a:r>
                <a:rPr lang="en-US" altLang="ko-KR" sz="700" dirty="0">
                  <a:latin typeface="+mn-ea"/>
                </a:rPr>
                <a:t>)</a:t>
              </a:r>
              <a:endParaRPr lang="en-US" altLang="ko-KR" sz="700" dirty="0" smtClean="0">
                <a:latin typeface="+mn-ea"/>
              </a:endParaRPr>
            </a:p>
          </p:txBody>
        </p:sp>
        <p:cxnSp>
          <p:nvCxnSpPr>
            <p:cNvPr id="245" name="직선 연결선 2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49730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6" name="직선 연결선 2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7110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7" name="직선 연결선 2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9247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3380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9" name="그룹 8"/>
          <p:cNvGrpSpPr/>
          <p:nvPr/>
        </p:nvGrpSpPr>
        <p:grpSpPr>
          <a:xfrm>
            <a:off x="3795734" y="4585287"/>
            <a:ext cx="2712027" cy="789495"/>
            <a:chOff x="675399" y="1544009"/>
            <a:chExt cx="2712027" cy="789495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시공규모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: </a:t>
              </a:r>
              <a:r>
                <a:rPr lang="ko-KR" altLang="en-US" sz="700" dirty="0" smtClean="0">
                  <a:latin typeface="+mn-ea"/>
                </a:rPr>
                <a:t>구체적인 </a:t>
              </a:r>
              <a:r>
                <a:rPr lang="ko-KR" altLang="en-US" sz="700" dirty="0" err="1">
                  <a:latin typeface="+mn-ea"/>
                </a:rPr>
                <a:t>시공물량</a:t>
              </a:r>
              <a:r>
                <a:rPr lang="ko-KR" altLang="en-US" sz="700" dirty="0">
                  <a:latin typeface="+mn-ea"/>
                </a:rPr>
                <a:t> 표시</a:t>
              </a:r>
            </a:p>
          </p:txBody>
        </p:sp>
        <p:grpSp>
          <p:nvGrpSpPr>
            <p:cNvPr id="256" name="그룹 255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57" name="직선 연결선 25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8" name="직선 연결선 25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59" name="직선 연결선 2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내용 표시 영역은 내용에 맞춰 높이를 조정하여 표시</a:t>
              </a:r>
              <a:endParaRPr lang="en-US" altLang="ko-KR" sz="700" dirty="0" smtClean="0">
                <a:latin typeface="+mn-ea"/>
              </a:endParaRP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63" name="그룹 262"/>
          <p:cNvGrpSpPr/>
          <p:nvPr/>
        </p:nvGrpSpPr>
        <p:grpSpPr>
          <a:xfrm>
            <a:off x="3795734" y="5481915"/>
            <a:ext cx="2712027" cy="789495"/>
            <a:chOff x="675399" y="1544009"/>
            <a:chExt cx="2712027" cy="789495"/>
          </a:xfrm>
        </p:grpSpPr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실적공종또는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PQ</a:t>
              </a:r>
              <a:r>
                <a:rPr lang="ko-KR" altLang="en-US" sz="700" dirty="0" err="1">
                  <a:latin typeface="+mn-ea"/>
                </a:rPr>
                <a:t>공종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시공규모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방법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공법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65" name="그룹 264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69" name="직선 연결선 26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70" name="직선 연결선 26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내용 표시 영역은 내용에 맞춰 높이를 조정하여 표시</a:t>
              </a:r>
              <a:endParaRPr lang="en-US" altLang="ko-KR" sz="700" dirty="0" smtClean="0">
                <a:latin typeface="+mn-ea"/>
              </a:endParaRPr>
            </a:p>
          </p:txBody>
        </p: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73" name="타원 27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1830" y="461315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74" name="타원 27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8048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75" name="타원 27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2785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76" name="타원 2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1830" y="550051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520523183"/>
      </p:ext>
    </p:extLst>
  </p:cSld>
  <p:clrMapOvr>
    <a:masterClrMapping/>
  </p:clrMapOvr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smtClean="0"/>
              <a:t>신청에 따른 표시 정보 변경 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 smtClean="0"/>
              <a:t>]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/>
              <a:t>시공회사별</a:t>
            </a:r>
            <a:r>
              <a:rPr lang="ko-KR" altLang="en-US" dirty="0"/>
              <a:t> </a:t>
            </a:r>
            <a:r>
              <a:rPr lang="ko-KR" altLang="en-US" dirty="0" err="1" smtClean="0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</a:t>
            </a:r>
            <a:r>
              <a:rPr lang="ko-KR" altLang="en-US" dirty="0" smtClean="0"/>
              <a:t>금액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en-US" altLang="ko-KR" dirty="0"/>
              <a:t>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 smtClean="0"/>
              <a:t>]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/>
              <a:t>실적증명</a:t>
            </a:r>
            <a:r>
              <a:rPr lang="ko-KR" altLang="en-US" dirty="0"/>
              <a:t> 발급일 기준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</a:t>
            </a:r>
            <a:r>
              <a:rPr lang="ko-KR" altLang="en-US" dirty="0" err="1"/>
              <a:t>시공내용</a:t>
            </a:r>
            <a:r>
              <a:rPr lang="en-US" altLang="ko-KR" dirty="0" smtClean="0"/>
              <a:t>, </a:t>
            </a:r>
            <a:r>
              <a:rPr lang="ko-KR" altLang="en-US" dirty="0" smtClean="0"/>
              <a:t>공법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en-US" altLang="ko-KR" dirty="0"/>
              <a:t>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 smtClean="0"/>
              <a:t>]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 smtClean="0"/>
              <a:t>]</a:t>
            </a:r>
            <a:r>
              <a:rPr lang="ko-KR" altLang="en-US" dirty="0" smtClean="0"/>
              <a:t>인 경우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 smtClean="0"/>
              <a:t>]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/>
              <a:t>시공회사별</a:t>
            </a:r>
            <a:r>
              <a:rPr lang="ko-KR" altLang="en-US" dirty="0"/>
              <a:t> </a:t>
            </a:r>
            <a:r>
              <a:rPr lang="ko-KR" altLang="en-US" dirty="0" err="1" smtClean="0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</a:t>
            </a:r>
            <a:r>
              <a:rPr lang="ko-KR" altLang="en-US" dirty="0" smtClean="0"/>
              <a:t>금액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en-US" altLang="ko-KR" dirty="0"/>
              <a:t>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 smtClean="0"/>
              <a:t>]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/>
              <a:t>실적증명</a:t>
            </a:r>
            <a:r>
              <a:rPr lang="ko-KR" altLang="en-US" dirty="0"/>
              <a:t> 발급일 기준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</a:t>
            </a:r>
            <a:r>
              <a:rPr lang="ko-KR" altLang="en-US" dirty="0" err="1"/>
              <a:t>시공내용</a:t>
            </a:r>
            <a:r>
              <a:rPr lang="en-US" altLang="ko-KR" dirty="0" smtClean="0"/>
              <a:t>, </a:t>
            </a:r>
            <a:r>
              <a:rPr lang="ko-KR" altLang="en-US" dirty="0"/>
              <a:t>공법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smtClean="0"/>
              <a:t>세부 </a:t>
            </a:r>
            <a:r>
              <a:rPr lang="ko-KR" altLang="en-US" dirty="0"/>
              <a:t>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정보는 총 </a:t>
            </a:r>
            <a:r>
              <a:rPr lang="en-US" altLang="ko-KR" dirty="0"/>
              <a:t>3</a:t>
            </a:r>
            <a:r>
              <a:rPr lang="ko-KR" altLang="en-US" dirty="0"/>
              <a:t>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정보가 없는 경우 빈칸을 노출하지 않고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</a:t>
            </a:r>
            <a:r>
              <a:rPr lang="ko-KR" altLang="en-US" dirty="0" smtClean="0"/>
              <a:t>인 </a:t>
            </a:r>
            <a:r>
              <a:rPr lang="ko-KR" altLang="en-US" dirty="0"/>
              <a:t>경우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en-US" altLang="ko-KR" dirty="0"/>
              <a:t>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 smtClean="0"/>
              <a:t>]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/>
              <a:t>하도급자</a:t>
            </a:r>
            <a:r>
              <a:rPr lang="ko-KR" altLang="en-US" dirty="0"/>
              <a:t> </a:t>
            </a:r>
            <a:r>
              <a:rPr lang="ko-KR" altLang="en-US" dirty="0" smtClean="0"/>
              <a:t>면허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/>
              <a:t>하도급 공사 규모 및 </a:t>
            </a:r>
            <a:r>
              <a:rPr lang="ko-KR" altLang="en-US" dirty="0" smtClean="0"/>
              <a:t>금액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 smtClean="0"/>
              <a:t>[</a:t>
            </a:r>
            <a:r>
              <a:rPr lang="en-US" altLang="ko-KR" dirty="0"/>
              <a:t>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],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 smtClean="0"/>
              <a:t>]</a:t>
            </a:r>
            <a:r>
              <a:rPr lang="ko-KR" altLang="en-US" dirty="0" smtClean="0"/>
              <a:t> </a:t>
            </a:r>
            <a:r>
              <a:rPr lang="ko-KR" altLang="en-US" dirty="0"/>
              <a:t>인 경우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229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상세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</a:t>
            </a:r>
            <a:r>
              <a:rPr lang="ko-KR" altLang="en-US" dirty="0" smtClean="0">
                <a:latin typeface="+mn-ea"/>
              </a:rPr>
              <a:t>구분 </a:t>
            </a:r>
            <a:r>
              <a:rPr lang="ko-KR" altLang="en-US" dirty="0" err="1" smtClean="0">
                <a:latin typeface="+mn-ea"/>
              </a:rPr>
              <a:t>부대면서</a:t>
            </a:r>
            <a:r>
              <a:rPr lang="ko-KR" altLang="en-US" dirty="0" smtClean="0">
                <a:latin typeface="+mn-ea"/>
              </a:rPr>
              <a:t> 시설공사일 때 </a:t>
            </a:r>
            <a:r>
              <a:rPr lang="en-US" altLang="ko-KR" dirty="0" smtClean="0">
                <a:latin typeface="+mn-ea"/>
              </a:rPr>
              <a:t>–</a:t>
            </a:r>
            <a:r>
              <a:rPr lang="ko-KR" altLang="en-US" dirty="0" smtClean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7" name="타원 106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모서리가 둥근 직사각형 107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출력</a:t>
            </a:r>
          </a:p>
        </p:txBody>
      </p: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64658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0" name="타원 149"/>
          <p:cNvSpPr/>
          <p:nvPr/>
        </p:nvSpPr>
        <p:spPr>
          <a:xfrm>
            <a:off x="2909237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모서리가 둥근 직사각형 150"/>
          <p:cNvSpPr/>
          <p:nvPr/>
        </p:nvSpPr>
        <p:spPr>
          <a:xfrm>
            <a:off x="3053237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출력</a:t>
            </a:r>
          </a:p>
        </p:txBody>
      </p: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0" name="그룹 199"/>
          <p:cNvGrpSpPr/>
          <p:nvPr/>
        </p:nvGrpSpPr>
        <p:grpSpPr>
          <a:xfrm>
            <a:off x="3888348" y="1604378"/>
            <a:ext cx="988410" cy="119400"/>
            <a:chOff x="933861" y="2126479"/>
            <a:chExt cx="988410" cy="119400"/>
          </a:xfrm>
        </p:grpSpPr>
        <p:sp>
          <p:nvSpPr>
            <p:cNvPr id="201" name="모서리가 둥근 직사각형 200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공사</a:t>
              </a:r>
            </a:p>
          </p:txBody>
        </p:sp>
        <p:sp>
          <p:nvSpPr>
            <p:cNvPr id="202" name="모서리가 둥근 직사각형 201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계약구분</a:t>
              </a:r>
              <a:endParaRPr lang="ko-KR" altLang="en-US" sz="600" dirty="0"/>
            </a:p>
          </p:txBody>
        </p:sp>
        <p:sp>
          <p:nvSpPr>
            <p:cNvPr id="203" name="모서리가 둥근 직사각형 202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발급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204" name="그룹 203"/>
          <p:cNvGrpSpPr/>
          <p:nvPr/>
        </p:nvGrpSpPr>
        <p:grpSpPr>
          <a:xfrm>
            <a:off x="764658" y="1600627"/>
            <a:ext cx="988410" cy="119400"/>
            <a:chOff x="933861" y="2126479"/>
            <a:chExt cx="988410" cy="119400"/>
          </a:xfrm>
        </p:grpSpPr>
        <p:sp>
          <p:nvSpPr>
            <p:cNvPr id="205" name="모서리가 둥근 직사각형 204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공사</a:t>
              </a:r>
            </a:p>
          </p:txBody>
        </p:sp>
        <p:sp>
          <p:nvSpPr>
            <p:cNvPr id="206" name="모서리가 둥근 직사각형 205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계약구분</a:t>
              </a:r>
              <a:endParaRPr lang="ko-KR" altLang="en-US" sz="600" dirty="0"/>
            </a:p>
          </p:txBody>
        </p:sp>
        <p:sp>
          <p:nvSpPr>
            <p:cNvPr id="207" name="모서리가 둥근 직사각형 206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발급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8" name="그룹 7"/>
          <p:cNvGrpSpPr/>
          <p:nvPr/>
        </p:nvGrpSpPr>
        <p:grpSpPr>
          <a:xfrm>
            <a:off x="3795734" y="2590223"/>
            <a:ext cx="2712026" cy="894831"/>
            <a:chOff x="3832578" y="3081088"/>
            <a:chExt cx="2712026" cy="894831"/>
          </a:xfrm>
        </p:grpSpPr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38639" y="3081088"/>
              <a:ext cx="221221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하도급자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: OOOO </a:t>
              </a:r>
              <a:r>
                <a:rPr lang="ko-KR" altLang="en-US" sz="700" dirty="0" smtClean="0">
                  <a:latin typeface="+mn-ea"/>
                </a:rPr>
                <a:t>명칭 표시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17" name="그룹 216"/>
            <p:cNvGrpSpPr/>
            <p:nvPr/>
          </p:nvGrpSpPr>
          <p:grpSpPr>
            <a:xfrm flipV="1">
              <a:off x="6300726" y="3194419"/>
              <a:ext cx="94010" cy="47005"/>
              <a:chOff x="6812560" y="3297172"/>
              <a:chExt cx="94010" cy="47005"/>
            </a:xfrm>
          </p:grpSpPr>
          <p:cxnSp>
            <p:nvCxnSpPr>
              <p:cNvPr id="218" name="직선 연결선 21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9" name="직선 연결선 21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20" name="직사각형 219"/>
            <p:cNvSpPr/>
            <p:nvPr/>
          </p:nvSpPr>
          <p:spPr>
            <a:xfrm>
              <a:off x="3879761" y="3388574"/>
              <a:ext cx="792000" cy="54010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7668" y="33885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42340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하도급공사 규모 </a:t>
              </a:r>
            </a:p>
            <a:p>
              <a:r>
                <a:rPr lang="ko-KR" altLang="en-US" sz="700" dirty="0">
                  <a:latin typeface="+mn-ea"/>
                </a:rPr>
                <a:t>및 내용</a:t>
              </a: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23673" y="3477270"/>
              <a:ext cx="178408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업체 </a:t>
              </a:r>
              <a:r>
                <a:rPr lang="en-US" altLang="ko-KR" sz="700" dirty="0" smtClean="0">
                  <a:latin typeface="+mn-ea"/>
                </a:rPr>
                <a:t>2</a:t>
              </a:r>
              <a:r>
                <a:rPr lang="ko-KR" altLang="en-US" sz="700" dirty="0" smtClean="0">
                  <a:latin typeface="+mn-ea"/>
                </a:rPr>
                <a:t>명칭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25" name="직선 연결선 2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67142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0" name="직선 연결선 2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92868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3" name="직선 연결선 2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2578" y="3975919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69408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하도금금액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23673" y="3747946"/>
              <a:ext cx="178408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6192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9" name="그룹 8"/>
          <p:cNvGrpSpPr/>
          <p:nvPr/>
        </p:nvGrpSpPr>
        <p:grpSpPr>
          <a:xfrm>
            <a:off x="675399" y="2586304"/>
            <a:ext cx="2712027" cy="789495"/>
            <a:chOff x="675399" y="1544009"/>
            <a:chExt cx="2712027" cy="789495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</a:t>
              </a:r>
              <a:r>
                <a:rPr lang="ko-KR" altLang="en-US" sz="700" dirty="0">
                  <a:latin typeface="+mn-ea"/>
                </a:rPr>
                <a:t> 또는 </a:t>
              </a:r>
              <a:r>
                <a:rPr lang="en-US" altLang="ko-KR" sz="700" dirty="0">
                  <a:latin typeface="+mn-ea"/>
                </a:rPr>
                <a:t>PQ </a:t>
              </a:r>
              <a:r>
                <a:rPr lang="ko-KR" altLang="en-US" sz="700" dirty="0" err="1">
                  <a:latin typeface="+mn-ea"/>
                </a:rPr>
                <a:t>공종의</a:t>
              </a:r>
              <a:r>
                <a:rPr lang="ko-KR" altLang="en-US" sz="700" dirty="0">
                  <a:latin typeface="+mn-ea"/>
                </a:rPr>
                <a:t> 금액</a:t>
              </a:r>
            </a:p>
          </p:txBody>
        </p:sp>
        <p:grpSp>
          <p:nvGrpSpPr>
            <p:cNvPr id="256" name="그룹 255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57" name="직선 연결선 25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8" name="직선 연결선 25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59" name="직선 연결선 2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내용 표시 영역은 내용에 맞춰 높이를 조정하여 표시</a:t>
              </a:r>
              <a:endParaRPr lang="en-US" altLang="ko-KR" sz="700" dirty="0" smtClean="0">
                <a:latin typeface="+mn-ea"/>
              </a:endParaRP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63" name="그룹 262"/>
          <p:cNvGrpSpPr/>
          <p:nvPr/>
        </p:nvGrpSpPr>
        <p:grpSpPr>
          <a:xfrm>
            <a:off x="675399" y="3482932"/>
            <a:ext cx="2712027" cy="789495"/>
            <a:chOff x="675399" y="1544009"/>
            <a:chExt cx="2712027" cy="789495"/>
          </a:xfrm>
        </p:grpSpPr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</a:t>
              </a:r>
              <a:r>
                <a:rPr lang="ko-KR" altLang="en-US" sz="700" dirty="0">
                  <a:latin typeface="+mn-ea"/>
                </a:rPr>
                <a:t> 또는 </a:t>
              </a:r>
              <a:r>
                <a:rPr lang="en-US" altLang="ko-KR" sz="700" dirty="0">
                  <a:latin typeface="+mn-ea"/>
                </a:rPr>
                <a:t>PQ </a:t>
              </a:r>
              <a:r>
                <a:rPr lang="ko-KR" altLang="en-US" sz="700" dirty="0" err="1">
                  <a:latin typeface="+mn-ea"/>
                </a:rPr>
                <a:t>공종의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준공금액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65" name="그룹 264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69" name="직선 연결선 26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70" name="직선 연결선 26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내용 표시 영역은 내용에 맞춰 높이를 조정하여 표시</a:t>
              </a:r>
              <a:endParaRPr lang="en-US" altLang="ko-KR" sz="700" dirty="0" smtClean="0">
                <a:latin typeface="+mn-ea"/>
              </a:endParaRPr>
            </a:p>
          </p:txBody>
        </p: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09" name="그룹 108"/>
          <p:cNvGrpSpPr/>
          <p:nvPr/>
        </p:nvGrpSpPr>
        <p:grpSpPr>
          <a:xfrm>
            <a:off x="675399" y="4383382"/>
            <a:ext cx="2712027" cy="789495"/>
            <a:chOff x="675399" y="1544009"/>
            <a:chExt cx="2712027" cy="789495"/>
          </a:xfrm>
        </p:grpSpPr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</a:t>
              </a:r>
              <a:r>
                <a:rPr lang="ko-KR" altLang="en-US" sz="700" dirty="0">
                  <a:latin typeface="+mn-ea"/>
                </a:rPr>
                <a:t>  또는 </a:t>
              </a:r>
              <a:r>
                <a:rPr lang="en-US" altLang="ko-KR" sz="700" dirty="0" smtClean="0">
                  <a:latin typeface="+mn-ea"/>
                </a:rPr>
                <a:t>PQ</a:t>
              </a:r>
              <a:r>
                <a:rPr lang="ko-KR" altLang="en-US" sz="700" dirty="0" err="1" smtClean="0">
                  <a:latin typeface="+mn-ea"/>
                </a:rPr>
                <a:t>공종의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관급금액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11" name="그룹 110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115" name="직선 연결선 11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16" name="직선 연결선 11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내용 표시 영역은 내용에 맞춰 높이를 조정하여 표시</a:t>
              </a:r>
              <a:endParaRPr lang="en-US" altLang="ko-KR" sz="700" dirty="0" smtClean="0">
                <a:latin typeface="+mn-ea"/>
              </a:endParaRPr>
            </a:p>
          </p:txBody>
        </p: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21" name="그룹 120"/>
          <p:cNvGrpSpPr/>
          <p:nvPr/>
        </p:nvGrpSpPr>
        <p:grpSpPr>
          <a:xfrm>
            <a:off x="3795734" y="3593173"/>
            <a:ext cx="2712026" cy="894831"/>
            <a:chOff x="3832578" y="3081088"/>
            <a:chExt cx="2712026" cy="894831"/>
          </a:xfrm>
        </p:grpSpPr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38639" y="3081088"/>
              <a:ext cx="221221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하도급자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: OOOO </a:t>
              </a:r>
              <a:r>
                <a:rPr lang="ko-KR" altLang="en-US" sz="700" dirty="0" smtClean="0">
                  <a:latin typeface="+mn-ea"/>
                </a:rPr>
                <a:t>명칭 표시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3" name="그룹 122"/>
            <p:cNvGrpSpPr/>
            <p:nvPr/>
          </p:nvGrpSpPr>
          <p:grpSpPr>
            <a:xfrm flipV="1">
              <a:off x="6300726" y="3194419"/>
              <a:ext cx="94010" cy="47005"/>
              <a:chOff x="6812560" y="3297172"/>
              <a:chExt cx="94010" cy="47005"/>
            </a:xfrm>
          </p:grpSpPr>
          <p:cxnSp>
            <p:nvCxnSpPr>
              <p:cNvPr id="144" name="직선 연결선 14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5" name="직선 연결선 14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9" name="직사각형 128"/>
            <p:cNvSpPr/>
            <p:nvPr/>
          </p:nvSpPr>
          <p:spPr>
            <a:xfrm>
              <a:off x="3879761" y="3388574"/>
              <a:ext cx="792000" cy="54010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7668" y="33885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42340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하도급공사 규모 </a:t>
              </a:r>
            </a:p>
            <a:p>
              <a:r>
                <a:rPr lang="ko-KR" altLang="en-US" sz="700" dirty="0">
                  <a:latin typeface="+mn-ea"/>
                </a:rPr>
                <a:t>및 내용</a:t>
              </a:r>
            </a:p>
          </p:txBody>
        </p: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23673" y="3477270"/>
              <a:ext cx="178408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업체 </a:t>
              </a:r>
              <a:r>
                <a:rPr lang="en-US" altLang="ko-KR" sz="700" dirty="0" smtClean="0">
                  <a:latin typeface="+mn-ea"/>
                </a:rPr>
                <a:t>2</a:t>
              </a:r>
              <a:r>
                <a:rPr lang="ko-KR" altLang="en-US" sz="700" dirty="0" smtClean="0">
                  <a:latin typeface="+mn-ea"/>
                </a:rPr>
                <a:t>명칭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67142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92868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2578" y="3975919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69408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하도금금액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23673" y="3747946"/>
              <a:ext cx="178408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</p:grpSp>
      <p:grpSp>
        <p:nvGrpSpPr>
          <p:cNvPr id="146" name="그룹 145"/>
          <p:cNvGrpSpPr/>
          <p:nvPr/>
        </p:nvGrpSpPr>
        <p:grpSpPr>
          <a:xfrm>
            <a:off x="3795734" y="4587263"/>
            <a:ext cx="2712026" cy="894831"/>
            <a:chOff x="3832578" y="3081088"/>
            <a:chExt cx="2712026" cy="894831"/>
          </a:xfrm>
        </p:grpSpPr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38639" y="3081088"/>
              <a:ext cx="221221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하도급자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: OOOO </a:t>
              </a:r>
              <a:r>
                <a:rPr lang="ko-KR" altLang="en-US" sz="700" dirty="0" smtClean="0">
                  <a:latin typeface="+mn-ea"/>
                </a:rPr>
                <a:t>명칭 표시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8" name="그룹 147"/>
            <p:cNvGrpSpPr/>
            <p:nvPr/>
          </p:nvGrpSpPr>
          <p:grpSpPr>
            <a:xfrm flipV="1">
              <a:off x="6300726" y="3194419"/>
              <a:ext cx="94010" cy="47005"/>
              <a:chOff x="6812560" y="3297172"/>
              <a:chExt cx="94010" cy="47005"/>
            </a:xfrm>
          </p:grpSpPr>
          <p:cxnSp>
            <p:nvCxnSpPr>
              <p:cNvPr id="168" name="직선 연결선 16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9" name="직선 연결선 16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2" name="직사각형 151"/>
            <p:cNvSpPr/>
            <p:nvPr/>
          </p:nvSpPr>
          <p:spPr>
            <a:xfrm>
              <a:off x="3879761" y="3388574"/>
              <a:ext cx="792000" cy="54010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7668" y="33885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42340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하도급공사 규모 </a:t>
              </a:r>
            </a:p>
            <a:p>
              <a:r>
                <a:rPr lang="ko-KR" altLang="en-US" sz="700" dirty="0">
                  <a:latin typeface="+mn-ea"/>
                </a:rPr>
                <a:t>및 내용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23673" y="3477270"/>
              <a:ext cx="178408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업체 </a:t>
              </a:r>
              <a:r>
                <a:rPr lang="en-US" altLang="ko-KR" sz="700" dirty="0" smtClean="0">
                  <a:latin typeface="+mn-ea"/>
                </a:rPr>
                <a:t>2</a:t>
              </a:r>
              <a:r>
                <a:rPr lang="ko-KR" altLang="en-US" sz="700" dirty="0" smtClean="0">
                  <a:latin typeface="+mn-ea"/>
                </a:rPr>
                <a:t>명칭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67142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92868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2578" y="3975919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69408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하도금금액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23673" y="3747946"/>
              <a:ext cx="178408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 smtClean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</p:grpSp>
      <p:grpSp>
        <p:nvGrpSpPr>
          <p:cNvPr id="173" name="그룹 172"/>
          <p:cNvGrpSpPr/>
          <p:nvPr/>
        </p:nvGrpSpPr>
        <p:grpSpPr>
          <a:xfrm>
            <a:off x="3795734" y="5590663"/>
            <a:ext cx="2712027" cy="606800"/>
            <a:chOff x="675399" y="1544009"/>
            <a:chExt cx="2712027" cy="606800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실적증명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smtClean="0">
                  <a:latin typeface="+mn-ea"/>
                </a:rPr>
                <a:t>발급일 기준 </a:t>
              </a:r>
              <a:r>
                <a:rPr lang="ko-KR" altLang="en-US" sz="700" dirty="0" err="1">
                  <a:latin typeface="+mn-ea"/>
                </a:rPr>
                <a:t>시공내용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75" name="그룹 174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179" name="직선 연결선 17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0" name="직선 연결선 17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150809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내용 표시 영역은 내용에 맞춰 높이를 조정하여 표시</a:t>
              </a:r>
              <a:endParaRPr lang="en-US" altLang="ko-KR" sz="700" dirty="0" smtClean="0">
                <a:latin typeface="+mn-ea"/>
              </a:endParaRPr>
            </a:p>
          </p:txBody>
        </p: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82" name="타원 18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50596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83" name="타원 18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8909" y="26167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88" name="타원 18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8909" y="563056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301098026"/>
      </p:ext>
    </p:extLst>
  </p:cSld>
  <p:clrMapOvr>
    <a:masterClrMapping/>
  </p:clrMapOvr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정보는 총 </a:t>
            </a:r>
            <a:r>
              <a:rPr lang="en-US" altLang="ko-KR" dirty="0" smtClean="0"/>
              <a:t>3</a:t>
            </a:r>
            <a:r>
              <a:rPr lang="ko-KR" altLang="en-US" dirty="0" smtClean="0"/>
              <a:t>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정보가 없는 경우 </a:t>
            </a:r>
            <a:r>
              <a:rPr lang="ko-KR" altLang="en-US" dirty="0"/>
              <a:t>빈칸을 노출하지 않고 </a:t>
            </a:r>
            <a:r>
              <a:rPr lang="ko-KR" altLang="en-US" dirty="0" smtClean="0"/>
              <a:t>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- [5</a:t>
            </a:r>
            <a:r>
              <a:rPr lang="en-US" altLang="ko-KR" dirty="0"/>
              <a:t>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</a:t>
            </a:r>
            <a:r>
              <a:rPr lang="ko-KR" altLang="en-US" dirty="0" smtClean="0"/>
              <a:t>확인서</a:t>
            </a:r>
            <a:r>
              <a:rPr lang="en-US" altLang="ko-KR" dirty="0" smtClean="0"/>
              <a:t>]</a:t>
            </a:r>
            <a:r>
              <a:rPr lang="ko-KR" altLang="en-US" dirty="0"/>
              <a:t> 인 경우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230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상세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</a:t>
            </a:r>
            <a:r>
              <a:rPr lang="ko-KR" altLang="en-US" dirty="0" smtClean="0">
                <a:latin typeface="+mn-ea"/>
              </a:rPr>
              <a:t>구분 </a:t>
            </a:r>
            <a:r>
              <a:rPr lang="ko-KR" altLang="en-US" dirty="0" err="1" smtClean="0">
                <a:latin typeface="+mn-ea"/>
              </a:rPr>
              <a:t>부대면서</a:t>
            </a:r>
            <a:r>
              <a:rPr lang="ko-KR" altLang="en-US" dirty="0" smtClean="0">
                <a:latin typeface="+mn-ea"/>
              </a:rPr>
              <a:t> 시설공사일 때 </a:t>
            </a:r>
            <a:r>
              <a:rPr lang="en-US" altLang="ko-KR" dirty="0" smtClean="0">
                <a:latin typeface="+mn-ea"/>
              </a:rPr>
              <a:t>–</a:t>
            </a:r>
            <a:r>
              <a:rPr lang="ko-KR" altLang="en-US" dirty="0" smtClean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64658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0" name="타원 149"/>
          <p:cNvSpPr/>
          <p:nvPr/>
        </p:nvSpPr>
        <p:spPr>
          <a:xfrm>
            <a:off x="2909237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모서리가 둥근 직사각형 150"/>
          <p:cNvSpPr/>
          <p:nvPr/>
        </p:nvSpPr>
        <p:spPr>
          <a:xfrm>
            <a:off x="3053237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출력</a:t>
            </a:r>
          </a:p>
        </p:txBody>
      </p: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4" name="그룹 203"/>
          <p:cNvGrpSpPr/>
          <p:nvPr/>
        </p:nvGrpSpPr>
        <p:grpSpPr>
          <a:xfrm>
            <a:off x="764658" y="1600627"/>
            <a:ext cx="988410" cy="119400"/>
            <a:chOff x="933861" y="2126479"/>
            <a:chExt cx="988410" cy="119400"/>
          </a:xfrm>
        </p:grpSpPr>
        <p:sp>
          <p:nvSpPr>
            <p:cNvPr id="205" name="모서리가 둥근 직사각형 204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공사</a:t>
              </a:r>
            </a:p>
          </p:txBody>
        </p:sp>
        <p:sp>
          <p:nvSpPr>
            <p:cNvPr id="206" name="모서리가 둥근 직사각형 205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계약구분</a:t>
              </a:r>
              <a:endParaRPr lang="ko-KR" altLang="en-US" sz="600" dirty="0"/>
            </a:p>
          </p:txBody>
        </p:sp>
        <p:sp>
          <p:nvSpPr>
            <p:cNvPr id="207" name="모서리가 둥근 직사각형 206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발급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6192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119" name="그룹 118"/>
          <p:cNvGrpSpPr/>
          <p:nvPr/>
        </p:nvGrpSpPr>
        <p:grpSpPr>
          <a:xfrm>
            <a:off x="720490" y="2590223"/>
            <a:ext cx="2630093" cy="2031034"/>
            <a:chOff x="720490" y="2590223"/>
            <a:chExt cx="2630093" cy="2031034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2271776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최저가 적정성심사관련 시공실적자료</a:t>
              </a:r>
            </a:p>
          </p:txBody>
        </p:sp>
        <p:grpSp>
          <p:nvGrpSpPr>
            <p:cNvPr id="124" name="그룹 12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71" name="직선 연결선 17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72" name="직선 연결선 17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5" name="직사각형 124"/>
            <p:cNvSpPr/>
            <p:nvPr/>
          </p:nvSpPr>
          <p:spPr>
            <a:xfrm>
              <a:off x="722583" y="2897708"/>
              <a:ext cx="792000" cy="171117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시공내용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사용장비명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장비규격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투입대수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smtClean="0">
                  <a:latin typeface="+mn-ea"/>
                </a:rPr>
                <a:t>누계</a:t>
              </a:r>
              <a:endParaRPr lang="en-US" altLang="ko-KR" sz="700" dirty="0" smtClean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r>
                <a:rPr kumimoji="1" lang="ko-KR" altLang="en-US" sz="700" spc="-60" dirty="0">
                  <a:solidFill>
                    <a:srgbClr val="000000">
                      <a:lumMod val="65000"/>
                      <a:lumOff val="35000"/>
                    </a:srgbClr>
                  </a:solidFill>
                  <a:latin typeface="Verdana" panose="020B0604030504040204" pitchFamily="34" charset="0"/>
                </a:rPr>
                <a:t>작업량 누계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작업시간 누계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시간당 작업량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기타 참고사항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트럭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규격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</a:t>
              </a:r>
              <a:r>
                <a:rPr lang="ko-KR" altLang="en-US" sz="700" dirty="0" smtClean="0">
                  <a:latin typeface="+mn-ea"/>
                </a:rPr>
                <a:t>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</a:t>
              </a:r>
              <a:r>
                <a:rPr lang="ko-KR" altLang="en-US" sz="700" dirty="0" smtClean="0">
                  <a:latin typeface="+mn-ea"/>
                </a:rPr>
                <a:t>시간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</a:t>
              </a:r>
              <a:r>
                <a:rPr lang="ko-KR" altLang="en-US" sz="700" dirty="0" smtClean="0">
                  <a:latin typeface="+mn-ea"/>
                </a:rPr>
                <a:t>시간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5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없음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8187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832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9695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088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375395"/>
            <a:ext cx="76863" cy="292489"/>
            <a:chOff x="3750067" y="4683795"/>
            <a:chExt cx="76863" cy="292489"/>
          </a:xfrm>
        </p:grpSpPr>
        <p:sp>
          <p:nvSpPr>
            <p:cNvPr id="185" name="타원 18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6" name="타원 18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7" name="타원 18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459279289"/>
      </p:ext>
    </p:extLst>
  </p:cSld>
  <p:clrMapOvr>
    <a:masterClrMapping/>
  </p:clrMapOvr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 smtClean="0"/>
              <a:t>제출유형에</a:t>
            </a:r>
            <a:r>
              <a:rPr lang="ko-KR" altLang="en-US" dirty="0" smtClean="0"/>
              <a:t> 따라 하단 표시 정보 변경 </a:t>
            </a:r>
            <a:r>
              <a:rPr lang="en-US" altLang="ko-KR" dirty="0" smtClean="0"/>
              <a:t>(</a:t>
            </a:r>
            <a:r>
              <a:rPr lang="ko-KR" altLang="en-US" dirty="0" smtClean="0"/>
              <a:t>신청도 동일</a:t>
            </a:r>
            <a:r>
              <a:rPr lang="en-US" altLang="ko-KR" dirty="0" smtClean="0"/>
              <a:t>)</a:t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- Unit C – </a:t>
            </a:r>
            <a:r>
              <a:rPr lang="ko-KR" altLang="en-US" dirty="0" smtClean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  </a:t>
            </a:r>
            <a:r>
              <a:rPr lang="en-US" altLang="ko-KR" dirty="0"/>
              <a:t>&gt; 3.</a:t>
            </a:r>
            <a:r>
              <a:rPr lang="ko-KR" altLang="en-US" dirty="0"/>
              <a:t>건설공사기성실적증명</a:t>
            </a:r>
            <a:r>
              <a:rPr lang="en-US" altLang="ko-KR" dirty="0"/>
              <a:t>(</a:t>
            </a:r>
            <a:r>
              <a:rPr lang="ko-KR" altLang="en-US" dirty="0"/>
              <a:t>신청</a:t>
            </a:r>
            <a:r>
              <a:rPr lang="en-US" altLang="ko-KR" dirty="0"/>
              <a:t>)</a:t>
            </a:r>
            <a:r>
              <a:rPr lang="ko-KR" altLang="en-US" dirty="0"/>
              <a:t>서</a:t>
            </a:r>
            <a:r>
              <a:rPr lang="en-US" altLang="ko-KR" dirty="0"/>
              <a:t>_</a:t>
            </a:r>
            <a:r>
              <a:rPr lang="ko-KR" altLang="en-US" dirty="0" err="1"/>
              <a:t>세부공종</a:t>
            </a:r>
            <a:r>
              <a:rPr lang="en-US" altLang="ko-KR" dirty="0"/>
              <a:t>(</a:t>
            </a:r>
            <a:r>
              <a:rPr lang="ko-KR" altLang="en-US" dirty="0"/>
              <a:t>종합</a:t>
            </a:r>
            <a:r>
              <a:rPr lang="en-US" altLang="ko-KR" dirty="0"/>
              <a:t>) [</a:t>
            </a:r>
            <a:r>
              <a:rPr lang="ko-KR" altLang="en-US" dirty="0"/>
              <a:t>건설산업기본법 시행규칙</a:t>
            </a:r>
            <a:r>
              <a:rPr lang="en-US" altLang="ko-KR" dirty="0"/>
              <a:t>/</a:t>
            </a:r>
            <a:r>
              <a:rPr lang="ko-KR" altLang="en-US" dirty="0" err="1"/>
              <a:t>국토해양부</a:t>
            </a:r>
            <a:r>
              <a:rPr lang="en-US" altLang="ko-KR" dirty="0" smtClean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smtClean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231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상세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</a:t>
            </a:r>
            <a:r>
              <a:rPr lang="ko-KR" altLang="en-US" dirty="0" smtClean="0">
                <a:latin typeface="+mn-ea"/>
              </a:rPr>
              <a:t>구분 </a:t>
            </a:r>
            <a:r>
              <a:rPr lang="ko-KR" altLang="en-US" dirty="0" err="1" smtClean="0">
                <a:latin typeface="+mn-ea"/>
              </a:rPr>
              <a:t>부대면서</a:t>
            </a:r>
            <a:r>
              <a:rPr lang="ko-KR" altLang="en-US" dirty="0" smtClean="0">
                <a:latin typeface="+mn-ea"/>
              </a:rPr>
              <a:t> 시설공사일 때 </a:t>
            </a:r>
            <a:r>
              <a:rPr lang="en-US" altLang="ko-KR" dirty="0" smtClean="0">
                <a:latin typeface="+mn-ea"/>
              </a:rPr>
              <a:t>–</a:t>
            </a:r>
            <a:r>
              <a:rPr lang="ko-KR" altLang="en-US" dirty="0" smtClean="0">
                <a:latin typeface="+mn-ea"/>
              </a:rPr>
              <a:t> </a:t>
            </a:r>
            <a:r>
              <a:rPr lang="en-US" altLang="ko-KR" dirty="0" err="1" smtClean="0">
                <a:latin typeface="+mn-ea"/>
              </a:rPr>
              <a:t>unitC</a:t>
            </a:r>
            <a:r>
              <a:rPr lang="en-US" altLang="ko-KR" dirty="0" smtClean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7" name="타원 106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모서리가 둥근 직사각형 107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출력</a:t>
            </a:r>
          </a:p>
        </p:txBody>
      </p: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64658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0" name="타원 149"/>
          <p:cNvSpPr/>
          <p:nvPr/>
        </p:nvSpPr>
        <p:spPr>
          <a:xfrm>
            <a:off x="2909237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모서리가 둥근 직사각형 150"/>
          <p:cNvSpPr/>
          <p:nvPr/>
        </p:nvSpPr>
        <p:spPr>
          <a:xfrm>
            <a:off x="3053237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출력</a:t>
            </a:r>
          </a:p>
        </p:txBody>
      </p: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0" name="그룹 199"/>
          <p:cNvGrpSpPr/>
          <p:nvPr/>
        </p:nvGrpSpPr>
        <p:grpSpPr>
          <a:xfrm>
            <a:off x="3888348" y="1604378"/>
            <a:ext cx="988410" cy="119400"/>
            <a:chOff x="933861" y="2126479"/>
            <a:chExt cx="988410" cy="119400"/>
          </a:xfrm>
        </p:grpSpPr>
        <p:sp>
          <p:nvSpPr>
            <p:cNvPr id="201" name="모서리가 둥근 직사각형 200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공사</a:t>
              </a:r>
            </a:p>
          </p:txBody>
        </p:sp>
        <p:sp>
          <p:nvSpPr>
            <p:cNvPr id="202" name="모서리가 둥근 직사각형 201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계약구분</a:t>
              </a:r>
              <a:endParaRPr lang="ko-KR" altLang="en-US" sz="600" dirty="0"/>
            </a:p>
          </p:txBody>
        </p:sp>
        <p:sp>
          <p:nvSpPr>
            <p:cNvPr id="203" name="모서리가 둥근 직사각형 202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발급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204" name="그룹 203"/>
          <p:cNvGrpSpPr/>
          <p:nvPr/>
        </p:nvGrpSpPr>
        <p:grpSpPr>
          <a:xfrm>
            <a:off x="764658" y="1600627"/>
            <a:ext cx="988410" cy="119400"/>
            <a:chOff x="933861" y="2126479"/>
            <a:chExt cx="988410" cy="119400"/>
          </a:xfrm>
        </p:grpSpPr>
        <p:sp>
          <p:nvSpPr>
            <p:cNvPr id="205" name="모서리가 둥근 직사각형 204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공사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206" name="모서리가 둥근 직사각형 205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계약구분</a:t>
              </a:r>
              <a:endParaRPr lang="ko-KR" altLang="en-US" sz="600" dirty="0"/>
            </a:p>
          </p:txBody>
        </p:sp>
        <p:sp>
          <p:nvSpPr>
            <p:cNvPr id="207" name="모서리가 둥근 직사각형 206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발급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949854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3" name="그룹 22"/>
          <p:cNvGrpSpPr/>
          <p:nvPr/>
        </p:nvGrpSpPr>
        <p:grpSpPr>
          <a:xfrm>
            <a:off x="3836701" y="2590223"/>
            <a:ext cx="2630093" cy="2246477"/>
            <a:chOff x="720490" y="3930133"/>
            <a:chExt cx="2630093" cy="2246477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공사내역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22583" y="4237618"/>
              <a:ext cx="792000" cy="193899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공사명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총공사금액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공사유형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인 허가 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주력분야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인 허가 </a:t>
              </a:r>
              <a:r>
                <a:rPr lang="ko-KR" altLang="en-US" sz="700" dirty="0" err="1" smtClean="0">
                  <a:latin typeface="+mn-ea"/>
                </a:rPr>
                <a:t>년월일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세부공종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 smtClean="0">
                  <a:latin typeface="+mn-ea"/>
                </a:rPr>
                <a:t>종합</a:t>
              </a:r>
              <a:r>
                <a:rPr lang="en-US" altLang="ko-KR" sz="700" dirty="0" smtClean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실적년도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237618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/>
                <a:t>국방전자조달고도화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200 </a:t>
              </a:r>
              <a:r>
                <a:rPr lang="ko-KR" altLang="en-US" sz="700" dirty="0" smtClean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신설공사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방위사업청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건설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2010-01-10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도로터널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2023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690178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현장 소재지</a:t>
              </a:r>
              <a:r>
                <a:rPr lang="en-US" altLang="ko-KR" sz="700" dirty="0" smtClean="0">
                  <a:latin typeface="+mn-ea"/>
                </a:rPr>
                <a:t/>
              </a:r>
              <a:br>
                <a:rPr lang="en-US" altLang="ko-KR" sz="700" dirty="0" smtClean="0">
                  <a:latin typeface="+mn-ea"/>
                </a:rPr>
              </a:b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 smtClean="0">
                  <a:latin typeface="+mn-ea"/>
                </a:rPr>
                <a:t>번지까지 기재</a:t>
              </a:r>
              <a:r>
                <a:rPr lang="en-US" altLang="ko-KR" sz="700" dirty="0" smtClean="0">
                  <a:latin typeface="+mn-ea"/>
                </a:rPr>
                <a:t>)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1641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4041215"/>
            <a:ext cx="2630093" cy="1179711"/>
            <a:chOff x="720490" y="2590223"/>
            <a:chExt cx="2630093" cy="1179711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신청인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영업소재지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업종 및 등록번호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</a:t>
              </a:r>
              <a:r>
                <a:rPr lang="ko-KR" altLang="en-US" sz="700" dirty="0">
                  <a:latin typeface="+mn-ea"/>
                </a:rPr>
                <a:t>종로구</a:t>
              </a:r>
              <a:r>
                <a:rPr lang="en-US" altLang="ko-KR" sz="700" dirty="0" smtClean="0">
                  <a:latin typeface="+mn-ea"/>
                </a:rPr>
                <a:t>…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2590223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15126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3.</a:t>
              </a:r>
              <a:r>
                <a:rPr lang="ko-KR" altLang="en-US" sz="700" dirty="0">
                  <a:latin typeface="+mn-ea"/>
                </a:rPr>
                <a:t>건설공사기성실적증명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신청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서</a:t>
              </a:r>
              <a:r>
                <a:rPr lang="en-US" altLang="ko-KR" sz="700" dirty="0">
                  <a:latin typeface="+mn-ea"/>
                </a:rPr>
                <a:t>_</a:t>
              </a:r>
              <a:r>
                <a:rPr lang="ko-KR" altLang="en-US" sz="700" dirty="0" err="1">
                  <a:latin typeface="+mn-ea"/>
                </a:rPr>
                <a:t>세부공종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종합</a:t>
              </a:r>
              <a:r>
                <a:rPr lang="en-US" altLang="ko-KR" sz="700" dirty="0">
                  <a:latin typeface="+mn-ea"/>
                </a:rPr>
                <a:t>) [</a:t>
              </a:r>
              <a:r>
                <a:rPr lang="ko-KR" altLang="en-US" sz="700" dirty="0">
                  <a:latin typeface="+mn-ea"/>
                </a:rPr>
                <a:t>건설산업기본법 시행규칙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국토해양부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방위사업청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</a:t>
              </a:r>
              <a:r>
                <a:rPr lang="ko-KR" altLang="en-US" sz="700" dirty="0" smtClean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신청인 연락처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제출처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78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874950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06963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938567780"/>
      </p:ext>
    </p:extLst>
  </p:cSld>
  <p:clrMapOvr>
    <a:masterClrMapping/>
  </p:clrMapOvr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smtClean="0"/>
              <a:t>세부 정보 표시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232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상세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</a:t>
            </a:r>
            <a:r>
              <a:rPr lang="ko-KR" altLang="en-US" dirty="0" smtClean="0">
                <a:latin typeface="+mn-ea"/>
              </a:rPr>
              <a:t>구분 </a:t>
            </a:r>
            <a:r>
              <a:rPr lang="ko-KR" altLang="en-US" dirty="0" err="1" smtClean="0">
                <a:latin typeface="+mn-ea"/>
              </a:rPr>
              <a:t>부대면서</a:t>
            </a:r>
            <a:r>
              <a:rPr lang="ko-KR" altLang="en-US" dirty="0" smtClean="0">
                <a:latin typeface="+mn-ea"/>
              </a:rPr>
              <a:t> 시설공사일 때 </a:t>
            </a:r>
            <a:r>
              <a:rPr lang="en-US" altLang="ko-KR" dirty="0" smtClean="0">
                <a:latin typeface="+mn-ea"/>
              </a:rPr>
              <a:t>–</a:t>
            </a:r>
            <a:r>
              <a:rPr lang="ko-KR" altLang="en-US" dirty="0" smtClean="0">
                <a:latin typeface="+mn-ea"/>
              </a:rPr>
              <a:t> </a:t>
            </a:r>
            <a:r>
              <a:rPr lang="en-US" altLang="ko-KR" dirty="0" err="1" smtClean="0">
                <a:latin typeface="+mn-ea"/>
              </a:rPr>
              <a:t>unitC</a:t>
            </a:r>
            <a:r>
              <a:rPr lang="en-US" altLang="ko-KR" dirty="0" smtClean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64658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0" name="타원 149"/>
          <p:cNvSpPr/>
          <p:nvPr/>
        </p:nvSpPr>
        <p:spPr>
          <a:xfrm>
            <a:off x="2909237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모서리가 둥근 직사각형 150"/>
          <p:cNvSpPr/>
          <p:nvPr/>
        </p:nvSpPr>
        <p:spPr>
          <a:xfrm>
            <a:off x="3053237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출력</a:t>
            </a:r>
          </a:p>
        </p:txBody>
      </p: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4" name="그룹 203"/>
          <p:cNvGrpSpPr/>
          <p:nvPr/>
        </p:nvGrpSpPr>
        <p:grpSpPr>
          <a:xfrm>
            <a:off x="764658" y="1600627"/>
            <a:ext cx="988410" cy="119400"/>
            <a:chOff x="933861" y="2126479"/>
            <a:chExt cx="988410" cy="119400"/>
          </a:xfrm>
        </p:grpSpPr>
        <p:sp>
          <p:nvSpPr>
            <p:cNvPr id="205" name="모서리가 둥근 직사각형 204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공사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206" name="모서리가 둥근 직사각형 205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계약구분</a:t>
              </a:r>
              <a:endParaRPr lang="ko-KR" altLang="en-US" sz="600" dirty="0"/>
            </a:p>
          </p:txBody>
        </p:sp>
        <p:sp>
          <p:nvSpPr>
            <p:cNvPr id="207" name="모서리가 둥근 직사각형 206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발급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23" name="그룹 22"/>
          <p:cNvGrpSpPr/>
          <p:nvPr/>
        </p:nvGrpSpPr>
        <p:grpSpPr>
          <a:xfrm>
            <a:off x="716367" y="2590223"/>
            <a:ext cx="2630093" cy="2682044"/>
            <a:chOff x="720490" y="3930133"/>
            <a:chExt cx="2630093" cy="2682044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비용정보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22583" y="4237618"/>
              <a:ext cx="792000" cy="237455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계약연월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착공연월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준공</a:t>
              </a: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 smtClean="0">
                  <a:latin typeface="+mn-ea"/>
                </a:rPr>
                <a:t>예정</a:t>
              </a:r>
              <a:r>
                <a:rPr lang="en-US" altLang="ko-KR" sz="700" dirty="0" smtClean="0">
                  <a:latin typeface="+mn-ea"/>
                </a:rPr>
                <a:t>)</a:t>
              </a:r>
              <a:r>
                <a:rPr lang="ko-KR" altLang="en-US" sz="700" dirty="0" smtClean="0">
                  <a:latin typeface="+mn-ea"/>
                </a:rPr>
                <a:t>연월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당년도 </a:t>
              </a:r>
              <a:r>
                <a:rPr lang="ko-KR" altLang="en-US" sz="700" dirty="0" err="1" smtClean="0">
                  <a:latin typeface="+mn-ea"/>
                </a:rPr>
                <a:t>기성액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당년도 </a:t>
              </a:r>
              <a:r>
                <a:rPr lang="ko-KR" altLang="en-US" sz="700" dirty="0" err="1" smtClean="0">
                  <a:latin typeface="+mn-ea"/>
                </a:rPr>
                <a:t>기성지급액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총 계약금액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237618"/>
              <a:ext cx="1784088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/>
                <a:t>2020-01-10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/>
                <a:t>2020-01-10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/>
                <a:t>2020-01-10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200 </a:t>
              </a:r>
              <a:r>
                <a:rPr lang="ko-KR" altLang="en-US" sz="700" dirty="0" smtClean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200 </a:t>
              </a:r>
              <a:r>
                <a:rPr lang="ko-KR" altLang="en-US" sz="700" dirty="0" smtClean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 smtClean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 smtClean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 smtClean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 smtClean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 smtClean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89478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당년도 </a:t>
              </a:r>
              <a:r>
                <a:rPr lang="ko-KR" altLang="en-US" sz="700" dirty="0" err="1" smtClean="0">
                  <a:latin typeface="+mn-ea"/>
                </a:rPr>
                <a:t>계약액</a:t>
              </a:r>
              <a:r>
                <a:rPr lang="ko-KR" altLang="en-US" sz="700" dirty="0" smtClean="0">
                  <a:latin typeface="+mn-ea"/>
                </a:rPr>
                <a:t> 또는 </a:t>
              </a:r>
              <a:r>
                <a:rPr lang="ko-KR" altLang="en-US" sz="700" dirty="0" err="1" smtClean="0">
                  <a:latin typeface="+mn-ea"/>
                </a:rPr>
                <a:t>이월금액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1641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54782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smtClean="0">
                  <a:latin typeface="+mn-ea"/>
                </a:rPr>
                <a:t>발주자</a:t>
              </a:r>
              <a:endParaRPr lang="en-US" altLang="ko-KR" sz="700" dirty="0" smtClean="0">
                <a:latin typeface="+mn-ea"/>
              </a:endParaRPr>
            </a:p>
            <a:p>
              <a:r>
                <a:rPr lang="ko-KR" altLang="en-US" sz="700" dirty="0" err="1" smtClean="0">
                  <a:latin typeface="+mn-ea"/>
                </a:rPr>
                <a:t>공급자재액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976827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 smtClean="0"/>
                <a:t>누계</a:t>
              </a:r>
              <a:endParaRPr lang="en-US" altLang="ko-KR" sz="700" dirty="0" smtClean="0"/>
            </a:p>
            <a:p>
              <a:r>
                <a:rPr lang="ko-KR" altLang="en-US" sz="700" dirty="0" err="1" smtClean="0"/>
                <a:t>기성액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618569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 smtClean="0"/>
                <a:t>누계</a:t>
              </a:r>
              <a:endParaRPr lang="en-US" altLang="ko-KR" sz="700" dirty="0" smtClean="0"/>
            </a:p>
            <a:p>
              <a:r>
                <a:rPr lang="ko-KR" altLang="en-US" sz="700" dirty="0" smtClean="0"/>
                <a:t>지급액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39243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5999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6396733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 smtClean="0"/>
                <a:t>누계</a:t>
              </a:r>
              <a:endParaRPr lang="en-US" altLang="ko-KR" sz="700" dirty="0" smtClean="0"/>
            </a:p>
            <a:p>
              <a:r>
                <a:rPr lang="ko-KR" altLang="en-US" sz="700" dirty="0" err="1" smtClean="0"/>
                <a:t>관급자재액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62398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6049510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95" name="그룹 94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535788"/>
            <a:ext cx="76863" cy="292489"/>
            <a:chOff x="3750067" y="4683795"/>
            <a:chExt cx="76863" cy="292489"/>
          </a:xfrm>
        </p:grpSpPr>
        <p:sp>
          <p:nvSpPr>
            <p:cNvPr id="96" name="타원 95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97" name="타원 96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98" name="타원 9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62" name="직선 연결선 6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3" name="타원 62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모서리가 둥근 직사각형 63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출력</a:t>
            </a:r>
          </a:p>
        </p:txBody>
      </p: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9" name="그룹 68"/>
          <p:cNvGrpSpPr/>
          <p:nvPr/>
        </p:nvGrpSpPr>
        <p:grpSpPr>
          <a:xfrm>
            <a:off x="3888348" y="1604378"/>
            <a:ext cx="988410" cy="119400"/>
            <a:chOff x="933861" y="2126479"/>
            <a:chExt cx="988410" cy="119400"/>
          </a:xfrm>
        </p:grpSpPr>
        <p:sp>
          <p:nvSpPr>
            <p:cNvPr id="70" name="모서리가 둥근 직사각형 69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공사</a:t>
              </a:r>
            </a:p>
          </p:txBody>
        </p:sp>
        <p:sp>
          <p:nvSpPr>
            <p:cNvPr id="71" name="모서리가 둥근 직사각형 70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계약구분</a:t>
              </a:r>
              <a:endParaRPr lang="ko-KR" altLang="en-US" sz="600" dirty="0"/>
            </a:p>
          </p:txBody>
        </p:sp>
        <p:sp>
          <p:nvSpPr>
            <p:cNvPr id="72" name="모서리가 둥근 직사각형 71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발급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52" name="그룹 51"/>
          <p:cNvGrpSpPr/>
          <p:nvPr/>
        </p:nvGrpSpPr>
        <p:grpSpPr>
          <a:xfrm>
            <a:off x="3795734" y="2590223"/>
            <a:ext cx="2712027" cy="789495"/>
            <a:chOff x="675399" y="1544009"/>
            <a:chExt cx="2712027" cy="789495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그 밖의 사항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공사의 규모 공법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공동 </a:t>
              </a:r>
              <a:r>
                <a:rPr lang="ko-KR" altLang="en-US" sz="700" dirty="0" err="1">
                  <a:latin typeface="+mn-ea"/>
                </a:rPr>
                <a:t>도급내역</a:t>
              </a:r>
              <a:r>
                <a:rPr lang="ko-KR" altLang="en-US" sz="700" dirty="0">
                  <a:latin typeface="+mn-ea"/>
                </a:rPr>
                <a:t> 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58" name="직선 연결선 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9" name="직선 연결선 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내용 표시 영역은 내용에 맞춰 높이를 조정하여 표시</a:t>
              </a:r>
              <a:endParaRPr lang="en-US" altLang="ko-KR" sz="700" dirty="0" smtClean="0">
                <a:latin typeface="+mn-ea"/>
              </a:endParaRPr>
            </a:p>
          </p:txBody>
        </p: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3620228628"/>
      </p:ext>
    </p:extLst>
  </p:cSld>
  <p:clrMapOvr>
    <a:masterClrMapping/>
  </p:clrMapOvr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 smtClean="0"/>
              <a:t>제출유형에</a:t>
            </a:r>
            <a:r>
              <a:rPr lang="ko-KR" altLang="en-US" dirty="0" smtClean="0"/>
              <a:t> 따라 하단 표시 정보 변경 </a:t>
            </a:r>
            <a:r>
              <a:rPr lang="en-US" altLang="ko-KR" dirty="0" smtClean="0"/>
              <a:t>(</a:t>
            </a:r>
            <a:r>
              <a:rPr lang="ko-KR" altLang="en-US" dirty="0" smtClean="0"/>
              <a:t>신청도 동일</a:t>
            </a:r>
            <a:r>
              <a:rPr lang="en-US" altLang="ko-KR" dirty="0" smtClean="0"/>
              <a:t>)</a:t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- Unit D – </a:t>
            </a:r>
            <a:r>
              <a:rPr lang="ko-KR" altLang="en-US" dirty="0" smtClean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  </a:t>
            </a:r>
            <a:r>
              <a:rPr lang="en-US" altLang="ko-KR" dirty="0"/>
              <a:t>&gt; 4.</a:t>
            </a:r>
            <a:r>
              <a:rPr lang="ko-KR" altLang="en-US" dirty="0" err="1"/>
              <a:t>건설폐기물처리용역이행</a:t>
            </a:r>
            <a:r>
              <a:rPr lang="ko-KR" altLang="en-US" dirty="0"/>
              <a:t> 실적증명서 </a:t>
            </a:r>
            <a:r>
              <a:rPr lang="en-US" altLang="ko-KR" dirty="0"/>
              <a:t>[</a:t>
            </a:r>
            <a:r>
              <a:rPr lang="ko-KR" altLang="en-US" dirty="0"/>
              <a:t>건설폐기물처리용역 </a:t>
            </a:r>
            <a:r>
              <a:rPr lang="ko-KR" altLang="en-US" dirty="0" err="1"/>
              <a:t>적격업체</a:t>
            </a:r>
            <a:r>
              <a:rPr lang="ko-KR" altLang="en-US" dirty="0"/>
              <a:t> 평가기준</a:t>
            </a:r>
            <a:r>
              <a:rPr lang="en-US" altLang="ko-KR" dirty="0"/>
              <a:t>/</a:t>
            </a:r>
            <a:r>
              <a:rPr lang="ko-KR" altLang="en-US" dirty="0"/>
              <a:t>환경부</a:t>
            </a:r>
            <a:r>
              <a:rPr lang="en-US" altLang="ko-KR" dirty="0"/>
              <a:t>]</a:t>
            </a:r>
            <a:endParaRPr lang="en-US" altLang="ko-KR" dirty="0" smtClean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smtClean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233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상세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</a:t>
            </a:r>
            <a:r>
              <a:rPr lang="ko-KR" altLang="en-US" dirty="0" smtClean="0">
                <a:latin typeface="+mn-ea"/>
              </a:rPr>
              <a:t>구분 </a:t>
            </a:r>
            <a:r>
              <a:rPr lang="ko-KR" altLang="en-US" dirty="0" err="1" smtClean="0">
                <a:latin typeface="+mn-ea"/>
              </a:rPr>
              <a:t>부대면서</a:t>
            </a:r>
            <a:r>
              <a:rPr lang="ko-KR" altLang="en-US" dirty="0" smtClean="0">
                <a:latin typeface="+mn-ea"/>
              </a:rPr>
              <a:t> 시설공사일 때 </a:t>
            </a:r>
            <a:r>
              <a:rPr lang="en-US" altLang="ko-KR" dirty="0" smtClean="0">
                <a:latin typeface="+mn-ea"/>
              </a:rPr>
              <a:t>–</a:t>
            </a:r>
            <a:r>
              <a:rPr lang="ko-KR" altLang="en-US" dirty="0" smtClean="0">
                <a:latin typeface="+mn-ea"/>
              </a:rPr>
              <a:t> </a:t>
            </a:r>
            <a:r>
              <a:rPr lang="en-US" altLang="ko-KR" dirty="0" err="1" smtClean="0">
                <a:latin typeface="+mn-ea"/>
              </a:rPr>
              <a:t>unitD</a:t>
            </a:r>
            <a:r>
              <a:rPr lang="en-US" altLang="ko-KR" dirty="0" smtClean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7" name="타원 106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모서리가 둥근 직사각형 107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출력</a:t>
            </a:r>
          </a:p>
        </p:txBody>
      </p: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64658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0" name="타원 149"/>
          <p:cNvSpPr/>
          <p:nvPr/>
        </p:nvSpPr>
        <p:spPr>
          <a:xfrm>
            <a:off x="2909237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모서리가 둥근 직사각형 150"/>
          <p:cNvSpPr/>
          <p:nvPr/>
        </p:nvSpPr>
        <p:spPr>
          <a:xfrm>
            <a:off x="3053237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출력</a:t>
            </a:r>
          </a:p>
        </p:txBody>
      </p: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0" name="그룹 199"/>
          <p:cNvGrpSpPr/>
          <p:nvPr/>
        </p:nvGrpSpPr>
        <p:grpSpPr>
          <a:xfrm>
            <a:off x="3888348" y="1604378"/>
            <a:ext cx="988410" cy="119400"/>
            <a:chOff x="933861" y="2126479"/>
            <a:chExt cx="988410" cy="119400"/>
          </a:xfrm>
        </p:grpSpPr>
        <p:sp>
          <p:nvSpPr>
            <p:cNvPr id="201" name="모서리가 둥근 직사각형 200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공사</a:t>
              </a:r>
            </a:p>
          </p:txBody>
        </p:sp>
        <p:sp>
          <p:nvSpPr>
            <p:cNvPr id="202" name="모서리가 둥근 직사각형 201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계약구분</a:t>
              </a:r>
              <a:endParaRPr lang="ko-KR" altLang="en-US" sz="600" dirty="0"/>
            </a:p>
          </p:txBody>
        </p:sp>
        <p:sp>
          <p:nvSpPr>
            <p:cNvPr id="203" name="모서리가 둥근 직사각형 202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발급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204" name="그룹 203"/>
          <p:cNvGrpSpPr/>
          <p:nvPr/>
        </p:nvGrpSpPr>
        <p:grpSpPr>
          <a:xfrm>
            <a:off x="764658" y="1600627"/>
            <a:ext cx="988410" cy="119400"/>
            <a:chOff x="933861" y="2126479"/>
            <a:chExt cx="988410" cy="119400"/>
          </a:xfrm>
        </p:grpSpPr>
        <p:sp>
          <p:nvSpPr>
            <p:cNvPr id="205" name="모서리가 둥근 직사각형 204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공사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206" name="모서리가 둥근 직사각형 205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계약구분</a:t>
              </a:r>
              <a:endParaRPr lang="ko-KR" altLang="en-US" sz="600" dirty="0"/>
            </a:p>
          </p:txBody>
        </p:sp>
        <p:sp>
          <p:nvSpPr>
            <p:cNvPr id="207" name="모서리가 둥근 직사각형 206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발급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949854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3" name="그룹 22"/>
          <p:cNvGrpSpPr/>
          <p:nvPr/>
        </p:nvGrpSpPr>
        <p:grpSpPr>
          <a:xfrm>
            <a:off x="3836701" y="2590223"/>
            <a:ext cx="2630093" cy="2031034"/>
            <a:chOff x="720490" y="3930133"/>
            <a:chExt cx="2630093" cy="2031034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220809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2023</a:t>
              </a:r>
              <a:r>
                <a:rPr lang="ko-KR" altLang="en-US" sz="700" dirty="0">
                  <a:latin typeface="+mn-ea"/>
                </a:rPr>
                <a:t>년도 건설폐기물 수집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운반용역</a:t>
              </a:r>
              <a:r>
                <a:rPr lang="ko-KR" altLang="en-US" sz="700" dirty="0">
                  <a:latin typeface="+mn-ea"/>
                </a:rPr>
                <a:t> 이행실적</a:t>
              </a: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22583" y="4237619"/>
              <a:ext cx="792000" cy="171944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용역명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계약기간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건설폐기물의종류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위탁량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 smtClean="0">
                  <a:latin typeface="+mn-ea"/>
                </a:rPr>
                <a:t>톤</a:t>
              </a:r>
              <a:r>
                <a:rPr lang="en-US" altLang="ko-KR" sz="700" dirty="0" smtClean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기성실적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비고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237618"/>
              <a:ext cx="17840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/>
                <a:t>국방 건설</a:t>
              </a:r>
              <a:endParaRPr lang="en-US" altLang="ko-KR" sz="700" dirty="0" smtClean="0"/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2010-01-10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2012-01-10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건전지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 </a:t>
              </a:r>
              <a:r>
                <a:rPr lang="ko-KR" altLang="en-US" sz="700" dirty="0" smtClean="0">
                  <a:latin typeface="+mn-ea"/>
                </a:rPr>
                <a:t>톤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10,000 </a:t>
              </a:r>
              <a:r>
                <a:rPr lang="ko-KR" altLang="en-US" sz="700" dirty="0" smtClean="0">
                  <a:latin typeface="+mn-ea"/>
                </a:rPr>
                <a:t>천원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4041215"/>
            <a:ext cx="2630093" cy="1393412"/>
            <a:chOff x="720490" y="2590223"/>
            <a:chExt cx="2630093" cy="1393412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신청인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108469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허가번호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소재지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증명서 용도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11111 11111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</a:t>
              </a:r>
              <a:r>
                <a:rPr lang="ko-KR" altLang="en-US" sz="700" dirty="0">
                  <a:latin typeface="+mn-ea"/>
                </a:rPr>
                <a:t>종로구</a:t>
              </a:r>
              <a:r>
                <a:rPr lang="en-US" altLang="ko-KR" sz="700" dirty="0" smtClean="0">
                  <a:latin typeface="+mn-ea"/>
                </a:rPr>
                <a:t>…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은행 제출용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836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2590223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15126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4.</a:t>
              </a:r>
              <a:r>
                <a:rPr lang="ko-KR" altLang="en-US" sz="700" dirty="0" err="1">
                  <a:latin typeface="+mn-ea"/>
                </a:rPr>
                <a:t>건설폐기물처리용역이행</a:t>
              </a:r>
              <a:r>
                <a:rPr lang="ko-KR" altLang="en-US" sz="700" dirty="0">
                  <a:latin typeface="+mn-ea"/>
                </a:rPr>
                <a:t> 실적증명서 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건설폐기물처리용역 </a:t>
              </a:r>
              <a:r>
                <a:rPr lang="ko-KR" altLang="en-US" sz="700" dirty="0" err="1">
                  <a:latin typeface="+mn-ea"/>
                </a:rPr>
                <a:t>적격업체</a:t>
              </a:r>
              <a:r>
                <a:rPr lang="ko-KR" altLang="en-US" sz="700" dirty="0">
                  <a:latin typeface="+mn-ea"/>
                </a:rPr>
                <a:t> 평가기준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환경부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방위사업청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</a:t>
              </a:r>
              <a:r>
                <a:rPr lang="ko-KR" altLang="en-US" sz="700" dirty="0" smtClean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신청인 연락처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제출처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78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680087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06963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884605187"/>
      </p:ext>
    </p:extLst>
  </p:cSld>
  <p:clrMapOvr>
    <a:masterClrMapping/>
  </p:clrMapOvr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smtClean="0"/>
              <a:t>세부 정보 표시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234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상세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</a:t>
            </a:r>
            <a:r>
              <a:rPr lang="ko-KR" altLang="en-US" dirty="0" smtClean="0">
                <a:latin typeface="+mn-ea"/>
              </a:rPr>
              <a:t>구분 </a:t>
            </a:r>
            <a:r>
              <a:rPr lang="ko-KR" altLang="en-US" dirty="0" err="1" smtClean="0">
                <a:latin typeface="+mn-ea"/>
              </a:rPr>
              <a:t>부대면서</a:t>
            </a:r>
            <a:r>
              <a:rPr lang="ko-KR" altLang="en-US" dirty="0" smtClean="0">
                <a:latin typeface="+mn-ea"/>
              </a:rPr>
              <a:t> 시설공사일 때 </a:t>
            </a:r>
            <a:r>
              <a:rPr lang="en-US" altLang="ko-KR" dirty="0" smtClean="0">
                <a:latin typeface="+mn-ea"/>
              </a:rPr>
              <a:t>–</a:t>
            </a:r>
            <a:r>
              <a:rPr lang="ko-KR" altLang="en-US" dirty="0" smtClean="0">
                <a:latin typeface="+mn-ea"/>
              </a:rPr>
              <a:t> </a:t>
            </a:r>
            <a:r>
              <a:rPr lang="en-US" altLang="ko-KR" dirty="0" err="1" smtClean="0">
                <a:latin typeface="+mn-ea"/>
              </a:rPr>
              <a:t>unitD</a:t>
            </a:r>
            <a:r>
              <a:rPr lang="en-US" altLang="ko-KR" dirty="0" smtClean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64658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0" name="타원 149"/>
          <p:cNvSpPr/>
          <p:nvPr/>
        </p:nvSpPr>
        <p:spPr>
          <a:xfrm>
            <a:off x="2909237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모서리가 둥근 직사각형 150"/>
          <p:cNvSpPr/>
          <p:nvPr/>
        </p:nvSpPr>
        <p:spPr>
          <a:xfrm>
            <a:off x="3053237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출력</a:t>
            </a:r>
          </a:p>
        </p:txBody>
      </p: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4" name="그룹 203"/>
          <p:cNvGrpSpPr/>
          <p:nvPr/>
        </p:nvGrpSpPr>
        <p:grpSpPr>
          <a:xfrm>
            <a:off x="764658" y="1600627"/>
            <a:ext cx="988410" cy="119400"/>
            <a:chOff x="933861" y="2126479"/>
            <a:chExt cx="988410" cy="119400"/>
          </a:xfrm>
        </p:grpSpPr>
        <p:sp>
          <p:nvSpPr>
            <p:cNvPr id="205" name="모서리가 둥근 직사각형 204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공사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206" name="모서리가 둥근 직사각형 205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계약구분</a:t>
              </a:r>
              <a:endParaRPr lang="ko-KR" altLang="en-US" sz="600" dirty="0"/>
            </a:p>
          </p:txBody>
        </p:sp>
        <p:sp>
          <p:nvSpPr>
            <p:cNvPr id="207" name="모서리가 둥근 직사각형 206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발급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23" name="그룹 22"/>
          <p:cNvGrpSpPr/>
          <p:nvPr/>
        </p:nvGrpSpPr>
        <p:grpSpPr>
          <a:xfrm>
            <a:off x="716366" y="2590223"/>
            <a:ext cx="2630093" cy="2031034"/>
            <a:chOff x="720490" y="3930133"/>
            <a:chExt cx="2630093" cy="2031034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2023</a:t>
              </a:r>
              <a:r>
                <a:rPr lang="ko-KR" altLang="en-US" sz="700" dirty="0">
                  <a:latin typeface="+mn-ea"/>
                </a:rPr>
                <a:t>년도 건설폐기물 중간처리용역 이행실적</a:t>
              </a: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22583" y="4237619"/>
              <a:ext cx="792000" cy="171944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용역명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계약기간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건설폐기물의종류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위탁량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 smtClean="0">
                  <a:latin typeface="+mn-ea"/>
                </a:rPr>
                <a:t>톤</a:t>
              </a:r>
              <a:r>
                <a:rPr lang="en-US" altLang="ko-KR" sz="700" dirty="0" smtClean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기성실적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비고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237618"/>
              <a:ext cx="17840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/>
                <a:t>국방 건설</a:t>
              </a:r>
              <a:endParaRPr lang="en-US" altLang="ko-KR" sz="700" dirty="0" smtClean="0"/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2010-01-10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2012-01-10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건전지</a:t>
              </a:r>
              <a:endParaRPr lang="en-US" altLang="ko-KR" sz="700" dirty="0" smtClean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10 </a:t>
              </a:r>
              <a:r>
                <a:rPr lang="ko-KR" altLang="en-US" sz="700" dirty="0" smtClean="0">
                  <a:latin typeface="+mn-ea"/>
                </a:rPr>
                <a:t>톤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10,000 </a:t>
              </a:r>
              <a:r>
                <a:rPr lang="ko-KR" altLang="en-US" sz="700" dirty="0" smtClean="0">
                  <a:latin typeface="+mn-ea"/>
                </a:rPr>
                <a:t>천원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-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680087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78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58213171"/>
      </p:ext>
    </p:extLst>
  </p:cSld>
  <p:clrMapOvr>
    <a:masterClrMapping/>
  </p:clrMapOvr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 smtClean="0"/>
              <a:t>제출유형에</a:t>
            </a:r>
            <a:r>
              <a:rPr lang="ko-KR" altLang="en-US" dirty="0" smtClean="0"/>
              <a:t> 따라 하단 표시 정보 변경 </a:t>
            </a:r>
            <a:r>
              <a:rPr lang="en-US" altLang="ko-KR" dirty="0" smtClean="0"/>
              <a:t>(</a:t>
            </a:r>
            <a:r>
              <a:rPr lang="ko-KR" altLang="en-US" dirty="0" smtClean="0"/>
              <a:t>신청도 동일</a:t>
            </a:r>
            <a:r>
              <a:rPr lang="en-US" altLang="ko-KR" dirty="0" smtClean="0"/>
              <a:t>)</a:t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- Unit E – </a:t>
            </a:r>
            <a:r>
              <a:rPr lang="ko-KR" altLang="en-US" dirty="0" smtClean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  </a:t>
            </a:r>
            <a:r>
              <a:rPr lang="en-US" altLang="ko-KR" dirty="0"/>
              <a:t>&gt; 6.</a:t>
            </a:r>
            <a:r>
              <a:rPr lang="ko-KR" altLang="en-US" dirty="0"/>
              <a:t>정보통신공사 실적증명서 </a:t>
            </a:r>
            <a:r>
              <a:rPr lang="en-US" altLang="ko-KR" dirty="0"/>
              <a:t>[</a:t>
            </a:r>
            <a:r>
              <a:rPr lang="ko-KR" altLang="en-US" dirty="0"/>
              <a:t>정보통신공사업법 시행에 관한 규정</a:t>
            </a:r>
            <a:r>
              <a:rPr lang="en-US" altLang="ko-KR" dirty="0"/>
              <a:t>/</a:t>
            </a:r>
            <a:r>
              <a:rPr lang="ko-KR" altLang="en-US" dirty="0"/>
              <a:t>전기공제조합</a:t>
            </a:r>
            <a:r>
              <a:rPr lang="en-US" altLang="ko-KR" dirty="0"/>
              <a:t>] </a:t>
            </a:r>
            <a:endParaRPr lang="en-US" altLang="ko-KR" dirty="0" smtClean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smtClean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235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상세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</a:t>
            </a:r>
            <a:r>
              <a:rPr lang="ko-KR" altLang="en-US" dirty="0" smtClean="0">
                <a:latin typeface="+mn-ea"/>
              </a:rPr>
              <a:t>구분 </a:t>
            </a:r>
            <a:r>
              <a:rPr lang="ko-KR" altLang="en-US" dirty="0" err="1" smtClean="0">
                <a:latin typeface="+mn-ea"/>
              </a:rPr>
              <a:t>부대면서</a:t>
            </a:r>
            <a:r>
              <a:rPr lang="ko-KR" altLang="en-US" dirty="0" smtClean="0">
                <a:latin typeface="+mn-ea"/>
              </a:rPr>
              <a:t> 시설공사일 때 </a:t>
            </a:r>
            <a:r>
              <a:rPr lang="en-US" altLang="ko-KR" dirty="0" smtClean="0">
                <a:latin typeface="+mn-ea"/>
              </a:rPr>
              <a:t>–</a:t>
            </a:r>
            <a:r>
              <a:rPr lang="ko-KR" altLang="en-US" dirty="0" smtClean="0">
                <a:latin typeface="+mn-ea"/>
              </a:rPr>
              <a:t> </a:t>
            </a:r>
            <a:r>
              <a:rPr lang="en-US" altLang="ko-KR" dirty="0" err="1" smtClean="0">
                <a:latin typeface="+mn-ea"/>
              </a:rPr>
              <a:t>unitE</a:t>
            </a:r>
            <a:r>
              <a:rPr lang="en-US" altLang="ko-KR" dirty="0" smtClean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7" name="타원 106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모서리가 둥근 직사각형 107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출력</a:t>
            </a:r>
          </a:p>
        </p:txBody>
      </p: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64658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0" name="타원 149"/>
          <p:cNvSpPr/>
          <p:nvPr/>
        </p:nvSpPr>
        <p:spPr>
          <a:xfrm>
            <a:off x="2909237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모서리가 둥근 직사각형 150"/>
          <p:cNvSpPr/>
          <p:nvPr/>
        </p:nvSpPr>
        <p:spPr>
          <a:xfrm>
            <a:off x="3053237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출력</a:t>
            </a:r>
          </a:p>
        </p:txBody>
      </p: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0" name="그룹 199"/>
          <p:cNvGrpSpPr/>
          <p:nvPr/>
        </p:nvGrpSpPr>
        <p:grpSpPr>
          <a:xfrm>
            <a:off x="3888348" y="1604378"/>
            <a:ext cx="988410" cy="119400"/>
            <a:chOff x="933861" y="2126479"/>
            <a:chExt cx="988410" cy="119400"/>
          </a:xfrm>
        </p:grpSpPr>
        <p:sp>
          <p:nvSpPr>
            <p:cNvPr id="201" name="모서리가 둥근 직사각형 200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공사</a:t>
              </a:r>
            </a:p>
          </p:txBody>
        </p:sp>
        <p:sp>
          <p:nvSpPr>
            <p:cNvPr id="202" name="모서리가 둥근 직사각형 201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계약구분</a:t>
              </a:r>
              <a:endParaRPr lang="ko-KR" altLang="en-US" sz="600" dirty="0"/>
            </a:p>
          </p:txBody>
        </p:sp>
        <p:sp>
          <p:nvSpPr>
            <p:cNvPr id="203" name="모서리가 둥근 직사각형 202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발급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204" name="그룹 203"/>
          <p:cNvGrpSpPr/>
          <p:nvPr/>
        </p:nvGrpSpPr>
        <p:grpSpPr>
          <a:xfrm>
            <a:off x="764658" y="1600627"/>
            <a:ext cx="988410" cy="119400"/>
            <a:chOff x="933861" y="2126479"/>
            <a:chExt cx="988410" cy="119400"/>
          </a:xfrm>
        </p:grpSpPr>
        <p:sp>
          <p:nvSpPr>
            <p:cNvPr id="205" name="모서리가 둥근 직사각형 204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공사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206" name="모서리가 둥근 직사각형 205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계약구분</a:t>
              </a:r>
              <a:endParaRPr lang="ko-KR" altLang="en-US" sz="600" dirty="0"/>
            </a:p>
          </p:txBody>
        </p:sp>
        <p:sp>
          <p:nvSpPr>
            <p:cNvPr id="207" name="모서리가 둥근 직사각형 206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발급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949854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2590223"/>
            <a:ext cx="2208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공사내역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6259759" y="2703554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3838794" y="2897709"/>
            <a:ext cx="792000" cy="193225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289770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897708"/>
            <a:ext cx="792000" cy="193899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공사명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계약연월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착공연월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준공연월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전년도 </a:t>
            </a:r>
            <a:r>
              <a:rPr lang="ko-KR" altLang="en-US" sz="700" dirty="0" err="1" smtClean="0">
                <a:latin typeface="+mn-ea"/>
              </a:rPr>
              <a:t>이월공사액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당년도 </a:t>
            </a:r>
            <a:r>
              <a:rPr lang="ko-KR" altLang="en-US" sz="700" dirty="0" err="1" smtClean="0">
                <a:latin typeface="+mn-ea"/>
              </a:rPr>
              <a:t>계약액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당년도 </a:t>
            </a:r>
            <a:r>
              <a:rPr lang="ko-KR" altLang="en-US" sz="700" dirty="0" err="1" smtClean="0">
                <a:latin typeface="+mn-ea"/>
              </a:rPr>
              <a:t>기성액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당년도 </a:t>
            </a:r>
            <a:r>
              <a:rPr lang="ko-KR" altLang="en-US" sz="700" dirty="0" err="1" smtClean="0">
                <a:latin typeface="+mn-ea"/>
              </a:rPr>
              <a:t>미기성액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하도급 금액</a:t>
            </a:r>
            <a:endParaRPr lang="en-US" altLang="ko-KR" sz="700" dirty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2897708"/>
            <a:ext cx="1784088" cy="193899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/>
              <a:t>공사 명칭 표시 영역</a:t>
            </a:r>
            <a:endParaRPr lang="en-US" altLang="ko-KR" sz="700" dirty="0" smtClean="0"/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2010-01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2012-01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2012-01</a:t>
            </a: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10,000 </a:t>
            </a:r>
            <a:r>
              <a:rPr lang="ko-KR" altLang="en-US" sz="700" dirty="0">
                <a:latin typeface="+mn-ea"/>
              </a:rPr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10,000 </a:t>
            </a:r>
            <a:r>
              <a:rPr lang="ko-KR" altLang="en-US" sz="700" dirty="0">
                <a:latin typeface="+mn-ea"/>
              </a:rPr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10,000 </a:t>
            </a:r>
            <a:r>
              <a:rPr lang="ko-KR" altLang="en-US" sz="700" dirty="0" smtClean="0">
                <a:latin typeface="+mn-ea"/>
              </a:rPr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10,000 </a:t>
            </a:r>
            <a:r>
              <a:rPr lang="ko-KR" altLang="en-US" sz="700" dirty="0" smtClean="0">
                <a:latin typeface="+mn-ea"/>
              </a:rPr>
              <a:t>천원</a:t>
            </a:r>
            <a:endParaRPr lang="en-US" altLang="ko-KR" sz="700" dirty="0" smtClean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10,000 </a:t>
            </a:r>
            <a:r>
              <a:rPr lang="ko-KR" altLang="en-US" sz="700" dirty="0" smtClean="0">
                <a:latin typeface="+mn-ea"/>
              </a:rPr>
              <a:t>천원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12881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34252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55622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76993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97742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20195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4096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61715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4041215"/>
            <a:ext cx="2630093" cy="1179711"/>
            <a:chOff x="720490" y="2590223"/>
            <a:chExt cx="2630093" cy="1179711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신청인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소재지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등록번호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</a:t>
              </a:r>
              <a:r>
                <a:rPr lang="ko-KR" altLang="en-US" sz="700" dirty="0">
                  <a:latin typeface="+mn-ea"/>
                </a:rPr>
                <a:t>종로구</a:t>
              </a:r>
              <a:r>
                <a:rPr lang="en-US" altLang="ko-KR" sz="700" dirty="0" smtClean="0">
                  <a:latin typeface="+mn-ea"/>
                </a:rPr>
                <a:t>…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123456-7890123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2590223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15126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6.</a:t>
              </a:r>
              <a:r>
                <a:rPr lang="ko-KR" altLang="en-US" sz="700" dirty="0">
                  <a:latin typeface="+mn-ea"/>
                </a:rPr>
                <a:t>정보통신공사 실적증명서 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정보통신공사업법 시행에 관한 규정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전기공제조합</a:t>
              </a:r>
              <a:r>
                <a:rPr lang="en-US" altLang="ko-KR" sz="700" dirty="0">
                  <a:latin typeface="+mn-ea"/>
                </a:rPr>
                <a:t>] 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방위사업청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</a:t>
              </a:r>
              <a:r>
                <a:rPr lang="ko-KR" altLang="en-US" sz="700" dirty="0" smtClean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신청인 연락처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제출처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78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880382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06963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82995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3295294745"/>
      </p:ext>
    </p:extLst>
  </p:cSld>
  <p:clrMapOvr>
    <a:masterClrMapping/>
  </p:clrMapOvr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 smtClean="0"/>
              <a:t>제출유형에</a:t>
            </a:r>
            <a:r>
              <a:rPr lang="ko-KR" altLang="en-US" dirty="0" smtClean="0"/>
              <a:t> 따라 하단 표시 정보 변경 </a:t>
            </a:r>
            <a:r>
              <a:rPr lang="en-US" altLang="ko-KR" dirty="0" smtClean="0"/>
              <a:t>(</a:t>
            </a:r>
            <a:r>
              <a:rPr lang="ko-KR" altLang="en-US" dirty="0" smtClean="0"/>
              <a:t>신청도 동일</a:t>
            </a:r>
            <a:r>
              <a:rPr lang="en-US" altLang="ko-KR" dirty="0" smtClean="0"/>
              <a:t>)</a:t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- Unit F – </a:t>
            </a:r>
            <a:r>
              <a:rPr lang="ko-KR" altLang="en-US" dirty="0" smtClean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  </a:t>
            </a:r>
            <a:r>
              <a:rPr lang="en-US" altLang="ko-KR" dirty="0"/>
              <a:t>&gt; 7.</a:t>
            </a:r>
            <a:r>
              <a:rPr lang="ko-KR" altLang="en-US" dirty="0"/>
              <a:t>소방시설공사 실적증명서 </a:t>
            </a:r>
            <a:r>
              <a:rPr lang="en-US" altLang="ko-KR" dirty="0"/>
              <a:t>[</a:t>
            </a:r>
            <a:r>
              <a:rPr lang="ko-KR" altLang="en-US" dirty="0"/>
              <a:t>소방시설공사업법 시행에 관한 규정</a:t>
            </a:r>
            <a:r>
              <a:rPr lang="en-US" altLang="ko-KR" dirty="0"/>
              <a:t>/</a:t>
            </a:r>
            <a:r>
              <a:rPr lang="ko-KR" altLang="en-US" dirty="0"/>
              <a:t>소방시설협회</a:t>
            </a:r>
            <a:r>
              <a:rPr lang="en-US" altLang="ko-KR" dirty="0" smtClean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smtClean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236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상세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</a:t>
            </a:r>
            <a:r>
              <a:rPr lang="ko-KR" altLang="en-US" dirty="0" smtClean="0">
                <a:latin typeface="+mn-ea"/>
              </a:rPr>
              <a:t>구분 </a:t>
            </a:r>
            <a:r>
              <a:rPr lang="ko-KR" altLang="en-US" dirty="0" err="1" smtClean="0">
                <a:latin typeface="+mn-ea"/>
              </a:rPr>
              <a:t>부대면서</a:t>
            </a:r>
            <a:r>
              <a:rPr lang="ko-KR" altLang="en-US" dirty="0" smtClean="0">
                <a:latin typeface="+mn-ea"/>
              </a:rPr>
              <a:t> 시설공사일 때 </a:t>
            </a:r>
            <a:r>
              <a:rPr lang="en-US" altLang="ko-KR" dirty="0" smtClean="0">
                <a:latin typeface="+mn-ea"/>
              </a:rPr>
              <a:t>–</a:t>
            </a:r>
            <a:r>
              <a:rPr lang="ko-KR" altLang="en-US" dirty="0" smtClean="0">
                <a:latin typeface="+mn-ea"/>
              </a:rPr>
              <a:t> </a:t>
            </a:r>
            <a:r>
              <a:rPr lang="en-US" altLang="ko-KR" dirty="0" err="1" smtClean="0">
                <a:latin typeface="+mn-ea"/>
              </a:rPr>
              <a:t>unitF</a:t>
            </a:r>
            <a:r>
              <a:rPr lang="en-US" altLang="ko-KR" dirty="0" smtClean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7" name="타원 106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모서리가 둥근 직사각형 107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출력</a:t>
            </a:r>
          </a:p>
        </p:txBody>
      </p: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64658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0" name="타원 149"/>
          <p:cNvSpPr/>
          <p:nvPr/>
        </p:nvSpPr>
        <p:spPr>
          <a:xfrm>
            <a:off x="2909237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모서리가 둥근 직사각형 150"/>
          <p:cNvSpPr/>
          <p:nvPr/>
        </p:nvSpPr>
        <p:spPr>
          <a:xfrm>
            <a:off x="3053237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출력</a:t>
            </a:r>
          </a:p>
        </p:txBody>
      </p: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0" name="그룹 199"/>
          <p:cNvGrpSpPr/>
          <p:nvPr/>
        </p:nvGrpSpPr>
        <p:grpSpPr>
          <a:xfrm>
            <a:off x="3888348" y="1604378"/>
            <a:ext cx="988410" cy="119400"/>
            <a:chOff x="933861" y="2126479"/>
            <a:chExt cx="988410" cy="119400"/>
          </a:xfrm>
        </p:grpSpPr>
        <p:sp>
          <p:nvSpPr>
            <p:cNvPr id="201" name="모서리가 둥근 직사각형 200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공사</a:t>
              </a:r>
            </a:p>
          </p:txBody>
        </p:sp>
        <p:sp>
          <p:nvSpPr>
            <p:cNvPr id="202" name="모서리가 둥근 직사각형 201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계약구분</a:t>
              </a:r>
              <a:endParaRPr lang="ko-KR" altLang="en-US" sz="600" dirty="0"/>
            </a:p>
          </p:txBody>
        </p:sp>
        <p:sp>
          <p:nvSpPr>
            <p:cNvPr id="203" name="모서리가 둥근 직사각형 202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발급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204" name="그룹 203"/>
          <p:cNvGrpSpPr/>
          <p:nvPr/>
        </p:nvGrpSpPr>
        <p:grpSpPr>
          <a:xfrm>
            <a:off x="764658" y="1600627"/>
            <a:ext cx="988410" cy="119400"/>
            <a:chOff x="933861" y="2126479"/>
            <a:chExt cx="988410" cy="119400"/>
          </a:xfrm>
        </p:grpSpPr>
        <p:sp>
          <p:nvSpPr>
            <p:cNvPr id="205" name="모서리가 둥근 직사각형 204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공사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206" name="모서리가 둥근 직사각형 205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계약구분</a:t>
              </a:r>
              <a:endParaRPr lang="ko-KR" altLang="en-US" sz="600" dirty="0"/>
            </a:p>
          </p:txBody>
        </p:sp>
        <p:sp>
          <p:nvSpPr>
            <p:cNvPr id="207" name="모서리가 둥근 직사각형 206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발급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949854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2590223"/>
            <a:ext cx="2208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소방시설 </a:t>
            </a:r>
            <a:r>
              <a:rPr lang="ko-KR" altLang="en-US" sz="700" dirty="0" err="1" smtClean="0">
                <a:latin typeface="+mn-ea"/>
              </a:rPr>
              <a:t>공사내역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6259759" y="2703554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3838794" y="2897709"/>
            <a:ext cx="792000" cy="258532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289770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897708"/>
            <a:ext cx="792000" cy="258532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공사명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업종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공사현장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공사지역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발주자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원도급자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계약체결일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착공일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준공일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도급종류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공사종류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2897708"/>
            <a:ext cx="1784088" cy="258532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/>
              <a:t>공사 명칭 표시 영역</a:t>
            </a:r>
            <a:endParaRPr lang="en-US" altLang="ko-KR" sz="700" dirty="0" smtClean="0"/>
          </a:p>
          <a:p>
            <a:pPr>
              <a:lnSpc>
                <a:spcPct val="200000"/>
              </a:lnSpc>
            </a:pPr>
            <a:r>
              <a:rPr lang="ko-KR" altLang="en-US" sz="700" dirty="0" smtClean="0"/>
              <a:t>업종 </a:t>
            </a:r>
            <a:r>
              <a:rPr lang="ko-KR" altLang="en-US" sz="700" dirty="0" err="1" smtClean="0"/>
              <a:t>표시영역</a:t>
            </a:r>
            <a:endParaRPr lang="en-US" altLang="ko-KR" sz="700" dirty="0" smtClean="0"/>
          </a:p>
          <a:p>
            <a:pPr>
              <a:lnSpc>
                <a:spcPct val="200000"/>
              </a:lnSpc>
            </a:pPr>
            <a:r>
              <a:rPr lang="ko-KR" altLang="en-US" sz="700" dirty="0" smtClean="0"/>
              <a:t>경기도 과천시</a:t>
            </a:r>
            <a:r>
              <a:rPr lang="en-US" altLang="ko-KR" sz="700" dirty="0" smtClean="0"/>
              <a:t>…</a:t>
            </a:r>
          </a:p>
          <a:p>
            <a:pPr>
              <a:lnSpc>
                <a:spcPct val="200000"/>
              </a:lnSpc>
            </a:pPr>
            <a:r>
              <a:rPr lang="ko-KR" altLang="en-US" sz="700" dirty="0" smtClean="0"/>
              <a:t>정부청사</a:t>
            </a:r>
            <a:endParaRPr lang="en-US" altLang="ko-KR" sz="700" dirty="0" smtClean="0"/>
          </a:p>
          <a:p>
            <a:pPr>
              <a:lnSpc>
                <a:spcPct val="200000"/>
              </a:lnSpc>
            </a:pPr>
            <a:r>
              <a:rPr lang="ko-KR" altLang="en-US" sz="700" dirty="0" err="1" smtClean="0"/>
              <a:t>방위사업청</a:t>
            </a:r>
            <a:endParaRPr lang="en-US" altLang="ko-KR" sz="700" dirty="0" smtClean="0"/>
          </a:p>
          <a:p>
            <a:pPr>
              <a:lnSpc>
                <a:spcPct val="200000"/>
              </a:lnSpc>
            </a:pPr>
            <a:r>
              <a:rPr lang="ko-KR" altLang="en-US" sz="700" dirty="0" smtClean="0"/>
              <a:t>군부대</a:t>
            </a:r>
            <a:endParaRPr lang="en-US" altLang="ko-KR" sz="700" dirty="0" smtClean="0"/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2010-01-01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2012-01-01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2012-01-01</a:t>
            </a: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제한경쟁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원도급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경보설비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12881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34252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55622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76993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97742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20195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4096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61715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4041215"/>
            <a:ext cx="2630093" cy="1179711"/>
            <a:chOff x="720490" y="2590223"/>
            <a:chExt cx="2630093" cy="1179711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신청인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영업소 소재지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02-1234-5678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</a:t>
              </a:r>
              <a:r>
                <a:rPr lang="ko-KR" altLang="en-US" sz="700" dirty="0">
                  <a:latin typeface="+mn-ea"/>
                </a:rPr>
                <a:t>종로구</a:t>
              </a:r>
              <a:r>
                <a:rPr lang="en-US" altLang="ko-KR" sz="700" dirty="0" smtClean="0">
                  <a:latin typeface="+mn-ea"/>
                </a:rPr>
                <a:t>…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2590223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15126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7.</a:t>
              </a:r>
              <a:r>
                <a:rPr lang="ko-KR" altLang="en-US" sz="700" dirty="0">
                  <a:latin typeface="+mn-ea"/>
                </a:rPr>
                <a:t>소방시설공사 실적증명서 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소방시설공사업법 시행에 관한 규정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소방시설협회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방위사업청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</a:t>
              </a:r>
              <a:r>
                <a:rPr lang="ko-KR" altLang="en-US" sz="700" dirty="0" smtClean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신청인 연락처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제출처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78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5533524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06963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82995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5" name="직선 연결선 8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505409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6" name="직선 연결선 8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526158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54743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1612541886"/>
      </p:ext>
    </p:extLst>
  </p:cSld>
  <p:clrMapOvr>
    <a:masterClrMapping/>
  </p:clrMapOvr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smtClean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237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상세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</a:t>
            </a:r>
            <a:r>
              <a:rPr lang="ko-KR" altLang="en-US" dirty="0" smtClean="0">
                <a:latin typeface="+mn-ea"/>
              </a:rPr>
              <a:t>구분 </a:t>
            </a:r>
            <a:r>
              <a:rPr lang="ko-KR" altLang="en-US" dirty="0" err="1" smtClean="0">
                <a:latin typeface="+mn-ea"/>
              </a:rPr>
              <a:t>부대면서</a:t>
            </a:r>
            <a:r>
              <a:rPr lang="ko-KR" altLang="en-US" dirty="0" smtClean="0">
                <a:latin typeface="+mn-ea"/>
              </a:rPr>
              <a:t> 시설공사일 때 </a:t>
            </a:r>
            <a:r>
              <a:rPr lang="en-US" altLang="ko-KR" dirty="0" smtClean="0">
                <a:latin typeface="+mn-ea"/>
              </a:rPr>
              <a:t>–</a:t>
            </a:r>
            <a:r>
              <a:rPr lang="ko-KR" altLang="en-US" dirty="0" smtClean="0">
                <a:latin typeface="+mn-ea"/>
              </a:rPr>
              <a:t> </a:t>
            </a:r>
            <a:r>
              <a:rPr lang="en-US" altLang="ko-KR" dirty="0" err="1" smtClean="0">
                <a:latin typeface="+mn-ea"/>
              </a:rPr>
              <a:t>unitF</a:t>
            </a:r>
            <a:r>
              <a:rPr lang="en-US" altLang="ko-KR" dirty="0" smtClean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7" name="타원 106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모서리가 둥근 직사각형 107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출력</a:t>
            </a:r>
          </a:p>
        </p:txBody>
      </p: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64658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0" name="타원 149"/>
          <p:cNvSpPr/>
          <p:nvPr/>
        </p:nvSpPr>
        <p:spPr>
          <a:xfrm>
            <a:off x="2909237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모서리가 둥근 직사각형 150"/>
          <p:cNvSpPr/>
          <p:nvPr/>
        </p:nvSpPr>
        <p:spPr>
          <a:xfrm>
            <a:off x="3053237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출력</a:t>
            </a:r>
          </a:p>
        </p:txBody>
      </p: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0" name="그룹 199"/>
          <p:cNvGrpSpPr/>
          <p:nvPr/>
        </p:nvGrpSpPr>
        <p:grpSpPr>
          <a:xfrm>
            <a:off x="3888348" y="1604378"/>
            <a:ext cx="988410" cy="119400"/>
            <a:chOff x="933861" y="2126479"/>
            <a:chExt cx="988410" cy="119400"/>
          </a:xfrm>
        </p:grpSpPr>
        <p:sp>
          <p:nvSpPr>
            <p:cNvPr id="201" name="모서리가 둥근 직사각형 200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공사</a:t>
              </a:r>
            </a:p>
          </p:txBody>
        </p:sp>
        <p:sp>
          <p:nvSpPr>
            <p:cNvPr id="202" name="모서리가 둥근 직사각형 201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계약구분</a:t>
              </a:r>
              <a:endParaRPr lang="ko-KR" altLang="en-US" sz="600" dirty="0"/>
            </a:p>
          </p:txBody>
        </p:sp>
        <p:sp>
          <p:nvSpPr>
            <p:cNvPr id="203" name="모서리가 둥근 직사각형 202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발급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204" name="그룹 203"/>
          <p:cNvGrpSpPr/>
          <p:nvPr/>
        </p:nvGrpSpPr>
        <p:grpSpPr>
          <a:xfrm>
            <a:off x="764658" y="1600627"/>
            <a:ext cx="988410" cy="119400"/>
            <a:chOff x="933861" y="2126479"/>
            <a:chExt cx="988410" cy="119400"/>
          </a:xfrm>
        </p:grpSpPr>
        <p:sp>
          <p:nvSpPr>
            <p:cNvPr id="205" name="모서리가 둥근 직사각형 204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공사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206" name="모서리가 둥근 직사각형 205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계약구분</a:t>
              </a:r>
              <a:endParaRPr lang="ko-KR" altLang="en-US" sz="600" dirty="0"/>
            </a:p>
          </p:txBody>
        </p:sp>
        <p:sp>
          <p:nvSpPr>
            <p:cNvPr id="207" name="모서리가 둥근 직사각형 206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발급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6" name="그룹 5"/>
          <p:cNvGrpSpPr/>
          <p:nvPr/>
        </p:nvGrpSpPr>
        <p:grpSpPr>
          <a:xfrm>
            <a:off x="675399" y="2590223"/>
            <a:ext cx="2712026" cy="2316283"/>
            <a:chOff x="675399" y="2590223"/>
            <a:chExt cx="2712026" cy="2316283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소방시설 공사실적 </a:t>
              </a:r>
              <a:r>
                <a:rPr lang="ko-KR" altLang="en-US" sz="700" dirty="0" smtClean="0">
                  <a:latin typeface="+mn-ea"/>
                </a:rPr>
                <a:t>금액 </a:t>
              </a: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18459" y="2897709"/>
              <a:ext cx="792000" cy="193225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</a:t>
              </a:r>
              <a:r>
                <a:rPr lang="ko-KR" altLang="en-US" sz="700" dirty="0" smtClean="0">
                  <a:latin typeface="+mn-ea"/>
                </a:rPr>
                <a:t>도급계약금액</a:t>
              </a:r>
              <a:endParaRPr lang="en-US" altLang="ko-KR" sz="700" dirty="0" smtClean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endParaRPr lang="en-US" altLang="ko-KR" sz="700" dirty="0" smtClean="0"/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계약액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미기성액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</a:t>
              </a:r>
              <a:r>
                <a:rPr lang="ko-KR" altLang="en-US" sz="700" dirty="0" err="1">
                  <a:latin typeface="+mn-ea"/>
                </a:rPr>
                <a:t>업체명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등록번호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</a:t>
              </a:r>
              <a:r>
                <a:rPr lang="ko-KR" altLang="en-US" sz="700" dirty="0" smtClean="0">
                  <a:latin typeface="+mn-ea"/>
                </a:rPr>
                <a:t>금액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2897708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/>
                <a:t>1,000 </a:t>
              </a:r>
              <a:r>
                <a:rPr lang="ko-KR" altLang="en-US" sz="700" dirty="0" smtClean="0"/>
                <a:t>천원</a:t>
              </a:r>
              <a:endParaRPr lang="en-US" altLang="ko-KR" sz="700" dirty="0" smtClean="0"/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123456-7890123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 smtClean="0"/>
                <a:t>천원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906506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829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313066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/>
              <a:r>
                <a:rPr lang="ko-KR" altLang="en-US" sz="700" dirty="0" smtClean="0"/>
                <a:t>전년까지의 </a:t>
              </a:r>
              <a:endParaRPr lang="en-US" altLang="ko-KR" sz="700" dirty="0" smtClean="0"/>
            </a:p>
            <a:p>
              <a:pPr lvl="0"/>
              <a:r>
                <a:rPr lang="ko-KR" altLang="en-US" sz="700" dirty="0" smtClean="0"/>
                <a:t>누계 </a:t>
              </a:r>
              <a:r>
                <a:rPr lang="ko-KR" altLang="en-US" sz="700" dirty="0" err="1" smtClean="0"/>
                <a:t>기성액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3347833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 defTabSz="1013612">
                <a:defRPr/>
              </a:pPr>
              <a:r>
                <a:rPr lang="ko-KR" altLang="en-US" sz="700" dirty="0"/>
                <a:t>전년까지의 </a:t>
              </a:r>
              <a:endParaRPr lang="en-US" altLang="ko-KR" sz="700" dirty="0" smtClean="0"/>
            </a:p>
            <a:p>
              <a:pPr lvl="0" defTabSz="1013612">
                <a:defRPr/>
              </a:pPr>
              <a:r>
                <a:rPr lang="ko-KR" altLang="en-US" sz="700" dirty="0" err="1" smtClean="0"/>
                <a:t>미기성액</a:t>
              </a:r>
              <a:endParaRPr lang="ko-KR" altLang="en-US" sz="700" dirty="0"/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78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92" name="그룹 91"/>
          <p:cNvGrpSpPr/>
          <p:nvPr/>
        </p:nvGrpSpPr>
        <p:grpSpPr>
          <a:xfrm>
            <a:off x="3795735" y="2590223"/>
            <a:ext cx="2712026" cy="2142112"/>
            <a:chOff x="675399" y="2590223"/>
            <a:chExt cx="2712026" cy="2142112"/>
          </a:xfrm>
        </p:grpSpPr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7589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복합공종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타 </a:t>
              </a:r>
              <a:r>
                <a:rPr lang="ko-KR" altLang="en-US" sz="700" dirty="0" err="1">
                  <a:latin typeface="+mn-ea"/>
                </a:rPr>
                <a:t>공종</a:t>
              </a:r>
              <a:r>
                <a:rPr lang="ko-KR" altLang="en-US" sz="700" dirty="0">
                  <a:latin typeface="+mn-ea"/>
                </a:rPr>
                <a:t> 포함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 err="1" smtClean="0">
                  <a:latin typeface="+mn-ea"/>
                </a:rPr>
                <a:t>실적내용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94" name="그룹 93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119" name="직선 연결선 11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0" name="직선 연결선 11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5" name="직사각형 94"/>
            <p:cNvSpPr/>
            <p:nvPr/>
          </p:nvSpPr>
          <p:spPr>
            <a:xfrm>
              <a:off x="718459" y="2897709"/>
              <a:ext cx="792000" cy="10772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공사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종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명</a:t>
              </a:r>
              <a:r>
                <a:rPr lang="en-US" altLang="ko-KR" sz="700" dirty="0" smtClean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도급금액</a:t>
              </a:r>
              <a:endParaRPr lang="en-US" altLang="ko-KR" sz="700" dirty="0" smtClean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r>
                <a:rPr lang="ko-KR" altLang="en-US" sz="700" dirty="0"/>
                <a:t>전년까지의 </a:t>
              </a:r>
              <a:r>
                <a:rPr lang="ko-KR" altLang="en-US" sz="700" dirty="0" err="1"/>
                <a:t>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금년도</a:t>
              </a:r>
              <a:r>
                <a:rPr lang="ko-KR" altLang="en-US" sz="700" dirty="0"/>
                <a:t> </a:t>
              </a:r>
              <a:r>
                <a:rPr lang="ko-KR" altLang="en-US" sz="700" dirty="0" err="1" smtClean="0"/>
                <a:t>기성액</a:t>
              </a:r>
              <a:endParaRPr lang="en-US" altLang="ko-KR" sz="700" dirty="0" smtClean="0"/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미기성액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2897708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/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/>
                <a:t>1,000 </a:t>
              </a:r>
              <a:r>
                <a:rPr lang="ko-KR" altLang="en-US" sz="700" dirty="0" smtClean="0"/>
                <a:t>천원</a:t>
              </a:r>
              <a:endParaRPr lang="en-US" altLang="ko-KR" sz="700" dirty="0" smtClean="0"/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 smtClean="0"/>
                <a:t>천원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732335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21" name="그룹 120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4257635"/>
            <a:ext cx="76863" cy="292489"/>
            <a:chOff x="3750067" y="4683795"/>
            <a:chExt cx="76863" cy="292489"/>
          </a:xfrm>
        </p:grpSpPr>
        <p:sp>
          <p:nvSpPr>
            <p:cNvPr id="122" name="타원 121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23" name="타원 122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24" name="타원 123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4115654740"/>
      </p:ext>
    </p:extLst>
  </p:cSld>
  <p:clrMapOvr>
    <a:masterClrMapping/>
  </p:clrMapOvr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 smtClean="0"/>
              <a:t>제출유형에</a:t>
            </a:r>
            <a:r>
              <a:rPr lang="ko-KR" altLang="en-US" dirty="0" smtClean="0"/>
              <a:t> 따라 하단 표시 정보 변경 </a:t>
            </a:r>
            <a:r>
              <a:rPr lang="en-US" altLang="ko-KR" dirty="0" smtClean="0"/>
              <a:t>(</a:t>
            </a:r>
            <a:r>
              <a:rPr lang="ko-KR" altLang="en-US" dirty="0" smtClean="0"/>
              <a:t>신청도 동일</a:t>
            </a:r>
            <a:r>
              <a:rPr lang="en-US" altLang="ko-KR" dirty="0" smtClean="0"/>
              <a:t>)</a:t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- Unit G – </a:t>
            </a:r>
            <a:r>
              <a:rPr lang="ko-KR" altLang="en-US" dirty="0" smtClean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  </a:t>
            </a:r>
            <a:r>
              <a:rPr lang="en-US" altLang="ko-KR" dirty="0"/>
              <a:t>&gt; 8.</a:t>
            </a:r>
            <a:r>
              <a:rPr lang="ko-KR" altLang="en-US" dirty="0"/>
              <a:t>전기공사 실적증명서 </a:t>
            </a:r>
            <a:r>
              <a:rPr lang="en-US" altLang="ko-KR" dirty="0"/>
              <a:t>[</a:t>
            </a:r>
            <a:r>
              <a:rPr lang="ko-KR" altLang="en-US" dirty="0"/>
              <a:t>전기공사업법 시행에 관한 규정</a:t>
            </a:r>
            <a:r>
              <a:rPr lang="en-US" altLang="ko-KR" dirty="0"/>
              <a:t>/</a:t>
            </a:r>
            <a:r>
              <a:rPr lang="ko-KR" altLang="en-US" dirty="0"/>
              <a:t>전기공사협회</a:t>
            </a:r>
            <a:r>
              <a:rPr lang="en-US" altLang="ko-KR" dirty="0"/>
              <a:t>]</a:t>
            </a:r>
            <a:endParaRPr lang="en-US" altLang="ko-KR" dirty="0" smtClean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smtClean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238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상세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</a:t>
            </a:r>
            <a:r>
              <a:rPr lang="ko-KR" altLang="en-US" dirty="0" smtClean="0">
                <a:latin typeface="+mn-ea"/>
              </a:rPr>
              <a:t>구분 </a:t>
            </a:r>
            <a:r>
              <a:rPr lang="ko-KR" altLang="en-US" dirty="0" err="1" smtClean="0">
                <a:latin typeface="+mn-ea"/>
              </a:rPr>
              <a:t>부대면서</a:t>
            </a:r>
            <a:r>
              <a:rPr lang="ko-KR" altLang="en-US" dirty="0" smtClean="0">
                <a:latin typeface="+mn-ea"/>
              </a:rPr>
              <a:t> 시설공사일 때 </a:t>
            </a:r>
            <a:r>
              <a:rPr lang="en-US" altLang="ko-KR" dirty="0" smtClean="0">
                <a:latin typeface="+mn-ea"/>
              </a:rPr>
              <a:t>–</a:t>
            </a:r>
            <a:r>
              <a:rPr lang="ko-KR" altLang="en-US" dirty="0" smtClean="0">
                <a:latin typeface="+mn-ea"/>
              </a:rPr>
              <a:t> </a:t>
            </a:r>
            <a:r>
              <a:rPr lang="en-US" altLang="ko-KR" dirty="0" err="1" smtClean="0">
                <a:latin typeface="+mn-ea"/>
              </a:rPr>
              <a:t>unitG</a:t>
            </a:r>
            <a:r>
              <a:rPr lang="en-US" altLang="ko-KR" dirty="0" smtClean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7" name="타원 106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모서리가 둥근 직사각형 107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출력</a:t>
            </a:r>
          </a:p>
        </p:txBody>
      </p: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64658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0" name="타원 149"/>
          <p:cNvSpPr/>
          <p:nvPr/>
        </p:nvSpPr>
        <p:spPr>
          <a:xfrm>
            <a:off x="2909237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모서리가 둥근 직사각형 150"/>
          <p:cNvSpPr/>
          <p:nvPr/>
        </p:nvSpPr>
        <p:spPr>
          <a:xfrm>
            <a:off x="3053237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출력</a:t>
            </a:r>
          </a:p>
        </p:txBody>
      </p: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0" name="그룹 199"/>
          <p:cNvGrpSpPr/>
          <p:nvPr/>
        </p:nvGrpSpPr>
        <p:grpSpPr>
          <a:xfrm>
            <a:off x="3888348" y="1604378"/>
            <a:ext cx="988410" cy="119400"/>
            <a:chOff x="933861" y="2126479"/>
            <a:chExt cx="988410" cy="119400"/>
          </a:xfrm>
        </p:grpSpPr>
        <p:sp>
          <p:nvSpPr>
            <p:cNvPr id="201" name="모서리가 둥근 직사각형 200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공사</a:t>
              </a:r>
            </a:p>
          </p:txBody>
        </p:sp>
        <p:sp>
          <p:nvSpPr>
            <p:cNvPr id="202" name="모서리가 둥근 직사각형 201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계약구분</a:t>
              </a:r>
              <a:endParaRPr lang="ko-KR" altLang="en-US" sz="600" dirty="0"/>
            </a:p>
          </p:txBody>
        </p:sp>
        <p:sp>
          <p:nvSpPr>
            <p:cNvPr id="203" name="모서리가 둥근 직사각형 202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발급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204" name="그룹 203"/>
          <p:cNvGrpSpPr/>
          <p:nvPr/>
        </p:nvGrpSpPr>
        <p:grpSpPr>
          <a:xfrm>
            <a:off x="764658" y="1600627"/>
            <a:ext cx="988410" cy="119400"/>
            <a:chOff x="933861" y="2126479"/>
            <a:chExt cx="988410" cy="119400"/>
          </a:xfrm>
        </p:grpSpPr>
        <p:sp>
          <p:nvSpPr>
            <p:cNvPr id="205" name="모서리가 둥근 직사각형 204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공사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206" name="모서리가 둥근 직사각형 205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계약구분</a:t>
              </a:r>
              <a:endParaRPr lang="ko-KR" altLang="en-US" sz="600" dirty="0"/>
            </a:p>
          </p:txBody>
        </p:sp>
        <p:sp>
          <p:nvSpPr>
            <p:cNvPr id="207" name="모서리가 둥근 직사각형 206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발급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949854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2590223"/>
            <a:ext cx="2208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전기 공사 내역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6259759" y="2703554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3838794" y="2897709"/>
            <a:ext cx="792000" cy="258532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289770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897708"/>
            <a:ext cx="792000" cy="258532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공사명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공사종류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공사현장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원도급자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발주자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등록번호</a:t>
            </a:r>
            <a:r>
              <a:rPr lang="en-US" altLang="ko-KR" sz="700" dirty="0" smtClean="0">
                <a:latin typeface="+mn-ea"/>
              </a:rPr>
              <a:t>(</a:t>
            </a:r>
            <a:r>
              <a:rPr lang="ko-KR" altLang="en-US" sz="700" dirty="0" err="1" smtClean="0">
                <a:latin typeface="+mn-ea"/>
              </a:rPr>
              <a:t>원도급자</a:t>
            </a:r>
            <a:r>
              <a:rPr lang="en-US" altLang="ko-KR" sz="700" dirty="0" smtClean="0">
                <a:latin typeface="+mn-ea"/>
              </a:rPr>
              <a:t>)</a:t>
            </a: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계약체결일자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착공일자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준공일자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실적년도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계약방법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도급종류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2897708"/>
            <a:ext cx="1784088" cy="258532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/>
              <a:t>공사 명칭 표시 영역</a:t>
            </a:r>
            <a:endParaRPr lang="en-US" altLang="ko-KR" sz="700" dirty="0" smtClean="0"/>
          </a:p>
          <a:p>
            <a:pPr>
              <a:lnSpc>
                <a:spcPct val="200000"/>
              </a:lnSpc>
            </a:pPr>
            <a:r>
              <a:rPr lang="ko-KR" altLang="en-US" sz="700" dirty="0" smtClean="0"/>
              <a:t>발전설비</a:t>
            </a:r>
            <a:endParaRPr lang="en-US" altLang="ko-KR" sz="700" dirty="0" smtClean="0"/>
          </a:p>
          <a:p>
            <a:pPr>
              <a:lnSpc>
                <a:spcPct val="200000"/>
              </a:lnSpc>
            </a:pPr>
            <a:r>
              <a:rPr lang="ko-KR" altLang="en-US" sz="700" dirty="0" smtClean="0"/>
              <a:t>경기도 과천시</a:t>
            </a:r>
            <a:r>
              <a:rPr lang="en-US" altLang="ko-KR" sz="700" dirty="0" smtClean="0"/>
              <a:t>…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 smtClean="0"/>
              <a:t>방위사업청</a:t>
            </a:r>
            <a:endParaRPr lang="en-US" altLang="ko-KR" sz="700" dirty="0" smtClean="0"/>
          </a:p>
          <a:p>
            <a:pPr>
              <a:lnSpc>
                <a:spcPct val="200000"/>
              </a:lnSpc>
            </a:pPr>
            <a:r>
              <a:rPr lang="ko-KR" altLang="en-US" sz="700" dirty="0" err="1" smtClean="0"/>
              <a:t>김길동</a:t>
            </a:r>
            <a:r>
              <a:rPr lang="ko-KR" altLang="en-US" sz="700" dirty="0" smtClean="0"/>
              <a:t> </a:t>
            </a:r>
            <a:r>
              <a:rPr lang="ko-KR" altLang="en-US" sz="700" dirty="0" err="1" smtClean="0"/>
              <a:t>주무관</a:t>
            </a:r>
            <a:endParaRPr lang="en-US" altLang="ko-KR" sz="700" dirty="0" smtClean="0"/>
          </a:p>
          <a:p>
            <a:pPr>
              <a:lnSpc>
                <a:spcPct val="200000"/>
              </a:lnSpc>
            </a:pPr>
            <a:r>
              <a:rPr lang="en-US" altLang="ko-KR" sz="700" dirty="0" smtClean="0"/>
              <a:t>111111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2010-01-01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2012-01-01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2012-01-01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2023</a:t>
            </a:r>
            <a:r>
              <a:rPr lang="ko-KR" altLang="en-US" sz="700" dirty="0" smtClean="0">
                <a:latin typeface="+mn-ea"/>
              </a:rPr>
              <a:t>년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일반경쟁입찰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원도급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12881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34252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55622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76993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97742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20195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4096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61715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4041215"/>
            <a:ext cx="2630093" cy="1393412"/>
            <a:chOff x="720490" y="2590223"/>
            <a:chExt cx="2630093" cy="1393412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신청인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108469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영업소 소재지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등록번호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02-1234-5678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</a:t>
              </a:r>
              <a:r>
                <a:rPr lang="ko-KR" altLang="en-US" sz="700" dirty="0">
                  <a:latin typeface="+mn-ea"/>
                </a:rPr>
                <a:t>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836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2590223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15126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8.</a:t>
              </a:r>
              <a:r>
                <a:rPr lang="ko-KR" altLang="en-US" sz="700" dirty="0">
                  <a:latin typeface="+mn-ea"/>
                </a:rPr>
                <a:t>전기공사 실적증명서 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전기공사업법 시행에 관한 규정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전기공사협회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방위사업청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</a:t>
              </a:r>
              <a:r>
                <a:rPr lang="ko-KR" altLang="en-US" sz="700" dirty="0" smtClean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신청인 연락처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제출처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78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5533524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06963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82995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5" name="직선 연결선 8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505409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6" name="직선 연결선 8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526158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54743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3238417615"/>
      </p:ext>
    </p:extLst>
  </p:cSld>
  <p:clrMapOvr>
    <a:masterClrMapping/>
  </p:clrMapOvr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smtClean="0"/>
              <a:t>세부 정보 표시</a:t>
            </a:r>
            <a:endParaRPr lang="en-US" altLang="ko-KR" dirty="0" smtClean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smtClean="0"/>
              <a:t>도움말 아이콘 </a:t>
            </a:r>
            <a:r>
              <a:rPr lang="en-US" altLang="ko-KR" dirty="0" smtClean="0"/>
              <a:t>(</a:t>
            </a:r>
            <a:r>
              <a:rPr lang="ko-KR" altLang="en-US" dirty="0" smtClean="0"/>
              <a:t>팝업 표시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- ※ 3</a:t>
            </a:r>
            <a:r>
              <a:rPr lang="ko-KR" altLang="en-US" dirty="0"/>
              <a:t>개 업체 이상인 경우 </a:t>
            </a:r>
            <a:r>
              <a:rPr lang="ko-KR" altLang="en-US" dirty="0" err="1"/>
              <a:t>업체명에</a:t>
            </a:r>
            <a:r>
              <a:rPr lang="ko-KR" altLang="en-US" dirty="0"/>
              <a:t> ○○ 외 ○개 업체로 표기 후 합산하여 금액 기재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239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상세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unitG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7" name="타원 106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모서리가 둥근 직사각형 107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출력</a:t>
            </a:r>
          </a:p>
        </p:txBody>
      </p: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64658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0" name="타원 149"/>
          <p:cNvSpPr/>
          <p:nvPr/>
        </p:nvSpPr>
        <p:spPr>
          <a:xfrm>
            <a:off x="2909237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모서리가 둥근 직사각형 150"/>
          <p:cNvSpPr/>
          <p:nvPr/>
        </p:nvSpPr>
        <p:spPr>
          <a:xfrm>
            <a:off x="3053237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출력</a:t>
            </a:r>
          </a:p>
        </p:txBody>
      </p: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0" name="그룹 199"/>
          <p:cNvGrpSpPr/>
          <p:nvPr/>
        </p:nvGrpSpPr>
        <p:grpSpPr>
          <a:xfrm>
            <a:off x="3888348" y="1604378"/>
            <a:ext cx="988410" cy="119400"/>
            <a:chOff x="933861" y="2126479"/>
            <a:chExt cx="988410" cy="119400"/>
          </a:xfrm>
        </p:grpSpPr>
        <p:sp>
          <p:nvSpPr>
            <p:cNvPr id="201" name="모서리가 둥근 직사각형 200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공사</a:t>
              </a:r>
            </a:p>
          </p:txBody>
        </p:sp>
        <p:sp>
          <p:nvSpPr>
            <p:cNvPr id="202" name="모서리가 둥근 직사각형 201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계약구분</a:t>
              </a:r>
              <a:endParaRPr lang="ko-KR" altLang="en-US" sz="600" dirty="0"/>
            </a:p>
          </p:txBody>
        </p:sp>
        <p:sp>
          <p:nvSpPr>
            <p:cNvPr id="203" name="모서리가 둥근 직사각형 202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발급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204" name="그룹 203"/>
          <p:cNvGrpSpPr/>
          <p:nvPr/>
        </p:nvGrpSpPr>
        <p:grpSpPr>
          <a:xfrm>
            <a:off x="764658" y="1600627"/>
            <a:ext cx="988410" cy="119400"/>
            <a:chOff x="933861" y="2126479"/>
            <a:chExt cx="988410" cy="119400"/>
          </a:xfrm>
        </p:grpSpPr>
        <p:sp>
          <p:nvSpPr>
            <p:cNvPr id="205" name="모서리가 둥근 직사각형 204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공사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206" name="모서리가 둥근 직사각형 205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계약구분</a:t>
              </a:r>
              <a:endParaRPr lang="ko-KR" altLang="en-US" sz="600" dirty="0"/>
            </a:p>
          </p:txBody>
        </p:sp>
        <p:sp>
          <p:nvSpPr>
            <p:cNvPr id="207" name="모서리가 둥근 직사각형 206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발급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6" name="그룹 5"/>
          <p:cNvGrpSpPr/>
          <p:nvPr/>
        </p:nvGrpSpPr>
        <p:grpSpPr>
          <a:xfrm>
            <a:off x="675399" y="2590223"/>
            <a:ext cx="2712026" cy="2316283"/>
            <a:chOff x="675399" y="2590223"/>
            <a:chExt cx="2712026" cy="2316283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전기공사실적 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18459" y="2897709"/>
              <a:ext cx="792000" cy="193225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</a:t>
              </a:r>
              <a:r>
                <a:rPr lang="ko-KR" altLang="en-US" sz="700" dirty="0" smtClean="0">
                  <a:latin typeface="+mn-ea"/>
                </a:rPr>
                <a:t>도급계약금액</a:t>
              </a:r>
              <a:endParaRPr lang="en-US" altLang="ko-KR" sz="700" dirty="0" smtClean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endParaRPr lang="en-US" altLang="ko-KR" sz="700" dirty="0" smtClean="0"/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전년도 </a:t>
              </a:r>
              <a:r>
                <a:rPr lang="ko-KR" altLang="en-US" sz="700" dirty="0" err="1" smtClean="0">
                  <a:latin typeface="+mn-ea"/>
                </a:rPr>
                <a:t>이월액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하도급 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미기성액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관급자재액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2897708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 smtClean="0"/>
                <a:t>1,000 </a:t>
              </a:r>
              <a:r>
                <a:rPr lang="ko-KR" altLang="en-US" sz="700" dirty="0" smtClean="0"/>
                <a:t>천원</a:t>
              </a:r>
              <a:endParaRPr lang="en-US" altLang="ko-KR" sz="700" dirty="0" smtClean="0"/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 smtClean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 smtClean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 smtClean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 smtClean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 smtClean="0"/>
                <a:t>천원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906506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829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313066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/>
              <a:r>
                <a:rPr lang="ko-KR" altLang="en-US" sz="700" dirty="0" smtClean="0"/>
                <a:t>전년까지의 </a:t>
              </a:r>
              <a:endParaRPr lang="en-US" altLang="ko-KR" sz="700" dirty="0" smtClean="0"/>
            </a:p>
            <a:p>
              <a:pPr lvl="0"/>
              <a:r>
                <a:rPr lang="ko-KR" altLang="en-US" sz="700" dirty="0" smtClean="0"/>
                <a:t>누계 </a:t>
              </a:r>
              <a:r>
                <a:rPr lang="ko-KR" altLang="en-US" sz="700" dirty="0" err="1" smtClean="0"/>
                <a:t>기성액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4410211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/>
              <a:r>
                <a:rPr lang="ko-KR" altLang="en-US" sz="700" dirty="0" err="1" smtClean="0"/>
                <a:t>기성액</a:t>
              </a:r>
              <a:endParaRPr lang="en-US" altLang="ko-KR" sz="700" dirty="0"/>
            </a:p>
            <a:p>
              <a:pPr lvl="0"/>
              <a:r>
                <a:rPr lang="en-US" altLang="ko-KR" sz="700" dirty="0" smtClean="0"/>
                <a:t>(</a:t>
              </a:r>
              <a:r>
                <a:rPr lang="ko-KR" altLang="en-US" sz="700" dirty="0" err="1"/>
                <a:t>다른공사포함</a:t>
              </a:r>
              <a:r>
                <a:rPr lang="en-US" altLang="ko-KR" sz="700" dirty="0"/>
                <a:t>)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4628973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 defTabSz="1013612">
                <a:defRPr/>
              </a:pPr>
              <a:r>
                <a:rPr lang="ko-KR" altLang="en-US" sz="700" dirty="0" err="1" smtClean="0"/>
                <a:t>계약액</a:t>
              </a:r>
              <a:endParaRPr lang="en-US" altLang="ko-KR" sz="700" dirty="0" smtClean="0"/>
            </a:p>
            <a:p>
              <a:pPr lvl="0" defTabSz="1013612">
                <a:defRPr/>
              </a:pPr>
              <a:r>
                <a:rPr lang="en-US" altLang="ko-KR" sz="700" dirty="0" smtClean="0"/>
                <a:t>(</a:t>
              </a:r>
              <a:r>
                <a:rPr lang="ko-KR" altLang="en-US" sz="700" dirty="0"/>
                <a:t>추가 또는 </a:t>
              </a:r>
              <a:r>
                <a:rPr lang="ko-KR" altLang="en-US" sz="700" dirty="0" err="1"/>
                <a:t>변경분</a:t>
              </a:r>
              <a:r>
                <a:rPr lang="en-US" altLang="ko-KR" sz="700" dirty="0"/>
                <a:t>)</a:t>
              </a:r>
              <a:endParaRPr lang="ko-KR" altLang="en-US" sz="700" dirty="0"/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61346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92" name="그룹 91"/>
          <p:cNvGrpSpPr/>
          <p:nvPr/>
        </p:nvGrpSpPr>
        <p:grpSpPr>
          <a:xfrm>
            <a:off x="3795735" y="2590223"/>
            <a:ext cx="2712026" cy="2142112"/>
            <a:chOff x="675399" y="2590223"/>
            <a:chExt cx="2712026" cy="2142112"/>
          </a:xfrm>
        </p:grpSpPr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7589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하도급내역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원도급자가</a:t>
              </a:r>
              <a:r>
                <a:rPr lang="ko-KR" altLang="en-US" sz="700" dirty="0">
                  <a:latin typeface="+mn-ea"/>
                </a:rPr>
                <a:t> 작성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94" name="그룹 93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119" name="직선 연결선 11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0" name="직선 연결선 11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5" name="직사각형 94"/>
            <p:cNvSpPr/>
            <p:nvPr/>
          </p:nvSpPr>
          <p:spPr>
            <a:xfrm>
              <a:off x="718459" y="2897710"/>
              <a:ext cx="792000" cy="8826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하도급업체명</a:t>
              </a:r>
              <a:r>
                <a:rPr lang="en-US" altLang="ko-KR" sz="700" dirty="0" smtClean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하도금액</a:t>
              </a:r>
              <a:endParaRPr lang="en-US" altLang="ko-KR" sz="700" dirty="0" smtClean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r>
                <a:rPr lang="ko-KR" altLang="en-US" sz="700" dirty="0" smtClean="0"/>
                <a:t>등록번호</a:t>
              </a:r>
              <a:endParaRPr lang="en-US" altLang="ko-KR" sz="700" dirty="0" smtClean="0"/>
            </a:p>
            <a:p>
              <a:pPr lvl="0"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/>
            </a:p>
            <a:p>
              <a:pPr algn="r">
                <a:lnSpc>
                  <a:spcPct val="200000"/>
                </a:lnSpc>
              </a:pPr>
              <a:r>
                <a:rPr lang="en-US" altLang="ko-KR" sz="700" dirty="0" smtClean="0"/>
                <a:t>1,000 </a:t>
              </a:r>
              <a:r>
                <a:rPr lang="ko-KR" altLang="en-US" sz="700" dirty="0" smtClean="0"/>
                <a:t>천원</a:t>
              </a: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/>
                <a:t>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/>
                <a:t>홍길동</a:t>
              </a:r>
              <a:endParaRPr lang="en-US" altLang="ko-KR" sz="700" dirty="0" smtClean="0"/>
            </a:p>
          </p:txBody>
        </p: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732335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21" name="그룹 120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4257635"/>
            <a:ext cx="76863" cy="292489"/>
            <a:chOff x="3750067" y="4683795"/>
            <a:chExt cx="76863" cy="292489"/>
          </a:xfrm>
        </p:grpSpPr>
        <p:sp>
          <p:nvSpPr>
            <p:cNvPr id="122" name="타원 121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23" name="타원 122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24" name="타원 123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78" name="타원 7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9668" y="261346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5087822" y="2638846"/>
            <a:ext cx="243478" cy="144000"/>
            <a:chOff x="5087822" y="2638846"/>
            <a:chExt cx="243478" cy="144000"/>
          </a:xfrm>
        </p:grpSpPr>
        <p:sp>
          <p:nvSpPr>
            <p:cNvPr id="79" name="타원 78"/>
            <p:cNvSpPr/>
            <p:nvPr/>
          </p:nvSpPr>
          <p:spPr>
            <a:xfrm>
              <a:off x="5135779" y="2638846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0" name="모서리가 둥근 직사각형 79"/>
            <p:cNvSpPr/>
            <p:nvPr/>
          </p:nvSpPr>
          <p:spPr>
            <a:xfrm>
              <a:off x="5087822" y="2647088"/>
              <a:ext cx="243478" cy="119400"/>
            </a:xfrm>
            <a:prstGeom prst="roundRect">
              <a:avLst>
                <a:gd name="adj" fmla="val 23409"/>
              </a:avLst>
            </a:prstGeom>
            <a:no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en-US" altLang="ko-KR" sz="600" b="1" dirty="0" smtClean="0">
                  <a:solidFill>
                    <a:schemeClr val="dk1"/>
                  </a:solidFill>
                </a:rPr>
                <a:t>?</a:t>
              </a:r>
              <a:endParaRPr lang="ko-KR" altLang="en-US" sz="600" b="1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82" name="그룹 81"/>
          <p:cNvGrpSpPr/>
          <p:nvPr/>
        </p:nvGrpSpPr>
        <p:grpSpPr>
          <a:xfrm>
            <a:off x="3795734" y="4839616"/>
            <a:ext cx="2712027" cy="789495"/>
            <a:chOff x="675399" y="1544009"/>
            <a:chExt cx="2712027" cy="789495"/>
          </a:xfrm>
        </p:grpSpPr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시공규모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84" name="그룹 83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91" name="직선 연결선 9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12" name="직선 연결선 11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내용 표시 영역은 내용에 맞춰 높이를 조정하여 표시</a:t>
              </a:r>
              <a:endParaRPr lang="en-US" altLang="ko-KR" sz="700" dirty="0" smtClean="0">
                <a:latin typeface="+mn-ea"/>
              </a:endParaRPr>
            </a:p>
          </p:txBody>
        </p: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13" name="TextBox 112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</p:spTree>
    <p:extLst>
      <p:ext uri="{BB962C8B-B14F-4D97-AF65-F5344CB8AC3E}">
        <p14:creationId xmlns:p14="http://schemas.microsoft.com/office/powerpoint/2010/main" val="3325215457"/>
      </p:ext>
    </p:extLst>
  </p:cSld>
  <p:clrMapOvr>
    <a:masterClrMapping/>
  </p:clrMapOvr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smtClean="0"/>
              <a:t>세부 정보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공사</a:t>
            </a:r>
            <a:r>
              <a:rPr lang="en-US" altLang="ko-KR" dirty="0" smtClean="0"/>
              <a:t>(</a:t>
            </a:r>
            <a:r>
              <a:rPr lang="ko-KR" altLang="en-US" dirty="0" smtClean="0"/>
              <a:t>종</a:t>
            </a:r>
            <a:r>
              <a:rPr lang="en-US" altLang="ko-KR" dirty="0" smtClean="0"/>
              <a:t>)</a:t>
            </a:r>
            <a:r>
              <a:rPr lang="ko-KR" altLang="en-US" dirty="0" smtClean="0"/>
              <a:t>명이 있는 경우에 따라 반복 테이블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전기공사</a:t>
            </a:r>
            <a:r>
              <a:rPr lang="en-US" altLang="ko-KR" dirty="0" smtClean="0"/>
              <a:t>, </a:t>
            </a:r>
            <a:r>
              <a:rPr lang="ko-KR" altLang="en-US" dirty="0" smtClean="0"/>
              <a:t>소방공사</a:t>
            </a:r>
            <a:r>
              <a:rPr lang="en-US" altLang="ko-KR" dirty="0" smtClean="0"/>
              <a:t>, </a:t>
            </a:r>
            <a:r>
              <a:rPr lang="ko-KR" altLang="en-US" dirty="0" smtClean="0"/>
              <a:t>기계설비공사</a:t>
            </a:r>
            <a:r>
              <a:rPr lang="en-US" altLang="ko-KR" dirty="0" smtClean="0"/>
              <a:t>, </a:t>
            </a:r>
            <a:r>
              <a:rPr lang="ko-KR" altLang="en-US" dirty="0" smtClean="0"/>
              <a:t>그 밖의 공사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240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상세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unitG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64658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0" name="타원 149"/>
          <p:cNvSpPr/>
          <p:nvPr/>
        </p:nvSpPr>
        <p:spPr>
          <a:xfrm>
            <a:off x="2909237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모서리가 둥근 직사각형 150"/>
          <p:cNvSpPr/>
          <p:nvPr/>
        </p:nvSpPr>
        <p:spPr>
          <a:xfrm>
            <a:off x="3053237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출력</a:t>
            </a:r>
          </a:p>
        </p:txBody>
      </p: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4" name="그룹 203"/>
          <p:cNvGrpSpPr/>
          <p:nvPr/>
        </p:nvGrpSpPr>
        <p:grpSpPr>
          <a:xfrm>
            <a:off x="764658" y="1600627"/>
            <a:ext cx="988410" cy="119400"/>
            <a:chOff x="933861" y="2126479"/>
            <a:chExt cx="988410" cy="119400"/>
          </a:xfrm>
        </p:grpSpPr>
        <p:sp>
          <p:nvSpPr>
            <p:cNvPr id="205" name="모서리가 둥근 직사각형 204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공사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206" name="모서리가 둥근 직사각형 205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계약구분</a:t>
              </a:r>
              <a:endParaRPr lang="ko-KR" altLang="en-US" sz="600" dirty="0"/>
            </a:p>
          </p:txBody>
        </p:sp>
        <p:sp>
          <p:nvSpPr>
            <p:cNvPr id="207" name="모서리가 둥근 직사각형 206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발급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6" name="그룹 5"/>
          <p:cNvGrpSpPr/>
          <p:nvPr/>
        </p:nvGrpSpPr>
        <p:grpSpPr>
          <a:xfrm>
            <a:off x="675399" y="2607641"/>
            <a:ext cx="2712026" cy="3108762"/>
            <a:chOff x="675399" y="2607641"/>
            <a:chExt cx="2712026" cy="3108762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607641"/>
              <a:ext cx="2208095" cy="24577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ko-KR" altLang="en-US" sz="700" dirty="0">
                  <a:latin typeface="+mn-ea"/>
                </a:rPr>
                <a:t>복합공사종류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다른 공사 종류 포함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실적 </a:t>
              </a:r>
              <a:r>
                <a:rPr lang="ko-KR" altLang="en-US" sz="700" dirty="0" smtClean="0">
                  <a:latin typeface="+mn-ea"/>
                </a:rPr>
                <a:t>명세 </a:t>
              </a: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18459" y="2897709"/>
              <a:ext cx="792000" cy="171534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공사</a:t>
              </a: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 smtClean="0">
                  <a:latin typeface="+mn-ea"/>
                </a:rPr>
                <a:t>종</a:t>
              </a:r>
              <a:r>
                <a:rPr lang="en-US" altLang="ko-KR" sz="700" dirty="0" smtClean="0">
                  <a:latin typeface="+mn-ea"/>
                </a:rPr>
                <a:t>)</a:t>
              </a:r>
              <a:r>
                <a:rPr lang="ko-KR" altLang="en-US" sz="700" dirty="0" smtClean="0">
                  <a:latin typeface="+mn-ea"/>
                </a:rPr>
                <a:t>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착공연월일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준공연월일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지난연도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ko-KR" altLang="en-US" sz="700" dirty="0" err="1" smtClean="0">
                  <a:latin typeface="+mn-ea"/>
                </a:rPr>
                <a:t>기성액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해당연도 </a:t>
              </a:r>
              <a:r>
                <a:rPr lang="ko-KR" altLang="en-US" sz="700" dirty="0" err="1" smtClean="0">
                  <a:latin typeface="+mn-ea"/>
                </a:rPr>
                <a:t>기성액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하도급금액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미기성금액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2897708"/>
              <a:ext cx="17840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/>
                <a:t>전기공사</a:t>
              </a:r>
              <a:endParaRPr lang="en-US" altLang="ko-KR" sz="700" dirty="0" smtClean="0"/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/>
                <a:t>2020-01-10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/>
                <a:t>2020-01-10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 smtClean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 smtClean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 smtClean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 smtClean="0"/>
                <a:t>천원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571640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61346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90" name="그룹 89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015195"/>
            <a:ext cx="76863" cy="292489"/>
            <a:chOff x="3750067" y="4683795"/>
            <a:chExt cx="76863" cy="292489"/>
          </a:xfrm>
        </p:grpSpPr>
        <p:sp>
          <p:nvSpPr>
            <p:cNvPr id="110" name="타원 10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14" name="타원 113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16" name="타원 11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843661530"/>
      </p:ext>
    </p:extLst>
  </p:cSld>
  <p:clrMapOvr>
    <a:masterClrMapping/>
  </p:clrMapOvr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 smtClean="0"/>
              <a:t>제출유형에</a:t>
            </a:r>
            <a:r>
              <a:rPr lang="ko-KR" altLang="en-US" dirty="0" smtClean="0"/>
              <a:t> 따라 하단 표시 정보 변경 </a:t>
            </a:r>
            <a:r>
              <a:rPr lang="en-US" altLang="ko-KR" dirty="0" smtClean="0"/>
              <a:t>(</a:t>
            </a:r>
            <a:r>
              <a:rPr lang="ko-KR" altLang="en-US" dirty="0" smtClean="0"/>
              <a:t>신청도 동일</a:t>
            </a:r>
            <a:r>
              <a:rPr lang="en-US" altLang="ko-KR" dirty="0" smtClean="0"/>
              <a:t>)</a:t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- Unit H – </a:t>
            </a:r>
            <a:r>
              <a:rPr lang="ko-KR" altLang="en-US" dirty="0" smtClean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  </a:t>
            </a:r>
            <a:r>
              <a:rPr lang="en-US" altLang="ko-KR" dirty="0"/>
              <a:t>&gt; 9.</a:t>
            </a:r>
            <a:r>
              <a:rPr lang="ko-KR" altLang="en-US" dirty="0"/>
              <a:t>건설공사기성실적증명</a:t>
            </a:r>
            <a:r>
              <a:rPr lang="en-US" altLang="ko-KR" dirty="0"/>
              <a:t>(</a:t>
            </a:r>
            <a:r>
              <a:rPr lang="ko-KR" altLang="en-US" dirty="0"/>
              <a:t>신청</a:t>
            </a:r>
            <a:r>
              <a:rPr lang="en-US" altLang="ko-KR" dirty="0"/>
              <a:t>)</a:t>
            </a:r>
            <a:r>
              <a:rPr lang="ko-KR" altLang="en-US" dirty="0"/>
              <a:t>서</a:t>
            </a:r>
            <a:r>
              <a:rPr lang="en-US" altLang="ko-KR" dirty="0"/>
              <a:t>_</a:t>
            </a:r>
            <a:r>
              <a:rPr lang="ko-KR" altLang="en-US" dirty="0" err="1"/>
              <a:t>세부공종</a:t>
            </a:r>
            <a:r>
              <a:rPr lang="en-US" altLang="ko-KR" dirty="0"/>
              <a:t>(</a:t>
            </a:r>
            <a:r>
              <a:rPr lang="ko-KR" altLang="en-US" dirty="0"/>
              <a:t>전문</a:t>
            </a:r>
            <a:r>
              <a:rPr lang="en-US" altLang="ko-KR" dirty="0"/>
              <a:t>) [</a:t>
            </a:r>
            <a:r>
              <a:rPr lang="ko-KR" altLang="en-US" dirty="0"/>
              <a:t>건설산업기본법 시행규칙</a:t>
            </a:r>
            <a:r>
              <a:rPr lang="en-US" altLang="ko-KR" dirty="0"/>
              <a:t>/</a:t>
            </a:r>
            <a:r>
              <a:rPr lang="ko-KR" altLang="en-US" dirty="0" err="1"/>
              <a:t>국토해양부</a:t>
            </a:r>
            <a:r>
              <a:rPr lang="en-US" altLang="ko-KR" dirty="0"/>
              <a:t>]</a:t>
            </a:r>
            <a:endParaRPr lang="en-US" altLang="ko-KR" dirty="0" smtClean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smtClean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241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상세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</a:t>
            </a:r>
            <a:r>
              <a:rPr lang="ko-KR" altLang="en-US" dirty="0" smtClean="0">
                <a:latin typeface="+mn-ea"/>
              </a:rPr>
              <a:t>구분 </a:t>
            </a:r>
            <a:r>
              <a:rPr lang="ko-KR" altLang="en-US" dirty="0" err="1" smtClean="0">
                <a:latin typeface="+mn-ea"/>
              </a:rPr>
              <a:t>부대면서</a:t>
            </a:r>
            <a:r>
              <a:rPr lang="ko-KR" altLang="en-US" dirty="0" smtClean="0">
                <a:latin typeface="+mn-ea"/>
              </a:rPr>
              <a:t> 시설공사일 때 </a:t>
            </a:r>
            <a:r>
              <a:rPr lang="en-US" altLang="ko-KR" dirty="0" smtClean="0">
                <a:latin typeface="+mn-ea"/>
              </a:rPr>
              <a:t>–</a:t>
            </a:r>
            <a:r>
              <a:rPr lang="ko-KR" altLang="en-US" dirty="0" smtClean="0">
                <a:latin typeface="+mn-ea"/>
              </a:rPr>
              <a:t> </a:t>
            </a:r>
            <a:r>
              <a:rPr lang="en-US" altLang="ko-KR" dirty="0" err="1" smtClean="0">
                <a:latin typeface="+mn-ea"/>
              </a:rPr>
              <a:t>unitH</a:t>
            </a:r>
            <a:r>
              <a:rPr lang="en-US" altLang="ko-KR" dirty="0" smtClean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7" name="타원 106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모서리가 둥근 직사각형 107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출력</a:t>
            </a:r>
          </a:p>
        </p:txBody>
      </p: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64658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0" name="타원 149"/>
          <p:cNvSpPr/>
          <p:nvPr/>
        </p:nvSpPr>
        <p:spPr>
          <a:xfrm>
            <a:off x="2909237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모서리가 둥근 직사각형 150"/>
          <p:cNvSpPr/>
          <p:nvPr/>
        </p:nvSpPr>
        <p:spPr>
          <a:xfrm>
            <a:off x="3053237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출력</a:t>
            </a:r>
          </a:p>
        </p:txBody>
      </p: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0" name="그룹 199"/>
          <p:cNvGrpSpPr/>
          <p:nvPr/>
        </p:nvGrpSpPr>
        <p:grpSpPr>
          <a:xfrm>
            <a:off x="3888348" y="1604378"/>
            <a:ext cx="988410" cy="119400"/>
            <a:chOff x="933861" y="2126479"/>
            <a:chExt cx="988410" cy="119400"/>
          </a:xfrm>
        </p:grpSpPr>
        <p:sp>
          <p:nvSpPr>
            <p:cNvPr id="201" name="모서리가 둥근 직사각형 200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공사</a:t>
              </a:r>
            </a:p>
          </p:txBody>
        </p:sp>
        <p:sp>
          <p:nvSpPr>
            <p:cNvPr id="202" name="모서리가 둥근 직사각형 201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계약구분</a:t>
              </a:r>
              <a:endParaRPr lang="ko-KR" altLang="en-US" sz="600" dirty="0"/>
            </a:p>
          </p:txBody>
        </p:sp>
        <p:sp>
          <p:nvSpPr>
            <p:cNvPr id="203" name="모서리가 둥근 직사각형 202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발급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204" name="그룹 203"/>
          <p:cNvGrpSpPr/>
          <p:nvPr/>
        </p:nvGrpSpPr>
        <p:grpSpPr>
          <a:xfrm>
            <a:off x="764658" y="1600627"/>
            <a:ext cx="988410" cy="119400"/>
            <a:chOff x="933861" y="2126479"/>
            <a:chExt cx="988410" cy="119400"/>
          </a:xfrm>
        </p:grpSpPr>
        <p:sp>
          <p:nvSpPr>
            <p:cNvPr id="205" name="모서리가 둥근 직사각형 204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공사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206" name="모서리가 둥근 직사각형 205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계약구분</a:t>
              </a:r>
              <a:endParaRPr lang="ko-KR" altLang="en-US" sz="600" dirty="0"/>
            </a:p>
          </p:txBody>
        </p:sp>
        <p:sp>
          <p:nvSpPr>
            <p:cNvPr id="207" name="모서리가 둥근 직사각형 206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발급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949854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2590223"/>
            <a:ext cx="2208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공사내역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6259759" y="2703554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3838794" y="2897709"/>
            <a:ext cx="792000" cy="193225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289770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897708"/>
            <a:ext cx="792000" cy="193899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공사명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총공사금액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공사유형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인허가 기관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인허가 </a:t>
            </a:r>
            <a:r>
              <a:rPr lang="ko-KR" altLang="en-US" sz="700" dirty="0" err="1" smtClean="0">
                <a:latin typeface="+mn-ea"/>
              </a:rPr>
              <a:t>년월일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주력분야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세부공증</a:t>
            </a:r>
            <a:r>
              <a:rPr lang="en-US" altLang="ko-KR" sz="700" dirty="0" smtClean="0">
                <a:latin typeface="+mn-ea"/>
              </a:rPr>
              <a:t>(</a:t>
            </a:r>
            <a:r>
              <a:rPr lang="ko-KR" altLang="en-US" sz="700" dirty="0" smtClean="0">
                <a:latin typeface="+mn-ea"/>
              </a:rPr>
              <a:t>전문</a:t>
            </a:r>
            <a:r>
              <a:rPr lang="en-US" altLang="ko-KR" sz="700" dirty="0" smtClean="0">
                <a:latin typeface="+mn-ea"/>
              </a:rPr>
              <a:t>)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실적년도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2897708"/>
            <a:ext cx="1784088" cy="193899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/>
              <a:t>공사 명칭 표시 영역</a:t>
            </a:r>
            <a:endParaRPr lang="en-US" altLang="ko-KR" sz="700" dirty="0" smtClean="0"/>
          </a:p>
          <a:p>
            <a:pPr algn="r">
              <a:lnSpc>
                <a:spcPct val="200000"/>
              </a:lnSpc>
            </a:pPr>
            <a:r>
              <a:rPr lang="en-US" altLang="ko-KR" sz="700" dirty="0" smtClean="0"/>
              <a:t>100,000 </a:t>
            </a:r>
            <a:r>
              <a:rPr lang="ko-KR" altLang="en-US" sz="700" dirty="0" smtClean="0"/>
              <a:t>천원</a:t>
            </a:r>
            <a:endParaRPr lang="en-US" altLang="ko-KR" sz="700" dirty="0" smtClean="0"/>
          </a:p>
          <a:p>
            <a:pPr>
              <a:lnSpc>
                <a:spcPct val="200000"/>
              </a:lnSpc>
            </a:pPr>
            <a:r>
              <a:rPr lang="ko-KR" altLang="en-US" sz="700" dirty="0" smtClean="0"/>
              <a:t>경기도 과천시</a:t>
            </a:r>
            <a:r>
              <a:rPr lang="en-US" altLang="ko-KR" sz="700" dirty="0" smtClean="0"/>
              <a:t>…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 smtClean="0"/>
              <a:t>신설공사</a:t>
            </a:r>
            <a:endParaRPr lang="en-US" altLang="ko-KR" sz="700" dirty="0" smtClean="0"/>
          </a:p>
          <a:p>
            <a:pPr>
              <a:lnSpc>
                <a:spcPct val="200000"/>
              </a:lnSpc>
            </a:pPr>
            <a:r>
              <a:rPr lang="ko-KR" altLang="en-US" sz="700" dirty="0" err="1" smtClean="0"/>
              <a:t>방위사업청</a:t>
            </a:r>
            <a:endParaRPr lang="en-US" altLang="ko-KR" sz="700" dirty="0" smtClean="0"/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2010-01-01</a:t>
            </a:r>
          </a:p>
          <a:p>
            <a:pPr>
              <a:lnSpc>
                <a:spcPct val="200000"/>
              </a:lnSpc>
            </a:pPr>
            <a:r>
              <a:rPr lang="ko-KR" altLang="en-US" sz="700" dirty="0"/>
              <a:t>무기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공항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2023</a:t>
            </a:r>
            <a:r>
              <a:rPr lang="ko-KR" altLang="en-US" sz="700" dirty="0" smtClean="0">
                <a:latin typeface="+mn-ea"/>
              </a:rPr>
              <a:t>년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12881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34252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55622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76993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97742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20195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4096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61715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4041215"/>
            <a:ext cx="2630093" cy="1179711"/>
            <a:chOff x="720490" y="2590223"/>
            <a:chExt cx="2630093" cy="1179711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신청인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영업소 소재지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등록번호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</a:t>
              </a:r>
              <a:r>
                <a:rPr lang="ko-KR" altLang="en-US" sz="700" dirty="0">
                  <a:latin typeface="+mn-ea"/>
                </a:rPr>
                <a:t>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2590223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15126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9.</a:t>
              </a:r>
              <a:r>
                <a:rPr lang="ko-KR" altLang="en-US" sz="700" dirty="0">
                  <a:latin typeface="+mn-ea"/>
                </a:rPr>
                <a:t>건설공사기성실적증명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신청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서</a:t>
              </a:r>
              <a:r>
                <a:rPr lang="en-US" altLang="ko-KR" sz="700" dirty="0">
                  <a:latin typeface="+mn-ea"/>
                </a:rPr>
                <a:t>_</a:t>
              </a:r>
              <a:r>
                <a:rPr lang="ko-KR" altLang="en-US" sz="700" dirty="0" err="1">
                  <a:latin typeface="+mn-ea"/>
                </a:rPr>
                <a:t>세부공종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전문</a:t>
              </a:r>
              <a:r>
                <a:rPr lang="en-US" altLang="ko-KR" sz="700" dirty="0">
                  <a:latin typeface="+mn-ea"/>
                </a:rPr>
                <a:t>) [</a:t>
              </a:r>
              <a:r>
                <a:rPr lang="ko-KR" altLang="en-US" sz="700" dirty="0">
                  <a:latin typeface="+mn-ea"/>
                </a:rPr>
                <a:t>건설산업기본법 시행규칙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국토해양부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방위사업청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</a:t>
              </a:r>
              <a:r>
                <a:rPr lang="ko-KR" altLang="en-US" sz="700" dirty="0" smtClean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신청인 연락처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제출처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78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906507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06963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82995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3347503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현장 소재지</a:t>
            </a:r>
            <a:endParaRPr lang="en-US" altLang="ko-KR" sz="700" dirty="0" smtClean="0">
              <a:latin typeface="+mn-ea"/>
            </a:endParaRPr>
          </a:p>
          <a:p>
            <a:r>
              <a:rPr lang="en-US" altLang="ko-KR" sz="700" dirty="0" smtClean="0">
                <a:latin typeface="+mn-ea"/>
              </a:rPr>
              <a:t>(</a:t>
            </a:r>
            <a:r>
              <a:rPr lang="ko-KR" altLang="en-US" sz="700" dirty="0" smtClean="0">
                <a:latin typeface="+mn-ea"/>
              </a:rPr>
              <a:t>번지까지 기재</a:t>
            </a:r>
            <a:r>
              <a:rPr lang="en-US" altLang="ko-KR" sz="700" dirty="0" smtClean="0">
                <a:latin typeface="+mn-ea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3010835656"/>
      </p:ext>
    </p:extLst>
  </p:cSld>
  <p:clrMapOvr>
    <a:masterClrMapping/>
  </p:clrMapOvr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smtClean="0"/>
              <a:t>세부 정보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추가정보가</a:t>
            </a:r>
            <a:r>
              <a:rPr lang="ko-KR" altLang="en-US" dirty="0" smtClean="0"/>
              <a:t> 있는 경우 추가 표시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242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상세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 smtClean="0">
                <a:latin typeface="+mn-ea"/>
              </a:rPr>
              <a:t>unitH</a:t>
            </a:r>
            <a:r>
              <a:rPr lang="en-US" altLang="ko-KR" dirty="0" smtClean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64658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0" name="타원 149"/>
          <p:cNvSpPr/>
          <p:nvPr/>
        </p:nvSpPr>
        <p:spPr>
          <a:xfrm>
            <a:off x="2909237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모서리가 둥근 직사각형 150"/>
          <p:cNvSpPr/>
          <p:nvPr/>
        </p:nvSpPr>
        <p:spPr>
          <a:xfrm>
            <a:off x="3053237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출력</a:t>
            </a:r>
          </a:p>
        </p:txBody>
      </p: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4" name="그룹 203"/>
          <p:cNvGrpSpPr/>
          <p:nvPr/>
        </p:nvGrpSpPr>
        <p:grpSpPr>
          <a:xfrm>
            <a:off x="764658" y="1600627"/>
            <a:ext cx="988410" cy="119400"/>
            <a:chOff x="933861" y="2126479"/>
            <a:chExt cx="988410" cy="119400"/>
          </a:xfrm>
        </p:grpSpPr>
        <p:sp>
          <p:nvSpPr>
            <p:cNvPr id="205" name="모서리가 둥근 직사각형 204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공사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206" name="모서리가 둥근 직사각형 205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계약구분</a:t>
              </a:r>
              <a:endParaRPr lang="ko-KR" altLang="en-US" sz="600" dirty="0"/>
            </a:p>
          </p:txBody>
        </p:sp>
        <p:sp>
          <p:nvSpPr>
            <p:cNvPr id="207" name="모서리가 둥근 직사각형 206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발급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337" y="2607641"/>
            <a:ext cx="2208095" cy="24577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700" dirty="0">
                <a:latin typeface="+mn-ea"/>
              </a:rPr>
              <a:t>복합공사종류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다른 공사 종류 포함</a:t>
            </a:r>
            <a:r>
              <a:rPr lang="en-US" altLang="ko-KR" sz="700" dirty="0">
                <a:latin typeface="+mn-ea"/>
              </a:rPr>
              <a:t>)</a:t>
            </a:r>
            <a:r>
              <a:rPr lang="ko-KR" altLang="en-US" sz="700" dirty="0">
                <a:latin typeface="+mn-ea"/>
              </a:rPr>
              <a:t>실적 </a:t>
            </a:r>
            <a:r>
              <a:rPr lang="ko-KR" altLang="en-US" sz="700" dirty="0" smtClean="0">
                <a:latin typeface="+mn-ea"/>
              </a:rPr>
              <a:t>명세 </a:t>
            </a:r>
            <a:r>
              <a:rPr lang="en-US" altLang="ko-KR" sz="700" dirty="0" smtClean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단위</a:t>
            </a:r>
            <a:r>
              <a:rPr lang="en-US" altLang="ko-KR" sz="700" dirty="0">
                <a:latin typeface="+mn-ea"/>
              </a:rPr>
              <a:t>:</a:t>
            </a:r>
            <a:r>
              <a:rPr lang="ko-KR" altLang="en-US" sz="700" dirty="0">
                <a:latin typeface="+mn-ea"/>
              </a:rPr>
              <a:t>천원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부가세포함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3139424" y="2703554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718459" y="2897709"/>
            <a:ext cx="792000" cy="19519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6366" y="289770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2897708"/>
            <a:ext cx="79200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계약연월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착공연월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준공연월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당년도 </a:t>
            </a:r>
            <a:r>
              <a:rPr lang="ko-KR" altLang="en-US" sz="700" dirty="0" err="1" smtClean="0">
                <a:latin typeface="+mn-ea"/>
              </a:rPr>
              <a:t>기성액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당년도 </a:t>
            </a:r>
            <a:r>
              <a:rPr lang="ko-KR" altLang="en-US" sz="700" dirty="0" err="1" smtClean="0">
                <a:latin typeface="+mn-ea"/>
              </a:rPr>
              <a:t>기성지급액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총계약금액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2371" y="2897708"/>
            <a:ext cx="1784088" cy="193899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/>
              <a:t>2020-01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/>
              <a:t>2020-01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/>
              <a:t>2020-01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 smtClean="0"/>
              <a:t>1,000 </a:t>
            </a:r>
            <a:r>
              <a:rPr lang="ko-KR" altLang="en-US" sz="700" dirty="0" smtClean="0"/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1,000 </a:t>
            </a:r>
            <a:r>
              <a:rPr lang="ko-KR" altLang="en-US" sz="700" dirty="0" smtClean="0"/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1,000 </a:t>
            </a:r>
            <a:r>
              <a:rPr lang="ko-KR" altLang="en-US" sz="700" dirty="0" smtClean="0"/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1,000 </a:t>
            </a:r>
            <a:r>
              <a:rPr lang="ko-KR" altLang="en-US" sz="700" dirty="0" smtClean="0"/>
              <a:t>천원</a:t>
            </a:r>
            <a:endParaRPr lang="en-US" altLang="ko-KR" sz="700" dirty="0"/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1,000 </a:t>
            </a:r>
            <a:r>
              <a:rPr lang="ko-KR" altLang="en-US" sz="700" dirty="0"/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1,000 </a:t>
            </a:r>
            <a:r>
              <a:rPr lang="ko-KR" altLang="en-US" sz="700" dirty="0" smtClean="0"/>
              <a:t>천원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12881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34252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55622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76993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97742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20195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4096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61715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252507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61346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3557531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/>
              <a:t>당년도 </a:t>
            </a:r>
            <a:r>
              <a:rPr lang="ko-KR" altLang="en-US" sz="700" dirty="0" err="1"/>
              <a:t>계약액</a:t>
            </a:r>
            <a:r>
              <a:rPr lang="ko-KR" altLang="en-US" sz="700" dirty="0"/>
              <a:t> 또는 </a:t>
            </a:r>
            <a:r>
              <a:rPr lang="ko-KR" altLang="en-US" sz="700" dirty="0" err="1"/>
              <a:t>이월금액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4410722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/>
              <a:t>전년도까지</a:t>
            </a:r>
            <a:endParaRPr lang="en-US" altLang="ko-KR" sz="700" dirty="0" smtClean="0"/>
          </a:p>
          <a:p>
            <a:r>
              <a:rPr lang="ko-KR" altLang="en-US" sz="700" dirty="0" err="1" smtClean="0">
                <a:latin typeface="+mn-ea"/>
              </a:rPr>
              <a:t>누계기성액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4630188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/>
              <a:t>전년도까지</a:t>
            </a:r>
            <a:endParaRPr lang="en-US" altLang="ko-KR" sz="700" dirty="0" smtClean="0"/>
          </a:p>
          <a:p>
            <a:r>
              <a:rPr lang="ko-KR" altLang="en-US" sz="700" dirty="0" err="1" smtClean="0">
                <a:latin typeface="+mn-ea"/>
              </a:rPr>
              <a:t>누계지급액</a:t>
            </a:r>
            <a:endParaRPr lang="en-US" altLang="ko-KR" sz="700" dirty="0" smtClean="0">
              <a:latin typeface="+mn-ea"/>
            </a:endParaRPr>
          </a:p>
        </p:txBody>
      </p:sp>
      <p:cxnSp>
        <p:nvCxnSpPr>
          <p:cNvPr id="47" name="직선 연결선 4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85595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8" name="그룹 47"/>
          <p:cNvGrpSpPr/>
          <p:nvPr/>
        </p:nvGrpSpPr>
        <p:grpSpPr>
          <a:xfrm>
            <a:off x="675399" y="5358712"/>
            <a:ext cx="2712027" cy="789495"/>
            <a:chOff x="675399" y="1544009"/>
            <a:chExt cx="2712027" cy="789495"/>
          </a:xfrm>
        </p:grpSpPr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그 밖의 사항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공사의 규모 공법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공동 </a:t>
              </a:r>
              <a:r>
                <a:rPr lang="ko-KR" altLang="en-US" sz="700" dirty="0" err="1">
                  <a:latin typeface="+mn-ea"/>
                </a:rPr>
                <a:t>도급내역</a:t>
              </a:r>
              <a:r>
                <a:rPr lang="ko-KR" altLang="en-US" sz="700" dirty="0">
                  <a:latin typeface="+mn-ea"/>
                </a:rPr>
                <a:t> 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50" name="그룹 49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54" name="직선 연결선 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5" name="직선 연결선 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내용 표시 영역은 내용에 맞춰 높이를 조정하여 표시</a:t>
              </a:r>
              <a:endParaRPr lang="en-US" altLang="ko-KR" sz="700" dirty="0" smtClean="0">
                <a:latin typeface="+mn-ea"/>
              </a:endParaRPr>
            </a:p>
          </p:txBody>
        </p: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919239"/>
            <a:ext cx="76863" cy="292489"/>
            <a:chOff x="3750067" y="4683795"/>
            <a:chExt cx="76863" cy="292489"/>
          </a:xfrm>
        </p:grpSpPr>
        <p:sp>
          <p:nvSpPr>
            <p:cNvPr id="57" name="타원 56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8" name="타원 57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9" name="타원 58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306961592"/>
      </p:ext>
    </p:extLst>
  </p:cSld>
  <p:clrMapOvr>
    <a:masterClrMapping/>
  </p:clrMapOvr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 smtClean="0"/>
              <a:t>제출유형에</a:t>
            </a:r>
            <a:r>
              <a:rPr lang="ko-KR" altLang="en-US" dirty="0" smtClean="0"/>
              <a:t> 따라 하단 표시 정보 변경 </a:t>
            </a:r>
            <a:r>
              <a:rPr lang="en-US" altLang="ko-KR" dirty="0" smtClean="0"/>
              <a:t>(</a:t>
            </a:r>
            <a:r>
              <a:rPr lang="ko-KR" altLang="en-US" dirty="0" smtClean="0"/>
              <a:t>신청도 동일</a:t>
            </a:r>
            <a:r>
              <a:rPr lang="en-US" altLang="ko-KR" dirty="0" smtClean="0"/>
              <a:t>)</a:t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- Unit I – </a:t>
            </a:r>
            <a:r>
              <a:rPr lang="ko-KR" altLang="en-US" dirty="0" smtClean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  </a:t>
            </a:r>
            <a:r>
              <a:rPr lang="en-US" altLang="ko-KR" dirty="0"/>
              <a:t>&gt; 10.</a:t>
            </a:r>
            <a:r>
              <a:rPr lang="ko-KR" altLang="en-US" dirty="0"/>
              <a:t>건설공사 </a:t>
            </a:r>
            <a:r>
              <a:rPr lang="ko-KR" altLang="en-US" dirty="0" err="1"/>
              <a:t>직접시공분</a:t>
            </a:r>
            <a:r>
              <a:rPr lang="ko-KR" altLang="en-US" dirty="0"/>
              <a:t> 기성실적증명</a:t>
            </a:r>
            <a:r>
              <a:rPr lang="en-US" altLang="ko-KR" dirty="0"/>
              <a:t>(</a:t>
            </a:r>
            <a:r>
              <a:rPr lang="ko-KR" altLang="en-US" dirty="0"/>
              <a:t>신청</a:t>
            </a:r>
            <a:r>
              <a:rPr lang="en-US" altLang="ko-KR" dirty="0"/>
              <a:t>)</a:t>
            </a:r>
            <a:r>
              <a:rPr lang="ko-KR" altLang="en-US" dirty="0"/>
              <a:t>서 </a:t>
            </a:r>
            <a:r>
              <a:rPr lang="en-US" altLang="ko-KR" dirty="0"/>
              <a:t>[</a:t>
            </a:r>
            <a:r>
              <a:rPr lang="ko-KR" altLang="en-US" dirty="0"/>
              <a:t>건설산업기본법 시행규칙</a:t>
            </a:r>
            <a:r>
              <a:rPr lang="en-US" altLang="ko-KR" dirty="0"/>
              <a:t>/</a:t>
            </a:r>
            <a:r>
              <a:rPr lang="ko-KR" altLang="en-US" dirty="0" err="1"/>
              <a:t>국토해양부</a:t>
            </a:r>
            <a:r>
              <a:rPr lang="en-US" altLang="ko-KR" dirty="0"/>
              <a:t>]</a:t>
            </a:r>
            <a:endParaRPr lang="en-US" altLang="ko-KR" dirty="0" smtClean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smtClean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243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상세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</a:t>
            </a:r>
            <a:r>
              <a:rPr lang="ko-KR" altLang="en-US" dirty="0" smtClean="0">
                <a:latin typeface="+mn-ea"/>
              </a:rPr>
              <a:t>구분 </a:t>
            </a:r>
            <a:r>
              <a:rPr lang="ko-KR" altLang="en-US" dirty="0" err="1" smtClean="0">
                <a:latin typeface="+mn-ea"/>
              </a:rPr>
              <a:t>부대면서</a:t>
            </a:r>
            <a:r>
              <a:rPr lang="ko-KR" altLang="en-US" dirty="0" smtClean="0">
                <a:latin typeface="+mn-ea"/>
              </a:rPr>
              <a:t> 시설공사일 때 </a:t>
            </a:r>
            <a:r>
              <a:rPr lang="en-US" altLang="ko-KR" dirty="0" smtClean="0">
                <a:latin typeface="+mn-ea"/>
              </a:rPr>
              <a:t>–</a:t>
            </a:r>
            <a:r>
              <a:rPr lang="ko-KR" altLang="en-US" dirty="0" smtClean="0">
                <a:latin typeface="+mn-ea"/>
              </a:rPr>
              <a:t> </a:t>
            </a:r>
            <a:r>
              <a:rPr lang="en-US" altLang="ko-KR" dirty="0" err="1" smtClean="0">
                <a:latin typeface="+mn-ea"/>
              </a:rPr>
              <a:t>unitI</a:t>
            </a:r>
            <a:r>
              <a:rPr lang="en-US" altLang="ko-KR" dirty="0" smtClean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7" name="타원 106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모서리가 둥근 직사각형 107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출력</a:t>
            </a:r>
          </a:p>
        </p:txBody>
      </p: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64658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0" name="타원 149"/>
          <p:cNvSpPr/>
          <p:nvPr/>
        </p:nvSpPr>
        <p:spPr>
          <a:xfrm>
            <a:off x="2909237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모서리가 둥근 직사각형 150"/>
          <p:cNvSpPr/>
          <p:nvPr/>
        </p:nvSpPr>
        <p:spPr>
          <a:xfrm>
            <a:off x="3053237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출력</a:t>
            </a:r>
          </a:p>
        </p:txBody>
      </p: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0" name="그룹 199"/>
          <p:cNvGrpSpPr/>
          <p:nvPr/>
        </p:nvGrpSpPr>
        <p:grpSpPr>
          <a:xfrm>
            <a:off x="3888348" y="1604378"/>
            <a:ext cx="988410" cy="119400"/>
            <a:chOff x="933861" y="2126479"/>
            <a:chExt cx="988410" cy="119400"/>
          </a:xfrm>
        </p:grpSpPr>
        <p:sp>
          <p:nvSpPr>
            <p:cNvPr id="201" name="모서리가 둥근 직사각형 200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공사</a:t>
              </a:r>
            </a:p>
          </p:txBody>
        </p:sp>
        <p:sp>
          <p:nvSpPr>
            <p:cNvPr id="202" name="모서리가 둥근 직사각형 201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계약구분</a:t>
              </a:r>
              <a:endParaRPr lang="ko-KR" altLang="en-US" sz="600" dirty="0"/>
            </a:p>
          </p:txBody>
        </p:sp>
        <p:sp>
          <p:nvSpPr>
            <p:cNvPr id="203" name="모서리가 둥근 직사각형 202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발급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204" name="그룹 203"/>
          <p:cNvGrpSpPr/>
          <p:nvPr/>
        </p:nvGrpSpPr>
        <p:grpSpPr>
          <a:xfrm>
            <a:off x="764658" y="1600627"/>
            <a:ext cx="988410" cy="119400"/>
            <a:chOff x="933861" y="2126479"/>
            <a:chExt cx="988410" cy="119400"/>
          </a:xfrm>
        </p:grpSpPr>
        <p:sp>
          <p:nvSpPr>
            <p:cNvPr id="205" name="모서리가 둥근 직사각형 204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공사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206" name="모서리가 둥근 직사각형 205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계약구분</a:t>
              </a:r>
              <a:endParaRPr lang="ko-KR" altLang="en-US" sz="600" dirty="0"/>
            </a:p>
          </p:txBody>
        </p:sp>
        <p:sp>
          <p:nvSpPr>
            <p:cNvPr id="207" name="모서리가 둥근 직사각형 206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발급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949854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2590223"/>
            <a:ext cx="2208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공사내역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6259759" y="2703554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3838794" y="2897709"/>
            <a:ext cx="792000" cy="15158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289770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897708"/>
            <a:ext cx="79200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공사명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총공사금액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인허가 기관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인허가 </a:t>
            </a:r>
            <a:r>
              <a:rPr lang="ko-KR" altLang="en-US" sz="700" dirty="0" err="1" smtClean="0">
                <a:latin typeface="+mn-ea"/>
              </a:rPr>
              <a:t>년월일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실적년도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2897708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/>
              <a:t>공사 명칭 표시 영역</a:t>
            </a:r>
            <a:endParaRPr lang="en-US" altLang="ko-KR" sz="700" dirty="0" smtClean="0"/>
          </a:p>
          <a:p>
            <a:pPr algn="r">
              <a:lnSpc>
                <a:spcPct val="200000"/>
              </a:lnSpc>
            </a:pPr>
            <a:r>
              <a:rPr lang="en-US" altLang="ko-KR" sz="700" dirty="0" smtClean="0"/>
              <a:t>1,000 </a:t>
            </a:r>
            <a:r>
              <a:rPr lang="ko-KR" altLang="en-US" sz="700" dirty="0" err="1" smtClean="0"/>
              <a:t>백원</a:t>
            </a:r>
            <a:endParaRPr lang="en-US" altLang="ko-KR" sz="700" dirty="0" smtClean="0"/>
          </a:p>
          <a:p>
            <a:pPr>
              <a:lnSpc>
                <a:spcPct val="200000"/>
              </a:lnSpc>
            </a:pPr>
            <a:r>
              <a:rPr lang="ko-KR" altLang="en-US" sz="700" dirty="0" smtClean="0"/>
              <a:t>경기도 과천시</a:t>
            </a:r>
            <a:r>
              <a:rPr lang="en-US" altLang="ko-KR" sz="700" dirty="0" smtClean="0"/>
              <a:t>…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공종</a:t>
            </a:r>
            <a:endParaRPr lang="en-US" altLang="ko-KR" sz="700" dirty="0" smtClean="0"/>
          </a:p>
          <a:p>
            <a:pPr>
              <a:lnSpc>
                <a:spcPct val="200000"/>
              </a:lnSpc>
            </a:pPr>
            <a:r>
              <a:rPr lang="ko-KR" altLang="en-US" sz="700" dirty="0" err="1" smtClean="0"/>
              <a:t>방위사업청</a:t>
            </a:r>
            <a:endParaRPr lang="en-US" altLang="ko-KR" sz="700" dirty="0" smtClean="0"/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2010-01-01</a:t>
            </a:r>
          </a:p>
          <a:p>
            <a:pPr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2023</a:t>
            </a:r>
            <a:r>
              <a:rPr lang="ko-KR" altLang="en-US" sz="700" dirty="0" smtClean="0">
                <a:latin typeface="+mn-ea"/>
              </a:rPr>
              <a:t>년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12881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34252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55622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76993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97742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20195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4096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4041215"/>
            <a:ext cx="2630093" cy="1179711"/>
            <a:chOff x="720490" y="2590223"/>
            <a:chExt cx="2630093" cy="1179711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신청인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영업소 소재지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등록번호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</a:t>
              </a:r>
              <a:r>
                <a:rPr lang="ko-KR" altLang="en-US" sz="700" dirty="0">
                  <a:latin typeface="+mn-ea"/>
                </a:rPr>
                <a:t>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11111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2590223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15126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10.</a:t>
              </a:r>
              <a:r>
                <a:rPr lang="ko-KR" altLang="en-US" sz="700" dirty="0">
                  <a:latin typeface="+mn-ea"/>
                </a:rPr>
                <a:t>건설공사 </a:t>
              </a:r>
              <a:r>
                <a:rPr lang="ko-KR" altLang="en-US" sz="700" dirty="0" err="1">
                  <a:latin typeface="+mn-ea"/>
                </a:rPr>
                <a:t>직접시공분</a:t>
              </a:r>
              <a:r>
                <a:rPr lang="ko-KR" altLang="en-US" sz="700" dirty="0">
                  <a:latin typeface="+mn-ea"/>
                </a:rPr>
                <a:t> 기성실적증명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신청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서 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건설산업기본법 시행규칙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국토해양부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방위사업청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</a:t>
              </a:r>
              <a:r>
                <a:rPr lang="ko-KR" altLang="en-US" sz="700" dirty="0" smtClean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신청인 연락처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제출처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78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461461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06963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3347503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현장 소재지</a:t>
            </a:r>
            <a:endParaRPr lang="en-US" altLang="ko-KR" sz="700" dirty="0" smtClean="0">
              <a:latin typeface="+mn-ea"/>
            </a:endParaRPr>
          </a:p>
          <a:p>
            <a:r>
              <a:rPr lang="en-US" altLang="ko-KR" sz="700" dirty="0" smtClean="0">
                <a:latin typeface="+mn-ea"/>
              </a:rPr>
              <a:t>(</a:t>
            </a:r>
            <a:r>
              <a:rPr lang="ko-KR" altLang="en-US" sz="700" dirty="0" smtClean="0">
                <a:latin typeface="+mn-ea"/>
              </a:rPr>
              <a:t>번지까지 기재</a:t>
            </a:r>
            <a:r>
              <a:rPr lang="en-US" altLang="ko-KR" sz="700" dirty="0" smtClean="0">
                <a:latin typeface="+mn-ea"/>
              </a:rPr>
              <a:t>)</a:t>
            </a: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3566114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공종</a:t>
            </a:r>
            <a:r>
              <a:rPr lang="en-US" altLang="ko-KR" sz="700" dirty="0">
                <a:latin typeface="+mn-ea"/>
              </a:rPr>
              <a:t>([</a:t>
            </a:r>
            <a:r>
              <a:rPr lang="ko-KR" altLang="en-US" sz="700" dirty="0">
                <a:latin typeface="+mn-ea"/>
              </a:rPr>
              <a:t>건설산업기본법시행규칙</a:t>
            </a:r>
            <a:r>
              <a:rPr lang="en-US" altLang="ko-KR" sz="700" dirty="0">
                <a:latin typeface="+mn-ea"/>
              </a:rPr>
              <a:t>]</a:t>
            </a:r>
            <a:r>
              <a:rPr lang="ko-KR" altLang="en-US" sz="700" dirty="0">
                <a:latin typeface="+mn-ea"/>
              </a:rPr>
              <a:t>제 </a:t>
            </a:r>
            <a:r>
              <a:rPr lang="en-US" altLang="ko-KR" sz="700" dirty="0">
                <a:latin typeface="+mn-ea"/>
              </a:rPr>
              <a:t>25</a:t>
            </a:r>
            <a:r>
              <a:rPr lang="ko-KR" altLang="en-US" sz="700" dirty="0">
                <a:latin typeface="+mn-ea"/>
              </a:rPr>
              <a:t>조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4115583355"/>
      </p:ext>
    </p:extLst>
  </p:cSld>
  <p:clrMapOvr>
    <a:masterClrMapping/>
  </p:clrMapOvr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smtClean="0"/>
              <a:t>세부 정보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추가정보가</a:t>
            </a:r>
            <a:r>
              <a:rPr lang="ko-KR" altLang="en-US" dirty="0" smtClean="0"/>
              <a:t> 있는 경우 추가 표시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244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상세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unitI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64658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0" name="타원 149"/>
          <p:cNvSpPr/>
          <p:nvPr/>
        </p:nvSpPr>
        <p:spPr>
          <a:xfrm>
            <a:off x="2909237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모서리가 둥근 직사각형 150"/>
          <p:cNvSpPr/>
          <p:nvPr/>
        </p:nvSpPr>
        <p:spPr>
          <a:xfrm>
            <a:off x="3053237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출력</a:t>
            </a:r>
          </a:p>
        </p:txBody>
      </p: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4" name="그룹 203"/>
          <p:cNvGrpSpPr/>
          <p:nvPr/>
        </p:nvGrpSpPr>
        <p:grpSpPr>
          <a:xfrm>
            <a:off x="764658" y="1600627"/>
            <a:ext cx="988410" cy="119400"/>
            <a:chOff x="933861" y="2126479"/>
            <a:chExt cx="988410" cy="119400"/>
          </a:xfrm>
        </p:grpSpPr>
        <p:sp>
          <p:nvSpPr>
            <p:cNvPr id="205" name="모서리가 둥근 직사각형 204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공사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206" name="모서리가 둥근 직사각형 205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계약구분</a:t>
              </a:r>
              <a:endParaRPr lang="ko-KR" altLang="en-US" sz="600" dirty="0"/>
            </a:p>
          </p:txBody>
        </p:sp>
        <p:sp>
          <p:nvSpPr>
            <p:cNvPr id="207" name="모서리가 둥근 직사각형 206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발급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337" y="2607641"/>
            <a:ext cx="2208095" cy="24577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700" dirty="0">
                <a:latin typeface="+mn-ea"/>
              </a:rPr>
              <a:t>복합공사종류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다른 공사 종류 포함</a:t>
            </a:r>
            <a:r>
              <a:rPr lang="en-US" altLang="ko-KR" sz="700" dirty="0">
                <a:latin typeface="+mn-ea"/>
              </a:rPr>
              <a:t>)</a:t>
            </a:r>
            <a:r>
              <a:rPr lang="ko-KR" altLang="en-US" sz="700" dirty="0">
                <a:latin typeface="+mn-ea"/>
              </a:rPr>
              <a:t>실적 </a:t>
            </a:r>
            <a:r>
              <a:rPr lang="ko-KR" altLang="en-US" sz="700" dirty="0" smtClean="0">
                <a:latin typeface="+mn-ea"/>
              </a:rPr>
              <a:t>명세 </a:t>
            </a:r>
            <a:r>
              <a:rPr lang="en-US" altLang="ko-KR" sz="700" dirty="0" smtClean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단위</a:t>
            </a:r>
            <a:r>
              <a:rPr lang="en-US" altLang="ko-KR" sz="700" dirty="0">
                <a:latin typeface="+mn-ea"/>
              </a:rPr>
              <a:t>:</a:t>
            </a:r>
            <a:r>
              <a:rPr lang="ko-KR" altLang="en-US" sz="700" dirty="0">
                <a:latin typeface="+mn-ea"/>
              </a:rPr>
              <a:t>천원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부가세포함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3139424" y="2703554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718459" y="2897709"/>
            <a:ext cx="792000" cy="17194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6366" y="289770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2897708"/>
            <a:ext cx="792000" cy="172354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연도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해당연도 </a:t>
            </a:r>
            <a:r>
              <a:rPr lang="ko-KR" altLang="en-US" sz="700" dirty="0" err="1" smtClean="0">
                <a:latin typeface="+mn-ea"/>
              </a:rPr>
              <a:t>기성액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계약연월</a:t>
            </a:r>
            <a:r>
              <a:rPr lang="ko-KR" altLang="en-US" sz="700" dirty="0" err="1">
                <a:latin typeface="+mn-ea"/>
              </a:rPr>
              <a:t>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착공연월일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준공연월일</a:t>
            </a:r>
            <a:endParaRPr lang="en-US" altLang="ko-KR" sz="700" dirty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2371" y="2897708"/>
            <a:ext cx="1784088" cy="172354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 smtClean="0"/>
              <a:t>2023</a:t>
            </a:r>
            <a:r>
              <a:rPr lang="ko-KR" altLang="en-US" sz="700" dirty="0" smtClean="0"/>
              <a:t>년</a:t>
            </a:r>
            <a:endParaRPr lang="en-US" altLang="ko-KR" sz="700" dirty="0" smtClean="0"/>
          </a:p>
          <a:p>
            <a:pPr algn="r">
              <a:lnSpc>
                <a:spcPct val="200000"/>
              </a:lnSpc>
            </a:pPr>
            <a:r>
              <a:rPr lang="en-US" altLang="ko-KR" sz="700" dirty="0" smtClean="0"/>
              <a:t>100,000 </a:t>
            </a:r>
            <a:r>
              <a:rPr lang="ko-KR" altLang="en-US" sz="700" dirty="0" smtClean="0"/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endParaRPr lang="en-US" altLang="ko-KR" sz="700" dirty="0" smtClean="0"/>
          </a:p>
          <a:p>
            <a:pPr algn="r">
              <a:lnSpc>
                <a:spcPct val="200000"/>
              </a:lnSpc>
            </a:pPr>
            <a:endParaRPr lang="en-US" altLang="ko-KR" sz="700" dirty="0" smtClean="0"/>
          </a:p>
          <a:p>
            <a:pPr algn="r">
              <a:lnSpc>
                <a:spcPct val="200000"/>
              </a:lnSpc>
            </a:pP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en-US" altLang="ko-KR" sz="700" dirty="0" smtClean="0"/>
              <a:t>2020-01-11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/>
              <a:t>2020-01-12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 smtClean="0"/>
              <a:t>2020-01-13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12881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34252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73911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97742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20195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4096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61715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252507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61346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3374474"/>
            <a:ext cx="792000" cy="3231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/>
              <a:t>해당연도 </a:t>
            </a:r>
            <a:r>
              <a:rPr lang="ko-KR" altLang="en-US" sz="700" dirty="0" err="1" smtClean="0"/>
              <a:t>직접시공분</a:t>
            </a:r>
            <a:r>
              <a:rPr lang="en-US" altLang="ko-KR" sz="700" dirty="0" smtClean="0"/>
              <a:t> </a:t>
            </a:r>
            <a:r>
              <a:rPr lang="ko-KR" altLang="en-US" sz="700" dirty="0" err="1" smtClean="0"/>
              <a:t>세부공종</a:t>
            </a:r>
            <a:r>
              <a:rPr lang="en-US" altLang="ko-KR" sz="700" dirty="0"/>
              <a:t>(</a:t>
            </a:r>
            <a:r>
              <a:rPr lang="ko-KR" altLang="en-US" sz="700" dirty="0" err="1"/>
              <a:t>전문공사</a:t>
            </a:r>
            <a:r>
              <a:rPr lang="en-US" altLang="ko-KR" sz="700" dirty="0"/>
              <a:t>)</a:t>
            </a:r>
            <a:endParaRPr lang="en-US" altLang="ko-KR" sz="700" dirty="0" smtClean="0">
              <a:latin typeface="+mn-ea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3742644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/>
              <a:t>해당연도 </a:t>
            </a:r>
            <a:r>
              <a:rPr lang="ko-KR" altLang="en-US" sz="700" dirty="0" err="1" smtClean="0"/>
              <a:t>직접시공분</a:t>
            </a:r>
            <a:r>
              <a:rPr lang="ko-KR" altLang="en-US" sz="700" dirty="0"/>
              <a:t> </a:t>
            </a:r>
            <a:r>
              <a:rPr lang="ko-KR" altLang="en-US" sz="700" dirty="0" err="1"/>
              <a:t>기성액</a:t>
            </a:r>
            <a:endParaRPr lang="en-US" altLang="ko-KR" sz="700" dirty="0"/>
          </a:p>
        </p:txBody>
      </p:sp>
      <p:grpSp>
        <p:nvGrpSpPr>
          <p:cNvPr id="48" name="그룹 47"/>
          <p:cNvGrpSpPr/>
          <p:nvPr/>
        </p:nvGrpSpPr>
        <p:grpSpPr>
          <a:xfrm>
            <a:off x="675399" y="5358712"/>
            <a:ext cx="2712027" cy="789495"/>
            <a:chOff x="675399" y="1544009"/>
            <a:chExt cx="2712027" cy="789495"/>
          </a:xfrm>
        </p:grpSpPr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그 밖의 사항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공사의 규모 공법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공동 </a:t>
              </a:r>
              <a:r>
                <a:rPr lang="ko-KR" altLang="en-US" sz="700" dirty="0" err="1">
                  <a:latin typeface="+mn-ea"/>
                </a:rPr>
                <a:t>도급내역</a:t>
              </a:r>
              <a:r>
                <a:rPr lang="ko-KR" altLang="en-US" sz="700" dirty="0">
                  <a:latin typeface="+mn-ea"/>
                </a:rPr>
                <a:t> 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50" name="그룹 49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54" name="직선 연결선 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5" name="직선 연결선 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내용 표시 영역은 내용에 맞춰 높이를 조정하여 표시</a:t>
              </a:r>
              <a:endParaRPr lang="en-US" altLang="ko-KR" sz="700" dirty="0" smtClean="0">
                <a:latin typeface="+mn-ea"/>
              </a:endParaRPr>
            </a:p>
          </p:txBody>
        </p: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763400"/>
            <a:ext cx="76863" cy="292489"/>
            <a:chOff x="3750067" y="4683795"/>
            <a:chExt cx="76863" cy="292489"/>
          </a:xfrm>
        </p:grpSpPr>
        <p:sp>
          <p:nvSpPr>
            <p:cNvPr id="57" name="타원 56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8" name="타원 57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9" name="타원 58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2371" y="3436456"/>
            <a:ext cx="1784088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 smtClean="0"/>
              <a:t>100,000 </a:t>
            </a:r>
            <a:r>
              <a:rPr lang="ko-KR" altLang="en-US" sz="700" dirty="0" smtClean="0"/>
              <a:t>천원</a:t>
            </a:r>
            <a:endParaRPr lang="en-US" altLang="ko-KR" sz="700" dirty="0">
              <a:latin typeface="+mn-ea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2371" y="3749239"/>
            <a:ext cx="1784088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 smtClean="0"/>
              <a:t>100,000 </a:t>
            </a:r>
            <a:r>
              <a:rPr lang="ko-KR" altLang="en-US" sz="700" dirty="0" smtClean="0"/>
              <a:t>천원</a:t>
            </a:r>
            <a:endParaRPr lang="en-US" altLang="ko-KR" sz="7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562121000"/>
      </p:ext>
    </p:extLst>
  </p:cSld>
  <p:clrMapOvr>
    <a:masterClrMapping/>
  </p:clrMapOvr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 smtClean="0"/>
              <a:t>제출유형에</a:t>
            </a:r>
            <a:r>
              <a:rPr lang="ko-KR" altLang="en-US" dirty="0" smtClean="0"/>
              <a:t> 따라 하단 표시 정보 변경 </a:t>
            </a:r>
            <a:r>
              <a:rPr lang="en-US" altLang="ko-KR" dirty="0" smtClean="0"/>
              <a:t>(</a:t>
            </a:r>
            <a:r>
              <a:rPr lang="ko-KR" altLang="en-US" dirty="0" smtClean="0"/>
              <a:t>신청도 동일</a:t>
            </a:r>
            <a:r>
              <a:rPr lang="en-US" altLang="ko-KR" dirty="0" smtClean="0"/>
              <a:t>)</a:t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시설공사 아님</a:t>
            </a:r>
            <a:r>
              <a:rPr lang="en-US" altLang="ko-KR" dirty="0"/>
              <a:t/>
            </a:r>
            <a:br>
              <a:rPr lang="en-US" altLang="ko-KR" dirty="0"/>
            </a:br>
            <a:endParaRPr lang="en-US" altLang="ko-KR" dirty="0" smtClean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smtClean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245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상세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</a:t>
            </a:r>
            <a:r>
              <a:rPr lang="ko-KR" altLang="en-US" dirty="0" smtClean="0">
                <a:latin typeface="+mn-ea"/>
              </a:rPr>
              <a:t>구분 </a:t>
            </a:r>
            <a:r>
              <a:rPr lang="ko-KR" altLang="en-US" dirty="0" err="1" smtClean="0">
                <a:latin typeface="+mn-ea"/>
              </a:rPr>
              <a:t>부대면서</a:t>
            </a:r>
            <a:r>
              <a:rPr lang="ko-KR" altLang="en-US" dirty="0" smtClean="0">
                <a:latin typeface="+mn-ea"/>
              </a:rPr>
              <a:t> 시설공사가 아닐 때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84993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7" name="타원 106"/>
          <p:cNvSpPr/>
          <p:nvPr/>
        </p:nvSpPr>
        <p:spPr>
          <a:xfrm>
            <a:off x="6029572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모서리가 둥근 직사각형 107"/>
          <p:cNvSpPr/>
          <p:nvPr/>
        </p:nvSpPr>
        <p:spPr>
          <a:xfrm>
            <a:off x="6173572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출력</a:t>
            </a:r>
          </a:p>
        </p:txBody>
      </p: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64658" y="1786672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접수번호 </a:t>
            </a:r>
            <a:r>
              <a:rPr lang="en-US" altLang="ko-KR" sz="700" dirty="0"/>
              <a:t>2025NC00179 </a:t>
            </a:r>
            <a:r>
              <a:rPr lang="ko-KR" altLang="en-US" sz="700" dirty="0" err="1"/>
              <a:t>계약번호</a:t>
            </a:r>
            <a:r>
              <a:rPr lang="ko-KR" altLang="en-US" sz="700" dirty="0"/>
              <a:t> </a:t>
            </a:r>
            <a:r>
              <a:rPr lang="en-US" altLang="ko-KR" sz="700" dirty="0"/>
              <a:t>2025093455</a:t>
            </a:r>
          </a:p>
          <a:p>
            <a:r>
              <a:rPr lang="ko-KR" altLang="en-US" sz="900" b="1" dirty="0"/>
              <a:t>파카</a:t>
            </a:r>
            <a:r>
              <a:rPr lang="en-US" altLang="ko-KR" sz="900" b="1" dirty="0"/>
              <a:t>,</a:t>
            </a:r>
            <a:r>
              <a:rPr lang="ko-KR" altLang="en-US" sz="900" b="1" dirty="0"/>
              <a:t>외피</a:t>
            </a:r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112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0" name="타원 149"/>
          <p:cNvSpPr/>
          <p:nvPr/>
        </p:nvSpPr>
        <p:spPr>
          <a:xfrm>
            <a:off x="2909237" y="158593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모서리가 둥근 직사각형 150"/>
          <p:cNvSpPr/>
          <p:nvPr/>
        </p:nvSpPr>
        <p:spPr>
          <a:xfrm>
            <a:off x="3053237" y="1602341"/>
            <a:ext cx="243478" cy="119400"/>
          </a:xfrm>
          <a:prstGeom prst="roundRect">
            <a:avLst>
              <a:gd name="adj" fmla="val 23409"/>
            </a:avLst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출력</a:t>
            </a:r>
          </a:p>
        </p:txBody>
      </p: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2249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22497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24663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0" name="그룹 199"/>
          <p:cNvGrpSpPr/>
          <p:nvPr/>
        </p:nvGrpSpPr>
        <p:grpSpPr>
          <a:xfrm>
            <a:off x="3888348" y="1604378"/>
            <a:ext cx="988410" cy="119400"/>
            <a:chOff x="933861" y="2126479"/>
            <a:chExt cx="988410" cy="119400"/>
          </a:xfrm>
        </p:grpSpPr>
        <p:sp>
          <p:nvSpPr>
            <p:cNvPr id="201" name="모서리가 둥근 직사각형 200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공사</a:t>
              </a:r>
            </a:p>
          </p:txBody>
        </p:sp>
        <p:sp>
          <p:nvSpPr>
            <p:cNvPr id="202" name="모서리가 둥근 직사각형 201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계약구분</a:t>
              </a:r>
              <a:endParaRPr lang="ko-KR" altLang="en-US" sz="600" dirty="0"/>
            </a:p>
          </p:txBody>
        </p:sp>
        <p:sp>
          <p:nvSpPr>
            <p:cNvPr id="203" name="모서리가 둥근 직사각형 202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발급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204" name="그룹 203"/>
          <p:cNvGrpSpPr/>
          <p:nvPr/>
        </p:nvGrpSpPr>
        <p:grpSpPr>
          <a:xfrm>
            <a:off x="764658" y="1600627"/>
            <a:ext cx="988410" cy="119400"/>
            <a:chOff x="933861" y="2126479"/>
            <a:chExt cx="988410" cy="119400"/>
          </a:xfrm>
        </p:grpSpPr>
        <p:sp>
          <p:nvSpPr>
            <p:cNvPr id="205" name="모서리가 둥근 직사각형 204"/>
            <p:cNvSpPr/>
            <p:nvPr/>
          </p:nvSpPr>
          <p:spPr>
            <a:xfrm>
              <a:off x="933861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공사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206" name="모서리가 둥근 직사각형 205"/>
            <p:cNvSpPr/>
            <p:nvPr/>
          </p:nvSpPr>
          <p:spPr>
            <a:xfrm>
              <a:off x="1228055" y="21264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계약구분</a:t>
              </a:r>
              <a:endParaRPr lang="ko-KR" altLang="en-US" sz="600" dirty="0"/>
            </a:p>
          </p:txBody>
        </p:sp>
        <p:sp>
          <p:nvSpPr>
            <p:cNvPr id="207" name="모서리가 둥근 직사각형 206"/>
            <p:cNvSpPr/>
            <p:nvPr/>
          </p:nvSpPr>
          <p:spPr>
            <a:xfrm>
              <a:off x="1678793" y="21264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발급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2590223"/>
            <a:ext cx="2208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추가사항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6259759" y="2703554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3838794" y="2897709"/>
            <a:ext cx="792000" cy="236095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289770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897708"/>
            <a:ext cx="792000" cy="236988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실적년도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실적구분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실적비율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(%)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실적금액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규격 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품질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 err="1">
                <a:latin typeface="+mn-ea"/>
              </a:rPr>
              <a:t>성능통</a:t>
            </a:r>
            <a:r>
              <a:rPr lang="en-US" altLang="ko-KR" sz="700" dirty="0">
                <a:latin typeface="+mn-ea"/>
              </a:rPr>
              <a:t>)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납품일자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단위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수량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규모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비고</a:t>
            </a:r>
            <a:endParaRPr lang="en-US" altLang="ko-KR" sz="700" dirty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2897708"/>
            <a:ext cx="1784088" cy="236988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/>
              <a:t>2021 ~ </a:t>
            </a:r>
            <a:r>
              <a:rPr lang="en-US" altLang="ko-KR" sz="700" dirty="0" smtClean="0"/>
              <a:t>2023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계약목적과</a:t>
            </a:r>
            <a:r>
              <a:rPr lang="ko-KR" altLang="en-US" sz="700" dirty="0"/>
              <a:t> 동등이상물품</a:t>
            </a:r>
          </a:p>
          <a:p>
            <a:pPr algn="r">
              <a:lnSpc>
                <a:spcPct val="200000"/>
              </a:lnSpc>
            </a:pPr>
            <a:r>
              <a:rPr lang="en-US" altLang="ko-KR" sz="700" dirty="0" smtClean="0"/>
              <a:t>10 %</a:t>
            </a:r>
          </a:p>
          <a:p>
            <a:pPr algn="r">
              <a:lnSpc>
                <a:spcPct val="200000"/>
              </a:lnSpc>
            </a:pPr>
            <a:r>
              <a:rPr lang="en-US" altLang="ko-KR" sz="700" dirty="0" smtClean="0"/>
              <a:t>10,000,000,000 </a:t>
            </a:r>
            <a:r>
              <a:rPr lang="ko-KR" altLang="en-US" sz="700" dirty="0" smtClean="0"/>
              <a:t>원</a:t>
            </a:r>
            <a:endParaRPr lang="en-US" altLang="ko-KR" sz="700" dirty="0" smtClean="0"/>
          </a:p>
          <a:p>
            <a:pPr algn="r">
              <a:lnSpc>
                <a:spcPct val="200000"/>
              </a:lnSpc>
            </a:pPr>
            <a:r>
              <a:rPr lang="ko-KR" altLang="en-US" sz="700" dirty="0" smtClean="0"/>
              <a:t>규격</a:t>
            </a:r>
            <a:endParaRPr lang="en-US" altLang="ko-KR" sz="700" dirty="0" smtClean="0"/>
          </a:p>
          <a:p>
            <a:pPr>
              <a:lnSpc>
                <a:spcPct val="200000"/>
              </a:lnSpc>
            </a:pPr>
            <a:r>
              <a:rPr lang="en-US" altLang="ko-KR" sz="700" dirty="0" smtClean="0"/>
              <a:t>2023-01-01</a:t>
            </a:r>
          </a:p>
          <a:p>
            <a:pPr algn="r">
              <a:lnSpc>
                <a:spcPct val="200000"/>
              </a:lnSpc>
            </a:pPr>
            <a:r>
              <a:rPr lang="en-US" altLang="ko-KR" sz="700" dirty="0" smtClean="0"/>
              <a:t>10 </a:t>
            </a:r>
            <a:r>
              <a:rPr lang="ko-KR" altLang="en-US" sz="700" dirty="0" smtClean="0"/>
              <a:t>톤</a:t>
            </a:r>
            <a:endParaRPr lang="en-US" altLang="ko-KR" sz="700" dirty="0" smtClean="0"/>
          </a:p>
          <a:p>
            <a:pPr algn="r">
              <a:lnSpc>
                <a:spcPct val="200000"/>
              </a:lnSpc>
            </a:pPr>
            <a:r>
              <a:rPr lang="en-US" altLang="ko-KR" sz="700" dirty="0" smtClean="0"/>
              <a:t>10 EA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 smtClean="0"/>
              <a:t>용역범위</a:t>
            </a:r>
            <a:endParaRPr lang="en-US" altLang="ko-KR" sz="700" dirty="0" smtClean="0"/>
          </a:p>
          <a:p>
            <a:pPr>
              <a:lnSpc>
                <a:spcPct val="200000"/>
              </a:lnSpc>
            </a:pPr>
            <a:r>
              <a:rPr lang="ko-KR" altLang="en-US" sz="700" dirty="0" smtClean="0"/>
              <a:t>규모</a:t>
            </a:r>
            <a:endParaRPr lang="en-US" altLang="ko-KR" sz="700" dirty="0" smtClean="0"/>
          </a:p>
          <a:p>
            <a:pPr>
              <a:lnSpc>
                <a:spcPct val="200000"/>
              </a:lnSpc>
            </a:pPr>
            <a:r>
              <a:rPr lang="ko-KR" altLang="en-US" sz="700" dirty="0" err="1" smtClean="0"/>
              <a:t>비고사항</a:t>
            </a:r>
            <a:r>
              <a:rPr lang="ko-KR" altLang="en-US" sz="700" dirty="0" smtClean="0"/>
              <a:t> 내용</a:t>
            </a:r>
            <a:endParaRPr lang="en-US" altLang="ko-KR" sz="700" dirty="0"/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12881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34252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55622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76993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97742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20195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4096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5334918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1951" y="26574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4618937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용역범위</a:t>
            </a:r>
            <a:r>
              <a:rPr lang="ko-KR" altLang="en-US" sz="700" dirty="0">
                <a:latin typeface="+mn-ea"/>
              </a:rPr>
              <a:t> 및 기준</a:t>
            </a:r>
          </a:p>
          <a:p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면적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금액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원</a:t>
            </a:r>
            <a:r>
              <a:rPr lang="en-US" altLang="ko-KR" sz="700" dirty="0">
                <a:latin typeface="+mn-ea"/>
              </a:rPr>
              <a:t>) </a:t>
            </a:r>
            <a:r>
              <a:rPr lang="ko-KR" altLang="en-US" sz="700" dirty="0">
                <a:latin typeface="+mn-ea"/>
              </a:rPr>
              <a:t>등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  <p:grpSp>
        <p:nvGrpSpPr>
          <p:cNvPr id="85" name="그룹 84"/>
          <p:cNvGrpSpPr/>
          <p:nvPr/>
        </p:nvGrpSpPr>
        <p:grpSpPr>
          <a:xfrm>
            <a:off x="675400" y="2590223"/>
            <a:ext cx="2712026" cy="1252381"/>
            <a:chOff x="675400" y="2590223"/>
            <a:chExt cx="2712026" cy="1252381"/>
          </a:xfrm>
        </p:grpSpPr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88" name="그룹 87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89" name="직사각형 88"/>
            <p:cNvSpPr/>
            <p:nvPr/>
          </p:nvSpPr>
          <p:spPr>
            <a:xfrm>
              <a:off x="722583" y="2897709"/>
              <a:ext cx="792000" cy="87222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사용목적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신청인 연락처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제출처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기타 </a:t>
              </a:r>
              <a:r>
                <a:rPr lang="en-US" altLang="ko-KR" sz="700" dirty="0" smtClean="0">
                  <a:latin typeface="+mn-ea"/>
                </a:rPr>
                <a:t>- </a:t>
              </a:r>
              <a:r>
                <a:rPr lang="ko-KR" altLang="en-US" sz="700" dirty="0" err="1" smtClean="0">
                  <a:latin typeface="+mn-ea"/>
                </a:rPr>
                <a:t>실적확인용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방위사업청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</a:t>
              </a:r>
              <a:r>
                <a:rPr lang="ko-KR" altLang="en-US" sz="700" dirty="0" smtClean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400" y="3842604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01" name="직선 연결선 10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61893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82642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9" name="직선 연결선 10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505096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0" name="직선 연결선 1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525866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78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253564768"/>
      </p:ext>
    </p:extLst>
  </p:cSld>
  <p:clrMapOvr>
    <a:masterClrMapping/>
  </p:clrMapOvr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246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69B126B0-6121-6E1B-9FD7-3B9617C44EC9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(01/19)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52FB8EBB-8EF9-F488-DFB3-B80370C053BA}"/>
              </a:ext>
            </a:extLst>
          </p:cNvPr>
          <p:cNvSpPr txBox="1"/>
          <p:nvPr/>
        </p:nvSpPr>
        <p:spPr>
          <a:xfrm>
            <a:off x="452790" y="853264"/>
            <a:ext cx="361373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실적증명서 신청 접수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2E025457-997D-C977-E1C9-C1948C2ABD2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1066947"/>
          <a:ext cx="8994883" cy="947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prfmncRcptNo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prfmncPrgrsSttsCd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(A: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P: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처리중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S: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R: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I: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방위사업청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    (I: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R: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G: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처리중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C: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처리완료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P: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Y: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V: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:UG02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</a:tbl>
          </a:graphicData>
        </a:graphic>
      </p:graphicFrame>
      <p:sp>
        <p:nvSpPr>
          <p:cNvPr id="24" name="TextBox 23">
            <a:extLst>
              <a:ext uri="{FF2B5EF4-FFF2-40B4-BE49-F238E27FC236}">
                <a16:creationId xmlns:a16="http://schemas.microsoft.com/office/drawing/2014/main" id="{8F9723FA-3390-6911-DF28-52F5717D8CE8}"/>
              </a:ext>
            </a:extLst>
          </p:cNvPr>
          <p:cNvSpPr txBox="1"/>
          <p:nvPr/>
        </p:nvSpPr>
        <p:spPr>
          <a:xfrm>
            <a:off x="452291" y="2166292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891EEA66-EC04-37FF-84E8-4EB47582344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291" y="2377495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CtrtOd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ctrtCnNm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군수품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시설공사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3: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7319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rprsItemNm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88179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513319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orderInstNm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574168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picNm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182899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enPicTel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 연락처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1091054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D2F8F539-94D0-0462-6FF9-5496DA8D913D}"/>
              </a:ext>
            </a:extLst>
          </p:cNvPr>
          <p:cNvSpPr txBox="1"/>
          <p:nvPr/>
        </p:nvSpPr>
        <p:spPr>
          <a:xfrm>
            <a:off x="452291" y="4339817"/>
            <a:ext cx="429821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신청정보 입력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dm_prfmncPrdocAplyInptInfo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356711F-8FAB-DB6A-65D5-F428625BC215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4551020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entlno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발급수량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dmndQty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발급수량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제출처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submOrgn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제출처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usePrpsCd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 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etcUsePrps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 내용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사용목적이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’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경우만 사용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1026954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34EDD8DB-1E2E-4BD3-C8AE-EB01FBD5F1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30768030"/>
      </p:ext>
    </p:extLst>
  </p:cSld>
  <p:clrMapOvr>
    <a:masterClrMapping/>
  </p:clrMapOvr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247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(02/19)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ED181E2-3BA7-B57D-98EF-0B776A727D98}"/>
              </a:ext>
            </a:extLst>
          </p:cNvPr>
          <p:cNvSpPr txBox="1"/>
          <p:nvPr/>
        </p:nvSpPr>
        <p:spPr>
          <a:xfrm>
            <a:off x="463235" y="851763"/>
            <a:ext cx="35255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dm_prfmncPrdocAplyInptInfo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9BC5F04A-9C28-E86D-C357-41CF63514215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8117" y="1062966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지출년도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지출년도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prfmncIdntyAmt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선금금액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prpamtIdntyAmt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선금금액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clclnAmt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착수금액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otstDmndAmt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착수금액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중도금액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mdwyDmndAmt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중도금액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보증보험번호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grnteInsrncNo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보증보험번호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37490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확인요청사항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idntyDmndMttr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확인요청사항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9075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clclnYmd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납품일자로 바뀌기도 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60405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01DAF561-8940-F301-28F9-894AFD6AB87A}"/>
              </a:ext>
            </a:extLst>
          </p:cNvPr>
          <p:cNvSpPr txBox="1"/>
          <p:nvPr/>
        </p:nvSpPr>
        <p:spPr>
          <a:xfrm>
            <a:off x="458117" y="3107767"/>
            <a:ext cx="424852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시공자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대표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dm_prfmncPrdocAplyRprsInfo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42EE9CFD-A820-FA44-B1F2-B804E2C36D2C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8117" y="3330526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salsLctnAddr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10269541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D4DB7E85-55B9-F2B1-FF88-A621CA41216B}"/>
              </a:ext>
            </a:extLst>
          </p:cNvPr>
          <p:cNvSpPr txBox="1"/>
          <p:nvPr/>
        </p:nvSpPr>
        <p:spPr>
          <a:xfrm>
            <a:off x="463235" y="4638721"/>
            <a:ext cx="531933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1.6.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계약 및 준공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 err="1">
                <a:solidFill>
                  <a:prstClr val="black"/>
                </a:solidFill>
              </a:rPr>
              <a:t>총공사</a:t>
            </a:r>
            <a:r>
              <a:rPr lang="ko-KR" altLang="en-US" sz="900" b="1" dirty="0">
                <a:solidFill>
                  <a:prstClr val="black"/>
                </a:solidFill>
              </a:rPr>
              <a:t> 기준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dm_prfmncPrdocAplyWholCstrnInfo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D6DB57DF-3264-70A1-5F25-B696A1D2B69D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8117" y="4849924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cmcnAmt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중공금액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gvspAmt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0170D974-0CBE-8362-4AF3-B1753FC196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471391506"/>
      </p:ext>
    </p:extLst>
  </p:cSld>
  <p:clrMapOvr>
    <a:masterClrMapping/>
  </p:clrMapOvr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248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(03/19)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F94482E-9BC8-2B91-6322-DFD524FE23D9}"/>
              </a:ext>
            </a:extLst>
          </p:cNvPr>
          <p:cNvSpPr txBox="1"/>
          <p:nvPr/>
        </p:nvSpPr>
        <p:spPr>
          <a:xfrm>
            <a:off x="463235" y="799547"/>
            <a:ext cx="514300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1.7.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계약 및 준공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금차공사 기준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6384CB9E-D7A4-B068-B2D0-EC38412C4BF5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8117" y="1010750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ctrtYmd2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bgncstYmd2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cmcnYmd2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cstrnAmt2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cmcnAmt2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중공금액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gvspAmt2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2C62C28-EE12-EE0B-0C0A-A16F41A38450}"/>
              </a:ext>
            </a:extLst>
          </p:cNvPr>
          <p:cNvSpPr txBox="1"/>
          <p:nvPr/>
        </p:nvSpPr>
        <p:spPr>
          <a:xfrm>
            <a:off x="463235" y="2502345"/>
            <a:ext cx="435753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1.8.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공사설정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dm_prfmncPrdocAplyCstrnTypeInfo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F8AAFAF7-108B-EEEE-7473-DE803731BDB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2713548"/>
          <a:ext cx="8994883" cy="947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cnstrDivs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cnstrNewCstrnYn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cnstrExpnCstrnYn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cnstrRmdlCstrnYn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의 값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다중 선택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eltyDivs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eltyNewCstrnYn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eltyEpxnCstrnYn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eltyRlocatCstrnYn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eltyEstblCstrnYn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eltyRprwrkYn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의 값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다중 선택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F09C00F4-9404-C91B-1399-DF8169011927}"/>
              </a:ext>
            </a:extLst>
          </p:cNvPr>
          <p:cNvSpPr txBox="1"/>
          <p:nvPr/>
        </p:nvSpPr>
        <p:spPr>
          <a:xfrm>
            <a:off x="460676" y="3728980"/>
            <a:ext cx="446012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공동도급 여부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dm_prfmncPrdocAplyJntCtrcInfo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7DB4DE96-8723-0921-3DA8-36813F40B07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3940183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jntCtrcCd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4049B929-F7AA-D9E8-2DD8-28188E1C4D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939780094"/>
      </p:ext>
    </p:extLst>
  </p:cSld>
  <p:clrMapOvr>
    <a:masterClrMapping/>
  </p:clrMapOvr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249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(04/19)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20BE741-117A-6D32-5EBE-43EDB3129FD8}"/>
              </a:ext>
            </a:extLst>
          </p:cNvPr>
          <p:cNvSpPr txBox="1"/>
          <p:nvPr/>
        </p:nvSpPr>
        <p:spPr>
          <a:xfrm>
            <a:off x="463235" y="874033"/>
            <a:ext cx="468614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1.10.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실적의 종류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dm_prfmncPrdocAplyprfmncTypeInfo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6593A7EF-D452-FBE8-B657-CCAAF1ECE555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8117" y="1085236"/>
          <a:ext cx="8994883" cy="38620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078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40875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실적의종류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rsltDivs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prfmncCncptDesignYn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prfmncBscDesignYn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prfmncEnfrcDesignYn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prfmncCnstYn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prfmncSpvbYn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prfmncQltyCstrnMngYn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prfmncTstrnYn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prfmncMcmtrFbctnInstlYn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prfmncEtcYn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의 값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다중 선택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7250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enbrno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04112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08895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7317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wholCstrnCnstAmt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521419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18935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gvspAmt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912704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wholCstrnCnstSclExpln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시공규모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52263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시공 규모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방법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cnstBcoSclMthdCn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시공 규모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방법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661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cnstBcoCnstAmtCn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619111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중공금액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cnstBcoCmcnAmtCn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중공금액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567488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cnstBcoGvspAmtCn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관급금액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7492797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DE98DCE7-3703-62EA-C591-0D2AFCE97F56}"/>
              </a:ext>
            </a:extLst>
          </p:cNvPr>
          <p:cNvSpPr txBox="1"/>
          <p:nvPr/>
        </p:nvSpPr>
        <p:spPr>
          <a:xfrm>
            <a:off x="453000" y="5119726"/>
            <a:ext cx="428058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1.11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하도급 내용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dm_prfmncPrdocAplySbctrInfo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9A4AE937-CE3D-39A4-C44A-325B4A7851E4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5326571"/>
          <a:ext cx="8994883" cy="1091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7282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75894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sbctrSeNm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하도급공사규모 및 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sbctrCstrnSclCn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하도급공사규모 및 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5025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 발급일 기준 시공내용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cnstBcoGvspAmtCn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 발급일 기준 시공내용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7547307"/>
                  </a:ext>
                </a:extLst>
              </a:tr>
            </a:tbl>
          </a:graphicData>
        </a:graphic>
      </p:graphicFrame>
      <p:sp>
        <p:nvSpPr>
          <p:cNvPr id="9" name="Text Box 73">
            <a:extLst>
              <a:ext uri="{FF2B5EF4-FFF2-40B4-BE49-F238E27FC236}">
                <a16:creationId xmlns:a16="http://schemas.microsoft.com/office/drawing/2014/main" id="{22CC85B2-AFAE-35F7-BE83-4D56FE2D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05470042"/>
      </p:ext>
    </p:extLst>
  </p:cSld>
  <p:clrMapOvr>
    <a:masterClrMapping/>
  </p:clrMapOvr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250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(05/19)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A9C8262-3EA1-2756-0C68-C364281C05B7}"/>
              </a:ext>
            </a:extLst>
          </p:cNvPr>
          <p:cNvSpPr txBox="1"/>
          <p:nvPr/>
        </p:nvSpPr>
        <p:spPr>
          <a:xfrm>
            <a:off x="455558" y="904033"/>
            <a:ext cx="56607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1.12.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최저가 적정성심사관련 시공실적자료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dm_prfmncPrdocAplyLwprcInfo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446C8FCD-2050-5A41-D075-16415974C18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8117" y="1117716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사용장비명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useEqpmntNm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사용장비명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장비규격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eqpmntSpcfctCn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장비규격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5025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투입대수 누계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inputCntomCn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투입대수 누계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75473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작업량 누계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wkqtyActotCn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작업량 누계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599187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작업시간 누계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jobHrActotCn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작업시간 누계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437887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시간당 작업량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ptmWkqtyCn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시간당 작업량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83432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 참고사항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etcRefMttr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 참고사항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5429073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F6277042-213F-BD1E-DB8E-DFAFA33C9135}"/>
              </a:ext>
            </a:extLst>
          </p:cNvPr>
          <p:cNvSpPr txBox="1"/>
          <p:nvPr/>
        </p:nvSpPr>
        <p:spPr>
          <a:xfrm>
            <a:off x="455558" y="3008098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1.13.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17E37716-D066-1919-8A1E-A572C82D71A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3219301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salsLctnAddr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51D3215C-E2F4-C40C-F7A3-4F6C720F39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860953491"/>
      </p:ext>
    </p:extLst>
  </p:cSld>
  <p:clrMapOvr>
    <a:masterClrMapping/>
  </p:clrMapOvr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251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380480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(06/19)</a:t>
            </a:r>
            <a:endParaRPr lang="ko-KR" altLang="en-US" sz="1000" b="1" dirty="0">
              <a:solidFill>
                <a:prstClr val="black"/>
              </a:solidFill>
            </a:endParaRPr>
          </a:p>
          <a:p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FF92358-CECD-C653-3FA6-3D4C7200DF2E}"/>
              </a:ext>
            </a:extLst>
          </p:cNvPr>
          <p:cNvSpPr txBox="1"/>
          <p:nvPr/>
        </p:nvSpPr>
        <p:spPr>
          <a:xfrm>
            <a:off x="453000" y="907986"/>
            <a:ext cx="446974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3A7250B9-9B5E-2209-667D-08910AAAEAC0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8117" y="1102546"/>
          <a:ext cx="8994883" cy="42662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708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40493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335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grndsLctnAddr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cstrnTypeNm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lcpmtInstNm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mfrcFldNm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snthsDtlCnstpNm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84919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99127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30707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755572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이월금액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이월금액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81746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23226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964225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795590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thyrPxcndGiveAmt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824745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누계지급액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prvyrGiveActotAmt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누계지급액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70975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발주자공급자재액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thyrOdrSplyMtrlAmt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발주자공급자재액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06386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누계관급자재액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prvyrGvspMtrlActotAmt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누계관급자재액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14640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etcMttr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사항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56278402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447511D7-9F2F-423A-B5D3-FCB7AEF034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27158688"/>
      </p:ext>
    </p:extLst>
  </p:cSld>
  <p:clrMapOvr>
    <a:masterClrMapping/>
  </p:clrMapOvr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252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(07/19)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70D660A-7345-AF1D-5B81-E928CEEDB7EC}"/>
              </a:ext>
            </a:extLst>
          </p:cNvPr>
          <p:cNvSpPr txBox="1"/>
          <p:nvPr/>
        </p:nvSpPr>
        <p:spPr>
          <a:xfrm>
            <a:off x="455558" y="869618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1.15.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8D75A14-F914-E1A0-5B45-3CD32C5BD8E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1083301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허가번호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허가번호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38722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증명서용도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prdocUsgCn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증명서용도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27061D54-42C2-ABC2-BEC4-E9F8D2B3ADDF}"/>
              </a:ext>
            </a:extLst>
          </p:cNvPr>
          <p:cNvSpPr txBox="1"/>
          <p:nvPr/>
        </p:nvSpPr>
        <p:spPr>
          <a:xfrm>
            <a:off x="460676" y="2319372"/>
            <a:ext cx="581305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1.16.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건설폐기물 수집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운반용역 이행실적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dm_prfmncPrdocAplyClctCnvncInfo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88055FD-6A65-6C0E-FFEA-FC4E4404E88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2530575"/>
          <a:ext cx="8994883" cy="1795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clctCnvncLbsvcNm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clctCnvncCtrtBgngYmd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clctCnvncCndspKndNm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clctCnvncCnsgnQtyCn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clctCnvncPxcndPrfmncAmt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clctCnvncRmrkCn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364BF7FE-3684-6278-BA47-60FCDEF7768D}"/>
              </a:ext>
            </a:extLst>
          </p:cNvPr>
          <p:cNvSpPr txBox="1"/>
          <p:nvPr/>
        </p:nvSpPr>
        <p:spPr>
          <a:xfrm>
            <a:off x="460676" y="4454936"/>
            <a:ext cx="593167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1.17.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건설폐기물 중간처리용역 이행실적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dm_prfmncPrdocAplyMdPrcsLbsvcInfo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C099DDEA-9A7A-90A8-4440-F5509D4AA7E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4666139"/>
          <a:ext cx="8994883" cy="1795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mdPrcsLbsvcNm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mdPrcsCtprCn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mdPrcsCndspKndNm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mdPrcsCnSgnQtyCn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mdPrcsPxCndPrfmncAmt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mdPrcsRmrkCn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E4E51481-49A1-4CBC-B70D-0ABB0FB95E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54480877"/>
      </p:ext>
    </p:extLst>
  </p:cSld>
  <p:clrMapOvr>
    <a:masterClrMapping/>
  </p:clrMapOvr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253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(08/19)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BE413DB-BAE1-A5CA-06E1-959007BAF8C7}"/>
              </a:ext>
            </a:extLst>
          </p:cNvPr>
          <p:cNvSpPr txBox="1"/>
          <p:nvPr/>
        </p:nvSpPr>
        <p:spPr>
          <a:xfrm>
            <a:off x="458117" y="876843"/>
            <a:ext cx="4113874" cy="349702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1.18.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</a:p>
          <a:p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B9B184D5-1CB7-6E4A-E3B7-E4E1F2322E95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8117" y="109052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salsLctnAddr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952C0DE-EC99-B818-90E4-0044D8E380B5}"/>
              </a:ext>
            </a:extLst>
          </p:cNvPr>
          <p:cNvSpPr txBox="1"/>
          <p:nvPr/>
        </p:nvSpPr>
        <p:spPr>
          <a:xfrm>
            <a:off x="463235" y="2258346"/>
            <a:ext cx="446974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D01B924D-3AF8-D0AD-B04D-FA009F03FEB4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8117" y="2469549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준공연월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준공연월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이월공사액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이월공사액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thyrPxcndGiveAmt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prvyrGiveActotAmt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thyrPxcndAmt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4194A73B-531A-4109-5C94-B11B854850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92071789"/>
      </p:ext>
    </p:extLst>
  </p:cSld>
  <p:clrMapOvr>
    <a:masterClrMapping/>
  </p:clrMapOvr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254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(09/19)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4CCEC13-90FF-84FB-1FC6-C272DC4FAD85}"/>
              </a:ext>
            </a:extLst>
          </p:cNvPr>
          <p:cNvSpPr txBox="1"/>
          <p:nvPr/>
        </p:nvSpPr>
        <p:spPr>
          <a:xfrm>
            <a:off x="429215" y="931189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1.20.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5DD2849-0F24-7B79-34A0-1ED4EC256DC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29215" y="1134539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91326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lctnAddr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C0A5D196-94BC-4511-0404-D81CC6B7E970}"/>
              </a:ext>
            </a:extLst>
          </p:cNvPr>
          <p:cNvSpPr txBox="1"/>
          <p:nvPr/>
        </p:nvSpPr>
        <p:spPr>
          <a:xfrm>
            <a:off x="434333" y="2171729"/>
            <a:ext cx="524880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1.21.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실적증명서신처</a:t>
            </a:r>
            <a:r>
              <a:rPr lang="ko-KR" altLang="en-US" sz="900" b="1" dirty="0">
                <a:solidFill>
                  <a:prstClr val="black"/>
                </a:solidFill>
              </a:rPr>
              <a:t> 소방시설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dm_prfmncPrdocAplyFrsvcCstrnDsctnInfo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C38C5703-47BA-C42E-134E-1E7471B15DC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29215" y="2376994"/>
          <a:ext cx="8994883" cy="2520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tpbizNm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cstrnGrndsAddr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공사지역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cstrnRgnNm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공사지역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orderInstNm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orgctrNm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계약체결일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계약체결일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ctrtMthdNm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49BFF0B1-3A1B-ED08-BE98-7526C6B497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613962710"/>
      </p:ext>
    </p:extLst>
  </p:cSld>
  <p:clrMapOvr>
    <a:masterClrMapping/>
  </p:clrMapOvr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255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(10/19)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CAE51CA8-B851-C014-4942-C9726A17F7F4}"/>
              </a:ext>
            </a:extLst>
          </p:cNvPr>
          <p:cNvSpPr txBox="1"/>
          <p:nvPr/>
        </p:nvSpPr>
        <p:spPr>
          <a:xfrm>
            <a:off x="463235" y="852989"/>
            <a:ext cx="559985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1.22.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소방시설 공사실적 금액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dm_prfmncPrdocAplyFrsvcCstrnPrfmncInfo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2600223-C915-C0B9-3200-4B075AEEEDEC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8117" y="1064192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1410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34612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ctrcTctrtAmt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prvyrNestblAmt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sbctrBzentyNm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sbctrRegNo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EC1462B7-4D45-3B4A-3F1A-9F9CF4F2E5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695417760"/>
      </p:ext>
    </p:extLst>
  </p:cSld>
  <p:clrMapOvr>
    <a:masterClrMapping/>
  </p:clrMapOvr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256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(11/19)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2" name="Text Box 73">
            <a:extLst>
              <a:ext uri="{FF2B5EF4-FFF2-40B4-BE49-F238E27FC236}">
                <a16:creationId xmlns:a16="http://schemas.microsoft.com/office/drawing/2014/main" id="{5269E6D2-C599-CE6A-6B73-1B8B10A9A8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77EFA38-0BCF-E62D-6D10-D106B5E68580}"/>
              </a:ext>
            </a:extLst>
          </p:cNvPr>
          <p:cNvSpPr txBox="1"/>
          <p:nvPr/>
        </p:nvSpPr>
        <p:spPr>
          <a:xfrm>
            <a:off x="463235" y="900279"/>
            <a:ext cx="558863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1.23.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복합공종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타 </a:t>
            </a:r>
            <a:r>
              <a:rPr lang="ko-KR" altLang="en-US" sz="900" b="1" dirty="0" err="1">
                <a:solidFill>
                  <a:prstClr val="black"/>
                </a:solidFill>
              </a:rPr>
              <a:t>공종</a:t>
            </a:r>
            <a:r>
              <a:rPr lang="ko-KR" altLang="en-US" sz="900" b="1" dirty="0">
                <a:solidFill>
                  <a:prstClr val="black"/>
                </a:solidFill>
              </a:rPr>
              <a:t>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실적내용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E76710F9-BC4E-11D5-4F7A-0334F6899640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8117" y="1111482"/>
          <a:ext cx="8994883" cy="31027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cstrnNm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ctrcAmt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prvyrPxcndAmt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thsyrPxcndAmt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nestblAmt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cstrnNm2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ctrcAmt2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5431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prvyrPxcndAmt2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thsyrPxcndAmt2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nestblAmt2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cstrnNm3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39559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ctrcAmt3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60117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prvyrPxcndAmt3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6280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thsyrPxcndAmt3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45448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nestblAmt3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8424885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87320327"/>
      </p:ext>
    </p:extLst>
  </p:cSld>
  <p:clrMapOvr>
    <a:masterClrMapping/>
  </p:clrMapOvr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257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(12/19)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7919742-9F88-3E88-B47F-E969969ECF8E}"/>
              </a:ext>
            </a:extLst>
          </p:cNvPr>
          <p:cNvSpPr txBox="1"/>
          <p:nvPr/>
        </p:nvSpPr>
        <p:spPr>
          <a:xfrm>
            <a:off x="460676" y="844084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4864D96-C35C-12BD-4B29-F02071D1C240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1127838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90394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bldrRegNo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2549965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B795774B-3284-E9D2-5E06-FE879861AA8F}"/>
              </a:ext>
            </a:extLst>
          </p:cNvPr>
          <p:cNvSpPr txBox="1"/>
          <p:nvPr/>
        </p:nvSpPr>
        <p:spPr>
          <a:xfrm>
            <a:off x="460676" y="2485291"/>
            <a:ext cx="494262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1.25.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전기공사 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dm_prfmncPrdocAplyEltyCstrnDsctnInfo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4D3F15B7-33B6-8A14-3D13-C1B9AB224A8B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2696494"/>
          <a:ext cx="8994883" cy="2520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cstrnGrndsNm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orgctrNm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orderIntstNm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orgctrRegNo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ctrtMthdNm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ED1F168B-0104-B92B-7B82-804D591391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12784351"/>
      </p:ext>
    </p:extLst>
  </p:cSld>
  <p:clrMapOvr>
    <a:masterClrMapping/>
  </p:clrMapOvr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258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(13/19)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8D020391-6BA9-2E91-175E-D773C7F45A52}"/>
              </a:ext>
            </a:extLst>
          </p:cNvPr>
          <p:cNvSpPr txBox="1"/>
          <p:nvPr/>
        </p:nvSpPr>
        <p:spPr>
          <a:xfrm>
            <a:off x="455558" y="830022"/>
            <a:ext cx="525360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1.26.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전기공사실적 금액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dm_prfmncPrdocAplyEltyCstrnPrfmncInfo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A4FAEE54-16E8-DF49-77FD-01C150F9FEF2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1077473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1666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32053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ctrcTctrtAmt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 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이월액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prvyrCrfwAmt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이월액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thyrNestblAmt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관급자재액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gvspMtrlAmt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관급자재액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다른공사포함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etcCstrnKndPxcndAmt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다른공사포함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 또는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변경분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 또는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변경분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F7544D27-6A9E-E000-6A4F-43081CDE1086}"/>
              </a:ext>
            </a:extLst>
          </p:cNvPr>
          <p:cNvSpPr txBox="1"/>
          <p:nvPr/>
        </p:nvSpPr>
        <p:spPr>
          <a:xfrm>
            <a:off x="458118" y="3246314"/>
            <a:ext cx="427096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1.27.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하도급내역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dm_prfmncPrdocAplySbctrInfo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F874F7C9-509D-86D7-E153-18CFB398129E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3457517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sbctrRegNo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sbctrBzentyNm2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sbctrRegNo2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sbctrRprsvNm2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3D3E10F7-735A-384B-D044-B5A65A490D4E}"/>
              </a:ext>
            </a:extLst>
          </p:cNvPr>
          <p:cNvSpPr txBox="1"/>
          <p:nvPr/>
        </p:nvSpPr>
        <p:spPr>
          <a:xfrm>
            <a:off x="460676" y="5500694"/>
            <a:ext cx="426776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1.28.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시공규모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dm_prfmncPrdocAplyCnstSclInfo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B7222A68-8CC6-55BD-98CE-A8DEF902A55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5711897"/>
          <a:ext cx="8994883" cy="437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cnstSclExpln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시공규모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  <a:p>
                      <a:pPr algn="r" fontAlgn="ctr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186E1B02-F69A-4581-7B7F-BF7BD8AEB7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28672067"/>
      </p:ext>
    </p:extLst>
  </p:cSld>
  <p:clrMapOvr>
    <a:masterClrMapping/>
  </p:clrMapOvr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259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(14/19)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C5A8BAA-FEBC-A2D7-CDF6-5161FCA41941}"/>
              </a:ext>
            </a:extLst>
          </p:cNvPr>
          <p:cNvSpPr txBox="1"/>
          <p:nvPr/>
        </p:nvSpPr>
        <p:spPr>
          <a:xfrm>
            <a:off x="460676" y="879289"/>
            <a:ext cx="647349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복합공사종류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다른 공사 종류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 명세 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(1/3)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0F053B0C-6356-2030-886E-67B59B2E902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1090492"/>
          <a:ext cx="8994883" cy="42662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985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0897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4395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prvyrEltyCstrnPxcndAmt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하도급금액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3144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057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9013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07669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하도급금액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53347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91894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57187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7474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616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prvyrM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3629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84012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하도급금액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878285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7097774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08EA34B3-76D1-C847-6339-0154720059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56290190"/>
      </p:ext>
    </p:extLst>
  </p:cSld>
  <p:clrMapOvr>
    <a:masterClrMapping/>
  </p:clrMapOvr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260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(15/19)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C5ABABC4-5791-1F7E-9C6D-7C88CC75CCDD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8117" y="1096434"/>
          <a:ext cx="8994883" cy="43161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395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33814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5736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746918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6960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prvyrA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3144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057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9013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07669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commCstrnCtrtAmt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53347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commC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91894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comm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57187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prvyrC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omm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7474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616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3629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8401298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C66EFF21-2FB6-299D-CE6A-F799C6ED1FAA}"/>
              </a:ext>
            </a:extLst>
          </p:cNvPr>
          <p:cNvSpPr txBox="1"/>
          <p:nvPr/>
        </p:nvSpPr>
        <p:spPr>
          <a:xfrm>
            <a:off x="460676" y="885231"/>
            <a:ext cx="65151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복합공사종류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다른 공사 종류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 명세 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(2/3)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B3781241-0BB5-4891-CAEC-3CB9CC5369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70439800"/>
      </p:ext>
    </p:extLst>
  </p:cSld>
  <p:clrMapOvr>
    <a:masterClrMapping/>
  </p:clrMapOvr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261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(16/19)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66EFF21-2FB6-299D-CE6A-F799C6ED1FAA}"/>
              </a:ext>
            </a:extLst>
          </p:cNvPr>
          <p:cNvSpPr txBox="1"/>
          <p:nvPr/>
        </p:nvSpPr>
        <p:spPr>
          <a:xfrm>
            <a:off x="460676" y="885231"/>
            <a:ext cx="65151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복합공사종류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다른 공사 종류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 명세 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(3/3)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ED9E8A80-A4F9-0812-AACD-8E66645E1EF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31758" y="1102368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097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34022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5032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prvyrEtcCstrnPxcndAmt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하도급금액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6C8447F4-EDFE-DABF-2D95-B81612E7EA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403720971"/>
      </p:ext>
    </p:extLst>
  </p:cSld>
  <p:clrMapOvr>
    <a:masterClrMapping/>
  </p:clrMapOvr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48936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262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(17/19)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9D41572-54CB-BB97-14B8-26728B8BF74E}"/>
              </a:ext>
            </a:extLst>
          </p:cNvPr>
          <p:cNvSpPr txBox="1"/>
          <p:nvPr/>
        </p:nvSpPr>
        <p:spPr>
          <a:xfrm>
            <a:off x="460676" y="891040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1.30.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177CE651-A68C-38D8-F57D-83B2DEC3539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1114604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54860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5302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2453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salsLctnAddr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lcnsNoVl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2549965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8A47D1D4-18BA-6688-655A-E575CF4DC5BF}"/>
              </a:ext>
            </a:extLst>
          </p:cNvPr>
          <p:cNvSpPr txBox="1"/>
          <p:nvPr/>
        </p:nvSpPr>
        <p:spPr>
          <a:xfrm>
            <a:off x="460676" y="2232103"/>
            <a:ext cx="451141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1.31.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8DD57D6-6C16-028F-36D2-73484B85928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2443306"/>
          <a:ext cx="8994883" cy="36844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5423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65546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239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grndsLctnAddr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cstrnTypeNm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lcpmtInstNm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mfrcFldNm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년웡일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년웡일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telgmDtlCnstpNm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이월금액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이월금액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197575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121432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4709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78492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thyrPxcndGiveAmt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2379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누계지금액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prvyrGiveActotAmt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누계지금액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11401869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C7492F64-418F-722D-475C-C50FFA984D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7058385"/>
      </p:ext>
    </p:extLst>
  </p:cSld>
  <p:clrMapOvr>
    <a:masterClrMapping/>
  </p:clrMapOvr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263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(18/19)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AA88E40-EC22-8EC3-7EA4-A41FCEA2C056}"/>
              </a:ext>
            </a:extLst>
          </p:cNvPr>
          <p:cNvSpPr txBox="1"/>
          <p:nvPr/>
        </p:nvSpPr>
        <p:spPr>
          <a:xfrm>
            <a:off x="463235" y="847718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1.32.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E221A27-4A35-40D5-4B24-0A904AD4BEF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8117" y="1068633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salsLctnAddr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lcnsNoVl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2549965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C9866966-F2EA-F6E9-3795-7D7FDCF17347}"/>
              </a:ext>
            </a:extLst>
          </p:cNvPr>
          <p:cNvSpPr txBox="1"/>
          <p:nvPr/>
        </p:nvSpPr>
        <p:spPr>
          <a:xfrm>
            <a:off x="463235" y="2266004"/>
            <a:ext cx="443928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1.33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F6986C65-5B27-992A-C159-8829D62C403A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8117" y="2477207"/>
          <a:ext cx="8994883" cy="27148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grndsLctnAddr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cnstpNm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year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thyrPxcndAmt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telgmDtlCnstpNm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19757592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7532CAE9-BD20-D658-EB25-3857A12605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26305860"/>
      </p:ext>
    </p:extLst>
  </p:cSld>
  <p:clrMapOvr>
    <a:masterClrMapping/>
  </p:clrMapOvr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264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(19/19)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0650BC42-08DC-7529-EB0E-36C2B48020C9}"/>
              </a:ext>
            </a:extLst>
          </p:cNvPr>
          <p:cNvSpPr txBox="1"/>
          <p:nvPr/>
        </p:nvSpPr>
        <p:spPr>
          <a:xfrm>
            <a:off x="463235" y="835005"/>
            <a:ext cx="46140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추가사항 입력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dm_prfmncPrdocAplyAddMttrInfo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60B0D306-5BE2-05D0-9F7D-337578DB8F5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8117" y="1046208"/>
          <a:ext cx="8994883" cy="2520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prfmncYr1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prfmncYr2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실적비율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PrfmncDmndRt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실적비율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PrfmncDmndAmt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spcfct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dlvgdsYmd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37490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unitNm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9075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prfmncQty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수량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6040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용역범위 및 기준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lbsvcScp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용역범위 및 기준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72733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scl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규모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1094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787848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19DF6D55-F380-A2A7-BB37-A8355BD235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869552662"/>
      </p:ext>
    </p:extLst>
  </p:cSld>
  <p:clrMapOvr>
    <a:masterClrMapping/>
  </p:clrMapOvr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265</a:t>
            </a:fld>
            <a:endParaRPr lang="ko-KR" altLang="en-US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16D9B532-37AB-1CCF-6506-88E049A395C9}"/>
              </a:ext>
            </a:extLst>
          </p:cNvPr>
          <p:cNvSpPr txBox="1"/>
          <p:nvPr/>
        </p:nvSpPr>
        <p:spPr>
          <a:xfrm>
            <a:off x="464598" y="65976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E93D8B0E-1238-2AA7-F8A6-5003A89A98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77863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BD6FAFB4-C8C3-22D5-ADE8-1D6980C082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82916354"/>
              </p:ext>
            </p:extLst>
          </p:nvPr>
        </p:nvGraphicFramePr>
        <p:xfrm>
          <a:off x="455204" y="886360"/>
          <a:ext cx="8995591" cy="196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실적증명서 신청 상세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scwin.btn_del_onclick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신청한 실적증명서 삭제한다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진행상태가 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회송일때만 버튼 활성화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737274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수정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scwin.btn_mdfcn_onclick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신청한 실적증명서 수정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진행상태가 저장일때만 버튼 활성화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45477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scwin.btn_aply_onclick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저장된 실적증명서를 신청한다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진행상태가 저장일때만 버튼 활성화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513869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출력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scwin.btn_issu_onclick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실적증명서 발급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진행상태가 발급일때만 버튼 활성화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800" dirty="0">
                          <a:latin typeface="+mn-ea"/>
                          <a:ea typeface="+mn-ea"/>
                        </a:rPr>
                      </a:b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 err="1" smtClean="0">
                          <a:latin typeface="+mn-ea"/>
                          <a:ea typeface="+mn-ea"/>
                        </a:rPr>
                        <a:t>pdfViewer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 보여준다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9215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scwin.btn_sbmsn_onclick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실적증명서 제출 팝업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협회 제출용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진행상태가 발급일때만 버튼 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활성화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9644416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83952841"/>
      </p:ext>
    </p:extLst>
  </p:cSld>
  <p:clrMapOvr>
    <a:masterClrMapping/>
  </p:clrMapOvr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 smtClean="0"/>
              <a:t>계약 검색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기본 값 </a:t>
            </a:r>
            <a:r>
              <a:rPr lang="en-US" altLang="ko-KR" dirty="0" smtClean="0"/>
              <a:t>:</a:t>
            </a:r>
            <a:r>
              <a:rPr lang="ko-KR" altLang="en-US" dirty="0" smtClean="0"/>
              <a:t> </a:t>
            </a:r>
            <a:r>
              <a:rPr lang="en-US" altLang="ko-KR" dirty="0" smtClean="0"/>
              <a:t>1</a:t>
            </a:r>
            <a:r>
              <a:rPr lang="ko-KR" altLang="en-US" dirty="0" smtClean="0"/>
              <a:t>개월 이내 계약 목록 표시</a:t>
            </a:r>
            <a:endParaRPr lang="en-US" altLang="ko-KR" dirty="0" smtClean="0"/>
          </a:p>
          <a:p>
            <a:pPr marL="228600" indent="-228600">
              <a:buAutoNum type="arabicPeriod"/>
            </a:pPr>
            <a:r>
              <a:rPr lang="ko-KR" altLang="en-US" dirty="0" smtClean="0"/>
              <a:t>카드 선택으로 선택</a:t>
            </a:r>
            <a:r>
              <a:rPr lang="en-US" altLang="ko-KR" dirty="0" smtClean="0"/>
              <a:t>, </a:t>
            </a:r>
            <a:r>
              <a:rPr lang="ko-KR" altLang="en-US" dirty="0" smtClean="0"/>
              <a:t>선택 해제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선택 상태에서 다음으로 활성화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신청정보</a:t>
            </a:r>
            <a:r>
              <a:rPr lang="en-US" altLang="ko-KR" dirty="0" smtClean="0"/>
              <a:t>, </a:t>
            </a:r>
            <a:r>
              <a:rPr lang="ko-KR" altLang="en-US" dirty="0" smtClean="0"/>
              <a:t>실적 정보 등이 입력된 상태에서 현재 화면으로 돌아와</a:t>
            </a:r>
            <a:r>
              <a:rPr lang="en-US" altLang="ko-KR" dirty="0" smtClean="0"/>
              <a:t>, </a:t>
            </a:r>
            <a:r>
              <a:rPr lang="ko-KR" altLang="en-US" dirty="0" smtClean="0"/>
              <a:t>선택된 계약을 해제하거나</a:t>
            </a:r>
            <a:r>
              <a:rPr lang="en-US" altLang="ko-KR" dirty="0" smtClean="0"/>
              <a:t> </a:t>
            </a:r>
            <a:r>
              <a:rPr lang="ko-KR" altLang="en-US" dirty="0" smtClean="0"/>
              <a:t>다른 계약 선택 등의 행동을 할 때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모달</a:t>
            </a:r>
            <a:r>
              <a:rPr lang="ko-KR" altLang="en-US" dirty="0" smtClean="0"/>
              <a:t> 팝업 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작성하신 내용이 사라집니다</a:t>
            </a:r>
            <a:r>
              <a:rPr lang="en-US" altLang="ko-KR" dirty="0" smtClean="0"/>
              <a:t>. </a:t>
            </a:r>
            <a:r>
              <a:rPr lang="ko-KR" altLang="en-US" dirty="0" smtClean="0"/>
              <a:t>정말 계약을 변경하시겠습니까</a:t>
            </a:r>
            <a:r>
              <a:rPr lang="en-US" altLang="ko-KR" dirty="0" smtClean="0"/>
              <a:t>? (N/Y)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smtClean="0"/>
              <a:t>선택</a:t>
            </a:r>
            <a:r>
              <a:rPr lang="en-US" altLang="ko-KR" dirty="0"/>
              <a:t> </a:t>
            </a:r>
            <a:r>
              <a:rPr lang="ko-KR" altLang="en-US" dirty="0" smtClean="0"/>
              <a:t>표시 </a:t>
            </a:r>
            <a:r>
              <a:rPr lang="en-US" altLang="ko-KR" dirty="0" smtClean="0"/>
              <a:t>(ON/OFF)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카드 선택 시 선택</a:t>
            </a:r>
            <a:r>
              <a:rPr lang="en-US" altLang="ko-KR" dirty="0"/>
              <a:t> </a:t>
            </a:r>
            <a:r>
              <a:rPr lang="ko-KR" altLang="en-US" dirty="0" smtClean="0"/>
              <a:t>표시 변경 </a:t>
            </a:r>
            <a:r>
              <a:rPr lang="en-US" altLang="ko-KR" dirty="0" smtClean="0"/>
              <a:t>(</a:t>
            </a:r>
            <a:r>
              <a:rPr lang="ko-KR" altLang="en-US" dirty="0" smtClean="0"/>
              <a:t>버튼 영역 카드 전체</a:t>
            </a:r>
            <a:r>
              <a:rPr lang="en-US" altLang="ko-KR" dirty="0" smtClean="0"/>
              <a:t>)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계약서 선택에 따라 이후 페이지 변경 표시</a:t>
            </a:r>
            <a:r>
              <a:rPr lang="en-US" altLang="ko-KR" dirty="0" smtClean="0"/>
              <a:t> : </a:t>
            </a:r>
            <a:r>
              <a:rPr lang="en-US" altLang="ko-KR" dirty="0" smtClean="0">
                <a:solidFill>
                  <a:srgbClr val="FF0000"/>
                </a:solidFill>
              </a:rPr>
              <a:t>3</a:t>
            </a:r>
            <a:r>
              <a:rPr lang="ko-KR" altLang="en-US" dirty="0">
                <a:solidFill>
                  <a:srgbClr val="FF0000"/>
                </a:solidFill>
              </a:rPr>
              <a:t>분류로 </a:t>
            </a:r>
            <a:r>
              <a:rPr lang="ko-KR" altLang="en-US" dirty="0" smtClean="0">
                <a:solidFill>
                  <a:srgbClr val="FF0000"/>
                </a:solidFill>
              </a:rPr>
              <a:t>나누어짐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/>
              <a:t>계약 구분이 </a:t>
            </a:r>
            <a:r>
              <a:rPr lang="ko-KR" altLang="en-US" dirty="0" err="1" smtClean="0"/>
              <a:t>방위사업청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  </a:t>
            </a:r>
            <a:r>
              <a:rPr lang="en-US" altLang="ko-KR" dirty="0" smtClean="0"/>
              <a:t>&gt; </a:t>
            </a:r>
            <a:r>
              <a:rPr lang="ko-KR" altLang="en-US" dirty="0" smtClean="0"/>
              <a:t>사용목적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/>
              <a:t>계약 구분이 부대이면서 </a:t>
            </a:r>
            <a:r>
              <a:rPr lang="ko-KR" altLang="en-US" dirty="0" smtClean="0"/>
              <a:t>시설공사일때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제출유형</a:t>
            </a:r>
            <a:r>
              <a:rPr lang="ko-KR" altLang="en-US" dirty="0"/>
              <a:t>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/>
              <a:t>계약 구분이 부대이면서 시설공사가 </a:t>
            </a:r>
            <a:r>
              <a:rPr lang="ko-KR" altLang="en-US" dirty="0" err="1"/>
              <a:t>아닐때</a:t>
            </a:r>
            <a:r>
              <a:rPr lang="en-US" altLang="ko-KR" dirty="0"/>
              <a:t>)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 smtClean="0"/>
              <a:t>제출유형</a:t>
            </a:r>
            <a:r>
              <a:rPr lang="ko-KR" altLang="en-US" dirty="0" smtClean="0"/>
              <a:t> 표시</a:t>
            </a:r>
            <a:endParaRPr lang="en-US" altLang="ko-KR" dirty="0" smtClean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smtClean="0"/>
              <a:t>작성 내용이 있을 때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취소 버튼 클릭 </a:t>
            </a:r>
            <a:r>
              <a:rPr lang="ko-KR" altLang="en-US" dirty="0" err="1" smtClean="0"/>
              <a:t>모달</a:t>
            </a:r>
            <a:r>
              <a:rPr lang="ko-KR" altLang="en-US" dirty="0" smtClean="0"/>
              <a:t> 팝업 메시지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작성하신 내용이 사라집니다</a:t>
            </a:r>
            <a:r>
              <a:rPr lang="en-US" altLang="ko-KR" dirty="0"/>
              <a:t>. </a:t>
            </a:r>
            <a:r>
              <a:rPr lang="ko-KR" altLang="en-US" dirty="0"/>
              <a:t>정말 </a:t>
            </a:r>
            <a:r>
              <a:rPr lang="ko-KR" altLang="en-US" dirty="0" smtClean="0"/>
              <a:t>작성을 취소하시겠습니까</a:t>
            </a:r>
            <a:r>
              <a:rPr lang="en-US" altLang="ko-KR" dirty="0"/>
              <a:t>? (N/Y</a:t>
            </a:r>
            <a:r>
              <a:rPr lang="en-US" altLang="ko-KR" dirty="0" smtClean="0"/>
              <a:t>)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다음 버튼 클릭 </a:t>
            </a:r>
            <a:r>
              <a:rPr lang="en-US" altLang="ko-KR" dirty="0" smtClean="0"/>
              <a:t>: </a:t>
            </a:r>
            <a:r>
              <a:rPr lang="ko-KR" altLang="en-US" dirty="0" err="1" smtClean="0"/>
              <a:t>신청정보</a:t>
            </a:r>
            <a:r>
              <a:rPr lang="ko-KR" altLang="en-US" dirty="0" smtClean="0"/>
              <a:t> 입력 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미 선택 시 다음 버튼 비활성</a:t>
            </a:r>
            <a:endParaRPr lang="en-US" altLang="ko-KR" dirty="0"/>
          </a:p>
          <a:p>
            <a:pPr marL="228600" indent="-228600"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 smtClean="0">
                <a:latin typeface="+mn-ea"/>
              </a:rPr>
              <a:t>신청 공통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69" name="그룹 68"/>
          <p:cNvGrpSpPr/>
          <p:nvPr/>
        </p:nvGrpSpPr>
        <p:grpSpPr>
          <a:xfrm>
            <a:off x="680570" y="1580377"/>
            <a:ext cx="2712027" cy="266560"/>
            <a:chOff x="680570" y="1580377"/>
            <a:chExt cx="2712027" cy="266560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36072" y="1608356"/>
              <a:ext cx="2305144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dirty="0">
                  <a:latin typeface="+mn-ea"/>
                </a:rPr>
                <a:t>실적증명서 신청</a:t>
              </a:r>
            </a:p>
          </p:txBody>
        </p: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6" name="그룹 15"/>
            <p:cNvGrpSpPr/>
            <p:nvPr/>
          </p:nvGrpSpPr>
          <p:grpSpPr>
            <a:xfrm rot="5400000">
              <a:off x="755013" y="1640499"/>
              <a:ext cx="94010" cy="47005"/>
              <a:chOff x="6812560" y="3297172"/>
              <a:chExt cx="94010" cy="47005"/>
            </a:xfrm>
          </p:grpSpPr>
          <p:cxnSp>
            <p:nvCxnSpPr>
              <p:cNvPr id="17" name="직선 연결선 1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" name="직선 연결선 1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" name="타원 18"/>
            <p:cNvSpPr/>
            <p:nvPr/>
          </p:nvSpPr>
          <p:spPr>
            <a:xfrm>
              <a:off x="3044537" y="1580377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7" name="그룹 6"/>
          <p:cNvGrpSpPr/>
          <p:nvPr/>
        </p:nvGrpSpPr>
        <p:grpSpPr>
          <a:xfrm>
            <a:off x="777002" y="2324641"/>
            <a:ext cx="2513244" cy="318596"/>
            <a:chOff x="781461" y="2056702"/>
            <a:chExt cx="2459755" cy="318596"/>
          </a:xfrm>
        </p:grpSpPr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056702"/>
              <a:ext cx="2459755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dirty="0" smtClean="0">
                  <a:latin typeface="+mn-ea"/>
                </a:rPr>
                <a:t>계약 정보 선택</a:t>
              </a:r>
              <a:endParaRPr lang="ko-KR" altLang="en-US" sz="900" dirty="0">
                <a:latin typeface="+mn-ea"/>
              </a:endParaRP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267576"/>
              <a:ext cx="245975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 정보로 실적 증명서를 신청할 수 있습니다</a:t>
              </a:r>
              <a:r>
                <a:rPr lang="en-US" altLang="ko-KR" sz="700" dirty="0" smtClean="0">
                  <a:latin typeface="+mn-ea"/>
                </a:rPr>
                <a:t>.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77" name="직선 연결선 7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0469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7" name="그룹 86"/>
          <p:cNvGrpSpPr/>
          <p:nvPr/>
        </p:nvGrpSpPr>
        <p:grpSpPr>
          <a:xfrm rot="16200000">
            <a:off x="2500331" y="1999831"/>
            <a:ext cx="94010" cy="47005"/>
            <a:chOff x="6812560" y="3297172"/>
            <a:chExt cx="94010" cy="47005"/>
          </a:xfrm>
        </p:grpSpPr>
        <p:cxnSp>
          <p:nvCxnSpPr>
            <p:cNvPr id="88" name="직선 연결선 8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9" name="직선 연결선 8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0" name="그룹 89"/>
          <p:cNvGrpSpPr/>
          <p:nvPr/>
        </p:nvGrpSpPr>
        <p:grpSpPr>
          <a:xfrm rot="16200000">
            <a:off x="2887583" y="1999831"/>
            <a:ext cx="94010" cy="47005"/>
            <a:chOff x="6812560" y="3297172"/>
            <a:chExt cx="94010" cy="47005"/>
          </a:xfrm>
        </p:grpSpPr>
        <p:cxnSp>
          <p:nvCxnSpPr>
            <p:cNvPr id="91" name="직선 연결선 9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2" name="직선 연결선 9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3" name="그룹 92"/>
          <p:cNvGrpSpPr/>
          <p:nvPr/>
        </p:nvGrpSpPr>
        <p:grpSpPr>
          <a:xfrm>
            <a:off x="747925" y="1929352"/>
            <a:ext cx="1300316" cy="187961"/>
            <a:chOff x="747925" y="3237230"/>
            <a:chExt cx="1300316" cy="187961"/>
          </a:xfrm>
        </p:grpSpPr>
        <p:grpSp>
          <p:nvGrpSpPr>
            <p:cNvPr id="94" name="그룹 93"/>
            <p:cNvGrpSpPr/>
            <p:nvPr/>
          </p:nvGrpSpPr>
          <p:grpSpPr>
            <a:xfrm>
              <a:off x="747925" y="3237230"/>
              <a:ext cx="187961" cy="187961"/>
              <a:chOff x="747925" y="3237230"/>
              <a:chExt cx="187961" cy="187961"/>
            </a:xfrm>
          </p:grpSpPr>
          <p:sp>
            <p:nvSpPr>
              <p:cNvPr id="96" name="타원 9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solidFill>
                  <a:srgbClr val="0070C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1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06821" y="3277349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계약 정보 선택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99" name="그룹 98"/>
          <p:cNvGrpSpPr/>
          <p:nvPr/>
        </p:nvGrpSpPr>
        <p:grpSpPr>
          <a:xfrm>
            <a:off x="2645773" y="1929352"/>
            <a:ext cx="187961" cy="187961"/>
            <a:chOff x="2058749" y="3237230"/>
            <a:chExt cx="187961" cy="187961"/>
          </a:xfrm>
        </p:grpSpPr>
        <p:sp>
          <p:nvSpPr>
            <p:cNvPr id="101" name="타원 100"/>
            <p:cNvSpPr/>
            <p:nvPr/>
          </p:nvSpPr>
          <p:spPr>
            <a:xfrm>
              <a:off x="2058749" y="3237230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13806" y="3277349"/>
              <a:ext cx="7784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latin typeface="+mn-ea"/>
                </a:rPr>
                <a:t>2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04" name="그룹 103"/>
          <p:cNvGrpSpPr/>
          <p:nvPr/>
        </p:nvGrpSpPr>
        <p:grpSpPr>
          <a:xfrm>
            <a:off x="3039523" y="1929352"/>
            <a:ext cx="187961" cy="187961"/>
            <a:chOff x="2714860" y="3237230"/>
            <a:chExt cx="187961" cy="187961"/>
          </a:xfrm>
        </p:grpSpPr>
        <p:sp>
          <p:nvSpPr>
            <p:cNvPr id="106" name="타원 105"/>
            <p:cNvSpPr/>
            <p:nvPr/>
          </p:nvSpPr>
          <p:spPr>
            <a:xfrm>
              <a:off x="2714860" y="3237230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769917" y="3277349"/>
              <a:ext cx="7784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 smtClean="0">
                  <a:latin typeface="+mn-ea"/>
                </a:rPr>
                <a:t>3</a:t>
              </a:r>
              <a:endParaRPr lang="ko-KR" altLang="en-US" sz="700" dirty="0">
                <a:latin typeface="+mn-ea"/>
              </a:endParaRPr>
            </a:p>
          </p:txBody>
        </p:sp>
      </p:grp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20" name="그룹 219"/>
          <p:cNvGrpSpPr/>
          <p:nvPr/>
        </p:nvGrpSpPr>
        <p:grpSpPr>
          <a:xfrm>
            <a:off x="6255425" y="1650089"/>
            <a:ext cx="94010" cy="94010"/>
            <a:chOff x="6812560" y="3297172"/>
            <a:chExt cx="94010" cy="94010"/>
          </a:xfrm>
        </p:grpSpPr>
        <p:cxnSp>
          <p:nvCxnSpPr>
            <p:cNvPr id="221" name="직선 연결선 220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2" name="직선 연결선 22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3" name="타원 222"/>
          <p:cNvSpPr/>
          <p:nvPr/>
        </p:nvSpPr>
        <p:spPr>
          <a:xfrm>
            <a:off x="5890147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5563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4505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grpSp>
        <p:nvGrpSpPr>
          <p:cNvPr id="226" name="그룹 225"/>
          <p:cNvGrpSpPr/>
          <p:nvPr/>
        </p:nvGrpSpPr>
        <p:grpSpPr>
          <a:xfrm>
            <a:off x="3792447" y="1974264"/>
            <a:ext cx="2712027" cy="797589"/>
            <a:chOff x="675399" y="3490553"/>
            <a:chExt cx="2712027" cy="797589"/>
          </a:xfrm>
        </p:grpSpPr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490553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기간 </a:t>
              </a:r>
              <a:r>
                <a:rPr lang="ko-KR" altLang="en-US" sz="700" b="1" dirty="0" smtClean="0">
                  <a:latin typeface="+mn-ea"/>
                </a:rPr>
                <a:t>설정 </a:t>
              </a:r>
              <a:r>
                <a:rPr lang="en-US" altLang="ko-KR" sz="700" b="1" dirty="0" smtClean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713091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검색 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빠른 설정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229" name="그룹 228"/>
            <p:cNvGrpSpPr/>
            <p:nvPr/>
          </p:nvGrpSpPr>
          <p:grpSpPr>
            <a:xfrm flipV="1">
              <a:off x="3140949" y="3588243"/>
              <a:ext cx="91438" cy="45719"/>
              <a:chOff x="6812560" y="3297172"/>
              <a:chExt cx="94010" cy="47005"/>
            </a:xfrm>
          </p:grpSpPr>
          <p:cxnSp>
            <p:nvCxnSpPr>
              <p:cNvPr id="242" name="직선 연결선 24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3" name="직선 연결선 24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230" name="그룹 229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1464781" y="3740722"/>
              <a:ext cx="859319" cy="188244"/>
              <a:chOff x="5613534" y="2854836"/>
              <a:chExt cx="804671" cy="188244"/>
            </a:xfrm>
          </p:grpSpPr>
          <p:sp>
            <p:nvSpPr>
              <p:cNvPr id="240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2025-12-15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241" name="그림 240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sp>
          <p:nvSpPr>
            <p:cNvPr id="231" name="TextBox 91">
              <a:extLst>
                <a:ext uri="{FF2B5EF4-FFF2-40B4-BE49-F238E27FC236}">
                  <a16:creationId xmlns:a16="http://schemas.microsoft.com/office/drawing/2014/main" id="{02490888-B81F-0F94-5D5F-078AEEB39DDB}"/>
                </a:ext>
              </a:extLst>
            </p:cNvPr>
            <p:cNvSpPr txBox="1"/>
            <p:nvPr/>
          </p:nvSpPr>
          <p:spPr>
            <a:xfrm>
              <a:off x="2347279" y="3760669"/>
              <a:ext cx="80150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 dirty="0">
                  <a:solidFill>
                    <a:prstClr val="black"/>
                  </a:solidFill>
                  <a:cs typeface="Pretendard Medium" panose="02000603000000020004" pitchFamily="50" charset="-127"/>
                </a:rPr>
                <a:t>~</a:t>
              </a:r>
              <a:endParaRPr lang="ko-KR" altLang="en-US" sz="900" dirty="0">
                <a:solidFill>
                  <a:prstClr val="black"/>
                </a:solidFill>
                <a:cs typeface="Pretendard Medium" panose="02000603000000020004" pitchFamily="50" charset="-127"/>
              </a:endParaRPr>
            </a:p>
          </p:txBody>
        </p:sp>
        <p:grpSp>
          <p:nvGrpSpPr>
            <p:cNvPr id="232" name="그룹 231"/>
            <p:cNvGrpSpPr/>
            <p:nvPr/>
          </p:nvGrpSpPr>
          <p:grpSpPr>
            <a:xfrm>
              <a:off x="1464781" y="3971391"/>
              <a:ext cx="1845146" cy="188135"/>
              <a:chOff x="1430277" y="4057651"/>
              <a:chExt cx="1845146" cy="188135"/>
            </a:xfrm>
          </p:grpSpPr>
          <p:sp>
            <p:nvSpPr>
              <p:cNvPr id="237" name="사각형: 둥근 모서리 169">
                <a:extLst>
                  <a:ext uri="{FF2B5EF4-FFF2-40B4-BE49-F238E27FC236}">
                    <a16:creationId xmlns:a16="http://schemas.microsoft.com/office/drawing/2014/main" id="{A28DD831-0E4B-31EE-CB08-9E188754698D}"/>
                  </a:ext>
                </a:extLst>
              </p:cNvPr>
              <p:cNvSpPr/>
              <p:nvPr/>
            </p:nvSpPr>
            <p:spPr>
              <a:xfrm>
                <a:off x="1430277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최근 </a:t>
                </a:r>
                <a:r>
                  <a:rPr kumimoji="1" lang="en-US" altLang="ko-KR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개월</a:t>
                </a:r>
                <a:endParaRPr kumimoji="1" 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38" name="사각형: 둥근 모서리 171">
                <a:extLst>
                  <a:ext uri="{FF2B5EF4-FFF2-40B4-BE49-F238E27FC236}">
                    <a16:creationId xmlns:a16="http://schemas.microsoft.com/office/drawing/2014/main" id="{75BECEC6-4045-95B1-98C2-242CA0FC5A06}"/>
                  </a:ext>
                </a:extLst>
              </p:cNvPr>
              <p:cNvSpPr/>
              <p:nvPr/>
            </p:nvSpPr>
            <p:spPr>
              <a:xfrm>
                <a:off x="2061841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latin typeface="+mn-ea"/>
                  </a:rPr>
                  <a:t>최근 </a:t>
                </a:r>
                <a:r>
                  <a:rPr kumimoji="1" lang="en-US" altLang="ko-KR" sz="700" kern="0" dirty="0">
                    <a:latin typeface="+mn-ea"/>
                  </a:rPr>
                  <a:t>3</a:t>
                </a:r>
                <a:r>
                  <a:rPr kumimoji="1" lang="ko-KR" altLang="en-US" sz="700" kern="0" dirty="0">
                    <a:latin typeface="+mn-ea"/>
                  </a:rPr>
                  <a:t>개월</a:t>
                </a:r>
                <a:endParaRPr kumimoji="1" lang="en-US" altLang="ko-KR" sz="700" kern="0" dirty="0">
                  <a:latin typeface="+mn-ea"/>
                </a:endParaRPr>
              </a:p>
            </p:txBody>
          </p:sp>
          <p:sp>
            <p:nvSpPr>
              <p:cNvPr id="239" name="사각형: 둥근 모서리 172">
                <a:extLst>
                  <a:ext uri="{FF2B5EF4-FFF2-40B4-BE49-F238E27FC236}">
                    <a16:creationId xmlns:a16="http://schemas.microsoft.com/office/drawing/2014/main" id="{7F182F00-C81F-5F02-6A1E-826222B231A9}"/>
                  </a:ext>
                </a:extLst>
              </p:cNvPr>
              <p:cNvSpPr/>
              <p:nvPr/>
            </p:nvSpPr>
            <p:spPr>
              <a:xfrm>
                <a:off x="2693406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최근 </a:t>
                </a:r>
                <a:r>
                  <a:rPr kumimoji="1" lang="en-US" altLang="ko-KR" sz="700" kern="0" dirty="0">
                    <a:solidFill>
                      <a:prstClr val="black"/>
                    </a:solidFill>
                    <a:latin typeface="+mn-ea"/>
                  </a:rPr>
                  <a:t>6</a:t>
                </a: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개월</a:t>
                </a:r>
                <a:endParaRPr kumimoji="1" lang="en-US" altLang="ko-KR" sz="7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grpSp>
          <p:nvGrpSpPr>
            <p:cNvPr id="233" name="그룹 232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2450608" y="3740722"/>
              <a:ext cx="859319" cy="188244"/>
              <a:chOff x="5613534" y="2854836"/>
              <a:chExt cx="804671" cy="188244"/>
            </a:xfrm>
          </p:grpSpPr>
          <p:sp>
            <p:nvSpPr>
              <p:cNvPr id="235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2026-01-15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236" name="그림 235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cxnSp>
          <p:nvCxnSpPr>
            <p:cNvPr id="234" name="직선 연결선 2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28814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44" name="그룹 243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245" name="직사각형 24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4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24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248" name="그룹 247"/>
          <p:cNvGrpSpPr/>
          <p:nvPr/>
        </p:nvGrpSpPr>
        <p:grpSpPr>
          <a:xfrm>
            <a:off x="3795734" y="3581561"/>
            <a:ext cx="2712027" cy="505089"/>
            <a:chOff x="3795734" y="4353857"/>
            <a:chExt cx="2712027" cy="505089"/>
          </a:xfrm>
        </p:grpSpPr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391255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구분 설정</a:t>
              </a:r>
            </a:p>
          </p:txBody>
        </p:sp>
        <p:grpSp>
          <p:nvGrpSpPr>
            <p:cNvPr id="250" name="그룹 249"/>
            <p:cNvGrpSpPr/>
            <p:nvPr/>
          </p:nvGrpSpPr>
          <p:grpSpPr>
            <a:xfrm flipV="1">
              <a:off x="6261284" y="4488945"/>
              <a:ext cx="91438" cy="45719"/>
              <a:chOff x="6812560" y="3297172"/>
              <a:chExt cx="94010" cy="47005"/>
            </a:xfrm>
          </p:grpSpPr>
          <p:cxnSp>
            <p:nvCxnSpPr>
              <p:cNvPr id="257" name="직선 연결선 25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8" name="직선 연결선 25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51" name="모서리가 둥근 직사각형 250"/>
            <p:cNvSpPr/>
            <p:nvPr/>
          </p:nvSpPr>
          <p:spPr>
            <a:xfrm>
              <a:off x="4569619" y="4671746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tx1"/>
                  </a:solidFill>
                </a:rPr>
                <a:t>전체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619620"/>
              <a:ext cx="670770" cy="18921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10000"/>
                </a:lnSpc>
              </a:pPr>
              <a:r>
                <a:rPr lang="ko-KR" altLang="en-US" sz="700" dirty="0" err="1" smtClean="0">
                  <a:latin typeface="+mn-ea"/>
                </a:rPr>
                <a:t>처리상태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253" name="그룹 252"/>
            <p:cNvGrpSpPr/>
            <p:nvPr/>
          </p:nvGrpSpPr>
          <p:grpSpPr>
            <a:xfrm>
              <a:off x="6261284" y="4742486"/>
              <a:ext cx="91438" cy="45719"/>
              <a:chOff x="6812560" y="3297172"/>
              <a:chExt cx="94010" cy="47005"/>
            </a:xfrm>
          </p:grpSpPr>
          <p:cxnSp>
            <p:nvCxnSpPr>
              <p:cNvPr id="255" name="직선 연결선 2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6" name="직선 연결선 2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435385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59" name="그룹 258"/>
          <p:cNvGrpSpPr/>
          <p:nvPr/>
        </p:nvGrpSpPr>
        <p:grpSpPr>
          <a:xfrm>
            <a:off x="3903622" y="2893083"/>
            <a:ext cx="2516607" cy="467691"/>
            <a:chOff x="778515" y="4388257"/>
            <a:chExt cx="2516607" cy="467691"/>
          </a:xfrm>
        </p:grpSpPr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38825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err="1" smtClean="0">
                  <a:latin typeface="+mn-ea"/>
                </a:rPr>
                <a:t>검색어</a:t>
              </a:r>
              <a:endParaRPr lang="ko-KR" altLang="en-US" sz="700" b="1" dirty="0">
                <a:latin typeface="+mn-ea"/>
              </a:endParaRPr>
            </a:p>
          </p:txBody>
        </p:sp>
        <p:grpSp>
          <p:nvGrpSpPr>
            <p:cNvPr id="261" name="그룹 260"/>
            <p:cNvGrpSpPr/>
            <p:nvPr/>
          </p:nvGrpSpPr>
          <p:grpSpPr>
            <a:xfrm flipV="1">
              <a:off x="3140949" y="4485947"/>
              <a:ext cx="91438" cy="45719"/>
              <a:chOff x="6812560" y="3297172"/>
              <a:chExt cx="94010" cy="47005"/>
            </a:xfrm>
          </p:grpSpPr>
          <p:cxnSp>
            <p:nvCxnSpPr>
              <p:cNvPr id="264" name="직선 연결선 26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65" name="직선 연결선 26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62" name="모서리가 둥근 직사각형 261"/>
            <p:cNvSpPr/>
            <p:nvPr/>
          </p:nvSpPr>
          <p:spPr>
            <a:xfrm>
              <a:off x="1449284" y="466874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 err="1" smtClean="0">
                  <a:solidFill>
                    <a:schemeClr val="bg1">
                      <a:lumMod val="65000"/>
                    </a:schemeClr>
                  </a:solidFill>
                </a:rPr>
                <a:t>계약번호를</a:t>
              </a:r>
              <a:r>
                <a:rPr lang="ko-KR" altLang="en-US" sz="700" dirty="0" smtClean="0">
                  <a:solidFill>
                    <a:schemeClr val="bg1">
                      <a:lumMod val="65000"/>
                    </a:schemeClr>
                  </a:solidFill>
                </a:rPr>
                <a:t> </a:t>
              </a:r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655417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66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467174"/>
            <a:ext cx="2446613" cy="201941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9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67" name="그룹 266"/>
          <p:cNvGrpSpPr/>
          <p:nvPr/>
        </p:nvGrpSpPr>
        <p:grpSpPr>
          <a:xfrm>
            <a:off x="781461" y="3767371"/>
            <a:ext cx="2473257" cy="784763"/>
            <a:chOff x="781461" y="2610063"/>
            <a:chExt cx="2473257" cy="784763"/>
          </a:xfrm>
        </p:grpSpPr>
        <p:sp>
          <p:nvSpPr>
            <p:cNvPr id="26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 smtClean="0"/>
                <a:t>계약번호</a:t>
              </a:r>
              <a:r>
                <a:rPr lang="ko-KR" altLang="en-US" sz="700" dirty="0" smtClean="0"/>
                <a:t> </a:t>
              </a:r>
              <a:r>
                <a:rPr lang="en-US" altLang="ko-KR" sz="700" dirty="0" smtClean="0"/>
                <a:t>2025093455 (00)</a:t>
              </a:r>
              <a:endParaRPr lang="en-US" altLang="ko-KR" sz="700" dirty="0"/>
            </a:p>
            <a:p>
              <a:r>
                <a:rPr lang="ko-KR" altLang="en-US" sz="900" b="1" dirty="0"/>
                <a:t>파카</a:t>
              </a:r>
              <a:r>
                <a:rPr lang="en-US" altLang="ko-KR" sz="900" b="1" dirty="0"/>
                <a:t>,</a:t>
              </a:r>
              <a:r>
                <a:rPr lang="ko-KR" altLang="en-US" sz="900" b="1" dirty="0"/>
                <a:t>외피</a:t>
              </a:r>
            </a:p>
          </p:txBody>
        </p:sp>
        <p:sp>
          <p:nvSpPr>
            <p:cNvPr id="26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17827"/>
              <a:ext cx="307777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계약금액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발주기관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27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62378" y="3102438"/>
              <a:ext cx="472886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11,616,000 </a:t>
              </a:r>
              <a:r>
                <a:rPr lang="ko-KR" altLang="en-US" sz="600" dirty="0" smtClean="0">
                  <a:latin typeface="+mn-ea"/>
                </a:rPr>
                <a:t>원</a:t>
              </a:r>
              <a:endParaRPr lang="en-US" altLang="ko-KR" sz="600" dirty="0" smtClean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방위사업청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271" name="모서리가 둥근 직사각형 270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272" name="모서리가 둥근 직사각형 271"/>
            <p:cNvSpPr/>
            <p:nvPr/>
          </p:nvSpPr>
          <p:spPr>
            <a:xfrm>
              <a:off x="1075655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계약구분</a:t>
              </a:r>
              <a:endParaRPr lang="ko-KR" altLang="en-US" sz="600" dirty="0"/>
            </a:p>
          </p:txBody>
        </p:sp>
      </p:grpSp>
      <p:grpSp>
        <p:nvGrpSpPr>
          <p:cNvPr id="274" name="그룹 27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880999"/>
            <a:ext cx="76863" cy="292489"/>
            <a:chOff x="3750067" y="4683795"/>
            <a:chExt cx="76863" cy="292489"/>
          </a:xfrm>
        </p:grpSpPr>
        <p:sp>
          <p:nvSpPr>
            <p:cNvPr id="275" name="타원 27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76" name="타원 27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77" name="타원 27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278" name="직선 연결선 2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62920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79" name="직선 연결선 2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66474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80" name="TextBox 2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3361891"/>
            <a:ext cx="135706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2,010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8206" y="3357837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282" name="TextBox 2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3357837"/>
            <a:ext cx="50571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283" name="그룹 282"/>
          <p:cNvGrpSpPr/>
          <p:nvPr/>
        </p:nvGrpSpPr>
        <p:grpSpPr>
          <a:xfrm>
            <a:off x="3143548" y="3470204"/>
            <a:ext cx="94010" cy="47005"/>
            <a:chOff x="6812560" y="3297172"/>
            <a:chExt cx="94010" cy="47005"/>
          </a:xfrm>
        </p:grpSpPr>
        <p:cxnSp>
          <p:nvCxnSpPr>
            <p:cNvPr id="284" name="직선 연결선 28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5" name="직선 연결선 28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86" name="그룹 285"/>
          <p:cNvGrpSpPr/>
          <p:nvPr/>
        </p:nvGrpSpPr>
        <p:grpSpPr>
          <a:xfrm>
            <a:off x="767702" y="2757448"/>
            <a:ext cx="2527420" cy="477995"/>
            <a:chOff x="786326" y="2270279"/>
            <a:chExt cx="2527420" cy="477995"/>
          </a:xfrm>
        </p:grpSpPr>
        <p:sp>
          <p:nvSpPr>
            <p:cNvPr id="287" name="모서리가 둥근 직사각형 286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88" name="타원 287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90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95625" y="2274581"/>
              <a:ext cx="615387" cy="155984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계약번호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291" name="타원 290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/>
                <a:t>V</a:t>
              </a:r>
              <a:endParaRPr lang="ko-KR" altLang="en-US" sz="600" dirty="0"/>
            </a:p>
          </p:txBody>
        </p:sp>
        <p:sp>
          <p:nvSpPr>
            <p:cNvPr id="292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726021" y="2270279"/>
              <a:ext cx="582849" cy="15479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>
                  <a:latin typeface="맑은 고딕"/>
                  <a:ea typeface="맑은 고딕" panose="020B0503020000020004" pitchFamily="50" charset="-127"/>
                </a:rPr>
                <a:t>검색필터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293" name="타원 292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94" name="그룹 293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295" name="직선 연결선 294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96" name="직선 연결선 295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297" name="직선 연결선 29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2266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98" name="타원 29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01823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99" name="타원 29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00202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grpSp>
        <p:nvGrpSpPr>
          <p:cNvPr id="61" name="그룹 60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다음으로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6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0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739753" y="3764560"/>
            <a:ext cx="494347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맑은 고딕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30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739753" y="3970176"/>
            <a:ext cx="494347" cy="162000"/>
          </a:xfrm>
          <a:prstGeom prst="roundRect">
            <a:avLst/>
          </a:prstGeom>
          <a:solidFill>
            <a:srgbClr val="0070C0"/>
          </a:solidFill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2" name="타원 3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357834" y="386311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303" name="타원 30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3744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187351977"/>
      </p:ext>
    </p:extLst>
  </p:cSld>
  <p:clrMapOvr>
    <a:masterClrMapping/>
  </p:clrMapOvr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 smtClean="0"/>
              <a:t>신청 정보 작성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발급 수량 </a:t>
            </a:r>
            <a:r>
              <a:rPr lang="en-US" altLang="ko-KR" dirty="0" smtClean="0"/>
              <a:t>: 1 </a:t>
            </a:r>
            <a:r>
              <a:rPr lang="ko-KR" altLang="en-US" dirty="0" smtClean="0"/>
              <a:t>통 </a:t>
            </a:r>
            <a:r>
              <a:rPr lang="en-US" altLang="ko-KR" dirty="0" smtClean="0"/>
              <a:t>~10 </a:t>
            </a:r>
            <a:r>
              <a:rPr lang="ko-KR" altLang="en-US" dirty="0" smtClean="0"/>
              <a:t>통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 smtClean="0"/>
              <a:t>사용목적 </a:t>
            </a:r>
            <a:r>
              <a:rPr lang="en-US" altLang="ko-KR" dirty="0" smtClean="0"/>
              <a:t>/ </a:t>
            </a:r>
            <a:r>
              <a:rPr lang="ko-KR" altLang="en-US" dirty="0" err="1" smtClean="0"/>
              <a:t>제출유형</a:t>
            </a:r>
            <a:r>
              <a:rPr lang="ko-KR" altLang="en-US" dirty="0" smtClean="0"/>
              <a:t> 선택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>
                <a:solidFill>
                  <a:srgbClr val="FF0000"/>
                </a:solidFill>
              </a:rPr>
              <a:t>사용목적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err="1" smtClean="0">
                <a:solidFill>
                  <a:srgbClr val="FF0000"/>
                </a:solidFill>
              </a:rPr>
              <a:t>제출유형에</a:t>
            </a:r>
            <a:r>
              <a:rPr lang="ko-KR" altLang="en-US" dirty="0" smtClean="0">
                <a:solidFill>
                  <a:srgbClr val="FF0000"/>
                </a:solidFill>
              </a:rPr>
              <a:t> 따라 실적정보입력 항목이 변경됨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A. </a:t>
            </a:r>
            <a:r>
              <a:rPr lang="ko-KR" altLang="en-US" dirty="0" smtClean="0"/>
              <a:t>사용목적 일 때 노출 정보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세무서제출용</a:t>
            </a:r>
            <a:r>
              <a:rPr lang="en-US" altLang="ko-KR" sz="700" dirty="0"/>
              <a:t>-</a:t>
            </a:r>
            <a:r>
              <a:rPr lang="ko-KR" altLang="en-US" sz="700" dirty="0"/>
              <a:t>당해</a:t>
            </a:r>
            <a:r>
              <a:rPr lang="en-US" altLang="ko-KR" sz="700" dirty="0"/>
              <a:t>(</a:t>
            </a:r>
            <a:r>
              <a:rPr lang="ko-KR" altLang="en-US" sz="700" dirty="0"/>
              <a:t>납품</a:t>
            </a:r>
            <a:r>
              <a:rPr lang="en-US" altLang="ko-KR" sz="700" dirty="0" smtClean="0"/>
              <a:t>)</a:t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세무서제출용</a:t>
            </a:r>
            <a:r>
              <a:rPr lang="en-US" altLang="ko-KR" sz="700" dirty="0"/>
              <a:t>-</a:t>
            </a:r>
            <a:r>
              <a:rPr lang="ko-KR" altLang="en-US" sz="700" dirty="0"/>
              <a:t>당해</a:t>
            </a:r>
            <a:r>
              <a:rPr lang="en-US" altLang="ko-KR" sz="700" dirty="0"/>
              <a:t>(</a:t>
            </a:r>
            <a:r>
              <a:rPr lang="ko-KR" altLang="en-US" sz="700" dirty="0"/>
              <a:t>선금</a:t>
            </a:r>
            <a:r>
              <a:rPr lang="en-US" altLang="ko-KR" sz="700" dirty="0" smtClean="0"/>
              <a:t>)</a:t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세무서제출용</a:t>
            </a:r>
            <a:r>
              <a:rPr lang="en-US" altLang="ko-KR" sz="700" dirty="0"/>
              <a:t>-</a:t>
            </a:r>
            <a:r>
              <a:rPr lang="ko-KR" altLang="en-US" sz="700" dirty="0"/>
              <a:t>당해</a:t>
            </a:r>
            <a:r>
              <a:rPr lang="en-US" altLang="ko-KR" sz="700" dirty="0"/>
              <a:t>(</a:t>
            </a:r>
            <a:r>
              <a:rPr lang="ko-KR" altLang="en-US" sz="700" dirty="0"/>
              <a:t>착수금</a:t>
            </a:r>
            <a:r>
              <a:rPr lang="en-US" altLang="ko-KR" sz="700" dirty="0" smtClean="0"/>
              <a:t>)</a:t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세무서제출용</a:t>
            </a:r>
            <a:r>
              <a:rPr lang="en-US" altLang="ko-KR" sz="700" dirty="0"/>
              <a:t>-</a:t>
            </a:r>
            <a:r>
              <a:rPr lang="ko-KR" altLang="en-US" sz="700" dirty="0"/>
              <a:t>당해</a:t>
            </a:r>
            <a:r>
              <a:rPr lang="en-US" altLang="ko-KR" sz="700" dirty="0"/>
              <a:t>(</a:t>
            </a:r>
            <a:r>
              <a:rPr lang="ko-KR" altLang="en-US" sz="700" dirty="0"/>
              <a:t>중도금</a:t>
            </a:r>
            <a:r>
              <a:rPr lang="en-US" altLang="ko-KR" sz="700" dirty="0" smtClean="0"/>
              <a:t>)</a:t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세무서제출용</a:t>
            </a:r>
            <a:r>
              <a:rPr lang="en-US" altLang="ko-KR" sz="700" dirty="0"/>
              <a:t>-</a:t>
            </a:r>
            <a:r>
              <a:rPr lang="ko-KR" altLang="en-US" sz="700" dirty="0"/>
              <a:t>예정</a:t>
            </a:r>
            <a:r>
              <a:rPr lang="en-US" altLang="ko-KR" sz="700" dirty="0"/>
              <a:t>(</a:t>
            </a:r>
            <a:r>
              <a:rPr lang="ko-KR" altLang="en-US" sz="700" dirty="0"/>
              <a:t>납품</a:t>
            </a:r>
            <a:r>
              <a:rPr lang="en-US" altLang="ko-KR" sz="700" dirty="0" smtClean="0"/>
              <a:t>)</a:t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보증회사제출용</a:t>
            </a:r>
            <a:r>
              <a:rPr lang="en-US" altLang="ko-KR" sz="700" dirty="0"/>
              <a:t>-</a:t>
            </a:r>
            <a:r>
              <a:rPr lang="ko-KR" altLang="en-US" sz="700" dirty="0"/>
              <a:t>당해</a:t>
            </a:r>
            <a:r>
              <a:rPr lang="en-US" altLang="ko-KR" sz="700" dirty="0"/>
              <a:t>(</a:t>
            </a:r>
            <a:r>
              <a:rPr lang="ko-KR" altLang="en-US" sz="700" dirty="0"/>
              <a:t>납품</a:t>
            </a:r>
            <a:r>
              <a:rPr lang="en-US" altLang="ko-KR" sz="700" dirty="0" smtClean="0"/>
              <a:t>)</a:t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보증회사제출용</a:t>
            </a:r>
            <a:r>
              <a:rPr lang="en-US" altLang="ko-KR" sz="700" dirty="0"/>
              <a:t>-</a:t>
            </a:r>
            <a:r>
              <a:rPr lang="ko-KR" altLang="en-US" sz="700" dirty="0"/>
              <a:t>예정</a:t>
            </a:r>
            <a:r>
              <a:rPr lang="en-US" altLang="ko-KR" sz="700" dirty="0"/>
              <a:t>(</a:t>
            </a:r>
            <a:r>
              <a:rPr lang="ko-KR" altLang="en-US" sz="700" dirty="0"/>
              <a:t>납품</a:t>
            </a:r>
            <a:r>
              <a:rPr lang="en-US" altLang="ko-KR" sz="700" dirty="0" smtClean="0"/>
              <a:t>)</a:t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적격심사제출용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err="1" smtClean="0"/>
              <a:t>입찰참가용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기타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기타 입력 시 추가 입력 폼 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b. </a:t>
            </a:r>
            <a:r>
              <a:rPr lang="ko-KR" altLang="en-US" dirty="0" err="1" smtClean="0"/>
              <a:t>제출유형</a:t>
            </a:r>
            <a:r>
              <a:rPr lang="ko-KR" altLang="en-US" dirty="0" smtClean="0"/>
              <a:t> 일 때 노출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sz="700" dirty="0"/>
              <a:t>- 1.</a:t>
            </a:r>
            <a:r>
              <a:rPr lang="ko-KR" altLang="en-US" sz="700" dirty="0"/>
              <a:t>시공실적증명서 </a:t>
            </a:r>
            <a:r>
              <a:rPr lang="en-US" altLang="ko-KR" sz="700" dirty="0"/>
              <a:t>[</a:t>
            </a:r>
            <a:r>
              <a:rPr lang="ko-KR" altLang="en-US" sz="700" dirty="0" err="1"/>
              <a:t>군시설공사</a:t>
            </a:r>
            <a:r>
              <a:rPr lang="ko-KR" altLang="en-US" sz="700" dirty="0"/>
              <a:t> 적격심사기준에 관한 훈령</a:t>
            </a:r>
            <a:r>
              <a:rPr lang="en-US" altLang="ko-KR" sz="700" dirty="0"/>
              <a:t>/</a:t>
            </a:r>
            <a:r>
              <a:rPr lang="ko-KR" altLang="en-US" sz="700" dirty="0"/>
              <a:t>국방부</a:t>
            </a:r>
            <a:r>
              <a:rPr lang="en-US" altLang="ko-KR" sz="700" dirty="0"/>
              <a:t>] </a:t>
            </a:r>
            <a:br>
              <a:rPr lang="en-US" altLang="ko-KR" sz="700" dirty="0"/>
            </a:br>
            <a:r>
              <a:rPr lang="en-US" altLang="ko-KR" sz="700" dirty="0"/>
              <a:t>- 2.</a:t>
            </a:r>
            <a:r>
              <a:rPr lang="ko-KR" altLang="en-US" sz="700" dirty="0" err="1"/>
              <a:t>시공실적</a:t>
            </a:r>
            <a:r>
              <a:rPr lang="en-US" altLang="ko-KR" sz="700" dirty="0"/>
              <a:t>(</a:t>
            </a:r>
            <a:r>
              <a:rPr lang="ko-KR" altLang="en-US" sz="700" dirty="0" err="1"/>
              <a:t>기성율</a:t>
            </a:r>
            <a:r>
              <a:rPr lang="en-US" altLang="ko-KR" sz="700" dirty="0"/>
              <a:t>)</a:t>
            </a:r>
            <a:r>
              <a:rPr lang="ko-KR" altLang="en-US" sz="700" dirty="0"/>
              <a:t>증명서 </a:t>
            </a:r>
            <a:r>
              <a:rPr lang="en-US" altLang="ko-KR" sz="700" dirty="0"/>
              <a:t>[</a:t>
            </a:r>
            <a:r>
              <a:rPr lang="ko-KR" altLang="en-US" sz="700" dirty="0" err="1"/>
              <a:t>군시설공사</a:t>
            </a:r>
            <a:r>
              <a:rPr lang="ko-KR" altLang="en-US" sz="700" dirty="0"/>
              <a:t> </a:t>
            </a:r>
            <a:r>
              <a:rPr lang="ko-KR" altLang="en-US" sz="700" dirty="0" err="1"/>
              <a:t>입찰참가자격사전심사</a:t>
            </a:r>
            <a:r>
              <a:rPr lang="ko-KR" altLang="en-US" sz="700" dirty="0"/>
              <a:t> 세부운영기준에 관한 훈령</a:t>
            </a:r>
            <a:r>
              <a:rPr lang="en-US" altLang="ko-KR" sz="700" dirty="0"/>
              <a:t>/</a:t>
            </a:r>
            <a:r>
              <a:rPr lang="ko-KR" altLang="en-US" sz="700" dirty="0"/>
              <a:t>국방부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- 3.</a:t>
            </a:r>
            <a:r>
              <a:rPr lang="ko-KR" altLang="en-US" sz="700" dirty="0"/>
              <a:t>건설공사기성실적증명</a:t>
            </a:r>
            <a:r>
              <a:rPr lang="en-US" altLang="ko-KR" sz="700" dirty="0"/>
              <a:t>(</a:t>
            </a:r>
            <a:r>
              <a:rPr lang="ko-KR" altLang="en-US" sz="700" dirty="0"/>
              <a:t>신청</a:t>
            </a:r>
            <a:r>
              <a:rPr lang="en-US" altLang="ko-KR" sz="700" dirty="0"/>
              <a:t>)</a:t>
            </a:r>
            <a:r>
              <a:rPr lang="ko-KR" altLang="en-US" sz="700" dirty="0"/>
              <a:t>서</a:t>
            </a:r>
            <a:r>
              <a:rPr lang="en-US" altLang="ko-KR" sz="700" dirty="0"/>
              <a:t>_</a:t>
            </a:r>
            <a:r>
              <a:rPr lang="ko-KR" altLang="en-US" sz="700" dirty="0" err="1"/>
              <a:t>세부공종</a:t>
            </a:r>
            <a:r>
              <a:rPr lang="en-US" altLang="ko-KR" sz="700" dirty="0"/>
              <a:t>(</a:t>
            </a:r>
            <a:r>
              <a:rPr lang="ko-KR" altLang="en-US" sz="700" dirty="0"/>
              <a:t>종합</a:t>
            </a:r>
            <a:r>
              <a:rPr lang="en-US" altLang="ko-KR" sz="700" dirty="0"/>
              <a:t>) [</a:t>
            </a:r>
            <a:r>
              <a:rPr lang="ko-KR" altLang="en-US" sz="700" dirty="0"/>
              <a:t>건설산업기본법 </a:t>
            </a:r>
            <a:r>
              <a:rPr lang="ko-KR" altLang="en-US" sz="700" dirty="0" smtClean="0"/>
              <a:t>시행규칙</a:t>
            </a:r>
            <a:r>
              <a:rPr lang="en-US" altLang="ko-KR" sz="700" dirty="0"/>
              <a:t>/</a:t>
            </a:r>
            <a:r>
              <a:rPr lang="ko-KR" altLang="en-US" sz="700" dirty="0" err="1"/>
              <a:t>국토해양부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- 4.</a:t>
            </a:r>
            <a:r>
              <a:rPr lang="ko-KR" altLang="en-US" sz="700" dirty="0" err="1"/>
              <a:t>건설폐기물처리용역이행</a:t>
            </a:r>
            <a:r>
              <a:rPr lang="ko-KR" altLang="en-US" sz="700" dirty="0"/>
              <a:t> 실적증명서 </a:t>
            </a:r>
            <a:r>
              <a:rPr lang="en-US" altLang="ko-KR" sz="700" dirty="0"/>
              <a:t>[</a:t>
            </a:r>
            <a:r>
              <a:rPr lang="ko-KR" altLang="en-US" sz="700" dirty="0"/>
              <a:t>건설폐기물처리용역 </a:t>
            </a:r>
            <a:r>
              <a:rPr lang="ko-KR" altLang="en-US" sz="700" dirty="0" err="1"/>
              <a:t>적격업체</a:t>
            </a:r>
            <a:r>
              <a:rPr lang="ko-KR" altLang="en-US" sz="700" dirty="0"/>
              <a:t> 평가기준</a:t>
            </a:r>
            <a:r>
              <a:rPr lang="en-US" altLang="ko-KR" sz="700" dirty="0"/>
              <a:t>/</a:t>
            </a:r>
            <a:r>
              <a:rPr lang="ko-KR" altLang="en-US" sz="700" dirty="0"/>
              <a:t>환경부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- 5.</a:t>
            </a:r>
            <a:r>
              <a:rPr lang="ko-KR" altLang="en-US" sz="700" dirty="0" err="1"/>
              <a:t>실적자료</a:t>
            </a:r>
            <a:r>
              <a:rPr lang="ko-KR" altLang="en-US" sz="700" dirty="0"/>
              <a:t> 발주기관 확인서 </a:t>
            </a:r>
            <a:r>
              <a:rPr lang="en-US" altLang="ko-KR" sz="700" dirty="0"/>
              <a:t>[</a:t>
            </a:r>
            <a:r>
              <a:rPr lang="ko-KR" altLang="en-US" sz="700" dirty="0"/>
              <a:t>최저가낙찰제 </a:t>
            </a:r>
            <a:r>
              <a:rPr lang="ko-KR" altLang="en-US" sz="700" dirty="0" err="1"/>
              <a:t>대상공사의</a:t>
            </a:r>
            <a:r>
              <a:rPr lang="ko-KR" altLang="en-US" sz="700" dirty="0"/>
              <a:t> 입찰금액 </a:t>
            </a:r>
            <a:r>
              <a:rPr lang="en-US" altLang="ko-KR" sz="700" dirty="0"/>
              <a:t>(</a:t>
            </a:r>
            <a:r>
              <a:rPr lang="ko-KR" altLang="en-US" sz="700" dirty="0"/>
              <a:t>원</a:t>
            </a:r>
            <a:r>
              <a:rPr lang="en-US" altLang="ko-KR" sz="700" dirty="0"/>
              <a:t>) </a:t>
            </a:r>
            <a:r>
              <a:rPr lang="ko-KR" altLang="en-US" sz="700" dirty="0"/>
              <a:t>적정성 세부심사기준에 관한 훈령</a:t>
            </a:r>
            <a:r>
              <a:rPr lang="en-US" altLang="ko-KR" sz="700" dirty="0"/>
              <a:t>/</a:t>
            </a:r>
            <a:r>
              <a:rPr lang="ko-KR" altLang="en-US" sz="700" dirty="0"/>
              <a:t>국방부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- 6.</a:t>
            </a:r>
            <a:r>
              <a:rPr lang="ko-KR" altLang="en-US" sz="700" dirty="0"/>
              <a:t>정보통신공사 실적증명서 </a:t>
            </a:r>
            <a:r>
              <a:rPr lang="en-US" altLang="ko-KR" sz="700" dirty="0"/>
              <a:t>[</a:t>
            </a:r>
            <a:r>
              <a:rPr lang="ko-KR" altLang="en-US" sz="700" dirty="0"/>
              <a:t>정보통신공사업법 시행에 관한 규정</a:t>
            </a:r>
            <a:r>
              <a:rPr lang="en-US" altLang="ko-KR" sz="700" dirty="0"/>
              <a:t>/</a:t>
            </a:r>
            <a:r>
              <a:rPr lang="ko-KR" altLang="en-US" sz="700" dirty="0"/>
              <a:t>전기공제조합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- 7.</a:t>
            </a:r>
            <a:r>
              <a:rPr lang="ko-KR" altLang="en-US" sz="700" dirty="0"/>
              <a:t>소방시설공사 실적증명서 </a:t>
            </a:r>
            <a:r>
              <a:rPr lang="en-US" altLang="ko-KR" sz="700" dirty="0"/>
              <a:t>[</a:t>
            </a:r>
            <a:r>
              <a:rPr lang="ko-KR" altLang="en-US" sz="700" dirty="0"/>
              <a:t>소방시설공사업법 시행에 관한 규정</a:t>
            </a:r>
            <a:r>
              <a:rPr lang="en-US" altLang="ko-KR" sz="700" dirty="0"/>
              <a:t>/</a:t>
            </a:r>
            <a:r>
              <a:rPr lang="ko-KR" altLang="en-US" sz="700" dirty="0"/>
              <a:t>소방시설협회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- 8.</a:t>
            </a:r>
            <a:r>
              <a:rPr lang="ko-KR" altLang="en-US" sz="700" dirty="0"/>
              <a:t>전기공사 실적증명서 </a:t>
            </a:r>
            <a:r>
              <a:rPr lang="en-US" altLang="ko-KR" sz="700" dirty="0"/>
              <a:t>[</a:t>
            </a:r>
            <a:r>
              <a:rPr lang="ko-KR" altLang="en-US" sz="700" dirty="0"/>
              <a:t>전기공사업법 시행에 관한 규정</a:t>
            </a:r>
            <a:r>
              <a:rPr lang="en-US" altLang="ko-KR" sz="700" dirty="0"/>
              <a:t>/</a:t>
            </a:r>
            <a:r>
              <a:rPr lang="ko-KR" altLang="en-US" sz="700" dirty="0"/>
              <a:t>전기공사협회</a:t>
            </a:r>
            <a:r>
              <a:rPr lang="en-US" altLang="ko-KR" sz="700" dirty="0" smtClean="0"/>
              <a:t>]</a:t>
            </a:r>
            <a:br>
              <a:rPr lang="en-US" altLang="ko-KR" sz="700" dirty="0" smtClean="0"/>
            </a:br>
            <a:r>
              <a:rPr lang="en-US" altLang="ko-KR" sz="700" dirty="0"/>
              <a:t>- 9.</a:t>
            </a:r>
            <a:r>
              <a:rPr lang="ko-KR" altLang="en-US" sz="700" dirty="0"/>
              <a:t>건설공사기성실적증명</a:t>
            </a:r>
            <a:r>
              <a:rPr lang="en-US" altLang="ko-KR" sz="700" dirty="0"/>
              <a:t>(</a:t>
            </a:r>
            <a:r>
              <a:rPr lang="ko-KR" altLang="en-US" sz="700" dirty="0"/>
              <a:t>신청</a:t>
            </a:r>
            <a:r>
              <a:rPr lang="en-US" altLang="ko-KR" sz="700" dirty="0"/>
              <a:t>)</a:t>
            </a:r>
            <a:r>
              <a:rPr lang="ko-KR" altLang="en-US" sz="700" dirty="0"/>
              <a:t>서</a:t>
            </a:r>
            <a:r>
              <a:rPr lang="en-US" altLang="ko-KR" sz="700" dirty="0"/>
              <a:t>_</a:t>
            </a:r>
            <a:r>
              <a:rPr lang="ko-KR" altLang="en-US" sz="700" dirty="0" err="1"/>
              <a:t>세부공종</a:t>
            </a:r>
            <a:r>
              <a:rPr lang="en-US" altLang="ko-KR" sz="700" dirty="0"/>
              <a:t>(</a:t>
            </a:r>
            <a:r>
              <a:rPr lang="ko-KR" altLang="en-US" sz="700" dirty="0"/>
              <a:t>전문</a:t>
            </a:r>
            <a:r>
              <a:rPr lang="en-US" altLang="ko-KR" sz="700" dirty="0"/>
              <a:t>) [</a:t>
            </a:r>
            <a:r>
              <a:rPr lang="ko-KR" altLang="en-US" sz="700" dirty="0"/>
              <a:t>건설산업기본법 시행규칙</a:t>
            </a:r>
            <a:r>
              <a:rPr lang="en-US" altLang="ko-KR" sz="700" dirty="0"/>
              <a:t>/</a:t>
            </a:r>
            <a:r>
              <a:rPr lang="ko-KR" altLang="en-US" sz="700" dirty="0" err="1"/>
              <a:t>국토해양부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- 10.</a:t>
            </a:r>
            <a:r>
              <a:rPr lang="ko-KR" altLang="en-US" sz="700" dirty="0"/>
              <a:t>건설공사 </a:t>
            </a:r>
            <a:r>
              <a:rPr lang="ko-KR" altLang="en-US" sz="700" dirty="0" err="1"/>
              <a:t>직접시공분</a:t>
            </a:r>
            <a:r>
              <a:rPr lang="ko-KR" altLang="en-US" sz="700" dirty="0"/>
              <a:t> 기성실적증명</a:t>
            </a:r>
            <a:r>
              <a:rPr lang="en-US" altLang="ko-KR" sz="700" dirty="0"/>
              <a:t>(</a:t>
            </a:r>
            <a:r>
              <a:rPr lang="ko-KR" altLang="en-US" sz="700" dirty="0"/>
              <a:t>신청</a:t>
            </a:r>
            <a:r>
              <a:rPr lang="en-US" altLang="ko-KR" sz="700" dirty="0"/>
              <a:t>)</a:t>
            </a:r>
            <a:r>
              <a:rPr lang="ko-KR" altLang="en-US" sz="700" dirty="0"/>
              <a:t>서 </a:t>
            </a:r>
            <a:r>
              <a:rPr lang="en-US" altLang="ko-KR" sz="700" dirty="0"/>
              <a:t>[</a:t>
            </a:r>
            <a:r>
              <a:rPr lang="ko-KR" altLang="en-US" sz="700" dirty="0"/>
              <a:t>건설산업기본법 시행규칙</a:t>
            </a:r>
            <a:r>
              <a:rPr lang="en-US" altLang="ko-KR" sz="700" dirty="0"/>
              <a:t>/</a:t>
            </a:r>
            <a:r>
              <a:rPr lang="ko-KR" altLang="en-US" sz="700" dirty="0" err="1"/>
              <a:t>국토해양부</a:t>
            </a:r>
            <a:r>
              <a:rPr lang="en-US" altLang="ko-KR" sz="700" dirty="0"/>
              <a:t>]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신청 공통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 smtClean="0">
                <a:latin typeface="+mn-ea"/>
              </a:rPr>
              <a:t>신청정보</a:t>
            </a:r>
            <a:r>
              <a:rPr lang="ko-KR" altLang="en-US" sz="900" dirty="0" smtClean="0">
                <a:latin typeface="+mn-ea"/>
              </a:rPr>
              <a:t> 입력</a:t>
            </a:r>
            <a:endParaRPr lang="ko-KR" altLang="en-US" sz="900" dirty="0">
              <a:latin typeface="+mn-ea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0" name="그룹 19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69" name="그룹 6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5" name="직선 연결선 1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6" name="그룹 15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7" name="직선 연결선 16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8" name="직선 연결선 17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9" name="타원 18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79" name="그룹 78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80" name="직선 연결선 7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81" name="직선 연결선 8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84" name="그룹 83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85" name="타원 84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2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90" name="그룹 89"/>
            <p:cNvGrpSpPr/>
            <p:nvPr/>
          </p:nvGrpSpPr>
          <p:grpSpPr>
            <a:xfrm rot="16200000">
              <a:off x="2887583" y="1999831"/>
              <a:ext cx="94010" cy="47005"/>
              <a:chOff x="6812560" y="3297172"/>
              <a:chExt cx="94010" cy="47005"/>
            </a:xfrm>
          </p:grpSpPr>
          <p:cxnSp>
            <p:nvCxnSpPr>
              <p:cNvPr id="91" name="직선 연결선 9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2" name="직선 연결선 9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94" name="그룹 93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96" name="타원 9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0362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신청정보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04" name="그룹 103"/>
            <p:cNvGrpSpPr/>
            <p:nvPr/>
          </p:nvGrpSpPr>
          <p:grpSpPr>
            <a:xfrm>
              <a:off x="3039523" y="1929352"/>
              <a:ext cx="187961" cy="187961"/>
              <a:chOff x="2714860" y="3237230"/>
              <a:chExt cx="187961" cy="187961"/>
            </a:xfrm>
          </p:grpSpPr>
          <p:sp>
            <p:nvSpPr>
              <p:cNvPr id="106" name="타원 105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7" name="TextBox 10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3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61" name="그룹 60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다음으로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6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latin typeface="맑은 고딕"/>
                  <a:ea typeface="맑은 고딕" panose="020B0503020000020004" pitchFamily="50" charset="-127"/>
                </a:rPr>
                <a:t>이전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8" name="그룹 7"/>
          <p:cNvGrpSpPr/>
          <p:nvPr/>
        </p:nvGrpSpPr>
        <p:grpSpPr>
          <a:xfrm>
            <a:off x="3880034" y="1959757"/>
            <a:ext cx="2543426" cy="2532373"/>
            <a:chOff x="740592" y="2562912"/>
            <a:chExt cx="2543426" cy="2532373"/>
          </a:xfrm>
        </p:grpSpPr>
        <p:sp>
          <p:nvSpPr>
            <p:cNvPr id="164" name="모서리가 둥근 직사각형 163"/>
            <p:cNvSpPr/>
            <p:nvPr/>
          </p:nvSpPr>
          <p:spPr>
            <a:xfrm>
              <a:off x="740592" y="2562912"/>
              <a:ext cx="2543426" cy="2532373"/>
            </a:xfrm>
            <a:prstGeom prst="roundRect">
              <a:avLst>
                <a:gd name="adj" fmla="val 3825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43672" y="2624732"/>
              <a:ext cx="2154318" cy="24237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ko-KR" altLang="en-US" sz="700" b="1" dirty="0">
                  <a:latin typeface="Consolas" panose="020B0609020204030204" pitchFamily="49" charset="0"/>
                </a:rPr>
                <a:t>유의사항</a:t>
              </a:r>
              <a:endParaRPr lang="en-US" altLang="ko-KR" sz="700" b="1" dirty="0">
                <a:latin typeface="Consolas" panose="020B0609020204030204" pitchFamily="49" charset="0"/>
              </a:endParaRPr>
            </a:p>
            <a:p>
              <a:pPr marL="171450" indent="-171450">
                <a:lnSpc>
                  <a:spcPct val="150000"/>
                </a:lnSpc>
                <a:buFontTx/>
                <a:buChar char="-"/>
              </a:pPr>
              <a:r>
                <a:rPr lang="ko-KR" altLang="en-US" sz="700" dirty="0" smtClean="0">
                  <a:latin typeface="Consolas" panose="020B0609020204030204" pitchFamily="49" charset="0"/>
                </a:rPr>
                <a:t>납품실적증명서의 </a:t>
              </a:r>
              <a:r>
                <a:rPr lang="ko-KR" altLang="en-US" sz="700" dirty="0">
                  <a:latin typeface="Consolas" panose="020B0609020204030204" pitchFamily="49" charset="0"/>
                </a:rPr>
                <a:t>사용목적이 적격심사</a:t>
              </a:r>
              <a:r>
                <a:rPr lang="en-US" altLang="ko-KR" sz="700" dirty="0">
                  <a:latin typeface="Consolas" panose="020B0609020204030204" pitchFamily="49" charset="0"/>
                </a:rPr>
                <a:t>, </a:t>
              </a:r>
              <a:r>
                <a:rPr lang="ko-KR" altLang="en-US" sz="700" dirty="0">
                  <a:latin typeface="Consolas" panose="020B0609020204030204" pitchFamily="49" charset="0"/>
                </a:rPr>
                <a:t>입찰참가용일 경우에는 </a:t>
              </a:r>
              <a:r>
                <a:rPr lang="ko-KR" altLang="en-US" sz="700" dirty="0" err="1">
                  <a:latin typeface="Consolas" panose="020B0609020204030204" pitchFamily="49" charset="0"/>
                </a:rPr>
                <a:t>대외기관</a:t>
              </a:r>
              <a:r>
                <a:rPr lang="ko-KR" altLang="en-US" sz="700" dirty="0">
                  <a:latin typeface="Consolas" panose="020B0609020204030204" pitchFamily="49" charset="0"/>
                </a:rPr>
                <a:t> </a:t>
              </a:r>
              <a:r>
                <a:rPr lang="ko-KR" altLang="en-US" sz="700" dirty="0" err="1">
                  <a:latin typeface="Consolas" panose="020B0609020204030204" pitchFamily="49" charset="0"/>
                </a:rPr>
                <a:t>제출용만</a:t>
              </a:r>
              <a:r>
                <a:rPr lang="ko-KR" altLang="en-US" sz="700" dirty="0">
                  <a:latin typeface="Consolas" panose="020B0609020204030204" pitchFamily="49" charset="0"/>
                </a:rPr>
                <a:t> 발급합니다</a:t>
              </a:r>
              <a:r>
                <a:rPr lang="en-US" altLang="ko-KR" sz="700" dirty="0">
                  <a:latin typeface="Consolas" panose="020B0609020204030204" pitchFamily="49" charset="0"/>
                </a:rPr>
                <a:t>.</a:t>
              </a:r>
            </a:p>
            <a:p>
              <a:pPr marL="171450" indent="-171450">
                <a:lnSpc>
                  <a:spcPct val="150000"/>
                </a:lnSpc>
                <a:buFontTx/>
                <a:buChar char="-"/>
              </a:pPr>
              <a:r>
                <a:rPr lang="ko-KR" altLang="en-US" sz="700" dirty="0">
                  <a:latin typeface="Consolas" panose="020B0609020204030204" pitchFamily="49" charset="0"/>
                </a:rPr>
                <a:t>청 내부 부서는 해당부서 담당자가 관련 시스템을 통하여 직접 확인 가능하니</a:t>
              </a:r>
              <a:r>
                <a:rPr lang="en-US" altLang="ko-KR" sz="700" dirty="0">
                  <a:latin typeface="Consolas" panose="020B0609020204030204" pitchFamily="49" charset="0"/>
                </a:rPr>
                <a:t>, </a:t>
              </a:r>
              <a:r>
                <a:rPr lang="ko-KR" altLang="en-US" sz="700" dirty="0">
                  <a:latin typeface="Consolas" panose="020B0609020204030204" pitchFamily="49" charset="0"/>
                </a:rPr>
                <a:t>담당자와 유선으로 협조하시기 바랍니다</a:t>
              </a:r>
              <a:r>
                <a:rPr lang="en-US" altLang="ko-KR" sz="700" dirty="0" smtClean="0">
                  <a:latin typeface="Consolas" panose="020B0609020204030204" pitchFamily="49" charset="0"/>
                </a:rPr>
                <a:t>.</a:t>
              </a:r>
            </a:p>
            <a:p>
              <a:pPr marL="171450" indent="-171450">
                <a:lnSpc>
                  <a:spcPct val="150000"/>
                </a:lnSpc>
                <a:buFontTx/>
                <a:buChar char="-"/>
              </a:pPr>
              <a:r>
                <a:rPr lang="ko-KR" altLang="en-US" sz="700" dirty="0">
                  <a:latin typeface="Consolas" panose="020B0609020204030204" pitchFamily="49" charset="0"/>
                </a:rPr>
                <a:t>실적증명서 발급 관련문의는 해당 군부대로 해주시기 바랍니다</a:t>
              </a:r>
              <a:r>
                <a:rPr lang="en-US" altLang="ko-KR" sz="700" dirty="0">
                  <a:latin typeface="Consolas" panose="020B0609020204030204" pitchFamily="49" charset="0"/>
                </a:rPr>
                <a:t>.</a:t>
              </a:r>
            </a:p>
            <a:p>
              <a:pPr marL="171450" indent="-171450">
                <a:lnSpc>
                  <a:spcPct val="150000"/>
                </a:lnSpc>
                <a:buFontTx/>
                <a:buChar char="-"/>
              </a:pPr>
              <a:r>
                <a:rPr lang="ko-KR" altLang="en-US" sz="700" dirty="0">
                  <a:latin typeface="Consolas" panose="020B0609020204030204" pitchFamily="49" charset="0"/>
                </a:rPr>
                <a:t>해당 군부대의 연락처 확인이 어려울 경우에는 </a:t>
              </a:r>
              <a:r>
                <a:rPr lang="ko-KR" altLang="en-US" sz="700" dirty="0" err="1">
                  <a:latin typeface="Consolas" panose="020B0609020204030204" pitchFamily="49" charset="0"/>
                </a:rPr>
                <a:t>군전화</a:t>
              </a:r>
              <a:r>
                <a:rPr lang="ko-KR" altLang="en-US" sz="700" dirty="0">
                  <a:latin typeface="Consolas" panose="020B0609020204030204" pitchFamily="49" charset="0"/>
                </a:rPr>
                <a:t> </a:t>
              </a:r>
              <a:r>
                <a:rPr lang="ko-KR" altLang="en-US" sz="700" dirty="0" err="1">
                  <a:latin typeface="Consolas" panose="020B0609020204030204" pitchFamily="49" charset="0"/>
                </a:rPr>
                <a:t>안내센터로</a:t>
              </a:r>
              <a:r>
                <a:rPr lang="ko-KR" altLang="en-US" sz="700" dirty="0">
                  <a:latin typeface="Consolas" panose="020B0609020204030204" pitchFamily="49" charset="0"/>
                </a:rPr>
                <a:t> 문의하시면 안내 받으실 수 있습니다</a:t>
              </a:r>
              <a:r>
                <a:rPr lang="en-US" altLang="ko-KR" sz="700" dirty="0" smtClean="0">
                  <a:latin typeface="Consolas" panose="020B0609020204030204" pitchFamily="49" charset="0"/>
                </a:rPr>
                <a:t>.</a:t>
              </a:r>
              <a:br>
                <a:rPr lang="en-US" altLang="ko-KR" sz="700" dirty="0" smtClean="0">
                  <a:latin typeface="Consolas" panose="020B0609020204030204" pitchFamily="49" charset="0"/>
                </a:rPr>
              </a:br>
              <a:r>
                <a:rPr lang="en-US" altLang="ko-KR" sz="700" dirty="0" smtClean="0">
                  <a:latin typeface="Consolas" panose="020B0609020204030204" pitchFamily="49" charset="0"/>
                </a:rPr>
                <a:t>(</a:t>
              </a:r>
              <a:r>
                <a:rPr lang="ko-KR" altLang="en-US" sz="700" dirty="0">
                  <a:latin typeface="Consolas" panose="020B0609020204030204" pitchFamily="49" charset="0"/>
                </a:rPr>
                <a:t>안내센터에서는 부대 연락처 확인만 가능하며</a:t>
              </a:r>
              <a:r>
                <a:rPr lang="en-US" altLang="ko-KR" sz="700" dirty="0">
                  <a:latin typeface="Consolas" panose="020B0609020204030204" pitchFamily="49" charset="0"/>
                </a:rPr>
                <a:t>, </a:t>
              </a:r>
              <a:r>
                <a:rPr lang="ko-KR" altLang="en-US" sz="700" dirty="0">
                  <a:latin typeface="Consolas" panose="020B0609020204030204" pitchFamily="49" charset="0"/>
                </a:rPr>
                <a:t>실적증명서 발급 안내는 불가</a:t>
              </a:r>
              <a:r>
                <a:rPr lang="en-US" altLang="ko-KR" sz="700" dirty="0">
                  <a:latin typeface="Consolas" panose="020B0609020204030204" pitchFamily="49" charset="0"/>
                </a:rPr>
                <a:t>)</a:t>
              </a:r>
            </a:p>
            <a:p>
              <a:pPr marL="171450" indent="-171450">
                <a:lnSpc>
                  <a:spcPct val="150000"/>
                </a:lnSpc>
                <a:buFontTx/>
                <a:buChar char="-"/>
              </a:pPr>
              <a:r>
                <a:rPr lang="ko-KR" altLang="en-US" sz="700" dirty="0" err="1" smtClean="0">
                  <a:latin typeface="Consolas" panose="020B0609020204030204" pitchFamily="49" charset="0"/>
                </a:rPr>
                <a:t>군전화</a:t>
              </a:r>
              <a:r>
                <a:rPr lang="ko-KR" altLang="en-US" sz="700" dirty="0" smtClean="0">
                  <a:latin typeface="Consolas" panose="020B0609020204030204" pitchFamily="49" charset="0"/>
                </a:rPr>
                <a:t> </a:t>
              </a:r>
              <a:r>
                <a:rPr lang="ko-KR" altLang="en-US" sz="700" dirty="0">
                  <a:latin typeface="Consolas" panose="020B0609020204030204" pitchFamily="49" charset="0"/>
                </a:rPr>
                <a:t>안내센터 </a:t>
              </a:r>
              <a:r>
                <a:rPr lang="en-US" altLang="ko-KR" sz="700" dirty="0">
                  <a:latin typeface="Consolas" panose="020B0609020204030204" pitchFamily="49" charset="0"/>
                </a:rPr>
                <a:t>: 02-748-0114, </a:t>
              </a:r>
              <a:r>
                <a:rPr lang="en-US" altLang="ko-KR" sz="700" dirty="0" smtClean="0">
                  <a:latin typeface="Consolas" panose="020B0609020204030204" pitchFamily="49" charset="0"/>
                </a:rPr>
                <a:t>042-550-0114</a:t>
              </a:r>
              <a:endParaRPr lang="en-US" altLang="ko-KR" sz="700" dirty="0">
                <a:latin typeface="Consolas" panose="020B0609020204030204" pitchFamily="49" charset="0"/>
              </a:endParaRPr>
            </a:p>
          </p:txBody>
        </p:sp>
        <p:sp>
          <p:nvSpPr>
            <p:cNvPr id="166" name="타원 165"/>
            <p:cNvSpPr/>
            <p:nvPr/>
          </p:nvSpPr>
          <p:spPr>
            <a:xfrm>
              <a:off x="813731" y="2629468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67" name="그룹 166"/>
            <p:cNvGrpSpPr/>
            <p:nvPr/>
          </p:nvGrpSpPr>
          <p:grpSpPr>
            <a:xfrm flipV="1">
              <a:off x="3091512" y="2664908"/>
              <a:ext cx="94010" cy="47005"/>
              <a:chOff x="6812560" y="3297172"/>
              <a:chExt cx="94010" cy="47005"/>
            </a:xfrm>
          </p:grpSpPr>
          <p:cxnSp>
            <p:nvCxnSpPr>
              <p:cNvPr id="168" name="직선 연결선 16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9" name="직선 연결선 16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06" name="그룹 305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307" name="직사각형 306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0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다음으로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30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latin typeface="맑은 고딕"/>
                  <a:ea typeface="맑은 고딕" panose="020B0503020000020004" pitchFamily="50" charset="-127"/>
                </a:rPr>
                <a:t>이전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10" name="TextBox 3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신청 정보를 입력해주시길 바랍니다</a:t>
            </a:r>
            <a:r>
              <a:rPr lang="en-US" altLang="ko-KR" sz="700" dirty="0" smtClean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311" name="그룹 310"/>
          <p:cNvGrpSpPr/>
          <p:nvPr/>
        </p:nvGrpSpPr>
        <p:grpSpPr>
          <a:xfrm>
            <a:off x="675400" y="2863500"/>
            <a:ext cx="2712026" cy="1467127"/>
            <a:chOff x="675400" y="2590223"/>
            <a:chExt cx="2712026" cy="1467127"/>
          </a:xfrm>
        </p:grpSpPr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14" name="직사각형 313"/>
            <p:cNvSpPr/>
            <p:nvPr/>
          </p:nvSpPr>
          <p:spPr>
            <a:xfrm>
              <a:off x="722583" y="2897708"/>
              <a:ext cx="792000" cy="108697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신청인 연락처 </a:t>
              </a:r>
              <a:r>
                <a:rPr lang="en-US" altLang="ko-KR" sz="700" dirty="0" smtClean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solidFill>
                  <a:srgbClr val="FF0000"/>
                </a:solidFill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발급수량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사용목적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ko-KR" altLang="en-US" sz="700" dirty="0" smtClean="0">
                <a:latin typeface="+mn-ea"/>
              </a:endParaRPr>
            </a:p>
          </p:txBody>
        </p: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8468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400" y="4057350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325" name="직선 연결선 3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20981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43086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330" name="그룹 329"/>
          <p:cNvGrpSpPr/>
          <p:nvPr/>
        </p:nvGrpSpPr>
        <p:grpSpPr>
          <a:xfrm>
            <a:off x="3153204" y="3489127"/>
            <a:ext cx="94010" cy="47005"/>
            <a:chOff x="6812560" y="3297172"/>
            <a:chExt cx="94010" cy="47005"/>
          </a:xfrm>
        </p:grpSpPr>
        <p:cxnSp>
          <p:nvCxnSpPr>
            <p:cNvPr id="331" name="직선 연결선 3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32" name="직선 연결선 3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3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64666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85834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335" name="그룹 334"/>
          <p:cNvGrpSpPr/>
          <p:nvPr/>
        </p:nvGrpSpPr>
        <p:grpSpPr>
          <a:xfrm>
            <a:off x="3153204" y="3916614"/>
            <a:ext cx="94010" cy="47005"/>
            <a:chOff x="6812560" y="3297172"/>
            <a:chExt cx="94010" cy="47005"/>
          </a:xfrm>
        </p:grpSpPr>
        <p:cxnSp>
          <p:nvCxnSpPr>
            <p:cNvPr id="336" name="직선 연결선 33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37" name="직선 연결선 33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3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406242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기타 내용을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2047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41" name="모서리가 둥근 직사각형 340"/>
          <p:cNvSpPr/>
          <p:nvPr/>
        </p:nvSpPr>
        <p:spPr>
          <a:xfrm>
            <a:off x="759699" y="4436191"/>
            <a:ext cx="2543426" cy="326142"/>
          </a:xfrm>
          <a:prstGeom prst="roundRect">
            <a:avLst>
              <a:gd name="adj" fmla="val 19039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42" name="TextBox 3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62779" y="4545401"/>
            <a:ext cx="215431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Consolas" panose="020B0609020204030204" pitchFamily="49" charset="0"/>
              </a:rPr>
              <a:t>유의사항</a:t>
            </a:r>
            <a:endParaRPr lang="en-US" altLang="ko-KR" sz="700" b="1" dirty="0">
              <a:latin typeface="Consolas" panose="020B0609020204030204" pitchFamily="49" charset="0"/>
            </a:endParaRPr>
          </a:p>
        </p:txBody>
      </p:sp>
      <p:sp>
        <p:nvSpPr>
          <p:cNvPr id="343" name="타원 342"/>
          <p:cNvSpPr/>
          <p:nvPr/>
        </p:nvSpPr>
        <p:spPr>
          <a:xfrm>
            <a:off x="832838" y="4502746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44" name="그룹 343"/>
          <p:cNvGrpSpPr/>
          <p:nvPr/>
        </p:nvGrpSpPr>
        <p:grpSpPr>
          <a:xfrm>
            <a:off x="3110619" y="4575760"/>
            <a:ext cx="94010" cy="47005"/>
            <a:chOff x="6812560" y="3297172"/>
            <a:chExt cx="94010" cy="47005"/>
          </a:xfrm>
        </p:grpSpPr>
        <p:cxnSp>
          <p:nvCxnSpPr>
            <p:cNvPr id="345" name="직선 연결선 3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46" name="직선 연결선 3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47" name="타원 3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86435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grpSp>
        <p:nvGrpSpPr>
          <p:cNvPr id="348" name="그룹 347"/>
          <p:cNvGrpSpPr/>
          <p:nvPr/>
        </p:nvGrpSpPr>
        <p:grpSpPr>
          <a:xfrm>
            <a:off x="3790563" y="1498734"/>
            <a:ext cx="2717198" cy="357754"/>
            <a:chOff x="675399" y="1846937"/>
            <a:chExt cx="2717198" cy="357754"/>
          </a:xfrm>
        </p:grpSpPr>
        <p:cxnSp>
          <p:nvCxnSpPr>
            <p:cNvPr id="374" name="직선 연결선 3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50" name="직선 연결선 3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351" name="그룹 35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371" name="직선 연결선 37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72" name="직선 연결선 37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352" name="그룹 35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369" name="타원 368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70" name="TextBox 36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2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354" name="그룹 353"/>
            <p:cNvGrpSpPr/>
            <p:nvPr/>
          </p:nvGrpSpPr>
          <p:grpSpPr>
            <a:xfrm rot="16200000">
              <a:off x="2887583" y="1999831"/>
              <a:ext cx="94010" cy="47005"/>
              <a:chOff x="6812560" y="3297172"/>
              <a:chExt cx="94010" cy="47005"/>
            </a:xfrm>
          </p:grpSpPr>
          <p:cxnSp>
            <p:nvCxnSpPr>
              <p:cNvPr id="365" name="직선 연결선 36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355" name="그룹 35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363" name="타원 362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64" name="TextBox 36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0362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신청정보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358" name="그룹 357"/>
            <p:cNvGrpSpPr/>
            <p:nvPr/>
          </p:nvGrpSpPr>
          <p:grpSpPr>
            <a:xfrm>
              <a:off x="3039523" y="1929352"/>
              <a:ext cx="187961" cy="187961"/>
              <a:chOff x="2714860" y="3237230"/>
              <a:chExt cx="187961" cy="187961"/>
            </a:xfrm>
          </p:grpSpPr>
          <p:sp>
            <p:nvSpPr>
              <p:cNvPr id="359" name="타원 358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60" name="TextBox 35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3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379" name="TextBox 37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</p:spTree>
    <p:extLst>
      <p:ext uri="{BB962C8B-B14F-4D97-AF65-F5344CB8AC3E}">
        <p14:creationId xmlns:p14="http://schemas.microsoft.com/office/powerpoint/2010/main" val="3557995158"/>
      </p:ext>
    </p:extLst>
  </p:cSld>
  <p:clrMapOvr>
    <a:masterClrMapping/>
  </p:clrMapOvr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/>
              <a:t>계약 구분이 </a:t>
            </a:r>
            <a:r>
              <a:rPr lang="ko-KR" altLang="en-US" dirty="0" smtClean="0"/>
              <a:t>방위사업청인 경우 </a:t>
            </a:r>
            <a:r>
              <a:rPr lang="ko-KR" altLang="en-US" dirty="0" err="1" smtClean="0"/>
              <a:t>작성항목</a:t>
            </a:r>
            <a:r>
              <a:rPr lang="en-US" altLang="ko-KR" dirty="0" smtClean="0"/>
              <a:t>.</a:t>
            </a:r>
          </a:p>
          <a:p>
            <a:pPr marL="228600" indent="-228600">
              <a:buAutoNum type="arabicPeriod"/>
            </a:pPr>
            <a:r>
              <a:rPr lang="ko-KR" altLang="en-US" dirty="0" smtClean="0"/>
              <a:t>항목은 불러온 정보 기반으로 정보가 채워져 있으며</a:t>
            </a:r>
            <a:r>
              <a:rPr lang="en-US" altLang="ko-KR" dirty="0" smtClean="0"/>
              <a:t>, </a:t>
            </a:r>
            <a:r>
              <a:rPr lang="ko-KR" altLang="en-US" dirty="0" smtClean="0"/>
              <a:t>수정 가능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>
                <a:solidFill>
                  <a:srgbClr val="FF0000"/>
                </a:solidFill>
              </a:rPr>
              <a:t>아래 사용 목적 정보에 따라 표시 내역 </a:t>
            </a:r>
            <a:r>
              <a:rPr lang="ko-KR" altLang="en-US" dirty="0" smtClean="0">
                <a:solidFill>
                  <a:srgbClr val="FF0000"/>
                </a:solidFill>
              </a:rPr>
              <a:t>변경에 </a:t>
            </a:r>
            <a:r>
              <a:rPr lang="ko-KR" altLang="en-US" dirty="0">
                <a:solidFill>
                  <a:srgbClr val="FF0000"/>
                </a:solidFill>
              </a:rPr>
              <a:t>주의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납품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</a:t>
            </a:r>
            <a:r>
              <a:rPr lang="ko-KR" altLang="en-US" dirty="0"/>
              <a:t> </a:t>
            </a:r>
            <a:r>
              <a:rPr lang="en-US" altLang="ko-KR" dirty="0"/>
              <a:t>5. </a:t>
            </a:r>
            <a:r>
              <a:rPr lang="ko-KR" altLang="en-US" dirty="0"/>
              <a:t>정산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선금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3. </a:t>
            </a:r>
            <a:r>
              <a:rPr lang="ko-KR" altLang="en-US" dirty="0"/>
              <a:t>선금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착수금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2. </a:t>
            </a:r>
            <a:r>
              <a:rPr lang="ko-KR" altLang="en-US" dirty="0"/>
              <a:t>착수금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중도금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4. </a:t>
            </a:r>
            <a:r>
              <a:rPr lang="ko-KR" altLang="en-US" dirty="0"/>
              <a:t>중도금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예정</a:t>
            </a:r>
            <a:r>
              <a:rPr lang="en-US" altLang="ko-KR" dirty="0"/>
              <a:t>(</a:t>
            </a:r>
            <a:r>
              <a:rPr lang="ko-KR" altLang="en-US" dirty="0" err="1"/>
              <a:t>납품금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5. </a:t>
            </a:r>
            <a:r>
              <a:rPr lang="ko-KR" altLang="en-US" dirty="0"/>
              <a:t>정산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보증회사제출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 err="1"/>
              <a:t>납품금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5. </a:t>
            </a:r>
            <a:r>
              <a:rPr lang="ko-KR" altLang="en-US" dirty="0"/>
              <a:t>정산</a:t>
            </a:r>
            <a:r>
              <a:rPr lang="en-US" altLang="ko-KR" dirty="0"/>
              <a:t>, 6. </a:t>
            </a:r>
            <a:r>
              <a:rPr lang="ko-KR" altLang="en-US" dirty="0"/>
              <a:t>보증보험번호 및 확인요청사항</a:t>
            </a:r>
            <a:r>
              <a:rPr lang="en-US" altLang="ko-KR" dirty="0"/>
              <a:t>, </a:t>
            </a:r>
            <a:r>
              <a:rPr lang="en-US" altLang="ko-KR" dirty="0">
                <a:solidFill>
                  <a:srgbClr val="FF0000"/>
                </a:solidFill>
              </a:rPr>
              <a:t>7. </a:t>
            </a:r>
            <a:r>
              <a:rPr lang="ko-KR" altLang="en-US" dirty="0" err="1">
                <a:solidFill>
                  <a:srgbClr val="FF0000"/>
                </a:solidFill>
              </a:rPr>
              <a:t>정산일자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보증회사제출</a:t>
            </a:r>
            <a:r>
              <a:rPr lang="en-US" altLang="ko-KR" dirty="0"/>
              <a:t>-</a:t>
            </a:r>
            <a:r>
              <a:rPr lang="ko-KR" altLang="en-US" dirty="0"/>
              <a:t>예정</a:t>
            </a:r>
            <a:r>
              <a:rPr lang="en-US" altLang="ko-KR" dirty="0"/>
              <a:t>(</a:t>
            </a:r>
            <a:r>
              <a:rPr lang="ko-KR" altLang="en-US" dirty="0" err="1"/>
              <a:t>납품금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5. </a:t>
            </a:r>
            <a:r>
              <a:rPr lang="ko-KR" altLang="en-US" dirty="0"/>
              <a:t>정산</a:t>
            </a:r>
            <a:r>
              <a:rPr lang="en-US" altLang="ko-KR" dirty="0"/>
              <a:t>, 6. </a:t>
            </a:r>
            <a:r>
              <a:rPr lang="ko-KR" altLang="en-US" dirty="0"/>
              <a:t>보증보험번호 및 확인요청사항</a:t>
            </a:r>
            <a:r>
              <a:rPr lang="en-US" altLang="ko-KR" dirty="0"/>
              <a:t>, </a:t>
            </a:r>
            <a:r>
              <a:rPr lang="en-US" altLang="ko-KR" dirty="0">
                <a:solidFill>
                  <a:srgbClr val="FF0000"/>
                </a:solidFill>
              </a:rPr>
              <a:t>7. </a:t>
            </a:r>
            <a:r>
              <a:rPr lang="ko-KR" altLang="en-US" dirty="0" err="1">
                <a:solidFill>
                  <a:srgbClr val="FF0000"/>
                </a:solidFill>
              </a:rPr>
              <a:t>정산일자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적격심사제출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입찰참가용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기타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  &gt; 1~7. </a:t>
            </a:r>
            <a:r>
              <a:rPr lang="ko-KR" altLang="en-US" dirty="0" err="1"/>
              <a:t>납품일자</a:t>
            </a:r>
            <a:r>
              <a:rPr lang="ko-KR" altLang="en-US" dirty="0"/>
              <a:t> 전부 표시</a:t>
            </a:r>
            <a:endParaRPr lang="en-US" altLang="ko-KR" dirty="0" smtClean="0"/>
          </a:p>
          <a:p>
            <a:pPr marL="228600" indent="-228600">
              <a:buAutoNum type="arabicPeriod"/>
            </a:pPr>
            <a:r>
              <a:rPr lang="ko-KR" altLang="en-US" dirty="0" smtClean="0"/>
              <a:t>저장</a:t>
            </a:r>
            <a:r>
              <a:rPr lang="en-US" altLang="ko-KR" dirty="0" smtClean="0"/>
              <a:t>, </a:t>
            </a:r>
            <a:r>
              <a:rPr lang="ko-KR" altLang="en-US" dirty="0" smtClean="0"/>
              <a:t>신청에 따라 토스트 메시지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저장 되었습니다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신청이 완료되었습니다</a:t>
            </a:r>
            <a:r>
              <a:rPr lang="en-US" altLang="ko-KR" dirty="0" smtClean="0"/>
              <a:t>.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 err="1" smtClean="0">
                <a:latin typeface="+mn-ea"/>
              </a:rPr>
              <a:t>방위사업청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 smtClean="0">
                <a:latin typeface="+mn-ea"/>
              </a:rPr>
              <a:t>실적정보</a:t>
            </a:r>
            <a:r>
              <a:rPr lang="ko-KR" altLang="en-US" sz="900" dirty="0" smtClean="0">
                <a:latin typeface="+mn-ea"/>
              </a:rPr>
              <a:t> 입력</a:t>
            </a:r>
            <a:endParaRPr lang="ko-KR" altLang="en-US" sz="900" dirty="0">
              <a:latin typeface="+mn-ea"/>
            </a:endParaRPr>
          </a:p>
        </p:txBody>
      </p:sp>
      <p:grpSp>
        <p:nvGrpSpPr>
          <p:cNvPr id="61" name="그룹 60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6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10" name="TextBox 3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실적 정보를 입력해주시길 바랍니다</a:t>
            </a:r>
            <a:r>
              <a:rPr lang="en-US" altLang="ko-KR" sz="700" dirty="0" smtClean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325" name="직선 연결선 3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pic>
        <p:nvPicPr>
          <p:cNvPr id="328" name="그림 327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43136" y="4935854"/>
            <a:ext cx="134873" cy="137278"/>
          </a:xfrm>
          <a:prstGeom prst="rect">
            <a:avLst/>
          </a:prstGeom>
        </p:spPr>
      </p:pic>
      <p:grpSp>
        <p:nvGrpSpPr>
          <p:cNvPr id="5" name="그룹 4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69" name="그룹 6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5" name="직선 연결선 1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6" name="그룹 15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7" name="직선 연결선 16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8" name="직선 연결선 17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9" name="타원 18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79" name="그룹 78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80" name="직선 연결선 7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81" name="직선 연결선 8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84" name="그룹 83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85" name="타원 84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87" name="그룹 86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88" name="직선 연결선 8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89" name="직선 연결선 8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실적정보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입력</a:t>
              </a:r>
            </a:p>
          </p:txBody>
        </p:sp>
        <p:grpSp>
          <p:nvGrpSpPr>
            <p:cNvPr id="99" name="그룹 98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01" name="타원 100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5" name="그룹 11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6" name="타원 11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7" name="TextBox 11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3" name="그룹 2"/>
          <p:cNvGrpSpPr/>
          <p:nvPr/>
        </p:nvGrpSpPr>
        <p:grpSpPr>
          <a:xfrm>
            <a:off x="716366" y="2869580"/>
            <a:ext cx="2630093" cy="2255186"/>
            <a:chOff x="3836701" y="2590223"/>
            <a:chExt cx="2630093" cy="2255186"/>
          </a:xfrm>
        </p:grpSpPr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실적정보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19" name="그룹 118"/>
            <p:cNvGrpSpPr/>
            <p:nvPr/>
          </p:nvGrpSpPr>
          <p:grpSpPr>
            <a:xfrm flipV="1">
              <a:off x="6259759" y="2703554"/>
              <a:ext cx="94010" cy="47005"/>
              <a:chOff x="6812560" y="3297172"/>
              <a:chExt cx="94010" cy="47005"/>
            </a:xfrm>
          </p:grpSpPr>
          <p:cxnSp>
            <p:nvCxnSpPr>
              <p:cNvPr id="120" name="직선 연결선 11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1" name="직선 연결선 12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2" name="직사각형 121"/>
            <p:cNvSpPr/>
            <p:nvPr/>
          </p:nvSpPr>
          <p:spPr>
            <a:xfrm>
              <a:off x="3838794" y="2897709"/>
              <a:ext cx="792000" cy="193868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897708"/>
              <a:ext cx="79200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납품</a:t>
              </a:r>
              <a:r>
                <a:rPr lang="en-US" altLang="ko-KR" sz="700" dirty="0" smtClean="0">
                  <a:latin typeface="+mn-ea"/>
                </a:rPr>
                <a:t>/</a:t>
              </a:r>
              <a:r>
                <a:rPr lang="ko-KR" altLang="en-US" sz="700" dirty="0" err="1" smtClean="0">
                  <a:latin typeface="+mn-ea"/>
                </a:rPr>
                <a:t>지출년도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납품금액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선금금액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정산금액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착수금액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중도금액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보증보험번호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확인요청사항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납품일자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897708"/>
              <a:ext cx="1784088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</p:txBody>
        </p: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19113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40483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185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8454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2047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47" name="타원 3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86435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8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21161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smtClean="0">
                <a:latin typeface="맑은 고딕"/>
                <a:ea typeface="맑은 고딕" panose="020B0503020000020004" pitchFamily="50" charset="-127"/>
              </a:rPr>
              <a:t>2025 </a:t>
            </a:r>
            <a:r>
              <a:rPr kumimoji="1" lang="ko-KR" altLang="en-US" sz="700" kern="0" dirty="0" smtClean="0">
                <a:latin typeface="맑은 고딕"/>
                <a:ea typeface="맑은 고딕" panose="020B0503020000020004" pitchFamily="50" charset="-127"/>
              </a:rPr>
              <a:t>년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grpSp>
        <p:nvGrpSpPr>
          <p:cNvPr id="181" name="그룹 180"/>
          <p:cNvGrpSpPr/>
          <p:nvPr/>
        </p:nvGrpSpPr>
        <p:grpSpPr>
          <a:xfrm>
            <a:off x="3153204" y="3269885"/>
            <a:ext cx="94010" cy="47005"/>
            <a:chOff x="6812560" y="3297172"/>
            <a:chExt cx="94010" cy="47005"/>
          </a:xfrm>
        </p:grpSpPr>
        <p:cxnSp>
          <p:nvCxnSpPr>
            <p:cNvPr id="182" name="직선 연결선 18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3" name="직선 연결선 18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43213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smtClean="0">
                <a:latin typeface="맑은 고딕"/>
                <a:ea typeface="맑은 고딕" panose="020B0503020000020004" pitchFamily="50" charset="-127"/>
              </a:rPr>
              <a:t>1,000,000 </a:t>
            </a:r>
            <a:r>
              <a:rPr kumimoji="1" lang="ko-KR" altLang="en-US" sz="700" kern="0" dirty="0" smtClean="0">
                <a:latin typeface="맑은 고딕"/>
                <a:ea typeface="맑은 고딕" panose="020B0503020000020004" pitchFamily="50" charset="-127"/>
              </a:rPr>
              <a:t>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2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64773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smtClean="0">
                <a:latin typeface="맑은 고딕"/>
                <a:ea typeface="맑은 고딕" panose="020B0503020000020004" pitchFamily="50" charset="-127"/>
              </a:rPr>
              <a:t>1,000,000 </a:t>
            </a:r>
            <a:r>
              <a:rPr kumimoji="1" lang="ko-KR" altLang="en-US" sz="700" kern="0" dirty="0" smtClean="0">
                <a:latin typeface="맑은 고딕"/>
                <a:ea typeface="맑은 고딕" panose="020B0503020000020004" pitchFamily="50" charset="-127"/>
              </a:rPr>
              <a:t>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2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85516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smtClean="0">
                <a:latin typeface="맑은 고딕"/>
                <a:ea typeface="맑은 고딕" panose="020B0503020000020004" pitchFamily="50" charset="-127"/>
              </a:rPr>
              <a:t>1,000,000 </a:t>
            </a:r>
            <a:r>
              <a:rPr kumimoji="1" lang="ko-KR" altLang="en-US" sz="700" kern="0" dirty="0" smtClean="0">
                <a:latin typeface="맑은 고딕"/>
                <a:ea typeface="맑은 고딕" panose="020B0503020000020004" pitchFamily="50" charset="-127"/>
              </a:rPr>
              <a:t>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2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407075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smtClean="0">
                <a:latin typeface="맑은 고딕"/>
                <a:ea typeface="맑은 고딕" panose="020B0503020000020004" pitchFamily="50" charset="-127"/>
              </a:rPr>
              <a:t>1,000,000 </a:t>
            </a:r>
            <a:r>
              <a:rPr kumimoji="1" lang="ko-KR" altLang="en-US" sz="700" kern="0" dirty="0" smtClean="0">
                <a:latin typeface="맑은 고딕"/>
                <a:ea typeface="맑은 고딕" panose="020B0503020000020004" pitchFamily="50" charset="-127"/>
              </a:rPr>
              <a:t>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2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427824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smtClean="0">
                <a:latin typeface="맑은 고딕"/>
                <a:ea typeface="맑은 고딕" panose="020B0503020000020004" pitchFamily="50" charset="-127"/>
              </a:rPr>
              <a:t>1,000,000 </a:t>
            </a:r>
            <a:r>
              <a:rPr kumimoji="1" lang="ko-KR" altLang="en-US" sz="700" kern="0" dirty="0" smtClean="0">
                <a:latin typeface="맑은 고딕"/>
                <a:ea typeface="맑은 고딕" panose="020B0503020000020004" pitchFamily="50" charset="-127"/>
              </a:rPr>
              <a:t>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2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44931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smtClean="0">
                <a:latin typeface="맑은 고딕"/>
                <a:ea typeface="맑은 고딕" panose="020B0503020000020004" pitchFamily="50" charset="-127"/>
              </a:rPr>
              <a:t>123456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470700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492904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smtClean="0">
                <a:latin typeface="맑은 고딕"/>
                <a:ea typeface="맑은 고딕" panose="020B0503020000020004" pitchFamily="50" charset="-127"/>
              </a:rPr>
              <a:t>2025-12-13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35" name="타원 2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1786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36" name="모서리가 둥근 직사각형 235"/>
          <p:cNvSpPr/>
          <p:nvPr/>
        </p:nvSpPr>
        <p:spPr>
          <a:xfrm>
            <a:off x="3370903" y="3458748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2-1</a:t>
            </a:r>
            <a:endParaRPr lang="ko-KR" altLang="en-US" sz="900" b="1" dirty="0"/>
          </a:p>
        </p:txBody>
      </p:sp>
      <p:sp>
        <p:nvSpPr>
          <p:cNvPr id="237" name="모서리가 둥근 직사각형 236"/>
          <p:cNvSpPr/>
          <p:nvPr/>
        </p:nvSpPr>
        <p:spPr>
          <a:xfrm>
            <a:off x="3370903" y="3665284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r>
              <a:rPr lang="en-US" altLang="ko-KR" sz="900" b="1" dirty="0" smtClean="0"/>
              <a:t>-2</a:t>
            </a:r>
            <a:endParaRPr lang="ko-KR" altLang="en-US" sz="900" b="1" dirty="0"/>
          </a:p>
        </p:txBody>
      </p:sp>
      <p:sp>
        <p:nvSpPr>
          <p:cNvPr id="238" name="모서리가 둥근 직사각형 237"/>
          <p:cNvSpPr/>
          <p:nvPr/>
        </p:nvSpPr>
        <p:spPr>
          <a:xfrm>
            <a:off x="3370903" y="3873070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r>
              <a:rPr lang="en-US" altLang="ko-KR" sz="900" b="1" dirty="0" smtClean="0"/>
              <a:t>-3</a:t>
            </a:r>
            <a:endParaRPr lang="ko-KR" altLang="en-US" sz="900" b="1" dirty="0"/>
          </a:p>
        </p:txBody>
      </p:sp>
      <p:sp>
        <p:nvSpPr>
          <p:cNvPr id="239" name="모서리가 둥근 직사각형 238"/>
          <p:cNvSpPr/>
          <p:nvPr/>
        </p:nvSpPr>
        <p:spPr>
          <a:xfrm>
            <a:off x="3370903" y="4092263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r>
              <a:rPr lang="en-US" altLang="ko-KR" sz="900" b="1" dirty="0" smtClean="0"/>
              <a:t>-4</a:t>
            </a:r>
            <a:endParaRPr lang="ko-KR" altLang="en-US" sz="900" b="1" dirty="0"/>
          </a:p>
        </p:txBody>
      </p:sp>
      <p:sp>
        <p:nvSpPr>
          <p:cNvPr id="240" name="모서리가 둥근 직사각형 239"/>
          <p:cNvSpPr/>
          <p:nvPr/>
        </p:nvSpPr>
        <p:spPr>
          <a:xfrm>
            <a:off x="3370903" y="4303588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r>
              <a:rPr lang="en-US" altLang="ko-KR" sz="900" b="1" dirty="0" smtClean="0"/>
              <a:t>-5</a:t>
            </a:r>
            <a:endParaRPr lang="ko-KR" altLang="en-US" sz="900" b="1" dirty="0"/>
          </a:p>
        </p:txBody>
      </p:sp>
      <p:sp>
        <p:nvSpPr>
          <p:cNvPr id="241" name="모서리가 둥근 직사각형 240"/>
          <p:cNvSpPr/>
          <p:nvPr/>
        </p:nvSpPr>
        <p:spPr>
          <a:xfrm>
            <a:off x="3370903" y="4600332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r>
              <a:rPr lang="en-US" altLang="ko-KR" sz="900" b="1" dirty="0" smtClean="0"/>
              <a:t>-6</a:t>
            </a:r>
            <a:endParaRPr lang="ko-KR" altLang="en-US" sz="900" b="1" dirty="0"/>
          </a:p>
        </p:txBody>
      </p:sp>
      <p:sp>
        <p:nvSpPr>
          <p:cNvPr id="242" name="모서리가 둥근 직사각형 241"/>
          <p:cNvSpPr/>
          <p:nvPr/>
        </p:nvSpPr>
        <p:spPr>
          <a:xfrm>
            <a:off x="3370903" y="4937387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r>
              <a:rPr lang="en-US" altLang="ko-KR" sz="900" b="1" dirty="0" smtClean="0"/>
              <a:t>-7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330819958"/>
      </p:ext>
    </p:extLst>
  </p:cSld>
  <p:clrMapOvr>
    <a:masterClrMapping/>
  </p:clrMapOvr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</a:t>
            </a:r>
            <a:r>
              <a:rPr lang="ko-KR" altLang="en-US" dirty="0" smtClean="0"/>
              <a:t>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B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시공실적증명서 </a:t>
            </a:r>
            <a:r>
              <a:rPr lang="en-US" altLang="ko-KR" dirty="0"/>
              <a:t>[</a:t>
            </a:r>
            <a:r>
              <a:rPr lang="ko-KR" altLang="en-US" dirty="0" err="1"/>
              <a:t>군시설공사</a:t>
            </a:r>
            <a:r>
              <a:rPr lang="ko-KR" altLang="en-US" dirty="0"/>
              <a:t> 적격심사기준에 관한 훈령</a:t>
            </a:r>
            <a:r>
              <a:rPr lang="en-US" altLang="ko-KR" dirty="0"/>
              <a:t>/</a:t>
            </a:r>
            <a:r>
              <a:rPr lang="ko-KR" altLang="en-US" dirty="0"/>
              <a:t>국방부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2. 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 </a:t>
            </a:r>
            <a:r>
              <a:rPr lang="en-US" altLang="ko-KR" dirty="0"/>
              <a:t>[</a:t>
            </a:r>
            <a:r>
              <a:rPr lang="ko-KR" altLang="en-US" dirty="0" err="1"/>
              <a:t>군시설공사</a:t>
            </a:r>
            <a:r>
              <a:rPr lang="ko-KR" altLang="en-US" dirty="0"/>
              <a:t> </a:t>
            </a:r>
            <a:r>
              <a:rPr lang="ko-KR" altLang="en-US" dirty="0" err="1"/>
              <a:t>입찰참가자격사전심사</a:t>
            </a:r>
            <a:r>
              <a:rPr lang="ko-KR" altLang="en-US" dirty="0"/>
              <a:t> 세부운영기준에 관한 훈령</a:t>
            </a:r>
            <a:r>
              <a:rPr lang="en-US" altLang="ko-KR" dirty="0"/>
              <a:t>/</a:t>
            </a:r>
            <a:r>
              <a:rPr lang="ko-KR" altLang="en-US" dirty="0"/>
              <a:t>국방부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5. 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 </a:t>
            </a:r>
            <a:r>
              <a:rPr lang="en-US" altLang="ko-KR" dirty="0"/>
              <a:t>[</a:t>
            </a:r>
            <a:r>
              <a:rPr lang="ko-KR" altLang="en-US" dirty="0"/>
              <a:t>최저가낙찰제 </a:t>
            </a:r>
            <a:r>
              <a:rPr lang="ko-KR" altLang="en-US" dirty="0" err="1"/>
              <a:t>대상공사의</a:t>
            </a:r>
            <a:r>
              <a:rPr lang="ko-KR" altLang="en-US" dirty="0"/>
              <a:t> 입찰금액 </a:t>
            </a:r>
            <a:r>
              <a:rPr lang="en-US" altLang="ko-KR" dirty="0"/>
              <a:t>(</a:t>
            </a:r>
            <a:r>
              <a:rPr lang="ko-KR" altLang="en-US" dirty="0"/>
              <a:t>원</a:t>
            </a:r>
            <a:r>
              <a:rPr lang="en-US" altLang="ko-KR" dirty="0"/>
              <a:t>) </a:t>
            </a:r>
            <a:r>
              <a:rPr lang="ko-KR" altLang="en-US" dirty="0"/>
              <a:t>적정성 세부심사기준에 관한 훈령</a:t>
            </a:r>
            <a:r>
              <a:rPr lang="en-US" altLang="ko-KR" dirty="0"/>
              <a:t>/</a:t>
            </a:r>
            <a:r>
              <a:rPr lang="ko-KR" altLang="en-US" dirty="0"/>
              <a:t>국방부</a:t>
            </a:r>
            <a:r>
              <a:rPr lang="en-US" altLang="ko-KR" dirty="0"/>
              <a:t>]</a:t>
            </a:r>
          </a:p>
          <a:p>
            <a:pPr marL="228600" indent="-228600">
              <a:buAutoNum type="arabicPeriod"/>
            </a:pPr>
            <a:endParaRPr lang="en-US" altLang="ko-KR" dirty="0" smtClean="0"/>
          </a:p>
          <a:p>
            <a:pPr marL="228600" indent="-228600">
              <a:buAutoNum type="arabicPeriod"/>
            </a:pPr>
            <a:r>
              <a:rPr lang="ko-KR" altLang="en-US" dirty="0" smtClean="0"/>
              <a:t>일반 정보 표시</a:t>
            </a:r>
            <a:endParaRPr lang="en-US" altLang="ko-KR" dirty="0" smtClean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smtClean="0"/>
              <a:t>팝업 도움말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>
                <a:latin typeface="맑은 고딕 (본문)"/>
              </a:rPr>
              <a:t>장기계속</a:t>
            </a:r>
            <a:r>
              <a:rPr lang="ko-KR" altLang="en-US" dirty="0">
                <a:latin typeface="맑은 고딕 (본문)"/>
              </a:rPr>
              <a:t> 또는 계속비공사는 </a:t>
            </a:r>
            <a:r>
              <a:rPr lang="ko-KR" altLang="en-US" dirty="0" err="1">
                <a:latin typeface="맑은 고딕 (본문)"/>
              </a:rPr>
              <a:t>총공사기준</a:t>
            </a:r>
            <a:r>
              <a:rPr lang="ko-KR" altLang="en-US" dirty="0">
                <a:latin typeface="맑은 고딕 (본문)"/>
              </a:rPr>
              <a:t> </a:t>
            </a:r>
            <a:r>
              <a:rPr lang="ko-KR" altLang="en-US" dirty="0" smtClean="0">
                <a:latin typeface="맑은 고딕 (본문)"/>
              </a:rPr>
              <a:t>작성</a:t>
            </a:r>
            <a:r>
              <a:rPr lang="en-US" altLang="ko-KR" dirty="0" smtClean="0">
                <a:latin typeface="맑은 고딕 (본문)"/>
              </a:rPr>
              <a:t/>
            </a:r>
            <a:br>
              <a:rPr lang="en-US" altLang="ko-KR" dirty="0" smtClean="0">
                <a:latin typeface="맑은 고딕 (본문)"/>
              </a:rPr>
            </a:br>
            <a:r>
              <a:rPr lang="en-US" altLang="ko-KR" dirty="0" smtClean="0">
                <a:latin typeface="맑은 고딕 (본문)"/>
              </a:rPr>
              <a:t/>
            </a:r>
            <a:br>
              <a:rPr lang="en-US" altLang="ko-KR" dirty="0" smtClean="0">
                <a:latin typeface="맑은 고딕 (본문)"/>
              </a:rPr>
            </a:br>
            <a:r>
              <a:rPr lang="en-US" altLang="ko-KR" dirty="0" smtClean="0">
                <a:latin typeface="맑은 고딕 (본문)"/>
              </a:rPr>
              <a:t>- </a:t>
            </a:r>
            <a:r>
              <a:rPr lang="en-US" altLang="ko-KR" dirty="0" smtClean="0"/>
              <a:t>[</a:t>
            </a:r>
            <a:r>
              <a:rPr lang="en-US" altLang="ko-KR" dirty="0"/>
              <a:t>5. 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인 경우 표기 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  &gt; </a:t>
            </a:r>
            <a:r>
              <a:rPr lang="ko-KR" altLang="en-US" dirty="0" err="1" smtClean="0"/>
              <a:t>준공일자</a:t>
            </a:r>
            <a:r>
              <a:rPr lang="ko-KR" altLang="en-US" dirty="0" smtClean="0"/>
              <a:t>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준공예정일자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 smtClean="0">
                <a:sym typeface="Wingdings" panose="05000000000000000000" pitchFamily="2" charset="2"/>
              </a:rPr>
              <a:t>  &gt; </a:t>
            </a:r>
            <a:r>
              <a:rPr lang="ko-KR" altLang="en-US" dirty="0" err="1" smtClean="0">
                <a:sym typeface="Wingdings" panose="05000000000000000000" pitchFamily="2" charset="2"/>
              </a:rPr>
              <a:t>중공금액</a:t>
            </a:r>
            <a:r>
              <a:rPr lang="ko-KR" altLang="en-US" dirty="0" smtClean="0">
                <a:sym typeface="Wingdings" panose="05000000000000000000" pitchFamily="2" charset="2"/>
              </a:rPr>
              <a:t>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 smtClean="0">
                <a:sym typeface="Wingdings" panose="05000000000000000000" pitchFamily="2" charset="2"/>
              </a:rPr>
              <a:t>계약금액</a:t>
            </a:r>
            <a:endParaRPr lang="en-US" altLang="ko-KR" dirty="0" smtClean="0">
              <a:sym typeface="Wingdings" panose="05000000000000000000" pitchFamily="2" charset="2"/>
            </a:endParaRPr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>
              <a:sym typeface="Wingdings" panose="05000000000000000000" pitchFamily="2" charset="2"/>
            </a:endParaRP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smtClean="0"/>
              <a:t>날짜</a:t>
            </a:r>
            <a:r>
              <a:rPr lang="en-US" altLang="ko-KR" dirty="0" smtClean="0"/>
              <a:t>, </a:t>
            </a:r>
            <a:r>
              <a:rPr lang="ko-KR" altLang="en-US" dirty="0" smtClean="0"/>
              <a:t>일자 등은 날짜 검색 팝업 호출</a:t>
            </a:r>
            <a:endParaRPr lang="en-US" altLang="ko-KR" dirty="0" smtClean="0"/>
          </a:p>
          <a:p>
            <a:pPr marL="228600" indent="-228600">
              <a:buAutoNum type="arabicPeriod"/>
            </a:pPr>
            <a:r>
              <a:rPr lang="ko-KR" altLang="en-US" dirty="0" smtClean="0"/>
              <a:t>입력 시 단위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 smtClean="0">
                <a:latin typeface="+mn-ea"/>
              </a:rPr>
              <a:t>실적정보</a:t>
            </a:r>
            <a:r>
              <a:rPr lang="ko-KR" altLang="en-US" sz="900" dirty="0" smtClean="0">
                <a:latin typeface="+mn-ea"/>
              </a:rPr>
              <a:t> 입력</a:t>
            </a:r>
            <a:endParaRPr lang="ko-KR" altLang="en-US" sz="900" dirty="0">
              <a:latin typeface="+mn-ea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실적 정보를 입력해주시길 바랍니다</a:t>
            </a:r>
            <a:r>
              <a:rPr lang="en-US" altLang="ko-KR" sz="700" dirty="0" smtClean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실적정보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실적정보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62" name="그룹 161"/>
          <p:cNvGrpSpPr/>
          <p:nvPr/>
        </p:nvGrpSpPr>
        <p:grpSpPr>
          <a:xfrm>
            <a:off x="3836701" y="1947099"/>
            <a:ext cx="2630093" cy="1611734"/>
            <a:chOff x="720490" y="3930133"/>
            <a:chExt cx="2630093" cy="1611734"/>
          </a:xfrm>
        </p:grpSpPr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및 준공 </a:t>
              </a: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 err="1" smtClean="0">
                  <a:latin typeface="+mn-ea"/>
                </a:rPr>
                <a:t>총공사</a:t>
              </a:r>
              <a:r>
                <a:rPr lang="ko-KR" altLang="en-US" sz="700" dirty="0" smtClean="0">
                  <a:latin typeface="+mn-ea"/>
                </a:rPr>
                <a:t> 기준</a:t>
              </a:r>
              <a:r>
                <a:rPr lang="en-US" altLang="ko-KR" sz="700" dirty="0" smtClean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70" name="그룹 169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182" name="직선 연결선 18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3" name="직선 연결선 18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1" name="직사각형 170"/>
            <p:cNvSpPr/>
            <p:nvPr/>
          </p:nvSpPr>
          <p:spPr>
            <a:xfrm>
              <a:off x="722583" y="4237619"/>
              <a:ext cx="792000" cy="13042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착공일자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준공일자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준공금액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89962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공사금액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 smtClean="0">
                <a:latin typeface="+mn-ea"/>
              </a:endParaRPr>
            </a:p>
            <a:p>
              <a:r>
                <a:rPr lang="en-US" altLang="ko-KR" sz="700" dirty="0" smtClean="0">
                  <a:latin typeface="+mn-ea"/>
                </a:rPr>
                <a:t>[</a:t>
              </a:r>
              <a:r>
                <a:rPr lang="ko-KR" altLang="en-US" sz="700" dirty="0" smtClean="0">
                  <a:latin typeface="+mn-ea"/>
                </a:rPr>
                <a:t>준공</a:t>
              </a:r>
              <a:r>
                <a:rPr lang="en-US" altLang="ko-KR" sz="700" dirty="0" smtClean="0">
                  <a:latin typeface="+mn-ea"/>
                </a:rPr>
                <a:t>+</a:t>
              </a:r>
              <a:r>
                <a:rPr lang="ko-KR" altLang="en-US" sz="700" dirty="0" smtClean="0">
                  <a:latin typeface="+mn-ea"/>
                </a:rPr>
                <a:t>관급</a:t>
              </a:r>
              <a:r>
                <a:rPr lang="en-US" altLang="ko-KR" sz="700" dirty="0" smtClean="0">
                  <a:latin typeface="+mn-ea"/>
                </a:rPr>
                <a:t>]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4" name="그룹 183"/>
          <p:cNvGrpSpPr/>
          <p:nvPr/>
        </p:nvGrpSpPr>
        <p:grpSpPr>
          <a:xfrm>
            <a:off x="720490" y="2862923"/>
            <a:ext cx="2630093" cy="1389048"/>
            <a:chOff x="720490" y="2590223"/>
            <a:chExt cx="2630093" cy="1389048"/>
          </a:xfrm>
        </p:grpSpPr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시공자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대표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6" name="그룹 185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96" name="직선 연결선 19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97" name="직선 연결선 19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7" name="직사각형 186"/>
            <p:cNvSpPr/>
            <p:nvPr/>
          </p:nvSpPr>
          <p:spPr>
            <a:xfrm>
              <a:off x="722583" y="2897709"/>
              <a:ext cx="792000" cy="10815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04291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회사명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면허번호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영업소재지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104291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123456-7890123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191" name="직선 연결선 1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2" name="직선 연결선 1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7316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98" name="그룹 197"/>
          <p:cNvGrpSpPr/>
          <p:nvPr/>
        </p:nvGrpSpPr>
        <p:grpSpPr>
          <a:xfrm>
            <a:off x="3836701" y="3726810"/>
            <a:ext cx="2630093" cy="1611734"/>
            <a:chOff x="720490" y="3930133"/>
            <a:chExt cx="2630093" cy="1611734"/>
          </a:xfrm>
        </p:grpSpPr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 및 준공 </a:t>
              </a: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 err="1" smtClean="0">
                  <a:latin typeface="+mn-ea"/>
                </a:rPr>
                <a:t>금차공사</a:t>
              </a:r>
              <a:r>
                <a:rPr lang="ko-KR" altLang="en-US" sz="700" dirty="0" smtClean="0">
                  <a:latin typeface="+mn-ea"/>
                </a:rPr>
                <a:t> 기준</a:t>
              </a:r>
              <a:r>
                <a:rPr lang="en-US" altLang="ko-KR" sz="700" dirty="0" smtClean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00" name="그룹 199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01" name="직사각형 200"/>
            <p:cNvSpPr/>
            <p:nvPr/>
          </p:nvSpPr>
          <p:spPr>
            <a:xfrm>
              <a:off x="722583" y="4237619"/>
              <a:ext cx="792000" cy="13042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착공일자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준공일자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준공금액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5" name="직선 연결선 2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6" name="직선 연결선 2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7" name="직선 연결선 2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8" name="직선 연결선 2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9" name="직선 연결선 2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89962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공사금액</a:t>
              </a:r>
              <a:endParaRPr lang="en-US" altLang="ko-KR" sz="700" dirty="0" smtClean="0">
                <a:latin typeface="+mn-ea"/>
              </a:endParaRPr>
            </a:p>
            <a:p>
              <a:r>
                <a:rPr lang="en-US" altLang="ko-KR" sz="700" dirty="0" smtClean="0">
                  <a:latin typeface="+mn-ea"/>
                </a:rPr>
                <a:t>[</a:t>
              </a:r>
              <a:r>
                <a:rPr lang="ko-KR" altLang="en-US" sz="700" dirty="0" smtClean="0">
                  <a:latin typeface="+mn-ea"/>
                </a:rPr>
                <a:t>준공</a:t>
              </a:r>
              <a:r>
                <a:rPr lang="en-US" altLang="ko-KR" sz="700" dirty="0" smtClean="0">
                  <a:latin typeface="+mn-ea"/>
                </a:rPr>
                <a:t>+</a:t>
              </a:r>
              <a:r>
                <a:rPr lang="ko-KR" altLang="en-US" sz="700" dirty="0" smtClean="0">
                  <a:latin typeface="+mn-ea"/>
                </a:rPr>
                <a:t>관급</a:t>
              </a:r>
              <a:r>
                <a:rPr lang="en-US" altLang="ko-KR" sz="700" dirty="0" smtClean="0">
                  <a:latin typeface="+mn-ea"/>
                </a:rPr>
                <a:t>]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11" name="직선 연결선 2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14" name="그룹 213"/>
          <p:cNvGrpSpPr/>
          <p:nvPr/>
        </p:nvGrpSpPr>
        <p:grpSpPr>
          <a:xfrm>
            <a:off x="4965217" y="1994801"/>
            <a:ext cx="243478" cy="144000"/>
            <a:chOff x="5087822" y="2638846"/>
            <a:chExt cx="243478" cy="144000"/>
          </a:xfrm>
        </p:grpSpPr>
        <p:sp>
          <p:nvSpPr>
            <p:cNvPr id="215" name="타원 214"/>
            <p:cNvSpPr/>
            <p:nvPr/>
          </p:nvSpPr>
          <p:spPr>
            <a:xfrm>
              <a:off x="5135779" y="2638846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6" name="모서리가 둥근 직사각형 215"/>
            <p:cNvSpPr/>
            <p:nvPr/>
          </p:nvSpPr>
          <p:spPr>
            <a:xfrm>
              <a:off x="5087822" y="2647088"/>
              <a:ext cx="243478" cy="119400"/>
            </a:xfrm>
            <a:prstGeom prst="roundRect">
              <a:avLst>
                <a:gd name="adj" fmla="val 23409"/>
              </a:avLst>
            </a:prstGeom>
            <a:no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en-US" altLang="ko-KR" sz="600" b="1" dirty="0" smtClean="0">
                  <a:solidFill>
                    <a:schemeClr val="dk1"/>
                  </a:solidFill>
                </a:rPr>
                <a:t>?</a:t>
              </a:r>
              <a:endParaRPr lang="ko-KR" altLang="en-US" sz="600" b="1" dirty="0">
                <a:solidFill>
                  <a:schemeClr val="dk1"/>
                </a:solidFill>
              </a:endParaRPr>
            </a:p>
          </p:txBody>
        </p:sp>
      </p:grpSp>
      <p:sp>
        <p:nvSpPr>
          <p:cNvPr id="217" name="타원 2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2047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18" name="타원 2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4831" y="199243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pic>
        <p:nvPicPr>
          <p:cNvPr id="219" name="그림 21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296967"/>
            <a:ext cx="134873" cy="137278"/>
          </a:xfrm>
          <a:prstGeom prst="rect">
            <a:avLst/>
          </a:prstGeom>
        </p:spPr>
      </p:pic>
      <p:sp>
        <p:nvSpPr>
          <p:cNvPr id="22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229016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1" name="그림 22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518207"/>
            <a:ext cx="134873" cy="137278"/>
          </a:xfrm>
          <a:prstGeom prst="rect">
            <a:avLst/>
          </a:prstGeom>
        </p:spPr>
      </p:pic>
      <p:sp>
        <p:nvSpPr>
          <p:cNvPr id="2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251140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3" name="그림 222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728422"/>
            <a:ext cx="134873" cy="137278"/>
          </a:xfrm>
          <a:prstGeom prst="rect">
            <a:avLst/>
          </a:prstGeom>
        </p:spPr>
      </p:pic>
      <p:sp>
        <p:nvSpPr>
          <p:cNvPr id="22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272161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2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293720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smtClean="0">
                <a:latin typeface="맑은 고딕"/>
                <a:ea typeface="맑은 고딕" panose="020B0503020000020004" pitchFamily="50" charset="-127"/>
              </a:rPr>
              <a:t>1,000,000 </a:t>
            </a:r>
            <a:r>
              <a:rPr kumimoji="1" lang="ko-KR" altLang="en-US" sz="700" kern="0" dirty="0" smtClean="0">
                <a:latin typeface="맑은 고딕"/>
                <a:ea typeface="맑은 고딕" panose="020B0503020000020004" pitchFamily="50" charset="-127"/>
              </a:rPr>
              <a:t>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2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15225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3673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9" name="그림 22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4072919"/>
            <a:ext cx="134873" cy="137278"/>
          </a:xfrm>
          <a:prstGeom prst="rect">
            <a:avLst/>
          </a:prstGeom>
        </p:spPr>
      </p:pic>
      <p:sp>
        <p:nvSpPr>
          <p:cNvPr id="23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406611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31" name="그림 23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4294159"/>
            <a:ext cx="134873" cy="137278"/>
          </a:xfrm>
          <a:prstGeom prst="rect">
            <a:avLst/>
          </a:prstGeom>
        </p:spPr>
      </p:pic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428735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33" name="그림 232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4504374"/>
            <a:ext cx="134873" cy="137278"/>
          </a:xfrm>
          <a:prstGeom prst="rect">
            <a:avLst/>
          </a:prstGeom>
        </p:spPr>
      </p:pic>
      <p:sp>
        <p:nvSpPr>
          <p:cNvPr id="23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449756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471315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492820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514327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240" name="타원 2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4831" y="24822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41" name="타원 24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4831" y="31538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264513093"/>
      </p:ext>
    </p:extLst>
  </p:cSld>
  <p:clrMapOvr>
    <a:masterClrMapping/>
  </p:clrMapOvr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 smtClean="0"/>
              <a:t>계약에 정보가 있다면</a:t>
            </a:r>
            <a:r>
              <a:rPr lang="en-US" altLang="ko-KR" dirty="0" smtClean="0"/>
              <a:t>, </a:t>
            </a:r>
            <a:r>
              <a:rPr lang="ko-KR" altLang="en-US" dirty="0" smtClean="0"/>
              <a:t>정보 기반으로 완성</a:t>
            </a:r>
            <a:r>
              <a:rPr lang="en-US" altLang="ko-KR" dirty="0" smtClean="0"/>
              <a:t>, </a:t>
            </a:r>
            <a:r>
              <a:rPr lang="ko-KR" altLang="en-US" dirty="0" smtClean="0"/>
              <a:t>정보가 없는 경우 선택되어 있지 않음</a:t>
            </a:r>
            <a:r>
              <a:rPr lang="en-US" altLang="ko-KR" dirty="0" smtClean="0"/>
              <a:t>.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270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실적정보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59" name="그룹 158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242" name="직선 연결선 24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3" name="직선 연결선 24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60" name="그룹 159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240" name="타원 239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1" name="TextBox 24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61" name="그룹 160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204" name="직선 연결선 20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5" name="직선 연결선 22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실적정보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입력</a:t>
              </a:r>
            </a:p>
          </p:txBody>
        </p:sp>
        <p:grpSp>
          <p:nvGrpSpPr>
            <p:cNvPr id="165" name="그룹 16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69" name="타원 16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66" name="그룹 16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67" name="타원 16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244" name="그룹 243"/>
          <p:cNvGrpSpPr/>
          <p:nvPr/>
        </p:nvGrpSpPr>
        <p:grpSpPr>
          <a:xfrm>
            <a:off x="716366" y="1930462"/>
            <a:ext cx="2630093" cy="1904757"/>
            <a:chOff x="1108393" y="2993988"/>
            <a:chExt cx="2630093" cy="1904757"/>
          </a:xfrm>
        </p:grpSpPr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69364" y="2993988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공사성질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46" name="그룹 245"/>
            <p:cNvGrpSpPr/>
            <p:nvPr/>
          </p:nvGrpSpPr>
          <p:grpSpPr>
            <a:xfrm flipV="1">
              <a:off x="3531451" y="3107319"/>
              <a:ext cx="94010" cy="47005"/>
              <a:chOff x="6812560" y="3297172"/>
              <a:chExt cx="94010" cy="47005"/>
            </a:xfrm>
          </p:grpSpPr>
          <p:cxnSp>
            <p:nvCxnSpPr>
              <p:cNvPr id="267" name="직선 연결선 2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68" name="직선 연결선 2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47" name="직사각형 246"/>
            <p:cNvSpPr/>
            <p:nvPr/>
          </p:nvSpPr>
          <p:spPr>
            <a:xfrm>
              <a:off x="1110486" y="3301474"/>
              <a:ext cx="792000" cy="159126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48" name="직선 연결선 2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08393" y="33014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97550" y="3556270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50" name="직선 연결선 2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10486" y="39512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97550" y="4371103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준공일자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252" name="그룹 251"/>
            <p:cNvGrpSpPr/>
            <p:nvPr/>
          </p:nvGrpSpPr>
          <p:grpSpPr>
            <a:xfrm>
              <a:off x="1955552" y="3384977"/>
              <a:ext cx="1711564" cy="484748"/>
              <a:chOff x="712771" y="2321043"/>
              <a:chExt cx="1711564" cy="484748"/>
            </a:xfrm>
          </p:grpSpPr>
          <p:sp>
            <p:nvSpPr>
              <p:cNvPr id="262" name="TextBox 26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41620" y="2321043"/>
                <a:ext cx="1482715" cy="48474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 smtClean="0">
                    <a:latin typeface="+mn-ea"/>
                  </a:rPr>
                  <a:t>신규공사</a:t>
                </a:r>
                <a:endParaRPr lang="en-US" altLang="ko-KR" sz="700" dirty="0" smtClean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smtClean="0">
                    <a:latin typeface="+mn-ea"/>
                  </a:rPr>
                  <a:t>확장공사</a:t>
                </a:r>
                <a:endParaRPr lang="en-US" altLang="ko-KR" sz="700" dirty="0" smtClean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err="1" smtClean="0">
                    <a:latin typeface="+mn-ea"/>
                  </a:rPr>
                  <a:t>개보수공사</a:t>
                </a:r>
                <a:endParaRPr lang="en-US" altLang="ko-KR" sz="700" dirty="0">
                  <a:latin typeface="+mn-ea"/>
                </a:endParaRPr>
              </a:p>
            </p:txBody>
          </p:sp>
          <p:sp>
            <p:nvSpPr>
              <p:cNvPr id="263" name="직사각형 262"/>
              <p:cNvSpPr/>
              <p:nvPr/>
            </p:nvSpPr>
            <p:spPr>
              <a:xfrm>
                <a:off x="772169" y="233595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64" name="직사각형 263"/>
              <p:cNvSpPr/>
              <p:nvPr/>
            </p:nvSpPr>
            <p:spPr>
              <a:xfrm>
                <a:off x="772169" y="2509633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65" name="직사각형 264"/>
              <p:cNvSpPr/>
              <p:nvPr/>
            </p:nvSpPr>
            <p:spPr>
              <a:xfrm>
                <a:off x="772169" y="268930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66" name="TextBox 265"/>
              <p:cNvSpPr txBox="1"/>
              <p:nvPr/>
            </p:nvSpPr>
            <p:spPr>
              <a:xfrm>
                <a:off x="712771" y="2471275"/>
                <a:ext cx="22153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600" dirty="0">
                    <a:solidFill>
                      <a:schemeClr val="bg1"/>
                    </a:solidFill>
                  </a:rPr>
                  <a:t>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253" name="그룹 252"/>
            <p:cNvGrpSpPr/>
            <p:nvPr/>
          </p:nvGrpSpPr>
          <p:grpSpPr>
            <a:xfrm>
              <a:off x="1955552" y="4029869"/>
              <a:ext cx="1711564" cy="807913"/>
              <a:chOff x="712771" y="2321043"/>
              <a:chExt cx="1711564" cy="807913"/>
            </a:xfrm>
          </p:grpSpPr>
          <p:sp>
            <p:nvSpPr>
              <p:cNvPr id="255" name="TextBox 25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41620" y="2321043"/>
                <a:ext cx="1482715" cy="807913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 smtClean="0">
                    <a:latin typeface="+mn-ea"/>
                  </a:rPr>
                  <a:t>신규공사</a:t>
                </a:r>
                <a:endParaRPr lang="en-US" altLang="ko-KR" sz="700" dirty="0" smtClean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smtClean="0">
                    <a:latin typeface="+mn-ea"/>
                  </a:rPr>
                  <a:t>증설공사</a:t>
                </a:r>
                <a:endParaRPr lang="en-US" altLang="ko-KR" sz="700" dirty="0" smtClean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smtClean="0">
                    <a:latin typeface="+mn-ea"/>
                  </a:rPr>
                  <a:t>이설공사</a:t>
                </a:r>
                <a:endParaRPr lang="en-US" altLang="ko-KR" sz="700" dirty="0" smtClean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smtClean="0">
                    <a:latin typeface="+mn-ea"/>
                  </a:rPr>
                  <a:t>개설공사</a:t>
                </a:r>
                <a:endParaRPr lang="en-US" altLang="ko-KR" sz="700" dirty="0" smtClean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smtClean="0">
                    <a:latin typeface="+mn-ea"/>
                  </a:rPr>
                  <a:t>보수공사</a:t>
                </a:r>
                <a:endParaRPr lang="en-US" altLang="ko-KR" sz="700" dirty="0">
                  <a:latin typeface="+mn-ea"/>
                </a:endParaRPr>
              </a:p>
            </p:txBody>
          </p:sp>
          <p:sp>
            <p:nvSpPr>
              <p:cNvPr id="256" name="직사각형 255"/>
              <p:cNvSpPr/>
              <p:nvPr/>
            </p:nvSpPr>
            <p:spPr>
              <a:xfrm>
                <a:off x="772169" y="233595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7" name="직사각형 256"/>
              <p:cNvSpPr/>
              <p:nvPr/>
            </p:nvSpPr>
            <p:spPr>
              <a:xfrm>
                <a:off x="772169" y="2509633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8" name="직사각형 257"/>
              <p:cNvSpPr/>
              <p:nvPr/>
            </p:nvSpPr>
            <p:spPr>
              <a:xfrm>
                <a:off x="772169" y="2680596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9" name="TextBox 258"/>
              <p:cNvSpPr txBox="1"/>
              <p:nvPr/>
            </p:nvSpPr>
            <p:spPr>
              <a:xfrm>
                <a:off x="712771" y="2471275"/>
                <a:ext cx="22153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600" dirty="0">
                    <a:solidFill>
                      <a:schemeClr val="bg1"/>
                    </a:solidFill>
                  </a:rPr>
                  <a:t>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60" name="직사각형 259"/>
              <p:cNvSpPr/>
              <p:nvPr/>
            </p:nvSpPr>
            <p:spPr>
              <a:xfrm>
                <a:off x="772169" y="2830783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61" name="직사각형 260"/>
              <p:cNvSpPr/>
              <p:nvPr/>
            </p:nvSpPr>
            <p:spPr>
              <a:xfrm>
                <a:off x="772169" y="299077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10486" y="489874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69" name="그룹 268"/>
          <p:cNvGrpSpPr/>
          <p:nvPr/>
        </p:nvGrpSpPr>
        <p:grpSpPr>
          <a:xfrm>
            <a:off x="716366" y="3990718"/>
            <a:ext cx="2630093" cy="957295"/>
            <a:chOff x="716366" y="4635456"/>
            <a:chExt cx="2630093" cy="957295"/>
          </a:xfrm>
        </p:grpSpPr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4635456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공동도급 여부</a:t>
              </a:r>
            </a:p>
          </p:txBody>
        </p:sp>
        <p:grpSp>
          <p:nvGrpSpPr>
            <p:cNvPr id="271" name="그룹 270"/>
            <p:cNvGrpSpPr/>
            <p:nvPr/>
          </p:nvGrpSpPr>
          <p:grpSpPr>
            <a:xfrm flipV="1">
              <a:off x="3139424" y="4748787"/>
              <a:ext cx="94010" cy="47005"/>
              <a:chOff x="6812560" y="3297172"/>
              <a:chExt cx="94010" cy="47005"/>
            </a:xfrm>
          </p:grpSpPr>
          <p:cxnSp>
            <p:nvCxnSpPr>
              <p:cNvPr id="282" name="직선 연결선 28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83" name="직선 연결선 28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72" name="직사각형 271"/>
            <p:cNvSpPr/>
            <p:nvPr/>
          </p:nvSpPr>
          <p:spPr>
            <a:xfrm>
              <a:off x="718459" y="4942942"/>
              <a:ext cx="792000" cy="64379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73" name="직선 연결선 2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4942941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74" name="TextBox 2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5197738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건설공사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75" name="직선 연결선 2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59275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76" name="그룹 275"/>
            <p:cNvGrpSpPr/>
            <p:nvPr/>
          </p:nvGrpSpPr>
          <p:grpSpPr>
            <a:xfrm>
              <a:off x="1621527" y="5026445"/>
              <a:ext cx="1653562" cy="476212"/>
              <a:chOff x="1621527" y="4558451"/>
              <a:chExt cx="1653562" cy="476212"/>
            </a:xfrm>
          </p:grpSpPr>
          <p:sp>
            <p:nvSpPr>
              <p:cNvPr id="277" name="TextBox 27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92374" y="4558451"/>
                <a:ext cx="1482715" cy="463910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 smtClean="0">
                    <a:latin typeface="+mn-ea"/>
                  </a:rPr>
                  <a:t>공동이행방식</a:t>
                </a:r>
                <a:r>
                  <a:rPr lang="en-US" altLang="ko-KR" sz="700" dirty="0" smtClean="0">
                    <a:latin typeface="+mn-ea"/>
                  </a:rPr>
                  <a:t>1</a:t>
                </a: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smtClean="0">
                    <a:latin typeface="+mn-ea"/>
                  </a:rPr>
                  <a:t>분담이행방식</a:t>
                </a:r>
                <a:endParaRPr lang="en-US" altLang="ko-KR" sz="700" dirty="0" smtClean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err="1" smtClean="0">
                    <a:latin typeface="+mn-ea"/>
                  </a:rPr>
                  <a:t>단독도급</a:t>
                </a:r>
                <a:endParaRPr lang="en-US" altLang="ko-KR" sz="700" dirty="0">
                  <a:latin typeface="+mn-ea"/>
                </a:endParaRPr>
              </a:p>
            </p:txBody>
          </p:sp>
          <p:grpSp>
            <p:nvGrpSpPr>
              <p:cNvPr id="278" name="그룹 277"/>
              <p:cNvGrpSpPr/>
              <p:nvPr/>
            </p:nvGrpSpPr>
            <p:grpSpPr>
              <a:xfrm>
                <a:off x="1621527" y="4575499"/>
                <a:ext cx="107950" cy="459164"/>
                <a:chOff x="794115" y="2294987"/>
                <a:chExt cx="107950" cy="459164"/>
              </a:xfrm>
            </p:grpSpPr>
            <p:sp>
              <p:nvSpPr>
                <p:cNvPr id="279" name="타원 278"/>
                <p:cNvSpPr/>
                <p:nvPr/>
              </p:nvSpPr>
              <p:spPr>
                <a:xfrm>
                  <a:off x="794115" y="2294987"/>
                  <a:ext cx="107950" cy="107950"/>
                </a:xfrm>
                <a:prstGeom prst="ellipse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80" name="타원 279"/>
                <p:cNvSpPr/>
                <p:nvPr/>
              </p:nvSpPr>
              <p:spPr>
                <a:xfrm>
                  <a:off x="794115" y="2465121"/>
                  <a:ext cx="107950" cy="107950"/>
                </a:xfrm>
                <a:prstGeom prst="ellipse">
                  <a:avLst/>
                </a:prstGeom>
                <a:noFill/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81" name="타원 280"/>
                <p:cNvSpPr/>
                <p:nvPr/>
              </p:nvSpPr>
              <p:spPr>
                <a:xfrm>
                  <a:off x="794115" y="2646201"/>
                  <a:ext cx="107950" cy="107950"/>
                </a:xfrm>
                <a:prstGeom prst="ellipse">
                  <a:avLst/>
                </a:prstGeom>
                <a:noFill/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</p:grpSp>
      </p:grpSp>
      <p:grpSp>
        <p:nvGrpSpPr>
          <p:cNvPr id="284" name="그룹 283"/>
          <p:cNvGrpSpPr/>
          <p:nvPr/>
        </p:nvGrpSpPr>
        <p:grpSpPr>
          <a:xfrm>
            <a:off x="3836701" y="1930462"/>
            <a:ext cx="2630093" cy="2026729"/>
            <a:chOff x="3836701" y="2575200"/>
            <a:chExt cx="2630093" cy="2026729"/>
          </a:xfrm>
        </p:grpSpPr>
        <p:sp>
          <p:nvSpPr>
            <p:cNvPr id="285" name="TextBox 2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2575200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실적의 종류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86" name="그룹 285"/>
            <p:cNvGrpSpPr/>
            <p:nvPr/>
          </p:nvGrpSpPr>
          <p:grpSpPr>
            <a:xfrm flipV="1">
              <a:off x="6259759" y="2688531"/>
              <a:ext cx="94010" cy="47005"/>
              <a:chOff x="6812560" y="3297172"/>
              <a:chExt cx="94010" cy="47005"/>
            </a:xfrm>
          </p:grpSpPr>
          <p:cxnSp>
            <p:nvCxnSpPr>
              <p:cNvPr id="304" name="직선 연결선 30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05" name="직선 연결선 30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87" name="직사각형 286"/>
            <p:cNvSpPr/>
            <p:nvPr/>
          </p:nvSpPr>
          <p:spPr>
            <a:xfrm>
              <a:off x="3838794" y="2882686"/>
              <a:ext cx="792000" cy="171127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882685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368446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전기</a:t>
              </a:r>
              <a:r>
                <a:rPr lang="en-US" altLang="ko-KR" sz="700" dirty="0" smtClean="0">
                  <a:latin typeface="+mn-ea"/>
                </a:rPr>
                <a:t>/</a:t>
              </a:r>
              <a:r>
                <a:rPr lang="ko-KR" altLang="en-US" sz="700" dirty="0" smtClean="0">
                  <a:latin typeface="+mn-ea"/>
                </a:rPr>
                <a:t>그 밖의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290" name="그룹 289"/>
            <p:cNvGrpSpPr/>
            <p:nvPr/>
          </p:nvGrpSpPr>
          <p:grpSpPr>
            <a:xfrm>
              <a:off x="4683860" y="2935851"/>
              <a:ext cx="1711564" cy="1615827"/>
              <a:chOff x="712771" y="2321043"/>
              <a:chExt cx="1711564" cy="1615827"/>
            </a:xfrm>
          </p:grpSpPr>
          <p:sp>
            <p:nvSpPr>
              <p:cNvPr id="292" name="TextBox 29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41620" y="2321043"/>
                <a:ext cx="1482715" cy="1615827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 smtClean="0">
                    <a:latin typeface="+mn-ea"/>
                  </a:rPr>
                  <a:t>개념설계</a:t>
                </a:r>
                <a:endParaRPr lang="en-US" altLang="ko-KR" sz="700" dirty="0" smtClean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smtClean="0">
                    <a:latin typeface="+mn-ea"/>
                  </a:rPr>
                  <a:t>기본설계</a:t>
                </a:r>
                <a:endParaRPr lang="en-US" altLang="ko-KR" sz="700" dirty="0" smtClean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smtClean="0">
                    <a:latin typeface="+mn-ea"/>
                  </a:rPr>
                  <a:t>실시설계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smtClean="0">
                    <a:latin typeface="+mn-ea"/>
                  </a:rPr>
                  <a:t>시공</a:t>
                </a:r>
                <a:endParaRPr lang="en-US" altLang="ko-KR" sz="700" dirty="0" smtClean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smtClean="0">
                    <a:latin typeface="+mn-ea"/>
                  </a:rPr>
                  <a:t>감리</a:t>
                </a:r>
                <a:endParaRPr lang="en-US" altLang="ko-KR" sz="700" dirty="0" smtClean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smtClean="0">
                    <a:latin typeface="+mn-ea"/>
                  </a:rPr>
                  <a:t>품질</a:t>
                </a:r>
                <a:r>
                  <a:rPr lang="en-US" altLang="ko-KR" sz="700" dirty="0" smtClean="0">
                    <a:latin typeface="+mn-ea"/>
                  </a:rPr>
                  <a:t>, </a:t>
                </a:r>
                <a:r>
                  <a:rPr lang="ko-KR" altLang="en-US" sz="700" dirty="0" smtClean="0">
                    <a:latin typeface="+mn-ea"/>
                  </a:rPr>
                  <a:t>공사관리</a:t>
                </a:r>
                <a:endParaRPr lang="en-US" altLang="ko-KR" sz="700" dirty="0" smtClean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smtClean="0">
                    <a:latin typeface="+mn-ea"/>
                  </a:rPr>
                  <a:t>시운전</a:t>
                </a:r>
                <a:endParaRPr lang="en-US" altLang="ko-KR" sz="700" dirty="0" smtClean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smtClean="0">
                    <a:latin typeface="+mn-ea"/>
                  </a:rPr>
                  <a:t>기자재제작설치</a:t>
                </a:r>
                <a:endParaRPr lang="en-US" altLang="ko-KR" sz="700" dirty="0" smtClean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err="1" smtClean="0">
                    <a:latin typeface="+mn-ea"/>
                  </a:rPr>
                  <a:t>기자재설치</a:t>
                </a:r>
                <a:endParaRPr lang="en-US" altLang="ko-KR" sz="700" dirty="0" smtClean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smtClean="0">
                    <a:latin typeface="+mn-ea"/>
                  </a:rPr>
                  <a:t>기타</a:t>
                </a:r>
                <a:endParaRPr lang="en-US" altLang="ko-KR" sz="700" dirty="0" smtClean="0">
                  <a:latin typeface="+mn-ea"/>
                </a:endParaRPr>
              </a:p>
            </p:txBody>
          </p:sp>
          <p:sp>
            <p:nvSpPr>
              <p:cNvPr id="293" name="직사각형 292"/>
              <p:cNvSpPr/>
              <p:nvPr/>
            </p:nvSpPr>
            <p:spPr>
              <a:xfrm>
                <a:off x="772169" y="233595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4" name="직사각형 293"/>
              <p:cNvSpPr/>
              <p:nvPr/>
            </p:nvSpPr>
            <p:spPr>
              <a:xfrm>
                <a:off x="772169" y="2509633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5" name="직사각형 294"/>
              <p:cNvSpPr/>
              <p:nvPr/>
            </p:nvSpPr>
            <p:spPr>
              <a:xfrm>
                <a:off x="772169" y="2680596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6" name="TextBox 295"/>
              <p:cNvSpPr txBox="1"/>
              <p:nvPr/>
            </p:nvSpPr>
            <p:spPr>
              <a:xfrm>
                <a:off x="712771" y="2471275"/>
                <a:ext cx="22153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600" dirty="0">
                    <a:solidFill>
                      <a:schemeClr val="bg1"/>
                    </a:solidFill>
                  </a:rPr>
                  <a:t>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97" name="직사각형 296"/>
              <p:cNvSpPr/>
              <p:nvPr/>
            </p:nvSpPr>
            <p:spPr>
              <a:xfrm>
                <a:off x="772169" y="2830783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8" name="직사각형 297"/>
              <p:cNvSpPr/>
              <p:nvPr/>
            </p:nvSpPr>
            <p:spPr>
              <a:xfrm>
                <a:off x="772169" y="299077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9" name="직사각형 298"/>
              <p:cNvSpPr/>
              <p:nvPr/>
            </p:nvSpPr>
            <p:spPr>
              <a:xfrm>
                <a:off x="772169" y="314818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0" name="직사각형 299"/>
              <p:cNvSpPr/>
              <p:nvPr/>
            </p:nvSpPr>
            <p:spPr>
              <a:xfrm>
                <a:off x="772169" y="329837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1" name="직사각형 300"/>
              <p:cNvSpPr/>
              <p:nvPr/>
            </p:nvSpPr>
            <p:spPr>
              <a:xfrm>
                <a:off x="772169" y="3458370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2" name="직사각형 301"/>
              <p:cNvSpPr/>
              <p:nvPr/>
            </p:nvSpPr>
            <p:spPr>
              <a:xfrm>
                <a:off x="772169" y="3616573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3" name="직사각형 302"/>
              <p:cNvSpPr/>
              <p:nvPr/>
            </p:nvSpPr>
            <p:spPr>
              <a:xfrm>
                <a:off x="772169" y="377656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0192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17" name="타원 2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843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560975219"/>
      </p:ext>
    </p:extLst>
  </p:cSld>
  <p:clrMapOvr>
    <a:masterClrMapping/>
  </p:clrMapOvr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 smtClean="0">
                <a:latin typeface="+mn-ea"/>
              </a:rPr>
              <a:t>도움말 표시</a:t>
            </a:r>
            <a:r>
              <a:rPr lang="en-US" altLang="ko-KR" dirty="0" smtClean="0">
                <a:latin typeface="+mn-ea"/>
              </a:rPr>
              <a:t/>
            </a:r>
            <a:br>
              <a:rPr lang="en-US" altLang="ko-KR" dirty="0" smtClean="0">
                <a:latin typeface="+mn-ea"/>
              </a:rPr>
            </a:b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err="1" smtClean="0">
                <a:latin typeface="+mn-ea"/>
              </a:rPr>
              <a:t>공동수급체</a:t>
            </a:r>
            <a:r>
              <a:rPr lang="ko-KR" altLang="en-US" dirty="0" smtClean="0">
                <a:latin typeface="+mn-ea"/>
              </a:rPr>
              <a:t> </a:t>
            </a:r>
            <a:r>
              <a:rPr lang="ko-KR" altLang="en-US" dirty="0" err="1">
                <a:latin typeface="+mn-ea"/>
              </a:rPr>
              <a:t>구성원별로</a:t>
            </a:r>
            <a:r>
              <a:rPr lang="ko-KR" altLang="en-US" dirty="0">
                <a:latin typeface="+mn-ea"/>
              </a:rPr>
              <a:t> 구분 </a:t>
            </a:r>
            <a:r>
              <a:rPr lang="ko-KR" altLang="en-US" dirty="0" smtClean="0">
                <a:latin typeface="+mn-ea"/>
              </a:rPr>
              <a:t>작성</a:t>
            </a:r>
            <a:endParaRPr lang="en-US" altLang="ko-KR" dirty="0" smtClean="0">
              <a:latin typeface="+mn-ea"/>
            </a:endParaRP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1 </a:t>
            </a:r>
            <a:r>
              <a:rPr lang="ko-KR" altLang="en-US" dirty="0"/>
              <a:t>및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2</a:t>
            </a:r>
            <a:r>
              <a:rPr lang="ko-KR" altLang="en-US" dirty="0"/>
              <a:t>도 </a:t>
            </a:r>
            <a:r>
              <a:rPr lang="ko-KR" altLang="en-US" dirty="0" smtClean="0"/>
              <a:t>동일</a:t>
            </a:r>
            <a:endParaRPr lang="en-US" altLang="ko-KR" dirty="0" smtClean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1 </a:t>
            </a:r>
            <a:r>
              <a:rPr lang="ko-KR" altLang="en-US" dirty="0"/>
              <a:t>및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2</a:t>
            </a:r>
            <a:r>
              <a:rPr lang="ko-KR" altLang="en-US" dirty="0"/>
              <a:t>도 동일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관급금액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도급자설치</a:t>
            </a:r>
            <a:r>
              <a:rPr lang="ko-KR" altLang="en-US" dirty="0"/>
              <a:t> </a:t>
            </a:r>
            <a:r>
              <a:rPr lang="ko-KR" altLang="en-US" dirty="0" err="1"/>
              <a:t>관급금액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전체공사</a:t>
            </a:r>
            <a:r>
              <a:rPr lang="ko-KR" altLang="en-US" dirty="0"/>
              <a:t> </a:t>
            </a:r>
            <a:r>
              <a:rPr lang="ko-KR" altLang="en-US" dirty="0" err="1"/>
              <a:t>시공규모</a:t>
            </a:r>
            <a:r>
              <a:rPr lang="ko-KR" altLang="en-US" dirty="0"/>
              <a:t> </a:t>
            </a:r>
            <a:r>
              <a:rPr lang="en-US" altLang="ko-KR" dirty="0"/>
              <a:t>: </a:t>
            </a:r>
            <a:r>
              <a:rPr lang="ko-KR" altLang="en-US" dirty="0"/>
              <a:t>구체적인 </a:t>
            </a:r>
            <a:r>
              <a:rPr lang="ko-KR" altLang="en-US" dirty="0" err="1"/>
              <a:t>시공물량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전체공사</a:t>
            </a:r>
            <a:r>
              <a:rPr lang="ko-KR" altLang="en-US" dirty="0"/>
              <a:t> </a:t>
            </a:r>
            <a:r>
              <a:rPr lang="ko-KR" altLang="en-US" dirty="0" err="1"/>
              <a:t>계약규모</a:t>
            </a:r>
            <a:r>
              <a:rPr lang="ko-KR" altLang="en-US" dirty="0"/>
              <a:t> </a:t>
            </a:r>
            <a:r>
              <a:rPr lang="en-US" altLang="ko-KR" dirty="0"/>
              <a:t>:</a:t>
            </a:r>
            <a:r>
              <a:rPr lang="ko-KR" altLang="en-US" dirty="0"/>
              <a:t> 구체적인 </a:t>
            </a:r>
            <a:r>
              <a:rPr lang="ko-KR" altLang="en-US" dirty="0" err="1"/>
              <a:t>시공물량</a:t>
            </a:r>
            <a:r>
              <a:rPr lang="ko-KR" altLang="en-US" dirty="0"/>
              <a:t>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시공회사별</a:t>
            </a:r>
            <a:r>
              <a:rPr lang="ko-KR" altLang="en-US" dirty="0"/>
              <a:t>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</a:t>
            </a:r>
            <a:r>
              <a:rPr lang="ko-KR" altLang="en-US" dirty="0"/>
              <a:t> </a:t>
            </a:r>
            <a:r>
              <a:rPr lang="ko-KR" altLang="en-US" dirty="0" err="1"/>
              <a:t>시공규모</a:t>
            </a:r>
            <a:r>
              <a:rPr lang="en-US" altLang="ko-KR" dirty="0"/>
              <a:t>, </a:t>
            </a:r>
            <a:r>
              <a:rPr lang="ko-KR" altLang="en-US" dirty="0"/>
              <a:t>방법</a:t>
            </a:r>
            <a:r>
              <a:rPr lang="en-US" altLang="ko-KR" dirty="0"/>
              <a:t>(</a:t>
            </a:r>
            <a:r>
              <a:rPr lang="ko-KR" altLang="en-US" dirty="0"/>
              <a:t>공법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실적증명</a:t>
            </a:r>
            <a:r>
              <a:rPr lang="ko-KR" altLang="en-US" dirty="0"/>
              <a:t> 발급일 기준 </a:t>
            </a:r>
            <a:r>
              <a:rPr lang="ko-KR" altLang="en-US" dirty="0" err="1"/>
              <a:t>전체공사의</a:t>
            </a:r>
            <a:r>
              <a:rPr lang="ko-KR" altLang="en-US" dirty="0"/>
              <a:t> </a:t>
            </a:r>
            <a:r>
              <a:rPr lang="ko-KR" altLang="en-US" dirty="0" err="1"/>
              <a:t>시공내용</a:t>
            </a:r>
            <a:r>
              <a:rPr lang="en-US" altLang="ko-KR" dirty="0"/>
              <a:t>, </a:t>
            </a:r>
            <a:r>
              <a:rPr lang="ko-KR" altLang="en-US" dirty="0"/>
              <a:t>공법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  <a:p>
            <a:pPr marL="228600" indent="-228600"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271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실적정보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59" name="그룹 158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242" name="직선 연결선 24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3" name="직선 연결선 24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60" name="그룹 159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240" name="타원 239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1" name="TextBox 24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61" name="그룹 160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204" name="직선 연결선 20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5" name="직선 연결선 22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실적정보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입력</a:t>
              </a:r>
            </a:p>
          </p:txBody>
        </p:sp>
        <p:grpSp>
          <p:nvGrpSpPr>
            <p:cNvPr id="165" name="그룹 16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69" name="타원 16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66" name="그룹 16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67" name="타원 16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17" name="그룹 116"/>
          <p:cNvGrpSpPr/>
          <p:nvPr/>
        </p:nvGrpSpPr>
        <p:grpSpPr>
          <a:xfrm>
            <a:off x="675400" y="1931806"/>
            <a:ext cx="2712026" cy="1870687"/>
            <a:chOff x="675400" y="2590223"/>
            <a:chExt cx="2712026" cy="1870687"/>
          </a:xfrm>
        </p:grpSpPr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5688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시공자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 smtClean="0">
                  <a:latin typeface="+mn-ea"/>
                </a:rPr>
                <a:t>대표</a:t>
              </a:r>
              <a:r>
                <a:rPr lang="en-US" altLang="ko-KR" sz="700" dirty="0" smtClean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19" name="그룹 118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2" name="직선 연결선 16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3" name="직선 연결선 16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0" name="직사각형 119"/>
            <p:cNvSpPr/>
            <p:nvPr/>
          </p:nvSpPr>
          <p:spPr>
            <a:xfrm>
              <a:off x="722583" y="2897708"/>
              <a:ext cx="792000" cy="15339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회사명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공시금액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준공금액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관급금액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조달테스트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400" y="4460910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792571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 smtClean="0">
                  <a:latin typeface="+mn-ea"/>
                </a:rPr>
                <a:t>시공금액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 smtClean="0">
                  <a:latin typeface="+mn-ea"/>
                </a:rPr>
                <a:t>관급포함</a:t>
              </a:r>
              <a:r>
                <a:rPr lang="en-US" altLang="ko-KR" sz="700" dirty="0">
                  <a:latin typeface="+mn-ea"/>
                </a:rPr>
                <a:t>)</a:t>
              </a:r>
              <a:endParaRPr lang="en-US" altLang="ko-KR" sz="700" dirty="0" smtClean="0">
                <a:latin typeface="+mn-ea"/>
              </a:endParaRPr>
            </a:p>
          </p:txBody>
        </p: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00644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2201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338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70" name="그룹 169"/>
          <p:cNvGrpSpPr/>
          <p:nvPr/>
        </p:nvGrpSpPr>
        <p:grpSpPr>
          <a:xfrm>
            <a:off x="675400" y="3831367"/>
            <a:ext cx="2712026" cy="1888105"/>
            <a:chOff x="675400" y="4489784"/>
            <a:chExt cx="2712026" cy="1888105"/>
          </a:xfrm>
        </p:grpSpPr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89784"/>
              <a:ext cx="125688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시공자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1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72" name="그룹 171"/>
            <p:cNvGrpSpPr/>
            <p:nvPr/>
          </p:nvGrpSpPr>
          <p:grpSpPr>
            <a:xfrm flipV="1">
              <a:off x="3143548" y="4603115"/>
              <a:ext cx="94010" cy="47005"/>
              <a:chOff x="6812560" y="3297172"/>
              <a:chExt cx="94010" cy="47005"/>
            </a:xfrm>
          </p:grpSpPr>
          <p:cxnSp>
            <p:nvCxnSpPr>
              <p:cNvPr id="187" name="직선 연결선 18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8" name="직선 연결선 18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3" name="직사각형 172"/>
            <p:cNvSpPr/>
            <p:nvPr/>
          </p:nvSpPr>
          <p:spPr>
            <a:xfrm>
              <a:off x="722583" y="4797269"/>
              <a:ext cx="792000" cy="15339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9726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97269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회사명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공시금액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준공금액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관급금액</a:t>
              </a:r>
              <a:endParaRPr lang="en-US" altLang="ko-KR" sz="700" dirty="0" smtClean="0">
                <a:latin typeface="+mn-ea"/>
              </a:endParaRPr>
            </a:p>
          </p:txBody>
        </p: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2837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4208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557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6949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400" y="6377889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692132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 smtClean="0">
                  <a:latin typeface="+mn-ea"/>
                </a:rPr>
                <a:t>시공금액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 smtClean="0">
                  <a:latin typeface="+mn-ea"/>
                </a:rPr>
                <a:t>관급포함</a:t>
              </a:r>
              <a:r>
                <a:rPr lang="en-US" altLang="ko-KR" sz="700" dirty="0">
                  <a:latin typeface="+mn-ea"/>
                </a:rPr>
                <a:t>)</a:t>
              </a:r>
              <a:endParaRPr lang="en-US" altLang="ko-KR" sz="700" dirty="0" smtClean="0">
                <a:latin typeface="+mn-ea"/>
              </a:endParaRPr>
            </a:p>
          </p:txBody>
        </p:sp>
        <p:cxnSp>
          <p:nvCxnSpPr>
            <p:cNvPr id="184" name="직선 연결선 1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0600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5" name="직선 연결선 1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11971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6" name="직선 연결선 18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33341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9" name="그룹 188"/>
          <p:cNvGrpSpPr/>
          <p:nvPr/>
        </p:nvGrpSpPr>
        <p:grpSpPr>
          <a:xfrm>
            <a:off x="3795734" y="1931806"/>
            <a:ext cx="2712026" cy="1888105"/>
            <a:chOff x="3832578" y="3081088"/>
            <a:chExt cx="2712026" cy="1888105"/>
          </a:xfrm>
        </p:grpSpPr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38639" y="3081088"/>
              <a:ext cx="125688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시공자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2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91" name="그룹 190"/>
            <p:cNvGrpSpPr/>
            <p:nvPr/>
          </p:nvGrpSpPr>
          <p:grpSpPr>
            <a:xfrm flipV="1">
              <a:off x="6300726" y="3194419"/>
              <a:ext cx="94010" cy="47005"/>
              <a:chOff x="6812560" y="3297172"/>
              <a:chExt cx="94010" cy="47005"/>
            </a:xfrm>
          </p:grpSpPr>
          <p:cxnSp>
            <p:nvCxnSpPr>
              <p:cNvPr id="206" name="직선 연결선 20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7" name="직선 연결선 20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2" name="직사각형 191"/>
            <p:cNvSpPr/>
            <p:nvPr/>
          </p:nvSpPr>
          <p:spPr>
            <a:xfrm>
              <a:off x="3879761" y="3388573"/>
              <a:ext cx="792000" cy="15339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7668" y="33885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388573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회사명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사업자등록번호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공시금액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준공금액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관급금액</a:t>
              </a:r>
              <a:endParaRPr lang="en-US" altLang="ko-KR" sz="700" dirty="0" smtClean="0">
                <a:latin typeface="+mn-ea"/>
              </a:endParaRPr>
            </a:p>
          </p:txBody>
        </p: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6196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8333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8" name="직선 연결선 1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0470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9" name="직선 연결선 1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26079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2578" y="496919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428343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 smtClean="0">
                  <a:latin typeface="+mn-ea"/>
                </a:rPr>
                <a:t>시공금액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 smtClean="0">
                  <a:latin typeface="+mn-ea"/>
                </a:rPr>
                <a:t>관급포함</a:t>
              </a:r>
              <a:r>
                <a:rPr lang="en-US" altLang="ko-KR" sz="700" dirty="0">
                  <a:latin typeface="+mn-ea"/>
                </a:rPr>
                <a:t>)</a:t>
              </a:r>
              <a:endParaRPr lang="en-US" altLang="ko-KR" sz="700" dirty="0" smtClean="0">
                <a:latin typeface="+mn-ea"/>
              </a:endParaRPr>
            </a:p>
          </p:txBody>
        </p: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49730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7110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5" name="직선 연결선 2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9247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08" name="그룹 207"/>
          <p:cNvGrpSpPr/>
          <p:nvPr/>
        </p:nvGrpSpPr>
        <p:grpSpPr>
          <a:xfrm>
            <a:off x="3795734" y="3926870"/>
            <a:ext cx="2712027" cy="789495"/>
            <a:chOff x="675399" y="1544009"/>
            <a:chExt cx="2712027" cy="789495"/>
          </a:xfrm>
        </p:grpSpPr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시공규모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: </a:t>
              </a:r>
              <a:r>
                <a:rPr lang="ko-KR" altLang="en-US" sz="700" dirty="0" smtClean="0">
                  <a:latin typeface="+mn-ea"/>
                </a:rPr>
                <a:t>구체적인 </a:t>
              </a:r>
              <a:r>
                <a:rPr lang="ko-KR" altLang="en-US" sz="700" dirty="0" err="1">
                  <a:latin typeface="+mn-ea"/>
                </a:rPr>
                <a:t>시공물량</a:t>
              </a:r>
              <a:r>
                <a:rPr lang="ko-KR" altLang="en-US" sz="700" dirty="0">
                  <a:latin typeface="+mn-ea"/>
                </a:rPr>
                <a:t> 표시</a:t>
              </a:r>
            </a:p>
          </p:txBody>
        </p:sp>
        <p:grpSp>
          <p:nvGrpSpPr>
            <p:cNvPr id="210" name="그룹 209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11" name="직선 연결선 2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3" name="직선 연결선 2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16" name="그룹 215"/>
          <p:cNvGrpSpPr/>
          <p:nvPr/>
        </p:nvGrpSpPr>
        <p:grpSpPr>
          <a:xfrm>
            <a:off x="3795734" y="4823498"/>
            <a:ext cx="2712027" cy="789495"/>
            <a:chOff x="675399" y="1544009"/>
            <a:chExt cx="2712027" cy="789495"/>
          </a:xfrm>
        </p:grpSpPr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실적공종또는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PQ</a:t>
              </a:r>
              <a:r>
                <a:rPr lang="ko-KR" altLang="en-US" sz="700" dirty="0" err="1">
                  <a:latin typeface="+mn-ea"/>
                </a:rPr>
                <a:t>공종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시공규모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방법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공법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19" name="그룹 218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23" name="직선 연결선 22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4" name="직선 연결선 22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2" name="직선 연결선 2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26" name="그룹 225"/>
          <p:cNvGrpSpPr/>
          <p:nvPr/>
        </p:nvGrpSpPr>
        <p:grpSpPr>
          <a:xfrm>
            <a:off x="1323017" y="1994801"/>
            <a:ext cx="243478" cy="144000"/>
            <a:chOff x="5087822" y="2638846"/>
            <a:chExt cx="243478" cy="144000"/>
          </a:xfrm>
        </p:grpSpPr>
        <p:sp>
          <p:nvSpPr>
            <p:cNvPr id="227" name="타원 226"/>
            <p:cNvSpPr/>
            <p:nvPr/>
          </p:nvSpPr>
          <p:spPr>
            <a:xfrm>
              <a:off x="5135779" y="2638846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28" name="모서리가 둥근 직사각형 227"/>
            <p:cNvSpPr/>
            <p:nvPr/>
          </p:nvSpPr>
          <p:spPr>
            <a:xfrm>
              <a:off x="5087822" y="2647088"/>
              <a:ext cx="243478" cy="119400"/>
            </a:xfrm>
            <a:prstGeom prst="roundRect">
              <a:avLst>
                <a:gd name="adj" fmla="val 23409"/>
              </a:avLst>
            </a:prstGeom>
            <a:no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en-US" altLang="ko-KR" sz="600" b="1" dirty="0" smtClean="0">
                  <a:solidFill>
                    <a:schemeClr val="dk1"/>
                  </a:solidFill>
                </a:rPr>
                <a:t>?</a:t>
              </a:r>
              <a:endParaRPr lang="ko-KR" altLang="en-US" sz="600" b="1" dirty="0">
                <a:solidFill>
                  <a:schemeClr val="dk1"/>
                </a:solidFill>
              </a:endParaRPr>
            </a:p>
          </p:txBody>
        </p:sp>
      </p:grpSp>
      <p:sp>
        <p:nvSpPr>
          <p:cNvPr id="217" name="타원 2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97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3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766" y="2923664"/>
            <a:ext cx="87663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835369" y="2923664"/>
            <a:ext cx="514081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00 %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766" y="3144375"/>
            <a:ext cx="87663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835369" y="3144375"/>
            <a:ext cx="514081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00 %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37425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58959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1" name="TextBox 31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509399" y="2882166"/>
            <a:ext cx="349786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지분율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지분율</a:t>
            </a:r>
            <a:endParaRPr lang="en-US" altLang="ko-KR" sz="700" dirty="0">
              <a:latin typeface="+mn-ea"/>
            </a:endParaRPr>
          </a:p>
        </p:txBody>
      </p:sp>
      <p:sp>
        <p:nvSpPr>
          <p:cNvPr id="31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766" y="4828634"/>
            <a:ext cx="87663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835369" y="4828634"/>
            <a:ext cx="514081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00 %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766" y="5049345"/>
            <a:ext cx="87663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835369" y="5049345"/>
            <a:ext cx="514081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00 %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527922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549456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8" name="TextBox 31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509399" y="4787136"/>
            <a:ext cx="349786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지분율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지분율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1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17097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39927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6143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2768" y="2933221"/>
            <a:ext cx="87663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5946371" y="2933221"/>
            <a:ext cx="514081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00 %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2768" y="3153932"/>
            <a:ext cx="87663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5946371" y="3153932"/>
            <a:ext cx="514081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00 %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38381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59915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8" name="TextBox 3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620401" y="2891723"/>
            <a:ext cx="349786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지분율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 smtClean="0">
                <a:latin typeface="+mn-ea"/>
              </a:rPr>
              <a:t>지분율</a:t>
            </a:r>
            <a:endParaRPr lang="en-US" altLang="ko-KR" sz="700" dirty="0">
              <a:latin typeface="+mn-ea"/>
            </a:endParaRPr>
          </a:p>
        </p:txBody>
      </p:sp>
      <p:sp>
        <p:nvSpPr>
          <p:cNvPr id="32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27555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50385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891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54084" y="4251970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54084" y="5138469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4" name="타원 3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50521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335" name="타원 3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4092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336" name="타원 33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717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337" name="타원 33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912" y="397763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912" y="48792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26333196"/>
      </p:ext>
    </p:extLst>
  </p:cSld>
  <p:clrMapOvr>
    <a:masterClrMapping/>
  </p:clrMapOvr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신청에 따른 표시 정보 변경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시공회사별</a:t>
            </a:r>
            <a:r>
              <a:rPr lang="ko-KR" altLang="en-US" dirty="0"/>
              <a:t>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금액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실적증명</a:t>
            </a:r>
            <a:r>
              <a:rPr lang="ko-KR" altLang="en-US" dirty="0"/>
              <a:t> 발급일 기준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</a:t>
            </a:r>
            <a:r>
              <a:rPr lang="ko-KR" altLang="en-US" dirty="0" err="1"/>
              <a:t>시공내용</a:t>
            </a:r>
            <a:r>
              <a:rPr lang="en-US" altLang="ko-KR" dirty="0"/>
              <a:t>, </a:t>
            </a:r>
            <a:r>
              <a:rPr lang="ko-KR" altLang="en-US" dirty="0"/>
              <a:t>공법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시공회사별</a:t>
            </a:r>
            <a:r>
              <a:rPr lang="ko-KR" altLang="en-US" dirty="0"/>
              <a:t>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금액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실적증명</a:t>
            </a:r>
            <a:r>
              <a:rPr lang="ko-KR" altLang="en-US" dirty="0"/>
              <a:t> 발급일 기준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</a:t>
            </a:r>
            <a:r>
              <a:rPr lang="ko-KR" altLang="en-US" dirty="0" err="1"/>
              <a:t>시공내용</a:t>
            </a:r>
            <a:r>
              <a:rPr lang="en-US" altLang="ko-KR" dirty="0"/>
              <a:t>, </a:t>
            </a:r>
            <a:r>
              <a:rPr lang="ko-KR" altLang="en-US" dirty="0"/>
              <a:t>공법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smtClean="0">
                <a:latin typeface="+mn-ea"/>
              </a:rPr>
              <a:t>하도급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도움말</a:t>
            </a:r>
            <a:r>
              <a:rPr lang="en-US" altLang="ko-KR" dirty="0" smtClean="0">
                <a:latin typeface="+mn-ea"/>
              </a:rPr>
              <a:t/>
            </a:r>
            <a:br>
              <a:rPr lang="en-US" altLang="ko-KR" dirty="0" smtClean="0">
                <a:latin typeface="+mn-ea"/>
              </a:rPr>
            </a:br>
            <a:r>
              <a:rPr lang="en-US" altLang="ko-KR" dirty="0" smtClean="0">
                <a:latin typeface="+mn-ea"/>
              </a:rPr>
              <a:t>  &gt; </a:t>
            </a:r>
            <a:r>
              <a:rPr lang="ko-KR" altLang="en-US" dirty="0">
                <a:latin typeface="+mn-ea"/>
              </a:rPr>
              <a:t>하도급자별로 </a:t>
            </a:r>
            <a:r>
              <a:rPr lang="ko-KR" altLang="en-US" dirty="0" err="1">
                <a:latin typeface="+mn-ea"/>
              </a:rPr>
              <a:t>구분작성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전문건설업자에게 하도급 한 경우는 해당없음으로 표기</a:t>
            </a:r>
            <a:r>
              <a:rPr lang="en-US" altLang="ko-KR" dirty="0" smtClean="0">
                <a:latin typeface="+mn-ea"/>
              </a:rPr>
              <a:t>)</a:t>
            </a:r>
            <a:endParaRPr lang="en-US" altLang="ko-KR" dirty="0">
              <a:latin typeface="+mn-ea"/>
            </a:endParaRP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 smtClean="0">
                <a:latin typeface="+mn-ea"/>
              </a:rPr>
              <a:t>[</a:t>
            </a:r>
            <a:r>
              <a:rPr lang="en-US" altLang="ko-KR" dirty="0" smtClean="0"/>
              <a:t>1</a:t>
            </a:r>
            <a:r>
              <a:rPr lang="en-US" altLang="ko-KR" dirty="0"/>
              <a:t>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 smtClean="0"/>
              <a:t>] </a:t>
            </a:r>
            <a:r>
              <a:rPr lang="ko-KR" altLang="en-US" dirty="0" smtClean="0"/>
              <a:t>명칭 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하도급자</a:t>
            </a:r>
            <a:r>
              <a:rPr lang="ko-KR" altLang="en-US" dirty="0"/>
              <a:t> 면허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하도급 공사 규모 및 </a:t>
            </a:r>
            <a:r>
              <a:rPr lang="ko-KR" altLang="en-US" dirty="0" smtClean="0"/>
              <a:t>금액</a:t>
            </a:r>
            <a:endParaRPr lang="en-US" altLang="ko-KR" dirty="0" smtClean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],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  <a:p>
            <a:pPr marL="228600" indent="-228600"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272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실적정보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59" name="그룹 158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242" name="직선 연결선 24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3" name="직선 연결선 24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60" name="그룹 159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240" name="타원 239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1" name="TextBox 24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61" name="그룹 160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204" name="직선 연결선 20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5" name="직선 연결선 22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실적정보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입력</a:t>
              </a:r>
            </a:p>
          </p:txBody>
        </p:sp>
        <p:grpSp>
          <p:nvGrpSpPr>
            <p:cNvPr id="165" name="그룹 16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69" name="타원 16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66" name="그룹 16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67" name="타원 16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17" name="타원 2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97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95" name="TextBox 1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1795" y="1931536"/>
            <a:ext cx="2212218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smtClean="0">
                <a:latin typeface="+mn-ea"/>
              </a:rPr>
              <a:t>하도급</a:t>
            </a:r>
            <a:r>
              <a:rPr lang="en-US" altLang="ko-KR" sz="700" dirty="0" smtClean="0">
                <a:latin typeface="+mn-ea"/>
              </a:rPr>
              <a:t> </a:t>
            </a:r>
            <a:r>
              <a:rPr lang="ko-KR" altLang="en-US" sz="700" dirty="0" smtClean="0">
                <a:latin typeface="+mn-ea"/>
              </a:rPr>
              <a:t>내용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12" name="그룹 211"/>
          <p:cNvGrpSpPr/>
          <p:nvPr/>
        </p:nvGrpSpPr>
        <p:grpSpPr>
          <a:xfrm flipV="1">
            <a:off x="6263882" y="2044867"/>
            <a:ext cx="94010" cy="47005"/>
            <a:chOff x="6812560" y="3297172"/>
            <a:chExt cx="94010" cy="47005"/>
          </a:xfrm>
        </p:grpSpPr>
        <p:cxnSp>
          <p:nvCxnSpPr>
            <p:cNvPr id="249" name="직선 연결선 24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0" name="직선 연결선 24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51" name="그룹 250"/>
          <p:cNvGrpSpPr/>
          <p:nvPr/>
        </p:nvGrpSpPr>
        <p:grpSpPr>
          <a:xfrm>
            <a:off x="675399" y="1927617"/>
            <a:ext cx="2712027" cy="789495"/>
            <a:chOff x="675399" y="1544009"/>
            <a:chExt cx="2712027" cy="789495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</a:t>
              </a:r>
              <a:r>
                <a:rPr lang="ko-KR" altLang="en-US" sz="700" dirty="0">
                  <a:latin typeface="+mn-ea"/>
                </a:rPr>
                <a:t> 또는 </a:t>
              </a:r>
              <a:r>
                <a:rPr lang="en-US" altLang="ko-KR" sz="700" dirty="0">
                  <a:latin typeface="+mn-ea"/>
                </a:rPr>
                <a:t>PQ </a:t>
              </a:r>
              <a:r>
                <a:rPr lang="ko-KR" altLang="en-US" sz="700" dirty="0" err="1">
                  <a:latin typeface="+mn-ea"/>
                </a:rPr>
                <a:t>공종의</a:t>
              </a:r>
              <a:r>
                <a:rPr lang="ko-KR" altLang="en-US" sz="700" dirty="0">
                  <a:latin typeface="+mn-ea"/>
                </a:rPr>
                <a:t> 금액</a:t>
              </a:r>
            </a:p>
          </p:txBody>
        </p:sp>
        <p:grpSp>
          <p:nvGrpSpPr>
            <p:cNvPr id="253" name="그룹 252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57" name="직선 연결선 25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8" name="직선 연결선 25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59" name="그룹 258"/>
          <p:cNvGrpSpPr/>
          <p:nvPr/>
        </p:nvGrpSpPr>
        <p:grpSpPr>
          <a:xfrm>
            <a:off x="675399" y="2824245"/>
            <a:ext cx="2712027" cy="789495"/>
            <a:chOff x="675399" y="1544009"/>
            <a:chExt cx="2712027" cy="789495"/>
          </a:xfrm>
        </p:grpSpPr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</a:t>
              </a:r>
              <a:r>
                <a:rPr lang="ko-KR" altLang="en-US" sz="700" dirty="0">
                  <a:latin typeface="+mn-ea"/>
                </a:rPr>
                <a:t> 또는 </a:t>
              </a:r>
              <a:r>
                <a:rPr lang="en-US" altLang="ko-KR" sz="700" dirty="0">
                  <a:latin typeface="+mn-ea"/>
                </a:rPr>
                <a:t>PQ </a:t>
              </a:r>
              <a:r>
                <a:rPr lang="ko-KR" altLang="en-US" sz="700" dirty="0" err="1">
                  <a:latin typeface="+mn-ea"/>
                </a:rPr>
                <a:t>공종의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준공금액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61" name="그룹 260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65" name="직선 연결선 26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66" name="직선 연결선 26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67" name="그룹 266"/>
          <p:cNvGrpSpPr/>
          <p:nvPr/>
        </p:nvGrpSpPr>
        <p:grpSpPr>
          <a:xfrm>
            <a:off x="675399" y="3724695"/>
            <a:ext cx="2712027" cy="789495"/>
            <a:chOff x="675399" y="1544009"/>
            <a:chExt cx="2712027" cy="789495"/>
          </a:xfrm>
        </p:grpSpPr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</a:t>
              </a:r>
              <a:r>
                <a:rPr lang="ko-KR" altLang="en-US" sz="700" dirty="0">
                  <a:latin typeface="+mn-ea"/>
                </a:rPr>
                <a:t>  또는 </a:t>
              </a:r>
              <a:r>
                <a:rPr lang="en-US" altLang="ko-KR" sz="700" dirty="0" smtClean="0">
                  <a:latin typeface="+mn-ea"/>
                </a:rPr>
                <a:t>PQ</a:t>
              </a:r>
              <a:r>
                <a:rPr lang="ko-KR" altLang="en-US" sz="700" dirty="0" err="1" smtClean="0">
                  <a:latin typeface="+mn-ea"/>
                </a:rPr>
                <a:t>공종의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관급금액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69" name="그룹 268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73" name="직선 연결선 27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74" name="직선 연결선 27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70" name="직선 연결선 2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2" name="직선 연결선 2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303" name="그룹 302"/>
          <p:cNvGrpSpPr/>
          <p:nvPr/>
        </p:nvGrpSpPr>
        <p:grpSpPr>
          <a:xfrm>
            <a:off x="3795734" y="4608602"/>
            <a:ext cx="2712027" cy="792634"/>
            <a:chOff x="675399" y="1544009"/>
            <a:chExt cx="2712027" cy="792634"/>
          </a:xfrm>
        </p:grpSpPr>
        <p:sp>
          <p:nvSpPr>
            <p:cNvPr id="304" name="TextBox 3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실적증명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smtClean="0">
                  <a:latin typeface="+mn-ea"/>
                </a:rPr>
                <a:t>발급일 기준 </a:t>
              </a:r>
              <a:r>
                <a:rPr lang="ko-KR" altLang="en-US" sz="700" dirty="0" err="1">
                  <a:latin typeface="+mn-ea"/>
                </a:rPr>
                <a:t>시공내용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305" name="그룹 304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309" name="직선 연결선 30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10" name="직선 연결선 30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306" name="직선 연결선 3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6643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3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33749" y="2250157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33749" y="3157790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33749" y="4051681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54084" y="4927558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3795734" y="2239021"/>
            <a:ext cx="2712026" cy="724779"/>
            <a:chOff x="3795734" y="2239021"/>
            <a:chExt cx="2712026" cy="724779"/>
          </a:xfrm>
        </p:grpSpPr>
        <p:sp>
          <p:nvSpPr>
            <p:cNvPr id="221" name="직사각형 220"/>
            <p:cNvSpPr/>
            <p:nvPr/>
          </p:nvSpPr>
          <p:spPr>
            <a:xfrm>
              <a:off x="3842917" y="2239021"/>
              <a:ext cx="792000" cy="68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29" name="직선 연결선 2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0824" y="2239021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2452774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하도급공사 규모 </a:t>
              </a:r>
            </a:p>
            <a:p>
              <a:r>
                <a:rPr lang="ko-KR" altLang="en-US" sz="700" dirty="0">
                  <a:latin typeface="+mn-ea"/>
                </a:rPr>
                <a:t>및 내용</a:t>
              </a:r>
            </a:p>
          </p:txBody>
        </p:sp>
        <p:cxnSp>
          <p:nvCxnSpPr>
            <p:cNvPr id="244" name="직선 연결선 2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26747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5" name="직선 연결선 2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29250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6" name="직선 연결선 2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2963800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2695742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하도금금액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2273857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하도급자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24354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4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2261704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 smtClean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 smtClean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34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2483288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 smtClean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 smtClean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34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2712378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algn="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 smtClean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 smtClean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343" name="그룹 342"/>
          <p:cNvGrpSpPr/>
          <p:nvPr/>
        </p:nvGrpSpPr>
        <p:grpSpPr>
          <a:xfrm>
            <a:off x="4418527" y="1994801"/>
            <a:ext cx="243478" cy="144000"/>
            <a:chOff x="5087822" y="2638846"/>
            <a:chExt cx="243478" cy="144000"/>
          </a:xfrm>
        </p:grpSpPr>
        <p:sp>
          <p:nvSpPr>
            <p:cNvPr id="344" name="타원 343"/>
            <p:cNvSpPr/>
            <p:nvPr/>
          </p:nvSpPr>
          <p:spPr>
            <a:xfrm>
              <a:off x="5135779" y="2638846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45" name="모서리가 둥근 직사각형 344"/>
            <p:cNvSpPr/>
            <p:nvPr/>
          </p:nvSpPr>
          <p:spPr>
            <a:xfrm>
              <a:off x="5087822" y="2647088"/>
              <a:ext cx="243478" cy="119400"/>
            </a:xfrm>
            <a:prstGeom prst="roundRect">
              <a:avLst>
                <a:gd name="adj" fmla="val 23409"/>
              </a:avLst>
            </a:prstGeom>
            <a:no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en-US" altLang="ko-KR" sz="600" b="1" dirty="0" smtClean="0">
                  <a:solidFill>
                    <a:schemeClr val="dk1"/>
                  </a:solidFill>
                </a:rPr>
                <a:t>?</a:t>
              </a:r>
              <a:endParaRPr lang="ko-KR" altLang="en-US" sz="600" b="1" dirty="0">
                <a:solidFill>
                  <a:schemeClr val="dk1"/>
                </a:solidFill>
              </a:endParaRPr>
            </a:p>
          </p:txBody>
        </p:sp>
      </p:grpSp>
      <p:sp>
        <p:nvSpPr>
          <p:cNvPr id="346" name="타원 34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0351" y="19797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3795734" y="3014373"/>
            <a:ext cx="2712026" cy="724779"/>
            <a:chOff x="3795734" y="3007446"/>
            <a:chExt cx="2712026" cy="724779"/>
          </a:xfrm>
        </p:grpSpPr>
        <p:sp>
          <p:nvSpPr>
            <p:cNvPr id="347" name="직사각형 346"/>
            <p:cNvSpPr/>
            <p:nvPr/>
          </p:nvSpPr>
          <p:spPr>
            <a:xfrm>
              <a:off x="3842917" y="3007446"/>
              <a:ext cx="792000" cy="68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48" name="직선 연결선 3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0824" y="3007446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322119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하도급공사 규모 </a:t>
              </a:r>
            </a:p>
            <a:p>
              <a:r>
                <a:rPr lang="ko-KR" altLang="en-US" sz="700" dirty="0">
                  <a:latin typeface="+mn-ea"/>
                </a:rPr>
                <a:t>및 내용</a:t>
              </a:r>
            </a:p>
          </p:txBody>
        </p:sp>
        <p:cxnSp>
          <p:nvCxnSpPr>
            <p:cNvPr id="350" name="직선 연결선 3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34431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51" name="직선 연결선 3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36934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52" name="직선 연결선 3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3732225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3464167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하도금금액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304228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하도급자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355" name="직선 연결선 3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32038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5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3030129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 smtClean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 smtClean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35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3251713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 smtClean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 smtClean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35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3480803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algn="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 smtClean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 smtClean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359" name="그룹 358"/>
          <p:cNvGrpSpPr/>
          <p:nvPr/>
        </p:nvGrpSpPr>
        <p:grpSpPr>
          <a:xfrm>
            <a:off x="3795734" y="3790541"/>
            <a:ext cx="2712026" cy="724779"/>
            <a:chOff x="3795734" y="3007446"/>
            <a:chExt cx="2712026" cy="724779"/>
          </a:xfrm>
        </p:grpSpPr>
        <p:sp>
          <p:nvSpPr>
            <p:cNvPr id="360" name="직사각형 359"/>
            <p:cNvSpPr/>
            <p:nvPr/>
          </p:nvSpPr>
          <p:spPr>
            <a:xfrm>
              <a:off x="3842917" y="3007446"/>
              <a:ext cx="792000" cy="68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61" name="직선 연결선 3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0824" y="3007446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322119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하도급공사 규모 </a:t>
              </a:r>
            </a:p>
            <a:p>
              <a:r>
                <a:rPr lang="ko-KR" altLang="en-US" sz="700" dirty="0">
                  <a:latin typeface="+mn-ea"/>
                </a:rPr>
                <a:t>및 내용</a:t>
              </a:r>
            </a:p>
          </p:txBody>
        </p:sp>
        <p:cxnSp>
          <p:nvCxnSpPr>
            <p:cNvPr id="363" name="직선 연결선 3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34431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64" name="직선 연결선 3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36934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65" name="직선 연결선 3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3732225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3464167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하도금금액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304228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하도급자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368" name="직선 연결선 3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32038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6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3030129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 smtClean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 smtClean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37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3251713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 smtClean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 smtClean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37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3480803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algn="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 smtClean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 smtClean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72" name="타원 3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8606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373" name="타원 37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0351" y="465132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374" name="타원 37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0351" y="258956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63393203"/>
      </p:ext>
    </p:extLst>
  </p:cSld>
  <p:clrMapOvr>
    <a:masterClrMapping/>
  </p:clrMapOvr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</a:t>
            </a:r>
            <a:r>
              <a:rPr lang="ko-KR" altLang="en-US" dirty="0" smtClean="0"/>
              <a:t>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정보는 총 </a:t>
            </a:r>
            <a:r>
              <a:rPr lang="en-US" altLang="ko-KR" dirty="0"/>
              <a:t>3</a:t>
            </a:r>
            <a:r>
              <a:rPr lang="ko-KR" altLang="en-US" dirty="0" smtClean="0"/>
              <a:t>건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273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59" name="그룹 158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242" name="직선 연결선 24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3" name="직선 연결선 24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60" name="그룹 159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240" name="타원 239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1" name="TextBox 24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61" name="그룹 160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204" name="직선 연결선 20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5" name="직선 연결선 22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실적정보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입력</a:t>
              </a:r>
            </a:p>
          </p:txBody>
        </p:sp>
        <p:grpSp>
          <p:nvGrpSpPr>
            <p:cNvPr id="165" name="그룹 16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69" name="타원 16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66" name="그룹 16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67" name="타원 16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17" name="타원 2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97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62" name="그룹 161"/>
          <p:cNvGrpSpPr/>
          <p:nvPr/>
        </p:nvGrpSpPr>
        <p:grpSpPr>
          <a:xfrm>
            <a:off x="720490" y="1948159"/>
            <a:ext cx="2630093" cy="2031034"/>
            <a:chOff x="720490" y="2590223"/>
            <a:chExt cx="2630093" cy="2031034"/>
          </a:xfrm>
        </p:grpSpPr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2271776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최저가 적정성심사관련 시공실적자료</a:t>
              </a:r>
            </a:p>
          </p:txBody>
        </p:sp>
        <p:grpSp>
          <p:nvGrpSpPr>
            <p:cNvPr id="170" name="그룹 169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84" name="직선 연결선 18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5" name="직선 연결선 18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1" name="직사각형 170"/>
            <p:cNvSpPr/>
            <p:nvPr/>
          </p:nvSpPr>
          <p:spPr>
            <a:xfrm>
              <a:off x="722583" y="2897708"/>
              <a:ext cx="792000" cy="171117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시공내용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사용장비명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장비규격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투입대수</a:t>
              </a:r>
              <a:r>
                <a:rPr lang="ko-KR" altLang="en-US" sz="700" dirty="0">
                  <a:latin typeface="+mn-ea"/>
                </a:rPr>
                <a:t> 누계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작업량 누계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작업시간 누계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시간당 작업량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기타 참고사항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8187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832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9695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088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6" name="그룹 18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733331"/>
            <a:ext cx="76863" cy="292489"/>
            <a:chOff x="3750067" y="4683795"/>
            <a:chExt cx="76863" cy="292489"/>
          </a:xfrm>
        </p:grpSpPr>
        <p:sp>
          <p:nvSpPr>
            <p:cNvPr id="187" name="타원 186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8" name="타원 187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9" name="타원 188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9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28475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51304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72810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93457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16287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37793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57265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78771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176474205"/>
      </p:ext>
    </p:extLst>
  </p:cSld>
  <p:clrMapOvr>
    <a:masterClrMapping/>
  </p:clrMapOvr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C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3.</a:t>
            </a:r>
            <a:r>
              <a:rPr lang="ko-KR" altLang="en-US" dirty="0"/>
              <a:t>건설공사기성실적증명</a:t>
            </a:r>
            <a:r>
              <a:rPr lang="en-US" altLang="ko-KR" dirty="0"/>
              <a:t>(</a:t>
            </a:r>
            <a:r>
              <a:rPr lang="ko-KR" altLang="en-US" dirty="0"/>
              <a:t>신청</a:t>
            </a:r>
            <a:r>
              <a:rPr lang="en-US" altLang="ko-KR" dirty="0"/>
              <a:t>)</a:t>
            </a:r>
            <a:r>
              <a:rPr lang="ko-KR" altLang="en-US" dirty="0"/>
              <a:t>서</a:t>
            </a:r>
            <a:r>
              <a:rPr lang="en-US" altLang="ko-KR" dirty="0"/>
              <a:t>_</a:t>
            </a:r>
            <a:r>
              <a:rPr lang="ko-KR" altLang="en-US" dirty="0" err="1"/>
              <a:t>세부공종</a:t>
            </a:r>
            <a:r>
              <a:rPr lang="en-US" altLang="ko-KR" dirty="0"/>
              <a:t>(</a:t>
            </a:r>
            <a:r>
              <a:rPr lang="ko-KR" altLang="en-US" dirty="0"/>
              <a:t>종합</a:t>
            </a:r>
            <a:r>
              <a:rPr lang="en-US" altLang="ko-KR" dirty="0"/>
              <a:t>) [</a:t>
            </a:r>
            <a:r>
              <a:rPr lang="ko-KR" altLang="en-US" dirty="0"/>
              <a:t>건설산업기본법 시행규칙</a:t>
            </a:r>
            <a:r>
              <a:rPr lang="en-US" altLang="ko-KR" dirty="0"/>
              <a:t>/</a:t>
            </a:r>
            <a:r>
              <a:rPr lang="ko-KR" altLang="en-US" dirty="0" err="1"/>
              <a:t>국토해양부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</a:t>
            </a:r>
            <a:r>
              <a:rPr lang="ko-KR" altLang="en-US" dirty="0" smtClean="0"/>
              <a:t>정보</a:t>
            </a:r>
            <a:endParaRPr lang="en-US" altLang="ko-KR" dirty="0" smtClean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smtClean="0"/>
              <a:t>단위 입력 시 단위 </a:t>
            </a:r>
            <a:r>
              <a:rPr lang="en-US" altLang="ko-KR" dirty="0" smtClean="0"/>
              <a:t>– [</a:t>
            </a:r>
            <a:r>
              <a:rPr lang="ko-KR" altLang="en-US" dirty="0" smtClean="0"/>
              <a:t>백만원</a:t>
            </a:r>
            <a:r>
              <a:rPr lang="en-US" altLang="ko-KR" dirty="0" smtClean="0"/>
              <a:t>]</a:t>
            </a:r>
            <a:r>
              <a:rPr lang="ko-KR" altLang="en-US" dirty="0" smtClean="0"/>
              <a:t>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ex) 1,000 </a:t>
            </a:r>
            <a:r>
              <a:rPr lang="ko-KR" altLang="en-US" dirty="0" smtClean="0"/>
              <a:t>백만원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274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 smtClean="0">
                <a:latin typeface="+mn-ea"/>
              </a:rPr>
              <a:t>unitC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 smtClean="0">
                <a:latin typeface="+mn-ea"/>
              </a:rPr>
              <a:t>실적정보</a:t>
            </a:r>
            <a:r>
              <a:rPr lang="ko-KR" altLang="en-US" sz="900" dirty="0" smtClean="0">
                <a:latin typeface="+mn-ea"/>
              </a:rPr>
              <a:t> 입력</a:t>
            </a:r>
            <a:endParaRPr lang="ko-KR" altLang="en-US" sz="900" dirty="0">
              <a:latin typeface="+mn-ea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실적 정보를 입력해주시길 바랍니다</a:t>
            </a:r>
            <a:r>
              <a:rPr lang="en-US" altLang="ko-KR" sz="700" dirty="0" smtClean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실적정보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실적정보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247" name="그룹 246"/>
          <p:cNvGrpSpPr/>
          <p:nvPr/>
        </p:nvGrpSpPr>
        <p:grpSpPr>
          <a:xfrm>
            <a:off x="720490" y="2873472"/>
            <a:ext cx="2630093" cy="1179711"/>
            <a:chOff x="720490" y="2590223"/>
            <a:chExt cx="2630093" cy="1179711"/>
          </a:xfrm>
        </p:grpSpPr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신청인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49" name="그룹 248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258" name="직선 연결선 2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9" name="직선 연결선 2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50" name="직사각형 249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1" name="직선 연결선 2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영업소재지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업종 및 등록번호 </a:t>
              </a:r>
              <a:r>
                <a:rPr lang="en-US" altLang="ko-KR" sz="700" dirty="0" smtClean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</a:t>
              </a:r>
              <a:r>
                <a:rPr lang="ko-KR" altLang="en-US" sz="700" dirty="0">
                  <a:latin typeface="+mn-ea"/>
                </a:rPr>
                <a:t>종로구</a:t>
              </a:r>
              <a:r>
                <a:rPr lang="en-US" altLang="ko-KR" sz="700" dirty="0" smtClean="0">
                  <a:latin typeface="+mn-ea"/>
                </a:rPr>
                <a:t>…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86451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3795734" y="1939881"/>
            <a:ext cx="2712026" cy="2284727"/>
            <a:chOff x="3795734" y="1939881"/>
            <a:chExt cx="2712026" cy="2284727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1939881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공사내역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58" name="그룹 157"/>
            <p:cNvGrpSpPr/>
            <p:nvPr/>
          </p:nvGrpSpPr>
          <p:grpSpPr>
            <a:xfrm flipV="1">
              <a:off x="6259759" y="2053212"/>
              <a:ext cx="94010" cy="47005"/>
              <a:chOff x="6812560" y="3297172"/>
              <a:chExt cx="94010" cy="47005"/>
            </a:xfrm>
          </p:grpSpPr>
          <p:cxnSp>
            <p:nvCxnSpPr>
              <p:cNvPr id="245" name="직선 연결선 24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6" name="직선 연결선 24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9" name="직사각형 158"/>
            <p:cNvSpPr/>
            <p:nvPr/>
          </p:nvSpPr>
          <p:spPr>
            <a:xfrm>
              <a:off x="3838794" y="2247366"/>
              <a:ext cx="792000" cy="193899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247366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247366"/>
              <a:ext cx="79200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공사명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총공사금액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공사유형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인 허가 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주력분야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인 허가 </a:t>
              </a:r>
              <a:r>
                <a:rPr lang="ko-KR" altLang="en-US" sz="700" dirty="0" err="1" smtClean="0">
                  <a:latin typeface="+mn-ea"/>
                </a:rPr>
                <a:t>년월일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세부공종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 smtClean="0">
                  <a:latin typeface="+mn-ea"/>
                </a:rPr>
                <a:t>종합</a:t>
              </a:r>
              <a:r>
                <a:rPr lang="en-US" altLang="ko-KR" sz="700" dirty="0" smtClean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실적년도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247366"/>
              <a:ext cx="17840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/>
                <a:t>국방전자조달고도화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47847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6921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9058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195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270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69992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현장 소재지</a:t>
              </a:r>
              <a:r>
                <a:rPr lang="en-US" altLang="ko-KR" sz="700" dirty="0" smtClean="0">
                  <a:latin typeface="+mn-ea"/>
                </a:rPr>
                <a:t/>
              </a:r>
              <a:br>
                <a:rPr lang="en-US" altLang="ko-KR" sz="700" dirty="0" smtClean="0">
                  <a:latin typeface="+mn-ea"/>
                </a:rPr>
              </a:b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 smtClean="0">
                  <a:latin typeface="+mn-ea"/>
                </a:rPr>
                <a:t>번지까지 기재</a:t>
              </a:r>
              <a:r>
                <a:rPr lang="en-US" altLang="ko-KR" sz="700" dirty="0" smtClean="0">
                  <a:latin typeface="+mn-ea"/>
                </a:rPr>
                <a:t>)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16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5" name="직선 연결선 2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593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3" name="직선 연결선 2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9668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4" name="직선 연결선 2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1739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0" name="직선 연결선 2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4224608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50530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백만원 단위로 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262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263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84" name="그룹 283"/>
          <p:cNvGrpSpPr/>
          <p:nvPr/>
        </p:nvGrpSpPr>
        <p:grpSpPr>
          <a:xfrm>
            <a:off x="6258557" y="2983823"/>
            <a:ext cx="94010" cy="47005"/>
            <a:chOff x="6812560" y="3297172"/>
            <a:chExt cx="94010" cy="47005"/>
          </a:xfrm>
        </p:grpSpPr>
        <p:cxnSp>
          <p:nvCxnSpPr>
            <p:cNvPr id="285" name="직선 연결선 28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6" name="직선 연결선 28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78879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88" name="그룹 287"/>
          <p:cNvGrpSpPr/>
          <p:nvPr/>
        </p:nvGrpSpPr>
        <p:grpSpPr>
          <a:xfrm>
            <a:off x="6258557" y="3846295"/>
            <a:ext cx="94010" cy="47005"/>
            <a:chOff x="6812560" y="3297172"/>
            <a:chExt cx="94010" cy="47005"/>
          </a:xfrm>
        </p:grpSpPr>
        <p:cxnSp>
          <p:nvCxnSpPr>
            <p:cNvPr id="289" name="직선 연결선 2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0" name="직선 연결선 2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291" name="그림 29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588682"/>
            <a:ext cx="134873" cy="137278"/>
          </a:xfrm>
          <a:prstGeom prst="rect">
            <a:avLst/>
          </a:prstGeom>
        </p:spPr>
      </p:pic>
      <p:sp>
        <p:nvSpPr>
          <p:cNvPr id="29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58187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14003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35976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99118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96" name="그룹 295"/>
          <p:cNvGrpSpPr/>
          <p:nvPr/>
        </p:nvGrpSpPr>
        <p:grpSpPr>
          <a:xfrm>
            <a:off x="6258557" y="4048684"/>
            <a:ext cx="94010" cy="47005"/>
            <a:chOff x="6812560" y="3297172"/>
            <a:chExt cx="94010" cy="47005"/>
          </a:xfrm>
        </p:grpSpPr>
        <p:cxnSp>
          <p:nvCxnSpPr>
            <p:cNvPr id="297" name="직선 연결선 29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8" name="직선 연결선 29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5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302" name="타원 3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9669" y="253542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070276257"/>
      </p:ext>
    </p:extLst>
  </p:cSld>
  <p:clrMapOvr>
    <a:masterClrMapping/>
  </p:clrMapOvr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</a:t>
            </a:r>
            <a:r>
              <a:rPr lang="ko-KR" altLang="en-US" dirty="0" smtClean="0"/>
              <a:t>정보</a:t>
            </a:r>
            <a:endParaRPr lang="en-US" altLang="ko-KR" dirty="0" smtClean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smtClean="0"/>
              <a:t>연월 정보 입력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백만원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백만원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275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 smtClean="0">
                <a:latin typeface="+mn-ea"/>
              </a:rPr>
              <a:t>unitC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실적정보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70" name="그룹 16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85" name="직선 연결선 18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6" name="직선 연결선 18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71" name="그룹 17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83" name="타원 18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72" name="그룹 17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실적정보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입력</a:t>
              </a:r>
            </a:p>
          </p:txBody>
        </p:sp>
        <p:grpSp>
          <p:nvGrpSpPr>
            <p:cNvPr id="175" name="그룹 17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79" name="타원 17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76" name="그룹 17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77" name="타원 17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87" name="그룹 186"/>
          <p:cNvGrpSpPr/>
          <p:nvPr/>
        </p:nvGrpSpPr>
        <p:grpSpPr>
          <a:xfrm>
            <a:off x="716367" y="1939175"/>
            <a:ext cx="2630093" cy="2682044"/>
            <a:chOff x="720490" y="3930133"/>
            <a:chExt cx="2630093" cy="2682044"/>
          </a:xfrm>
        </p:grpSpPr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비용정보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9" name="그룹 188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1" name="직선 연결선 21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2" name="직선 연결선 21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0" name="직사각형 189"/>
            <p:cNvSpPr/>
            <p:nvPr/>
          </p:nvSpPr>
          <p:spPr>
            <a:xfrm>
              <a:off x="722583" y="4237618"/>
              <a:ext cx="792000" cy="237455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1" name="직선 연결선 1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계약연월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착공연월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준공</a:t>
              </a: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 smtClean="0">
                  <a:latin typeface="+mn-ea"/>
                </a:rPr>
                <a:t>예정</a:t>
              </a:r>
              <a:r>
                <a:rPr lang="en-US" altLang="ko-KR" sz="700" dirty="0" smtClean="0">
                  <a:latin typeface="+mn-ea"/>
                </a:rPr>
                <a:t>)</a:t>
              </a:r>
              <a:r>
                <a:rPr lang="ko-KR" altLang="en-US" sz="700" dirty="0" smtClean="0">
                  <a:latin typeface="+mn-ea"/>
                </a:rPr>
                <a:t>연월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당년도 </a:t>
              </a:r>
              <a:r>
                <a:rPr lang="ko-KR" altLang="en-US" sz="700" dirty="0" err="1" smtClean="0">
                  <a:latin typeface="+mn-ea"/>
                </a:rPr>
                <a:t>기성액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당년도 </a:t>
              </a:r>
              <a:r>
                <a:rPr lang="ko-KR" altLang="en-US" sz="700" dirty="0" err="1" smtClean="0">
                  <a:latin typeface="+mn-ea"/>
                </a:rPr>
                <a:t>기성지급액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총 계약금액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8" name="직선 연결선 1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89478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당년도 </a:t>
              </a:r>
              <a:r>
                <a:rPr lang="ko-KR" altLang="en-US" sz="700" dirty="0" err="1" smtClean="0">
                  <a:latin typeface="+mn-ea"/>
                </a:rPr>
                <a:t>계약액</a:t>
              </a:r>
              <a:r>
                <a:rPr lang="ko-KR" altLang="en-US" sz="700" dirty="0" smtClean="0">
                  <a:latin typeface="+mn-ea"/>
                </a:rPr>
                <a:t> 또는 </a:t>
              </a:r>
              <a:r>
                <a:rPr lang="ko-KR" altLang="en-US" sz="700" dirty="0" err="1" smtClean="0">
                  <a:latin typeface="+mn-ea"/>
                </a:rPr>
                <a:t>이월금액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1641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54782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smtClean="0">
                  <a:latin typeface="+mn-ea"/>
                </a:rPr>
                <a:t>발주자</a:t>
              </a:r>
              <a:endParaRPr lang="en-US" altLang="ko-KR" sz="700" dirty="0" smtClean="0">
                <a:latin typeface="+mn-ea"/>
              </a:endParaRPr>
            </a:p>
            <a:p>
              <a:r>
                <a:rPr lang="ko-KR" altLang="en-US" sz="700" dirty="0" err="1" smtClean="0">
                  <a:latin typeface="+mn-ea"/>
                </a:rPr>
                <a:t>공급자재액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976827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 smtClean="0"/>
                <a:t>누계</a:t>
              </a:r>
              <a:endParaRPr lang="en-US" altLang="ko-KR" sz="700" dirty="0" smtClean="0"/>
            </a:p>
            <a:p>
              <a:r>
                <a:rPr lang="ko-KR" altLang="en-US" sz="700" dirty="0" err="1" smtClean="0"/>
                <a:t>기성액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618569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 smtClean="0"/>
                <a:t>누계</a:t>
              </a:r>
              <a:endParaRPr lang="en-US" altLang="ko-KR" sz="700" dirty="0" smtClean="0"/>
            </a:p>
            <a:p>
              <a:r>
                <a:rPr lang="ko-KR" altLang="en-US" sz="700" dirty="0" smtClean="0"/>
                <a:t>지급액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8" name="직선 연결선 2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39243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9" name="직선 연결선 2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5999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6396733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 smtClean="0"/>
                <a:t>누계</a:t>
              </a:r>
              <a:endParaRPr lang="en-US" altLang="ko-KR" sz="700" dirty="0" smtClean="0"/>
            </a:p>
            <a:p>
              <a:r>
                <a:rPr lang="ko-KR" altLang="en-US" sz="700" dirty="0" err="1" smtClean="0"/>
                <a:t>관급자재액</a:t>
              </a:r>
              <a:endParaRPr lang="en-US" altLang="ko-KR" sz="700" dirty="0">
                <a:latin typeface="+mn-ea"/>
              </a:endParaRPr>
            </a:p>
          </p:txBody>
        </p:sp>
      </p:grp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5398462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14" name="그룹 21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884740"/>
            <a:ext cx="76863" cy="292489"/>
            <a:chOff x="3750067" y="4683795"/>
            <a:chExt cx="76863" cy="292489"/>
          </a:xfrm>
        </p:grpSpPr>
        <p:sp>
          <p:nvSpPr>
            <p:cNvPr id="215" name="타원 21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16" name="타원 21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17" name="타원 21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21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93145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smtClean="0">
                <a:latin typeface="맑은 고딕"/>
                <a:ea typeface="맑은 고딕" panose="020B0503020000020004" pitchFamily="50" charset="-127"/>
              </a:rPr>
              <a:t>1,000 </a:t>
            </a:r>
            <a:r>
              <a:rPr kumimoji="1" lang="ko-KR" altLang="en-US" sz="700" kern="0" dirty="0" smtClean="0">
                <a:latin typeface="맑은 고딕"/>
                <a:ea typeface="맑은 고딕" panose="020B0503020000020004" pitchFamily="50" charset="-127"/>
              </a:rPr>
              <a:t>백만원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1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13918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36644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57417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78104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98877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22188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42961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pic>
        <p:nvPicPr>
          <p:cNvPr id="227" name="그림 226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726942"/>
            <a:ext cx="134873" cy="137278"/>
          </a:xfrm>
          <a:prstGeom prst="rect">
            <a:avLst/>
          </a:prstGeom>
        </p:spPr>
      </p:pic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72013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9" name="그림 22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506510"/>
            <a:ext cx="134873" cy="137278"/>
          </a:xfrm>
          <a:prstGeom prst="rect">
            <a:avLst/>
          </a:prstGeom>
        </p:spPr>
      </p:pic>
      <p:sp>
        <p:nvSpPr>
          <p:cNvPr id="23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49970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31" name="그림 23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292516"/>
            <a:ext cx="134873" cy="137278"/>
          </a:xfrm>
          <a:prstGeom prst="rect">
            <a:avLst/>
          </a:prstGeom>
        </p:spPr>
      </p:pic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28571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42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744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33" name="타원 23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397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grpSp>
        <p:nvGrpSpPr>
          <p:cNvPr id="234" name="그룹 233"/>
          <p:cNvGrpSpPr/>
          <p:nvPr/>
        </p:nvGrpSpPr>
        <p:grpSpPr>
          <a:xfrm>
            <a:off x="3795734" y="1931645"/>
            <a:ext cx="2712027" cy="792634"/>
            <a:chOff x="675399" y="1544009"/>
            <a:chExt cx="2712027" cy="792634"/>
          </a:xfrm>
        </p:grpSpPr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그 밖의 사항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공사의 규모 공법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공통 </a:t>
              </a:r>
              <a:r>
                <a:rPr lang="ko-KR" altLang="en-US" sz="700" dirty="0" err="1">
                  <a:latin typeface="+mn-ea"/>
                </a:rPr>
                <a:t>도급내역</a:t>
              </a:r>
              <a:r>
                <a:rPr lang="ko-KR" altLang="en-US" sz="700" dirty="0">
                  <a:latin typeface="+mn-ea"/>
                </a:rPr>
                <a:t> 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36" name="그룹 235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41" name="직선 연결선 24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65" name="직선 연결선 26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37" name="직선 연결선 2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6643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0" name="직선 연결선 2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54084" y="2250601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2616353341"/>
      </p:ext>
    </p:extLst>
  </p:cSld>
  <p:clrMapOvr>
    <a:masterClrMapping/>
  </p:clrMapOvr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D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4.</a:t>
            </a:r>
            <a:r>
              <a:rPr lang="ko-KR" altLang="en-US" dirty="0" err="1"/>
              <a:t>건설폐기물처리용역이행</a:t>
            </a:r>
            <a:r>
              <a:rPr lang="ko-KR" altLang="en-US" dirty="0"/>
              <a:t> 실적증명서 </a:t>
            </a:r>
            <a:r>
              <a:rPr lang="en-US" altLang="ko-KR" dirty="0"/>
              <a:t>[</a:t>
            </a:r>
            <a:r>
              <a:rPr lang="ko-KR" altLang="en-US" dirty="0"/>
              <a:t>건설폐기물처리용역 </a:t>
            </a:r>
            <a:r>
              <a:rPr lang="ko-KR" altLang="en-US" dirty="0" err="1"/>
              <a:t>적격업체</a:t>
            </a:r>
            <a:r>
              <a:rPr lang="ko-KR" altLang="en-US" dirty="0"/>
              <a:t> 평가기준</a:t>
            </a:r>
            <a:r>
              <a:rPr lang="en-US" altLang="ko-KR" dirty="0"/>
              <a:t>/</a:t>
            </a:r>
            <a:r>
              <a:rPr lang="ko-KR" altLang="en-US" dirty="0"/>
              <a:t>환경부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smtClean="0"/>
              <a:t>세부 정보</a:t>
            </a:r>
            <a:endParaRPr lang="en-US" altLang="ko-KR" dirty="0" smtClean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smtClean="0"/>
              <a:t>수집</a:t>
            </a:r>
            <a:r>
              <a:rPr lang="en-US" altLang="ko-KR" dirty="0" smtClean="0"/>
              <a:t>/</a:t>
            </a:r>
            <a:r>
              <a:rPr lang="ko-KR" altLang="en-US" dirty="0" smtClean="0"/>
              <a:t>운반 실적 표 </a:t>
            </a:r>
            <a:r>
              <a:rPr lang="en-US" altLang="ko-KR" dirty="0" smtClean="0"/>
              <a:t>3</a:t>
            </a:r>
            <a:r>
              <a:rPr lang="ko-KR" altLang="en-US" dirty="0" smtClean="0"/>
              <a:t>개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연도 선택</a:t>
            </a:r>
            <a:endParaRPr lang="en-US" altLang="ko-KR" dirty="0" smtClean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smtClean="0"/>
              <a:t>단위 입력 시 단위 </a:t>
            </a:r>
            <a:r>
              <a:rPr lang="en-US" altLang="ko-KR" dirty="0" smtClean="0"/>
              <a:t>– [</a:t>
            </a:r>
            <a:r>
              <a:rPr lang="ko-KR" altLang="en-US" dirty="0" smtClean="0"/>
              <a:t>천원</a:t>
            </a:r>
            <a:r>
              <a:rPr lang="en-US" altLang="ko-KR" dirty="0" smtClean="0"/>
              <a:t>]</a:t>
            </a:r>
            <a:r>
              <a:rPr lang="ko-KR" altLang="en-US" dirty="0" smtClean="0"/>
              <a:t>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ex) 1,000 </a:t>
            </a:r>
            <a:r>
              <a:rPr lang="ko-KR" altLang="en-US" dirty="0" smtClean="0"/>
              <a:t>천원</a:t>
            </a:r>
            <a:endParaRPr lang="en-US" altLang="ko-KR" dirty="0" smtClean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smtClean="0"/>
              <a:t>중간처리용역 </a:t>
            </a:r>
            <a:r>
              <a:rPr lang="ko-KR" altLang="en-US" dirty="0"/>
              <a:t>실적 표 </a:t>
            </a:r>
            <a:r>
              <a:rPr lang="en-US" altLang="ko-KR" dirty="0"/>
              <a:t>3</a:t>
            </a:r>
            <a:r>
              <a:rPr lang="ko-KR" altLang="en-US" dirty="0"/>
              <a:t>개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연도 선택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276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 smtClean="0">
                <a:latin typeface="+mn-ea"/>
              </a:rPr>
              <a:t>unitD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 smtClean="0">
                <a:latin typeface="+mn-ea"/>
              </a:rPr>
              <a:t>실적정보</a:t>
            </a:r>
            <a:r>
              <a:rPr lang="ko-KR" altLang="en-US" sz="900" dirty="0" smtClean="0">
                <a:latin typeface="+mn-ea"/>
              </a:rPr>
              <a:t> 입력</a:t>
            </a:r>
            <a:endParaRPr lang="ko-KR" altLang="en-US" sz="900" dirty="0">
              <a:latin typeface="+mn-ea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실적 정보를 입력해주시길 바랍니다</a:t>
            </a:r>
            <a:r>
              <a:rPr lang="en-US" altLang="ko-KR" sz="700" dirty="0" smtClean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실적정보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실적정보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38" name="그룹 137"/>
          <p:cNvGrpSpPr/>
          <p:nvPr/>
        </p:nvGrpSpPr>
        <p:grpSpPr>
          <a:xfrm>
            <a:off x="3836701" y="1952113"/>
            <a:ext cx="2630093" cy="2031034"/>
            <a:chOff x="720490" y="3930133"/>
            <a:chExt cx="2630093" cy="2031034"/>
          </a:xfrm>
        </p:grpSpPr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220809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                </a:t>
              </a:r>
              <a:r>
                <a:rPr lang="ko-KR" altLang="en-US" sz="700" dirty="0" smtClean="0">
                  <a:latin typeface="+mn-ea"/>
                </a:rPr>
                <a:t>년도 </a:t>
              </a:r>
              <a:r>
                <a:rPr lang="ko-KR" altLang="en-US" sz="700" dirty="0">
                  <a:latin typeface="+mn-ea"/>
                </a:rPr>
                <a:t>건설폐기물 수집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운반용역</a:t>
              </a:r>
              <a:r>
                <a:rPr lang="ko-KR" altLang="en-US" sz="700" dirty="0">
                  <a:latin typeface="+mn-ea"/>
                </a:rPr>
                <a:t> 이행실적</a:t>
              </a:r>
            </a:p>
          </p:txBody>
        </p:sp>
        <p:grpSp>
          <p:nvGrpSpPr>
            <p:cNvPr id="163" name="그룹 162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183" name="직선 연결선 18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4" name="직선 연결선 18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0" name="직사각형 169"/>
            <p:cNvSpPr/>
            <p:nvPr/>
          </p:nvSpPr>
          <p:spPr>
            <a:xfrm>
              <a:off x="722583" y="4237619"/>
              <a:ext cx="792000" cy="171944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용역명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계약기간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건설폐기물의종류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위탁량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 smtClean="0">
                  <a:latin typeface="+mn-ea"/>
                </a:rPr>
                <a:t>톤</a:t>
              </a:r>
              <a:r>
                <a:rPr lang="en-US" altLang="ko-KR" sz="700" dirty="0" smtClean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기성실적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비고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5" name="그룹 184"/>
          <p:cNvGrpSpPr/>
          <p:nvPr/>
        </p:nvGrpSpPr>
        <p:grpSpPr>
          <a:xfrm>
            <a:off x="720490" y="2860457"/>
            <a:ext cx="2630093" cy="1393412"/>
            <a:chOff x="720490" y="2590223"/>
            <a:chExt cx="2630093" cy="1393412"/>
          </a:xfrm>
        </p:grpSpPr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신청인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7" name="그룹 186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97" name="직선 연결선 19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98" name="직선 연결선 19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8" name="직사각형 187"/>
            <p:cNvSpPr/>
            <p:nvPr/>
          </p:nvSpPr>
          <p:spPr>
            <a:xfrm>
              <a:off x="722583" y="2897709"/>
              <a:ext cx="792000" cy="108469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9" name="직선 연결선 1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허가번호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solidFill>
                  <a:srgbClr val="FF0000"/>
                </a:solidFill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소재지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증명서 </a:t>
              </a:r>
              <a:r>
                <a:rPr lang="ko-KR" altLang="en-US" sz="700" dirty="0">
                  <a:latin typeface="+mn-ea"/>
                </a:rPr>
                <a:t>용도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</a:t>
              </a:r>
              <a:r>
                <a:rPr lang="ko-KR" altLang="en-US" sz="700" dirty="0">
                  <a:latin typeface="+mn-ea"/>
                </a:rPr>
                <a:t>종로구</a:t>
              </a:r>
              <a:r>
                <a:rPr lang="en-US" altLang="ko-KR" sz="700" dirty="0" smtClean="0">
                  <a:latin typeface="+mn-ea"/>
                </a:rPr>
                <a:t>…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ko-KR" altLang="en-US" sz="700" dirty="0" smtClean="0">
                <a:latin typeface="+mn-ea"/>
              </a:endParaRPr>
            </a:p>
          </p:txBody>
        </p:sp>
        <p:cxnSp>
          <p:nvCxnSpPr>
            <p:cNvPr id="192" name="직선 연결선 1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836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99" name="직선 연결선 19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041977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42993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0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06547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0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36701" y="2005971"/>
            <a:ext cx="54324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03" name="그룹 202"/>
          <p:cNvGrpSpPr/>
          <p:nvPr/>
        </p:nvGrpSpPr>
        <p:grpSpPr>
          <a:xfrm>
            <a:off x="4247045" y="2063468"/>
            <a:ext cx="94010" cy="47005"/>
            <a:chOff x="6812560" y="3297172"/>
            <a:chExt cx="94010" cy="47005"/>
          </a:xfrm>
        </p:grpSpPr>
        <p:cxnSp>
          <p:nvCxnSpPr>
            <p:cNvPr id="205" name="직선 연결선 20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06" name="직선 연결선 20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37322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0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28963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09" name="그림 20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519260"/>
            <a:ext cx="134873" cy="137278"/>
          </a:xfrm>
          <a:prstGeom prst="rect">
            <a:avLst/>
          </a:prstGeom>
        </p:spPr>
      </p:pic>
      <p:sp>
        <p:nvSpPr>
          <p:cNvPr id="21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251245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11" name="그림 21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733412"/>
            <a:ext cx="134873" cy="137278"/>
          </a:xfrm>
          <a:prstGeom prst="rect">
            <a:avLst/>
          </a:prstGeom>
        </p:spPr>
      </p:pic>
      <p:sp>
        <p:nvSpPr>
          <p:cNvPr id="21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272660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1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3825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1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58835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1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80313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1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15258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톤 단위로 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17" name="그룹 216"/>
          <p:cNvGrpSpPr/>
          <p:nvPr/>
        </p:nvGrpSpPr>
        <p:grpSpPr>
          <a:xfrm>
            <a:off x="3836701" y="4116532"/>
            <a:ext cx="2630093" cy="2031034"/>
            <a:chOff x="720490" y="3930133"/>
            <a:chExt cx="2630093" cy="2031034"/>
          </a:xfrm>
        </p:grpSpPr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220809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                </a:t>
              </a:r>
              <a:r>
                <a:rPr lang="ko-KR" altLang="en-US" sz="700" dirty="0" smtClean="0">
                  <a:latin typeface="+mn-ea"/>
                </a:rPr>
                <a:t>년도 </a:t>
              </a:r>
              <a:r>
                <a:rPr lang="ko-KR" altLang="en-US" sz="700" dirty="0">
                  <a:latin typeface="+mn-ea"/>
                </a:rPr>
                <a:t>건설폐기물 중간처리용역 이행실적</a:t>
              </a:r>
            </a:p>
          </p:txBody>
        </p:sp>
        <p:grpSp>
          <p:nvGrpSpPr>
            <p:cNvPr id="219" name="그룹 218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32" name="직선 연결선 23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33" name="직선 연결선 23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20" name="직사각형 219"/>
            <p:cNvSpPr/>
            <p:nvPr/>
          </p:nvSpPr>
          <p:spPr>
            <a:xfrm>
              <a:off x="722583" y="4237619"/>
              <a:ext cx="792000" cy="171944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용역명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계약기간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건설폐기물의종류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위탁량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 smtClean="0">
                  <a:latin typeface="+mn-ea"/>
                </a:rPr>
                <a:t>톤</a:t>
              </a:r>
              <a:r>
                <a:rPr lang="en-US" altLang="ko-KR" sz="700" dirty="0" smtClean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기성실적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비고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4" name="직선 연결선 2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6" name="직선 연결선 2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7" name="직선 연결선 22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8" name="직선 연결선 2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9" name="직선 연결선 2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0" name="직선 연결선 2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1" name="직선 연결선 2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6206396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3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36701" y="4170390"/>
            <a:ext cx="54324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36" name="그룹 235"/>
          <p:cNvGrpSpPr/>
          <p:nvPr/>
        </p:nvGrpSpPr>
        <p:grpSpPr>
          <a:xfrm>
            <a:off x="4247045" y="4227887"/>
            <a:ext cx="94010" cy="47005"/>
            <a:chOff x="6812560" y="3297172"/>
            <a:chExt cx="94010" cy="47005"/>
          </a:xfrm>
        </p:grpSpPr>
        <p:cxnSp>
          <p:nvCxnSpPr>
            <p:cNvPr id="237" name="직선 연결선 23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40" name="직선 연결선 23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4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553764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445405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66" name="그림 265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4683679"/>
            <a:ext cx="134873" cy="137278"/>
          </a:xfrm>
          <a:prstGeom prst="rect">
            <a:avLst/>
          </a:prstGeom>
        </p:spPr>
      </p:pic>
      <p:sp>
        <p:nvSpPr>
          <p:cNvPr id="26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467687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68" name="그림 267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4897831"/>
            <a:ext cx="134873" cy="137278"/>
          </a:xfrm>
          <a:prstGeom prst="rect">
            <a:avLst/>
          </a:prstGeom>
        </p:spPr>
      </p:pic>
      <p:sp>
        <p:nvSpPr>
          <p:cNvPr id="26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48910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7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510267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7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575277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7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596755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7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531700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톤 단위로 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74" name="타원 27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89389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75" name="타원 27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7084" y="186969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276" name="타원 2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7084" y="336643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277" name="타원 27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7084" y="407459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188995832"/>
      </p:ext>
    </p:extLst>
  </p:cSld>
  <p:clrMapOvr>
    <a:masterClrMapping/>
  </p:clrMapOvr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8" name="그룹 137"/>
          <p:cNvGrpSpPr/>
          <p:nvPr/>
        </p:nvGrpSpPr>
        <p:grpSpPr>
          <a:xfrm>
            <a:off x="3795734" y="1939881"/>
            <a:ext cx="2712026" cy="2290159"/>
            <a:chOff x="3795734" y="2590223"/>
            <a:chExt cx="2712026" cy="2290159"/>
          </a:xfrm>
        </p:grpSpPr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공사내역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63" name="그룹 162"/>
            <p:cNvGrpSpPr/>
            <p:nvPr/>
          </p:nvGrpSpPr>
          <p:grpSpPr>
            <a:xfrm flipV="1">
              <a:off x="6259759" y="2703554"/>
              <a:ext cx="94010" cy="47005"/>
              <a:chOff x="6812560" y="3297172"/>
              <a:chExt cx="94010" cy="47005"/>
            </a:xfrm>
          </p:grpSpPr>
          <p:cxnSp>
            <p:nvCxnSpPr>
              <p:cNvPr id="185" name="직선 연결선 18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6" name="직선 연결선 18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0" name="직사각형 169"/>
            <p:cNvSpPr/>
            <p:nvPr/>
          </p:nvSpPr>
          <p:spPr>
            <a:xfrm>
              <a:off x="3838794" y="2897709"/>
              <a:ext cx="792000" cy="193225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897708"/>
              <a:ext cx="79200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공사명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계약연월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착공연월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준공연월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전년도 </a:t>
              </a:r>
              <a:r>
                <a:rPr lang="ko-KR" altLang="en-US" sz="700" dirty="0" err="1" smtClean="0">
                  <a:latin typeface="+mn-ea"/>
                </a:rPr>
                <a:t>이월공사액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 smtClean="0">
                  <a:latin typeface="+mn-ea"/>
                </a:rPr>
                <a:t>계약액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당년도 </a:t>
              </a:r>
              <a:r>
                <a:rPr lang="ko-KR" altLang="en-US" sz="700" dirty="0" err="1" smtClean="0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 smtClean="0">
                  <a:latin typeface="+mn-ea"/>
                </a:rPr>
                <a:t>미기성액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하도급 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897708"/>
              <a:ext cx="17840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/>
                <a:t>공사 명칭 표시 영역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4880382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4" name="직선 연결선 1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829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E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6.</a:t>
            </a:r>
            <a:r>
              <a:rPr lang="ko-KR" altLang="en-US" dirty="0"/>
              <a:t>정보통신공사 실적증명서 </a:t>
            </a:r>
            <a:r>
              <a:rPr lang="en-US" altLang="ko-KR" dirty="0"/>
              <a:t>[</a:t>
            </a:r>
            <a:r>
              <a:rPr lang="ko-KR" altLang="en-US" dirty="0"/>
              <a:t>정보통신공사업법 시행에 관한 규정</a:t>
            </a:r>
            <a:r>
              <a:rPr lang="en-US" altLang="ko-KR" dirty="0"/>
              <a:t>/</a:t>
            </a:r>
            <a:r>
              <a:rPr lang="ko-KR" altLang="en-US" dirty="0"/>
              <a:t>전기공제조합</a:t>
            </a:r>
            <a:r>
              <a:rPr lang="en-US" altLang="ko-KR" dirty="0"/>
              <a:t>] 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</a:t>
            </a:r>
            <a:r>
              <a:rPr lang="ko-KR" altLang="en-US" dirty="0" smtClean="0"/>
              <a:t>정보</a:t>
            </a:r>
            <a:endParaRPr lang="en-US" altLang="ko-KR" dirty="0" smtClean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천원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천원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277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 smtClean="0">
                <a:latin typeface="+mn-ea"/>
              </a:rPr>
              <a:t>unitE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 smtClean="0">
                <a:latin typeface="+mn-ea"/>
              </a:rPr>
              <a:t>실적정보</a:t>
            </a:r>
            <a:r>
              <a:rPr lang="ko-KR" altLang="en-US" sz="900" dirty="0" smtClean="0">
                <a:latin typeface="+mn-ea"/>
              </a:rPr>
              <a:t> 입력</a:t>
            </a:r>
            <a:endParaRPr lang="ko-KR" altLang="en-US" sz="900" dirty="0">
              <a:latin typeface="+mn-ea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실적 정보를 입력해주시길 바랍니다</a:t>
            </a:r>
            <a:r>
              <a:rPr lang="en-US" altLang="ko-KR" sz="700" dirty="0" smtClean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실적정보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실적정보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247" name="그룹 246"/>
          <p:cNvGrpSpPr/>
          <p:nvPr/>
        </p:nvGrpSpPr>
        <p:grpSpPr>
          <a:xfrm>
            <a:off x="720490" y="2873472"/>
            <a:ext cx="2630093" cy="1179711"/>
            <a:chOff x="720490" y="2590223"/>
            <a:chExt cx="2630093" cy="1179711"/>
          </a:xfrm>
        </p:grpSpPr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신청인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49" name="그룹 248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258" name="직선 연결선 2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9" name="직선 연결선 2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50" name="직사각형 249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1" name="직선 연결선 2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영업소재지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등록번호 </a:t>
              </a:r>
              <a:r>
                <a:rPr lang="en-US" altLang="ko-KR" sz="700" dirty="0" smtClean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</a:t>
              </a:r>
              <a:r>
                <a:rPr lang="ko-KR" altLang="en-US" sz="700" dirty="0">
                  <a:latin typeface="+mn-ea"/>
                </a:rPr>
                <a:t>종로구</a:t>
              </a:r>
              <a:r>
                <a:rPr lang="en-US" altLang="ko-KR" sz="700" dirty="0" smtClean="0">
                  <a:latin typeface="+mn-ea"/>
                </a:rPr>
                <a:t>…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86451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50530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6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262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263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8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78879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9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58187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9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14003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700" kern="0" dirty="0" smtClean="0"/>
              <a:t>1,000 </a:t>
            </a:r>
            <a:r>
              <a:rPr kumimoji="1" lang="ko-KR" altLang="en-US" sz="700" kern="0" dirty="0" smtClean="0"/>
              <a:t>천원</a:t>
            </a:r>
            <a:endParaRPr kumimoji="1" lang="en-US" altLang="ko-KR" sz="700" kern="0" dirty="0"/>
          </a:p>
        </p:txBody>
      </p:sp>
      <p:sp>
        <p:nvSpPr>
          <p:cNvPr id="29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35976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9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99118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5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302" name="타원 3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9669" y="315111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pic>
        <p:nvPicPr>
          <p:cNvPr id="187" name="그림 186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518858"/>
            <a:ext cx="134873" cy="137278"/>
          </a:xfrm>
          <a:prstGeom prst="rect">
            <a:avLst/>
          </a:prstGeom>
        </p:spPr>
      </p:pic>
      <p:pic>
        <p:nvPicPr>
          <p:cNvPr id="188" name="그림 187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725180"/>
            <a:ext cx="134873" cy="137278"/>
          </a:xfrm>
          <a:prstGeom prst="rect">
            <a:avLst/>
          </a:prstGeom>
        </p:spPr>
      </p:pic>
      <p:pic>
        <p:nvPicPr>
          <p:cNvPr id="190" name="그림 189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932670"/>
            <a:ext cx="134873" cy="13727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56679074"/>
      </p:ext>
    </p:extLst>
  </p:cSld>
  <p:clrMapOvr>
    <a:masterClrMapping/>
  </p:clrMapOvr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F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7.</a:t>
            </a:r>
            <a:r>
              <a:rPr lang="ko-KR" altLang="en-US" dirty="0"/>
              <a:t>소방시설공사 실적증명서 </a:t>
            </a:r>
            <a:r>
              <a:rPr lang="en-US" altLang="ko-KR" dirty="0"/>
              <a:t>[</a:t>
            </a:r>
            <a:r>
              <a:rPr lang="ko-KR" altLang="en-US" dirty="0"/>
              <a:t>소방시설공사업법 시행에 관한 규정</a:t>
            </a:r>
            <a:r>
              <a:rPr lang="en-US" altLang="ko-KR" dirty="0"/>
              <a:t>/</a:t>
            </a:r>
            <a:r>
              <a:rPr lang="ko-KR" altLang="en-US" dirty="0"/>
              <a:t>소방시설협회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smtClean="0"/>
              <a:t>세부 정보</a:t>
            </a:r>
            <a:endParaRPr lang="en-US" altLang="ko-KR" dirty="0" smtClean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천원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천원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278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 smtClean="0">
                <a:latin typeface="+mn-ea"/>
              </a:rPr>
              <a:t>unitF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 smtClean="0">
                <a:latin typeface="+mn-ea"/>
              </a:rPr>
              <a:t>실적정보</a:t>
            </a:r>
            <a:r>
              <a:rPr lang="ko-KR" altLang="en-US" sz="900" dirty="0" smtClean="0">
                <a:latin typeface="+mn-ea"/>
              </a:rPr>
              <a:t> 입력</a:t>
            </a:r>
            <a:endParaRPr lang="ko-KR" altLang="en-US" sz="900" dirty="0">
              <a:latin typeface="+mn-ea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실적 정보를 입력해주시길 바랍니다</a:t>
            </a:r>
            <a:r>
              <a:rPr lang="en-US" altLang="ko-KR" sz="700" dirty="0" smtClean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실적정보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실적정보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5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grpSp>
        <p:nvGrpSpPr>
          <p:cNvPr id="156" name="그룹 155"/>
          <p:cNvGrpSpPr/>
          <p:nvPr/>
        </p:nvGrpSpPr>
        <p:grpSpPr>
          <a:xfrm>
            <a:off x="720490" y="2863519"/>
            <a:ext cx="2630093" cy="1179711"/>
            <a:chOff x="720490" y="2590223"/>
            <a:chExt cx="2630093" cy="1179711"/>
          </a:xfrm>
        </p:grpSpPr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신청인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59" name="그룹 158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74" name="직선 연결선 17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9" name="직선 연결선 18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영업소 소재지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02-1234-5678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</a:t>
              </a:r>
              <a:r>
                <a:rPr lang="ko-KR" altLang="en-US" sz="700" dirty="0">
                  <a:latin typeface="+mn-ea"/>
                </a:rPr>
                <a:t>종로구</a:t>
              </a:r>
              <a:r>
                <a:rPr lang="en-US" altLang="ko-KR" sz="700" dirty="0" smtClean="0">
                  <a:latin typeface="+mn-ea"/>
                </a:rPr>
                <a:t>…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91" name="그룹 190"/>
          <p:cNvGrpSpPr/>
          <p:nvPr/>
        </p:nvGrpSpPr>
        <p:grpSpPr>
          <a:xfrm>
            <a:off x="3795734" y="1940948"/>
            <a:ext cx="2712026" cy="2943301"/>
            <a:chOff x="3795734" y="2590223"/>
            <a:chExt cx="2712026" cy="2943301"/>
          </a:xfrm>
        </p:grpSpPr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소방시설 </a:t>
              </a:r>
              <a:r>
                <a:rPr lang="ko-KR" altLang="en-US" sz="700" dirty="0" err="1" smtClean="0">
                  <a:latin typeface="+mn-ea"/>
                </a:rPr>
                <a:t>공사내역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93" name="그룹 192"/>
            <p:cNvGrpSpPr/>
            <p:nvPr/>
          </p:nvGrpSpPr>
          <p:grpSpPr>
            <a:xfrm flipV="1">
              <a:off x="6259759" y="2703554"/>
              <a:ext cx="94010" cy="47005"/>
              <a:chOff x="6812560" y="3297172"/>
              <a:chExt cx="94010" cy="47005"/>
            </a:xfrm>
          </p:grpSpPr>
          <p:cxnSp>
            <p:nvCxnSpPr>
              <p:cNvPr id="211" name="직선 연결선 21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2" name="직선 연결선 21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4" name="직사각형 193"/>
            <p:cNvSpPr/>
            <p:nvPr/>
          </p:nvSpPr>
          <p:spPr>
            <a:xfrm>
              <a:off x="3838794" y="2897709"/>
              <a:ext cx="792000" cy="258532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897708"/>
              <a:ext cx="792000" cy="258532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공사명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공사현장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공사지역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발주자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원도급자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계약체결일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착공일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준공일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도급종류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공사종류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897708"/>
              <a:ext cx="17840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/>
                <a:t>공사 명칭 표시 영역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8" name="직선 연결선 1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9" name="직선 연결선 1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5" name="직선 연결선 2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6" name="직선 연결선 2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5533524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7" name="직선 연결선 2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829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8" name="직선 연결선 2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05409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9" name="직선 연결선 2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26158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0" name="직선 연결선 2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47439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1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262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1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5054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15" name="그룹 214"/>
          <p:cNvGrpSpPr/>
          <p:nvPr/>
        </p:nvGrpSpPr>
        <p:grpSpPr>
          <a:xfrm>
            <a:off x="6258557" y="2562978"/>
            <a:ext cx="94010" cy="47005"/>
            <a:chOff x="6812560" y="3297172"/>
            <a:chExt cx="94010" cy="47005"/>
          </a:xfrm>
        </p:grpSpPr>
        <p:cxnSp>
          <p:nvCxnSpPr>
            <p:cNvPr id="216" name="직선 연결선 21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7" name="직선 연결선 21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218" name="그림 217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588682"/>
            <a:ext cx="134873" cy="137278"/>
          </a:xfrm>
          <a:prstGeom prst="rect">
            <a:avLst/>
          </a:prstGeom>
        </p:spPr>
      </p:pic>
      <p:sp>
        <p:nvSpPr>
          <p:cNvPr id="21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58187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0" name="그림 219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789939"/>
            <a:ext cx="134873" cy="137278"/>
          </a:xfrm>
          <a:prstGeom prst="rect">
            <a:avLst/>
          </a:prstGeom>
        </p:spPr>
      </p:pic>
      <p:sp>
        <p:nvSpPr>
          <p:cNvPr id="2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78313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2" name="그림 221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997429"/>
            <a:ext cx="134873" cy="137278"/>
          </a:xfrm>
          <a:prstGeom prst="rect">
            <a:avLst/>
          </a:prstGeom>
        </p:spPr>
      </p:pic>
      <p:sp>
        <p:nvSpPr>
          <p:cNvPr id="22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99062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2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421059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25" name="그룹 224"/>
          <p:cNvGrpSpPr/>
          <p:nvPr/>
        </p:nvGrpSpPr>
        <p:grpSpPr>
          <a:xfrm>
            <a:off x="6258557" y="4268094"/>
            <a:ext cx="94010" cy="47005"/>
            <a:chOff x="6812560" y="3297172"/>
            <a:chExt cx="94010" cy="47005"/>
          </a:xfrm>
        </p:grpSpPr>
        <p:cxnSp>
          <p:nvCxnSpPr>
            <p:cNvPr id="226" name="직선 연결선 22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7" name="직선 연결선 22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442504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29" name="그룹 228"/>
          <p:cNvGrpSpPr/>
          <p:nvPr/>
        </p:nvGrpSpPr>
        <p:grpSpPr>
          <a:xfrm>
            <a:off x="6258557" y="4482543"/>
            <a:ext cx="94010" cy="47005"/>
            <a:chOff x="6812560" y="3297172"/>
            <a:chExt cx="94010" cy="47005"/>
          </a:xfrm>
        </p:grpSpPr>
        <p:cxnSp>
          <p:nvCxnSpPr>
            <p:cNvPr id="230" name="직선 연결선 22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31" name="직선 연결선 23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463252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33" name="그룹 232"/>
          <p:cNvGrpSpPr/>
          <p:nvPr/>
        </p:nvGrpSpPr>
        <p:grpSpPr>
          <a:xfrm>
            <a:off x="6258557" y="4690024"/>
            <a:ext cx="94010" cy="47005"/>
            <a:chOff x="6812560" y="3297172"/>
            <a:chExt cx="94010" cy="47005"/>
          </a:xfrm>
        </p:grpSpPr>
        <p:cxnSp>
          <p:nvCxnSpPr>
            <p:cNvPr id="234" name="직선 연결선 23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35" name="직선 연결선 23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3325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13327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36017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</p:spTree>
    <p:extLst>
      <p:ext uri="{BB962C8B-B14F-4D97-AF65-F5344CB8AC3E}">
        <p14:creationId xmlns:p14="http://schemas.microsoft.com/office/powerpoint/2010/main" val="2937845073"/>
      </p:ext>
    </p:extLst>
  </p:cSld>
  <p:clrMapOvr>
    <a:masterClrMapping/>
  </p:clrMapOvr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</a:t>
            </a:r>
            <a:r>
              <a:rPr lang="ko-KR" altLang="en-US" dirty="0" smtClean="0"/>
              <a:t>정보</a:t>
            </a:r>
            <a:endParaRPr lang="en-US" altLang="ko-KR" dirty="0" smtClean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smtClean="0"/>
              <a:t>단위 </a:t>
            </a:r>
            <a:r>
              <a:rPr lang="ko-KR" altLang="en-US" dirty="0"/>
              <a:t>입력 시 단위 </a:t>
            </a:r>
            <a:r>
              <a:rPr lang="en-US" altLang="ko-KR" dirty="0"/>
              <a:t>– </a:t>
            </a:r>
            <a:r>
              <a:rPr lang="en-US" altLang="ko-KR" dirty="0" smtClean="0"/>
              <a:t>[</a:t>
            </a:r>
            <a:r>
              <a:rPr lang="ko-KR" altLang="en-US" dirty="0" smtClean="0"/>
              <a:t>천원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 smtClean="0"/>
              <a:t>천원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279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unitF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실적정보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70" name="그룹 16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85" name="직선 연결선 18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6" name="직선 연결선 18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71" name="그룹 17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83" name="타원 18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72" name="그룹 17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실적정보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입력</a:t>
              </a:r>
            </a:p>
          </p:txBody>
        </p:sp>
        <p:grpSp>
          <p:nvGrpSpPr>
            <p:cNvPr id="175" name="그룹 17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79" name="타원 17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76" name="그룹 17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77" name="타원 17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42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07" name="그룹 106"/>
          <p:cNvGrpSpPr/>
          <p:nvPr/>
        </p:nvGrpSpPr>
        <p:grpSpPr>
          <a:xfrm>
            <a:off x="675399" y="1941793"/>
            <a:ext cx="2712026" cy="2316283"/>
            <a:chOff x="675399" y="2590223"/>
            <a:chExt cx="2712026" cy="2316283"/>
          </a:xfrm>
        </p:grpSpPr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소방시설 공사실적 </a:t>
              </a:r>
              <a:r>
                <a:rPr lang="ko-KR" altLang="en-US" sz="700" dirty="0" smtClean="0">
                  <a:latin typeface="+mn-ea"/>
                </a:rPr>
                <a:t>금액 </a:t>
              </a: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109" name="그룹 108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126" name="직선 연결선 12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7" name="직선 연결선 12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0" name="직사각형 109"/>
            <p:cNvSpPr/>
            <p:nvPr/>
          </p:nvSpPr>
          <p:spPr>
            <a:xfrm>
              <a:off x="718459" y="2897709"/>
              <a:ext cx="792000" cy="193225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</a:t>
              </a:r>
              <a:r>
                <a:rPr lang="ko-KR" altLang="en-US" sz="700" dirty="0" smtClean="0">
                  <a:latin typeface="+mn-ea"/>
                </a:rPr>
                <a:t>도급계약금액</a:t>
              </a:r>
              <a:endParaRPr lang="en-US" altLang="ko-KR" sz="700" dirty="0" smtClean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endParaRPr lang="en-US" altLang="ko-KR" sz="700" dirty="0" smtClean="0"/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계약액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미기성액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</a:t>
              </a:r>
              <a:r>
                <a:rPr lang="ko-KR" altLang="en-US" sz="700" dirty="0" err="1">
                  <a:latin typeface="+mn-ea"/>
                </a:rPr>
                <a:t>업체명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등록번호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</a:t>
              </a:r>
              <a:r>
                <a:rPr lang="ko-KR" altLang="en-US" sz="700" dirty="0" smtClean="0">
                  <a:latin typeface="+mn-ea"/>
                </a:rPr>
                <a:t>금액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906506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829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313066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/>
              <a:r>
                <a:rPr lang="ko-KR" altLang="en-US" sz="700" dirty="0" smtClean="0"/>
                <a:t>전년까지의 </a:t>
              </a:r>
              <a:endParaRPr lang="en-US" altLang="ko-KR" sz="700" dirty="0" smtClean="0"/>
            </a:p>
            <a:p>
              <a:pPr lvl="0"/>
              <a:r>
                <a:rPr lang="ko-KR" altLang="en-US" sz="700" dirty="0" smtClean="0"/>
                <a:t>누계 </a:t>
              </a:r>
              <a:r>
                <a:rPr lang="ko-KR" altLang="en-US" sz="700" dirty="0" err="1" smtClean="0"/>
                <a:t>기성액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3347833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 defTabSz="1013612">
                <a:defRPr/>
              </a:pPr>
              <a:r>
                <a:rPr lang="ko-KR" altLang="en-US" sz="700" dirty="0"/>
                <a:t>전년까지의 </a:t>
              </a:r>
              <a:endParaRPr lang="en-US" altLang="ko-KR" sz="700" dirty="0" smtClean="0"/>
            </a:p>
            <a:p>
              <a:pPr lvl="0" defTabSz="1013612">
                <a:defRPr/>
              </a:pPr>
              <a:r>
                <a:rPr lang="ko-KR" altLang="en-US" sz="700" dirty="0" err="1" smtClean="0"/>
                <a:t>미기성액</a:t>
              </a:r>
              <a:endParaRPr lang="ko-KR" altLang="en-US" sz="700" dirty="0"/>
            </a:p>
          </p:txBody>
        </p:sp>
      </p:grpSp>
      <p:grpSp>
        <p:nvGrpSpPr>
          <p:cNvPr id="128" name="그룹 127"/>
          <p:cNvGrpSpPr/>
          <p:nvPr/>
        </p:nvGrpSpPr>
        <p:grpSpPr>
          <a:xfrm>
            <a:off x="3795735" y="1941793"/>
            <a:ext cx="2712026" cy="2142112"/>
            <a:chOff x="675399" y="2590223"/>
            <a:chExt cx="2712026" cy="2142112"/>
          </a:xfrm>
        </p:grpSpPr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7589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복합공종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타 </a:t>
              </a:r>
              <a:r>
                <a:rPr lang="ko-KR" altLang="en-US" sz="700" dirty="0" err="1">
                  <a:latin typeface="+mn-ea"/>
                </a:rPr>
                <a:t>공종</a:t>
              </a:r>
              <a:r>
                <a:rPr lang="ko-KR" altLang="en-US" sz="700" dirty="0">
                  <a:latin typeface="+mn-ea"/>
                </a:rPr>
                <a:t> 포함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 err="1" smtClean="0">
                  <a:latin typeface="+mn-ea"/>
                </a:rPr>
                <a:t>실적내용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130" name="그룹 129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31" name="직사각형 130"/>
            <p:cNvSpPr/>
            <p:nvPr/>
          </p:nvSpPr>
          <p:spPr>
            <a:xfrm>
              <a:off x="718459" y="2897709"/>
              <a:ext cx="792000" cy="10772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공사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종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명</a:t>
              </a:r>
              <a:r>
                <a:rPr lang="en-US" altLang="ko-KR" sz="700" dirty="0" smtClean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도급금액</a:t>
              </a:r>
              <a:endParaRPr lang="en-US" altLang="ko-KR" sz="700" dirty="0" smtClean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r>
                <a:rPr lang="ko-KR" altLang="en-US" sz="700" dirty="0"/>
                <a:t>전년까지의 </a:t>
              </a:r>
              <a:r>
                <a:rPr lang="ko-KR" altLang="en-US" sz="700" dirty="0" err="1"/>
                <a:t>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금년도</a:t>
              </a:r>
              <a:r>
                <a:rPr lang="ko-KR" altLang="en-US" sz="700" dirty="0"/>
                <a:t> </a:t>
              </a:r>
              <a:r>
                <a:rPr lang="ko-KR" altLang="en-US" sz="700" dirty="0" err="1" smtClean="0"/>
                <a:t>기성액</a:t>
              </a:r>
              <a:endParaRPr lang="en-US" altLang="ko-KR" sz="700" dirty="0" smtClean="0"/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미기성액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732335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69" name="그룹 16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3609205"/>
            <a:ext cx="76863" cy="292489"/>
            <a:chOff x="3750067" y="4683795"/>
            <a:chExt cx="76863" cy="292489"/>
          </a:xfrm>
        </p:grpSpPr>
        <p:sp>
          <p:nvSpPr>
            <p:cNvPr id="174" name="타원 17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93" name="타원 192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04" name="타원 203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22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72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28231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4961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14941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2830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7172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28231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4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4961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14941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92830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57846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5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35736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401058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7894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744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864694653"/>
      </p:ext>
    </p:extLst>
  </p:cSld>
  <p:clrMapOvr>
    <a:masterClrMapping/>
  </p:clrMapOvr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G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8.</a:t>
            </a:r>
            <a:r>
              <a:rPr lang="ko-KR" altLang="en-US" dirty="0"/>
              <a:t>전기공사 실적증명서 </a:t>
            </a:r>
            <a:r>
              <a:rPr lang="en-US" altLang="ko-KR" dirty="0"/>
              <a:t>[</a:t>
            </a:r>
            <a:r>
              <a:rPr lang="ko-KR" altLang="en-US" dirty="0"/>
              <a:t>전기공사업법 시행에 관한 규정</a:t>
            </a:r>
            <a:r>
              <a:rPr lang="en-US" altLang="ko-KR" dirty="0"/>
              <a:t>/</a:t>
            </a:r>
            <a:r>
              <a:rPr lang="ko-KR" altLang="en-US" dirty="0"/>
              <a:t>전기공사협회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smtClean="0"/>
              <a:t>세부 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280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 smtClean="0">
                <a:latin typeface="+mn-ea"/>
              </a:rPr>
              <a:t>unitG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 smtClean="0">
                <a:latin typeface="+mn-ea"/>
              </a:rPr>
              <a:t>실적정보</a:t>
            </a:r>
            <a:r>
              <a:rPr lang="ko-KR" altLang="en-US" sz="900" dirty="0" smtClean="0">
                <a:latin typeface="+mn-ea"/>
              </a:rPr>
              <a:t> 입력</a:t>
            </a:r>
            <a:endParaRPr lang="ko-KR" altLang="en-US" sz="900" dirty="0">
              <a:latin typeface="+mn-ea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실적 정보를 입력해주시길 바랍니다</a:t>
            </a:r>
            <a:r>
              <a:rPr lang="en-US" altLang="ko-KR" sz="700" dirty="0" smtClean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실적정보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실적정보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5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720490" y="2863519"/>
            <a:ext cx="2630093" cy="1393412"/>
            <a:chOff x="720490" y="2590223"/>
            <a:chExt cx="2630093" cy="1393412"/>
          </a:xfrm>
        </p:grpSpPr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신청인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63" name="그룹 162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80" name="직선 연결선 17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1" name="직선 연결선 18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0" name="직사각형 169"/>
            <p:cNvSpPr/>
            <p:nvPr/>
          </p:nvSpPr>
          <p:spPr>
            <a:xfrm>
              <a:off x="722583" y="2897709"/>
              <a:ext cx="792000" cy="108469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영업소 소재지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등록번호 </a:t>
              </a:r>
              <a:r>
                <a:rPr lang="en-US" altLang="ko-KR" sz="700" dirty="0" smtClean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02-1234-5678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</a:t>
              </a:r>
              <a:r>
                <a:rPr lang="ko-KR" altLang="en-US" sz="700" dirty="0">
                  <a:latin typeface="+mn-ea"/>
                </a:rPr>
                <a:t>종로구</a:t>
              </a:r>
              <a:r>
                <a:rPr lang="en-US" altLang="ko-KR" sz="700" dirty="0" smtClean="0">
                  <a:latin typeface="+mn-ea"/>
                </a:rPr>
                <a:t>…</a:t>
              </a: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836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8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7643" y="406965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183" name="그룹 182"/>
          <p:cNvGrpSpPr/>
          <p:nvPr/>
        </p:nvGrpSpPr>
        <p:grpSpPr>
          <a:xfrm>
            <a:off x="3795734" y="1940948"/>
            <a:ext cx="2712026" cy="2943301"/>
            <a:chOff x="3795734" y="2590223"/>
            <a:chExt cx="2712026" cy="2943301"/>
          </a:xfrm>
        </p:grpSpPr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전기 공사 내역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5" name="그룹 184"/>
            <p:cNvGrpSpPr/>
            <p:nvPr/>
          </p:nvGrpSpPr>
          <p:grpSpPr>
            <a:xfrm flipV="1">
              <a:off x="6259759" y="2703554"/>
              <a:ext cx="94010" cy="47005"/>
              <a:chOff x="6812560" y="3297172"/>
              <a:chExt cx="94010" cy="47005"/>
            </a:xfrm>
          </p:grpSpPr>
          <p:cxnSp>
            <p:nvCxnSpPr>
              <p:cNvPr id="255" name="직선 연결선 2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6" name="직선 연결선 2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6" name="직사각형 185"/>
            <p:cNvSpPr/>
            <p:nvPr/>
          </p:nvSpPr>
          <p:spPr>
            <a:xfrm>
              <a:off x="3838794" y="2897709"/>
              <a:ext cx="792000" cy="258532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7" name="직선 연결선 1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897708"/>
              <a:ext cx="792000" cy="258532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공사명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공사종류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공사현장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원도급자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발주자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등록번호</a:t>
              </a: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 err="1" smtClean="0">
                  <a:latin typeface="+mn-ea"/>
                </a:rPr>
                <a:t>원도급자</a:t>
              </a:r>
              <a:r>
                <a:rPr lang="en-US" altLang="ko-KR" sz="700" dirty="0" smtClean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계약체결일자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착공일자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준공일자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실적년도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계약방법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도급종류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89770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/>
                <a:t>공사 명칭 표시 영역</a:t>
              </a:r>
              <a:endParaRPr lang="en-US" altLang="ko-KR" sz="700" dirty="0" smtClean="0"/>
            </a:p>
            <a:p>
              <a:pPr>
                <a:lnSpc>
                  <a:spcPct val="200000"/>
                </a:lnSpc>
              </a:pPr>
              <a:endParaRPr lang="en-US" altLang="ko-KR" sz="700" dirty="0" smtClean="0"/>
            </a:p>
            <a:p>
              <a:pPr>
                <a:lnSpc>
                  <a:spcPct val="200000"/>
                </a:lnSpc>
              </a:pPr>
              <a:endParaRPr lang="en-US" altLang="ko-KR" sz="700" dirty="0"/>
            </a:p>
            <a:p>
              <a:pPr>
                <a:lnSpc>
                  <a:spcPct val="200000"/>
                </a:lnSpc>
              </a:pPr>
              <a:endParaRPr lang="en-US" altLang="ko-KR" sz="700" dirty="0" smtClean="0"/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/>
                <a:t>김길동</a:t>
              </a:r>
              <a:r>
                <a:rPr lang="ko-KR" altLang="en-US" sz="700" dirty="0" smtClean="0"/>
                <a:t> </a:t>
              </a:r>
              <a:r>
                <a:rPr lang="ko-KR" altLang="en-US" sz="700" dirty="0" err="1" smtClean="0"/>
                <a:t>주무관</a:t>
              </a:r>
              <a:endParaRPr lang="en-US" altLang="ko-KR" sz="700" dirty="0" smtClean="0"/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/>
                <a:t>111111</a:t>
              </a:r>
            </a:p>
          </p:txBody>
        </p:sp>
        <p:cxnSp>
          <p:nvCxnSpPr>
            <p:cNvPr id="241" name="직선 연결선 24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3" name="직선 연결선 2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4" name="직선 연결선 2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5" name="직선 연결선 2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6" name="직선 연결선 2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7" name="직선 연결선 2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8" name="직선 연결선 2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9" name="직선 연결선 2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0" name="직선 연결선 2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5533524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1" name="직선 연결선 2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829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05409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3" name="직선 연결선 2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26158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47439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1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262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1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5054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15" name="그룹 214"/>
          <p:cNvGrpSpPr/>
          <p:nvPr/>
        </p:nvGrpSpPr>
        <p:grpSpPr>
          <a:xfrm>
            <a:off x="6258557" y="2562978"/>
            <a:ext cx="94010" cy="47005"/>
            <a:chOff x="6812560" y="3297172"/>
            <a:chExt cx="94010" cy="47005"/>
          </a:xfrm>
        </p:grpSpPr>
        <p:cxnSp>
          <p:nvCxnSpPr>
            <p:cNvPr id="216" name="직선 연결선 21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7" name="직선 연결선 21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218" name="그림 217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588682"/>
            <a:ext cx="134873" cy="137278"/>
          </a:xfrm>
          <a:prstGeom prst="rect">
            <a:avLst/>
          </a:prstGeom>
        </p:spPr>
      </p:pic>
      <p:sp>
        <p:nvSpPr>
          <p:cNvPr id="21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58187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0" name="그림 219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789939"/>
            <a:ext cx="134873" cy="137278"/>
          </a:xfrm>
          <a:prstGeom prst="rect">
            <a:avLst/>
          </a:prstGeom>
        </p:spPr>
      </p:pic>
      <p:sp>
        <p:nvSpPr>
          <p:cNvPr id="2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78313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2" name="그림 221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997429"/>
            <a:ext cx="134873" cy="137278"/>
          </a:xfrm>
          <a:prstGeom prst="rect">
            <a:avLst/>
          </a:prstGeom>
        </p:spPr>
      </p:pic>
      <p:sp>
        <p:nvSpPr>
          <p:cNvPr id="22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99062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2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421059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25" name="그룹 224"/>
          <p:cNvGrpSpPr/>
          <p:nvPr/>
        </p:nvGrpSpPr>
        <p:grpSpPr>
          <a:xfrm>
            <a:off x="6258557" y="4268094"/>
            <a:ext cx="94010" cy="47005"/>
            <a:chOff x="6812560" y="3297172"/>
            <a:chExt cx="94010" cy="47005"/>
          </a:xfrm>
        </p:grpSpPr>
        <p:cxnSp>
          <p:nvCxnSpPr>
            <p:cNvPr id="226" name="직선 연결선 22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7" name="직선 연결선 22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442504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29" name="그룹 228"/>
          <p:cNvGrpSpPr/>
          <p:nvPr/>
        </p:nvGrpSpPr>
        <p:grpSpPr>
          <a:xfrm>
            <a:off x="6258557" y="4482543"/>
            <a:ext cx="94010" cy="47005"/>
            <a:chOff x="6812560" y="3297172"/>
            <a:chExt cx="94010" cy="47005"/>
          </a:xfrm>
        </p:grpSpPr>
        <p:cxnSp>
          <p:nvCxnSpPr>
            <p:cNvPr id="230" name="직선 연결선 22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31" name="직선 연결선 23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463252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33" name="그룹 232"/>
          <p:cNvGrpSpPr/>
          <p:nvPr/>
        </p:nvGrpSpPr>
        <p:grpSpPr>
          <a:xfrm>
            <a:off x="6258557" y="4690024"/>
            <a:ext cx="94010" cy="47005"/>
            <a:chOff x="6812560" y="3297172"/>
            <a:chExt cx="94010" cy="47005"/>
          </a:xfrm>
        </p:grpSpPr>
        <p:cxnSp>
          <p:nvCxnSpPr>
            <p:cNvPr id="234" name="직선 연결선 23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35" name="직선 연결선 23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3325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2292756454"/>
      </p:ext>
    </p:extLst>
  </p:cSld>
  <p:clrMapOvr>
    <a:masterClrMapping/>
  </p:clrMapOvr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</a:t>
            </a:r>
            <a:r>
              <a:rPr lang="ko-KR" altLang="en-US" dirty="0" smtClean="0"/>
              <a:t>정보</a:t>
            </a:r>
            <a:endParaRPr lang="en-US" altLang="ko-KR" dirty="0" smtClean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smtClean="0"/>
              <a:t>단위 </a:t>
            </a:r>
            <a:r>
              <a:rPr lang="ko-KR" altLang="en-US" dirty="0"/>
              <a:t>입력 시 단위 </a:t>
            </a:r>
            <a:r>
              <a:rPr lang="en-US" altLang="ko-KR" dirty="0"/>
              <a:t>– </a:t>
            </a:r>
            <a:r>
              <a:rPr lang="en-US" altLang="ko-KR" dirty="0" smtClean="0"/>
              <a:t>[</a:t>
            </a:r>
            <a:r>
              <a:rPr lang="ko-KR" altLang="en-US" dirty="0" smtClean="0"/>
              <a:t>천원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 smtClean="0"/>
              <a:t>천원</a:t>
            </a:r>
            <a:endParaRPr lang="en-US" altLang="ko-KR" dirty="0" smtClean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도움말 아이콘 </a:t>
            </a:r>
            <a:r>
              <a:rPr lang="en-US" altLang="ko-KR" dirty="0"/>
              <a:t>(</a:t>
            </a:r>
            <a:r>
              <a:rPr lang="ko-KR" altLang="en-US" dirty="0"/>
              <a:t>팝업 표시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- ※ 3</a:t>
            </a:r>
            <a:r>
              <a:rPr lang="ko-KR" altLang="en-US" dirty="0"/>
              <a:t>개 업체 이상인 경우 </a:t>
            </a:r>
            <a:r>
              <a:rPr lang="ko-KR" altLang="en-US" dirty="0" err="1"/>
              <a:t>업체명에</a:t>
            </a:r>
            <a:r>
              <a:rPr lang="ko-KR" altLang="en-US" dirty="0"/>
              <a:t> ○○ 외 ○개 업체로 표기 후 합산하여 금액 </a:t>
            </a:r>
            <a:r>
              <a:rPr lang="ko-KR" altLang="en-US" dirty="0" smtClean="0"/>
              <a:t>기재</a:t>
            </a:r>
            <a:endParaRPr lang="en-US" altLang="ko-KR" dirty="0" smtClean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smtClean="0"/>
              <a:t>하도급 업체 </a:t>
            </a:r>
            <a:r>
              <a:rPr lang="en-US" altLang="ko-KR" dirty="0" smtClean="0"/>
              <a:t>2</a:t>
            </a:r>
            <a:r>
              <a:rPr lang="ko-KR" altLang="en-US" dirty="0" smtClean="0"/>
              <a:t>군데 입력</a:t>
            </a:r>
            <a:endParaRPr lang="ko-KR" altLang="en-US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281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unitG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실적정보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70" name="그룹 16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85" name="직선 연결선 18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6" name="직선 연결선 18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71" name="그룹 17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83" name="타원 18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72" name="그룹 17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실적정보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입력</a:t>
              </a:r>
            </a:p>
          </p:txBody>
        </p:sp>
        <p:grpSp>
          <p:nvGrpSpPr>
            <p:cNvPr id="175" name="그룹 17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79" name="타원 17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76" name="그룹 17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77" name="타원 17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69" name="그룹 16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3438591"/>
            <a:ext cx="76863" cy="292489"/>
            <a:chOff x="3750067" y="4683795"/>
            <a:chExt cx="76863" cy="292489"/>
          </a:xfrm>
        </p:grpSpPr>
        <p:sp>
          <p:nvSpPr>
            <p:cNvPr id="174" name="타원 17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93" name="타원 192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04" name="타원 203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241" name="그룹 240"/>
          <p:cNvGrpSpPr/>
          <p:nvPr/>
        </p:nvGrpSpPr>
        <p:grpSpPr>
          <a:xfrm>
            <a:off x="675399" y="1940354"/>
            <a:ext cx="2712026" cy="2316283"/>
            <a:chOff x="675399" y="2590223"/>
            <a:chExt cx="2712026" cy="2316283"/>
          </a:xfrm>
        </p:grpSpPr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전기공사실적 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56" name="그룹 255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274" name="직선 연결선 27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75" name="직선 연결선 27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57" name="직사각형 256"/>
            <p:cNvSpPr/>
            <p:nvPr/>
          </p:nvSpPr>
          <p:spPr>
            <a:xfrm>
              <a:off x="718459" y="2897709"/>
              <a:ext cx="792000" cy="193225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8" name="직선 연결선 2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</a:t>
              </a:r>
              <a:r>
                <a:rPr lang="ko-KR" altLang="en-US" sz="700" dirty="0" smtClean="0">
                  <a:latin typeface="+mn-ea"/>
                </a:rPr>
                <a:t>도급계약금액</a:t>
              </a:r>
              <a:endParaRPr lang="en-US" altLang="ko-KR" sz="700" dirty="0" smtClean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endParaRPr lang="en-US" altLang="ko-KR" sz="700" dirty="0" smtClean="0"/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전년도 </a:t>
              </a:r>
              <a:r>
                <a:rPr lang="ko-KR" altLang="en-US" sz="700" dirty="0" err="1" smtClean="0">
                  <a:latin typeface="+mn-ea"/>
                </a:rPr>
                <a:t>이월액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하도급 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미기성액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관급자재액</a:t>
              </a:r>
              <a:endParaRPr lang="en-US" altLang="ko-KR" sz="700" dirty="0" smtClean="0">
                <a:latin typeface="+mn-ea"/>
              </a:endParaRPr>
            </a:p>
          </p:txBody>
        </p:sp>
        <p:cxnSp>
          <p:nvCxnSpPr>
            <p:cNvPr id="261" name="직선 연결선 2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7" name="직선 연결선 2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9" name="직선 연결선 2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906506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0" name="직선 연결선 2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829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71" name="TextBox 2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313066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/>
              <a:r>
                <a:rPr lang="ko-KR" altLang="en-US" sz="700" dirty="0" smtClean="0"/>
                <a:t>전년까지의 </a:t>
              </a:r>
              <a:endParaRPr lang="en-US" altLang="ko-KR" sz="700" dirty="0" smtClean="0"/>
            </a:p>
            <a:p>
              <a:pPr lvl="0"/>
              <a:r>
                <a:rPr lang="ko-KR" altLang="en-US" sz="700" dirty="0" smtClean="0"/>
                <a:t>누계 </a:t>
              </a:r>
              <a:r>
                <a:rPr lang="ko-KR" altLang="en-US" sz="700" dirty="0" err="1" smtClean="0"/>
                <a:t>기성액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4410211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/>
              <a:r>
                <a:rPr lang="ko-KR" altLang="en-US" sz="700" dirty="0" err="1" smtClean="0"/>
                <a:t>기성액</a:t>
              </a:r>
              <a:endParaRPr lang="en-US" altLang="ko-KR" sz="700" dirty="0"/>
            </a:p>
            <a:p>
              <a:pPr lvl="0"/>
              <a:r>
                <a:rPr lang="en-US" altLang="ko-KR" sz="700" dirty="0" smtClean="0"/>
                <a:t>(</a:t>
              </a:r>
              <a:r>
                <a:rPr lang="ko-KR" altLang="en-US" sz="700" dirty="0" err="1"/>
                <a:t>다른공사포함</a:t>
              </a:r>
              <a:r>
                <a:rPr lang="en-US" altLang="ko-KR" sz="700" dirty="0"/>
                <a:t>)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4628973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 defTabSz="1013612">
                <a:defRPr/>
              </a:pPr>
              <a:r>
                <a:rPr lang="ko-KR" altLang="en-US" sz="700" dirty="0" err="1" smtClean="0"/>
                <a:t>계약액</a:t>
              </a:r>
              <a:endParaRPr lang="en-US" altLang="ko-KR" sz="700" dirty="0" smtClean="0"/>
            </a:p>
            <a:p>
              <a:pPr lvl="0" defTabSz="1013612">
                <a:defRPr/>
              </a:pPr>
              <a:r>
                <a:rPr lang="en-US" altLang="ko-KR" sz="700" dirty="0" smtClean="0"/>
                <a:t>(</a:t>
              </a:r>
              <a:r>
                <a:rPr lang="ko-KR" altLang="en-US" sz="700" dirty="0"/>
                <a:t>추가 또는 </a:t>
              </a:r>
              <a:r>
                <a:rPr lang="ko-KR" altLang="en-US" sz="700" dirty="0" err="1"/>
                <a:t>변경분</a:t>
              </a:r>
              <a:r>
                <a:rPr lang="en-US" altLang="ko-KR" sz="700" dirty="0"/>
                <a:t>)</a:t>
              </a:r>
              <a:endParaRPr lang="ko-KR" altLang="en-US" sz="700" dirty="0"/>
            </a:p>
          </p:txBody>
        </p:sp>
      </p:grpSp>
      <p:grpSp>
        <p:nvGrpSpPr>
          <p:cNvPr id="276" name="그룹 275"/>
          <p:cNvGrpSpPr/>
          <p:nvPr/>
        </p:nvGrpSpPr>
        <p:grpSpPr>
          <a:xfrm>
            <a:off x="3795735" y="1940354"/>
            <a:ext cx="2712026" cy="2142112"/>
            <a:chOff x="675399" y="2590223"/>
            <a:chExt cx="2712026" cy="2142112"/>
          </a:xfrm>
        </p:grpSpPr>
        <p:sp>
          <p:nvSpPr>
            <p:cNvPr id="277" name="TextBox 2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7589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하도급내역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원도급자가</a:t>
              </a:r>
              <a:r>
                <a:rPr lang="ko-KR" altLang="en-US" sz="700" dirty="0">
                  <a:latin typeface="+mn-ea"/>
                </a:rPr>
                <a:t> 작성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78" name="그룹 277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288" name="직선 연결선 28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89" name="직선 연결선 28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79" name="직사각형 278"/>
            <p:cNvSpPr/>
            <p:nvPr/>
          </p:nvSpPr>
          <p:spPr>
            <a:xfrm>
              <a:off x="718459" y="2897710"/>
              <a:ext cx="792000" cy="8826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80" name="직선 연결선 2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하도급업체명</a:t>
              </a:r>
              <a:r>
                <a:rPr lang="en-US" altLang="ko-KR" sz="700" dirty="0" smtClean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하도금액</a:t>
              </a:r>
              <a:endParaRPr lang="en-US" altLang="ko-KR" sz="700" dirty="0" smtClean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r>
                <a:rPr lang="ko-KR" altLang="en-US" sz="700" dirty="0" smtClean="0"/>
                <a:t>등록번호</a:t>
              </a:r>
              <a:endParaRPr lang="en-US" altLang="ko-KR" sz="700" dirty="0" smtClean="0"/>
            </a:p>
            <a:p>
              <a:pPr lvl="0"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732335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94" name="그룹 293"/>
          <p:cNvGrpSpPr/>
          <p:nvPr/>
        </p:nvGrpSpPr>
        <p:grpSpPr>
          <a:xfrm>
            <a:off x="5087822" y="1988977"/>
            <a:ext cx="243478" cy="144000"/>
            <a:chOff x="5087822" y="2638846"/>
            <a:chExt cx="243478" cy="144000"/>
          </a:xfrm>
        </p:grpSpPr>
        <p:sp>
          <p:nvSpPr>
            <p:cNvPr id="295" name="타원 294"/>
            <p:cNvSpPr/>
            <p:nvPr/>
          </p:nvSpPr>
          <p:spPr>
            <a:xfrm>
              <a:off x="5135779" y="2638846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96" name="모서리가 둥근 직사각형 295"/>
            <p:cNvSpPr/>
            <p:nvPr/>
          </p:nvSpPr>
          <p:spPr>
            <a:xfrm>
              <a:off x="5087822" y="2647088"/>
              <a:ext cx="243478" cy="119400"/>
            </a:xfrm>
            <a:prstGeom prst="roundRect">
              <a:avLst>
                <a:gd name="adj" fmla="val 23409"/>
              </a:avLst>
            </a:prstGeom>
            <a:no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en-US" altLang="ko-KR" sz="600" b="1" dirty="0" smtClean="0">
                  <a:solidFill>
                    <a:schemeClr val="dk1"/>
                  </a:solidFill>
                </a:rPr>
                <a:t>?</a:t>
              </a:r>
              <a:endParaRPr lang="ko-KR" altLang="en-US" sz="600" b="1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297" name="그룹 296"/>
          <p:cNvGrpSpPr/>
          <p:nvPr/>
        </p:nvGrpSpPr>
        <p:grpSpPr>
          <a:xfrm>
            <a:off x="3795734" y="4189747"/>
            <a:ext cx="2712027" cy="789495"/>
            <a:chOff x="675399" y="1544009"/>
            <a:chExt cx="2712027" cy="789495"/>
          </a:xfrm>
        </p:grpSpPr>
        <p:sp>
          <p:nvSpPr>
            <p:cNvPr id="298" name="TextBox 2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시공규모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99" name="그룹 298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304" name="직선 연결선 30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05" name="직선 연결선 30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300" name="직선 연결선 2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4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7172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28231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4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4961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14941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92830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57846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5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35736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401058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7894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72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28231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4961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2830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42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744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306" name="타원 30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7882" y="198208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307" name="타원 30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7882" y="227220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30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54084" y="4513180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9" name="TextBox 30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</p:spTree>
    <p:extLst>
      <p:ext uri="{BB962C8B-B14F-4D97-AF65-F5344CB8AC3E}">
        <p14:creationId xmlns:p14="http://schemas.microsoft.com/office/powerpoint/2010/main" val="500653344"/>
      </p:ext>
    </p:extLst>
  </p:cSld>
  <p:clrMapOvr>
    <a:masterClrMapping/>
  </p:clrMapOvr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smtClean="0"/>
              <a:t>입력 테이블 </a:t>
            </a:r>
            <a:r>
              <a:rPr lang="en-US" altLang="ko-KR" dirty="0"/>
              <a:t>-</a:t>
            </a:r>
            <a:r>
              <a:rPr lang="ko-KR" altLang="en-US" dirty="0"/>
              <a:t> </a:t>
            </a:r>
            <a:r>
              <a:rPr lang="en-US" altLang="ko-KR" dirty="0"/>
              <a:t>4</a:t>
            </a:r>
            <a:r>
              <a:rPr lang="ko-KR" altLang="en-US" dirty="0" smtClean="0"/>
              <a:t>개 </a:t>
            </a:r>
            <a:r>
              <a:rPr lang="ko-KR" altLang="en-US" dirty="0"/>
              <a:t>반복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공사</a:t>
            </a:r>
            <a:r>
              <a:rPr lang="en-US" altLang="ko-KR" dirty="0" smtClean="0"/>
              <a:t>(</a:t>
            </a:r>
            <a:r>
              <a:rPr lang="ko-KR" altLang="en-US" dirty="0" smtClean="0"/>
              <a:t>종</a:t>
            </a:r>
            <a:r>
              <a:rPr lang="en-US" altLang="ko-KR" dirty="0" smtClean="0"/>
              <a:t>)</a:t>
            </a:r>
            <a:r>
              <a:rPr lang="ko-KR" altLang="en-US" dirty="0" smtClean="0"/>
              <a:t>명 값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전기공사</a:t>
            </a:r>
            <a:r>
              <a:rPr lang="en-US" altLang="ko-KR" dirty="0" smtClean="0"/>
              <a:t>, </a:t>
            </a:r>
            <a:r>
              <a:rPr lang="ko-KR" altLang="en-US" dirty="0" smtClean="0"/>
              <a:t>소방공사</a:t>
            </a:r>
            <a:r>
              <a:rPr lang="en-US" altLang="ko-KR" dirty="0" smtClean="0"/>
              <a:t>, </a:t>
            </a:r>
            <a:r>
              <a:rPr lang="ko-KR" altLang="en-US" dirty="0" smtClean="0"/>
              <a:t>기계설비공사</a:t>
            </a:r>
            <a:r>
              <a:rPr lang="en-US" altLang="ko-KR" dirty="0" smtClean="0"/>
              <a:t>, </a:t>
            </a:r>
            <a:r>
              <a:rPr lang="ko-KR" altLang="en-US" dirty="0"/>
              <a:t>그 밖의 공사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282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unitG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70" name="그룹 16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85" name="직선 연결선 18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6" name="직선 연결선 18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71" name="그룹 17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83" name="타원 18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72" name="그룹 17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실적정보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입력</a:t>
              </a:r>
            </a:p>
          </p:txBody>
        </p:sp>
        <p:grpSp>
          <p:nvGrpSpPr>
            <p:cNvPr id="175" name="그룹 17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79" name="타원 17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76" name="그룹 17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77" name="타원 17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20" name="그룹 119"/>
          <p:cNvGrpSpPr/>
          <p:nvPr/>
        </p:nvGrpSpPr>
        <p:grpSpPr>
          <a:xfrm>
            <a:off x="675399" y="1940354"/>
            <a:ext cx="2712026" cy="3108762"/>
            <a:chOff x="675399" y="2607641"/>
            <a:chExt cx="2712026" cy="3108762"/>
          </a:xfrm>
        </p:grpSpPr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607641"/>
              <a:ext cx="2208095" cy="24577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ko-KR" altLang="en-US" sz="700" dirty="0">
                  <a:latin typeface="+mn-ea"/>
                </a:rPr>
                <a:t>복합공사종류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다른 공사 종류 포함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실적 </a:t>
              </a:r>
              <a:r>
                <a:rPr lang="ko-KR" altLang="en-US" sz="700" dirty="0" smtClean="0">
                  <a:latin typeface="+mn-ea"/>
                </a:rPr>
                <a:t>명세 </a:t>
              </a: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122" name="그룹 121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160" name="직선 연결선 15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1" name="직선 연결선 16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3" name="직사각형 122"/>
            <p:cNvSpPr/>
            <p:nvPr/>
          </p:nvSpPr>
          <p:spPr>
            <a:xfrm>
              <a:off x="718459" y="2897709"/>
              <a:ext cx="792000" cy="171534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공사</a:t>
              </a: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 smtClean="0">
                  <a:latin typeface="+mn-ea"/>
                </a:rPr>
                <a:t>종</a:t>
              </a:r>
              <a:r>
                <a:rPr lang="en-US" altLang="ko-KR" sz="700" dirty="0" smtClean="0">
                  <a:latin typeface="+mn-ea"/>
                </a:rPr>
                <a:t>)</a:t>
              </a:r>
              <a:r>
                <a:rPr lang="ko-KR" altLang="en-US" sz="700" dirty="0" smtClean="0">
                  <a:latin typeface="+mn-ea"/>
                </a:rPr>
                <a:t>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착공연월일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준공연월일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지난연도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ko-KR" altLang="en-US" sz="700" dirty="0" err="1" smtClean="0">
                  <a:latin typeface="+mn-ea"/>
                </a:rPr>
                <a:t>기성액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해당연도 </a:t>
              </a:r>
              <a:r>
                <a:rPr lang="ko-KR" altLang="en-US" sz="700" dirty="0" err="1" smtClean="0">
                  <a:latin typeface="+mn-ea"/>
                </a:rPr>
                <a:t>기성액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하도급금액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미기성금액</a:t>
              </a:r>
              <a:endParaRPr lang="en-US" altLang="ko-KR" sz="700" dirty="0" smtClean="0">
                <a:latin typeface="+mn-ea"/>
              </a:endParaRPr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2897708"/>
              <a:ext cx="17840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/>
                <a:t>전기공사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571640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64" name="그룹 16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353247"/>
            <a:ext cx="76863" cy="292489"/>
            <a:chOff x="3750067" y="4683795"/>
            <a:chExt cx="76863" cy="292489"/>
          </a:xfrm>
        </p:grpSpPr>
        <p:sp>
          <p:nvSpPr>
            <p:cNvPr id="165" name="타원 16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66" name="타원 16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67" name="타원 16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24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7172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4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4961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14941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92830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5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57846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5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35736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7894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pic>
        <p:nvPicPr>
          <p:cNvPr id="168" name="그림 167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947309"/>
            <a:ext cx="134873" cy="137278"/>
          </a:xfrm>
          <a:prstGeom prst="rect">
            <a:avLst/>
          </a:prstGeom>
        </p:spPr>
      </p:pic>
      <p:pic>
        <p:nvPicPr>
          <p:cNvPr id="187" name="그림 186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726877"/>
            <a:ext cx="134873" cy="137278"/>
          </a:xfrm>
          <a:prstGeom prst="rect">
            <a:avLst/>
          </a:prstGeom>
        </p:spPr>
      </p:pic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6441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014009338"/>
      </p:ext>
    </p:extLst>
  </p:cSld>
  <p:clrMapOvr>
    <a:masterClrMapping/>
  </p:clrMapOvr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H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9.</a:t>
            </a:r>
            <a:r>
              <a:rPr lang="ko-KR" altLang="en-US" dirty="0"/>
              <a:t>건설공사기성실적증명</a:t>
            </a:r>
            <a:r>
              <a:rPr lang="en-US" altLang="ko-KR" dirty="0"/>
              <a:t>(</a:t>
            </a:r>
            <a:r>
              <a:rPr lang="ko-KR" altLang="en-US" dirty="0"/>
              <a:t>신청</a:t>
            </a:r>
            <a:r>
              <a:rPr lang="en-US" altLang="ko-KR" dirty="0"/>
              <a:t>)</a:t>
            </a:r>
            <a:r>
              <a:rPr lang="ko-KR" altLang="en-US" dirty="0"/>
              <a:t>서</a:t>
            </a:r>
            <a:r>
              <a:rPr lang="en-US" altLang="ko-KR" dirty="0"/>
              <a:t>_</a:t>
            </a:r>
            <a:r>
              <a:rPr lang="ko-KR" altLang="en-US" dirty="0" err="1"/>
              <a:t>세부공종</a:t>
            </a:r>
            <a:r>
              <a:rPr lang="en-US" altLang="ko-KR" dirty="0"/>
              <a:t>(</a:t>
            </a:r>
            <a:r>
              <a:rPr lang="ko-KR" altLang="en-US" dirty="0"/>
              <a:t>전문</a:t>
            </a:r>
            <a:r>
              <a:rPr lang="en-US" altLang="ko-KR" dirty="0"/>
              <a:t>) [</a:t>
            </a:r>
            <a:r>
              <a:rPr lang="ko-KR" altLang="en-US" dirty="0"/>
              <a:t>건설산업기본법 시행규칙</a:t>
            </a:r>
            <a:r>
              <a:rPr lang="en-US" altLang="ko-KR" dirty="0"/>
              <a:t>/</a:t>
            </a:r>
            <a:r>
              <a:rPr lang="ko-KR" altLang="en-US" dirty="0" err="1"/>
              <a:t>국토해양부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smtClean="0"/>
              <a:t>세부 정보</a:t>
            </a:r>
            <a:endParaRPr lang="en-US" altLang="ko-KR" dirty="0" smtClean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smtClean="0"/>
              <a:t>단위 입력 시 단위 </a:t>
            </a:r>
            <a:r>
              <a:rPr lang="en-US" altLang="ko-KR" dirty="0" smtClean="0"/>
              <a:t>– [</a:t>
            </a:r>
            <a:r>
              <a:rPr lang="ko-KR" altLang="en-US" dirty="0" smtClean="0"/>
              <a:t>천원</a:t>
            </a:r>
            <a:r>
              <a:rPr lang="en-US" altLang="ko-KR" dirty="0" smtClean="0"/>
              <a:t>]</a:t>
            </a:r>
            <a:r>
              <a:rPr lang="ko-KR" altLang="en-US" dirty="0" smtClean="0"/>
              <a:t>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ex) 1,000 </a:t>
            </a:r>
            <a:r>
              <a:rPr lang="ko-KR" altLang="en-US" dirty="0" smtClean="0"/>
              <a:t>천원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283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 smtClean="0">
                <a:latin typeface="+mn-ea"/>
              </a:rPr>
              <a:t>unitH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 smtClean="0">
                <a:latin typeface="+mn-ea"/>
              </a:rPr>
              <a:t>실적정보</a:t>
            </a:r>
            <a:r>
              <a:rPr lang="ko-KR" altLang="en-US" sz="900" dirty="0" smtClean="0">
                <a:latin typeface="+mn-ea"/>
              </a:rPr>
              <a:t> 입력</a:t>
            </a:r>
            <a:endParaRPr lang="ko-KR" altLang="en-US" sz="900" dirty="0">
              <a:latin typeface="+mn-ea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실적 정보를 입력해주시길 바랍니다</a:t>
            </a:r>
            <a:r>
              <a:rPr lang="en-US" altLang="ko-KR" sz="700" dirty="0" smtClean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실적정보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실적정보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247" name="그룹 246"/>
          <p:cNvGrpSpPr/>
          <p:nvPr/>
        </p:nvGrpSpPr>
        <p:grpSpPr>
          <a:xfrm>
            <a:off x="720490" y="2873472"/>
            <a:ext cx="2630093" cy="1179711"/>
            <a:chOff x="720490" y="2590223"/>
            <a:chExt cx="2630093" cy="1179711"/>
          </a:xfrm>
        </p:grpSpPr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신청인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49" name="그룹 248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258" name="직선 연결선 2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9" name="직선 연결선 2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50" name="직사각형 249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1" name="직선 연결선 2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영업소재지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업종 및 등록번호 </a:t>
              </a:r>
              <a:r>
                <a:rPr lang="en-US" altLang="ko-KR" sz="700" dirty="0" smtClean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</a:t>
              </a:r>
              <a:r>
                <a:rPr lang="ko-KR" altLang="en-US" sz="700" dirty="0">
                  <a:latin typeface="+mn-ea"/>
                </a:rPr>
                <a:t>종로구</a:t>
              </a:r>
              <a:r>
                <a:rPr lang="en-US" altLang="ko-KR" sz="700" dirty="0" smtClean="0">
                  <a:latin typeface="+mn-ea"/>
                </a:rPr>
                <a:t>…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86451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3795734" y="1939881"/>
            <a:ext cx="2712026" cy="2284727"/>
            <a:chOff x="3795734" y="1939881"/>
            <a:chExt cx="2712026" cy="2284727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1939881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공사내역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58" name="그룹 157"/>
            <p:cNvGrpSpPr/>
            <p:nvPr/>
          </p:nvGrpSpPr>
          <p:grpSpPr>
            <a:xfrm flipV="1">
              <a:off x="6259759" y="2053212"/>
              <a:ext cx="94010" cy="47005"/>
              <a:chOff x="6812560" y="3297172"/>
              <a:chExt cx="94010" cy="47005"/>
            </a:xfrm>
          </p:grpSpPr>
          <p:cxnSp>
            <p:nvCxnSpPr>
              <p:cNvPr id="245" name="직선 연결선 24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6" name="직선 연결선 24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9" name="직사각형 158"/>
            <p:cNvSpPr/>
            <p:nvPr/>
          </p:nvSpPr>
          <p:spPr>
            <a:xfrm>
              <a:off x="3838794" y="2247366"/>
              <a:ext cx="792000" cy="193899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247366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247366"/>
              <a:ext cx="79200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공사명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총공사금액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공사유형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인 허가 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주력분야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인 허가 </a:t>
              </a:r>
              <a:r>
                <a:rPr lang="ko-KR" altLang="en-US" sz="700" dirty="0" err="1" smtClean="0">
                  <a:latin typeface="+mn-ea"/>
                </a:rPr>
                <a:t>년월일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세부공종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 smtClean="0">
                  <a:latin typeface="+mn-ea"/>
                </a:rPr>
                <a:t>종합</a:t>
              </a:r>
              <a:r>
                <a:rPr lang="en-US" altLang="ko-KR" sz="700" dirty="0" smtClean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실적년도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247366"/>
              <a:ext cx="17840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/>
                <a:t>국방전자조달고도화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47847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6921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9058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195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270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69992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현장 소재지</a:t>
              </a:r>
              <a:r>
                <a:rPr lang="en-US" altLang="ko-KR" sz="700" dirty="0" smtClean="0">
                  <a:latin typeface="+mn-ea"/>
                </a:rPr>
                <a:t/>
              </a:r>
              <a:br>
                <a:rPr lang="en-US" altLang="ko-KR" sz="700" dirty="0" smtClean="0">
                  <a:latin typeface="+mn-ea"/>
                </a:rPr>
              </a:b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 smtClean="0">
                  <a:latin typeface="+mn-ea"/>
                </a:rPr>
                <a:t>번지까지 기재</a:t>
              </a:r>
              <a:r>
                <a:rPr lang="en-US" altLang="ko-KR" sz="700" dirty="0" smtClean="0">
                  <a:latin typeface="+mn-ea"/>
                </a:rPr>
                <a:t>)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16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5" name="직선 연결선 2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593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3" name="직선 연결선 2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9668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4" name="직선 연결선 2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1739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0" name="직선 연결선 2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4224608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50530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</a:t>
            </a: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원 단위로 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262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263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84" name="그룹 283"/>
          <p:cNvGrpSpPr/>
          <p:nvPr/>
        </p:nvGrpSpPr>
        <p:grpSpPr>
          <a:xfrm>
            <a:off x="6258557" y="2983823"/>
            <a:ext cx="94010" cy="47005"/>
            <a:chOff x="6812560" y="3297172"/>
            <a:chExt cx="94010" cy="47005"/>
          </a:xfrm>
        </p:grpSpPr>
        <p:cxnSp>
          <p:nvCxnSpPr>
            <p:cNvPr id="285" name="직선 연결선 28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6" name="직선 연결선 28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78879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88" name="그룹 287"/>
          <p:cNvGrpSpPr/>
          <p:nvPr/>
        </p:nvGrpSpPr>
        <p:grpSpPr>
          <a:xfrm>
            <a:off x="6258557" y="3846295"/>
            <a:ext cx="94010" cy="47005"/>
            <a:chOff x="6812560" y="3297172"/>
            <a:chExt cx="94010" cy="47005"/>
          </a:xfrm>
        </p:grpSpPr>
        <p:cxnSp>
          <p:nvCxnSpPr>
            <p:cNvPr id="289" name="직선 연결선 2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0" name="직선 연결선 2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291" name="그림 29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588682"/>
            <a:ext cx="134873" cy="137278"/>
          </a:xfrm>
          <a:prstGeom prst="rect">
            <a:avLst/>
          </a:prstGeom>
        </p:spPr>
      </p:pic>
      <p:sp>
        <p:nvSpPr>
          <p:cNvPr id="29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58187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14003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35976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99118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96" name="그룹 295"/>
          <p:cNvGrpSpPr/>
          <p:nvPr/>
        </p:nvGrpSpPr>
        <p:grpSpPr>
          <a:xfrm>
            <a:off x="6258557" y="4048684"/>
            <a:ext cx="94010" cy="47005"/>
            <a:chOff x="6812560" y="3297172"/>
            <a:chExt cx="94010" cy="47005"/>
          </a:xfrm>
        </p:grpSpPr>
        <p:cxnSp>
          <p:nvCxnSpPr>
            <p:cNvPr id="297" name="직선 연결선 29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8" name="직선 연결선 29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5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302" name="타원 3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9669" y="253542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5515055"/>
      </p:ext>
    </p:extLst>
  </p:cSld>
  <p:clrMapOvr>
    <a:masterClrMapping/>
  </p:clrMapOvr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</a:t>
            </a:r>
            <a:r>
              <a:rPr lang="ko-KR" altLang="en-US" dirty="0" smtClean="0"/>
              <a:t>정보</a:t>
            </a:r>
            <a:endParaRPr lang="en-US" altLang="ko-KR" dirty="0" smtClean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smtClean="0"/>
              <a:t>연월 정보 입력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</a:t>
            </a:r>
            <a:r>
              <a:rPr lang="en-US" altLang="ko-KR" dirty="0" smtClean="0"/>
              <a:t>[</a:t>
            </a:r>
            <a:r>
              <a:rPr lang="ko-KR" altLang="en-US" dirty="0" smtClean="0"/>
              <a:t>천원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 smtClean="0"/>
              <a:t>천원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284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unitH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실적정보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70" name="그룹 16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85" name="직선 연결선 18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6" name="직선 연결선 18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71" name="그룹 17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83" name="타원 18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72" name="그룹 17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실적정보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입력</a:t>
              </a:r>
            </a:p>
          </p:txBody>
        </p:sp>
        <p:grpSp>
          <p:nvGrpSpPr>
            <p:cNvPr id="175" name="그룹 17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79" name="타원 17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76" name="그룹 17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77" name="타원 17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87" name="그룹 186"/>
          <p:cNvGrpSpPr/>
          <p:nvPr/>
        </p:nvGrpSpPr>
        <p:grpSpPr>
          <a:xfrm>
            <a:off x="716367" y="1939175"/>
            <a:ext cx="2630093" cy="2243738"/>
            <a:chOff x="720490" y="3930133"/>
            <a:chExt cx="2630093" cy="2243738"/>
          </a:xfrm>
        </p:grpSpPr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비용정보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9" name="그룹 188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1" name="직선 연결선 21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2" name="직선 연결선 21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0" name="직사각형 189"/>
            <p:cNvSpPr/>
            <p:nvPr/>
          </p:nvSpPr>
          <p:spPr>
            <a:xfrm>
              <a:off x="722583" y="4237618"/>
              <a:ext cx="792000" cy="19362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1" name="직선 연결선 1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계약연월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착공연월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준공</a:t>
              </a: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 smtClean="0">
                  <a:latin typeface="+mn-ea"/>
                </a:rPr>
                <a:t>예정</a:t>
              </a:r>
              <a:r>
                <a:rPr lang="en-US" altLang="ko-KR" sz="700" dirty="0" smtClean="0">
                  <a:latin typeface="+mn-ea"/>
                </a:rPr>
                <a:t>)</a:t>
              </a:r>
              <a:r>
                <a:rPr lang="ko-KR" altLang="en-US" sz="700" dirty="0" smtClean="0">
                  <a:latin typeface="+mn-ea"/>
                </a:rPr>
                <a:t>연월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당년도 </a:t>
              </a:r>
              <a:r>
                <a:rPr lang="ko-KR" altLang="en-US" sz="700" dirty="0" err="1" smtClean="0">
                  <a:latin typeface="+mn-ea"/>
                </a:rPr>
                <a:t>기성액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당년도 </a:t>
              </a:r>
              <a:r>
                <a:rPr lang="ko-KR" altLang="en-US" sz="700" dirty="0" err="1" smtClean="0">
                  <a:latin typeface="+mn-ea"/>
                </a:rPr>
                <a:t>기성지급액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총 계약금액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8" name="직선 연결선 1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89478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당년도 </a:t>
              </a:r>
              <a:r>
                <a:rPr lang="ko-KR" altLang="en-US" sz="700" dirty="0" err="1" smtClean="0">
                  <a:latin typeface="+mn-ea"/>
                </a:rPr>
                <a:t>계약액</a:t>
              </a:r>
              <a:r>
                <a:rPr lang="ko-KR" altLang="en-US" sz="700" dirty="0" smtClean="0">
                  <a:latin typeface="+mn-ea"/>
                </a:rPr>
                <a:t> 또는 </a:t>
              </a:r>
              <a:r>
                <a:rPr lang="ko-KR" altLang="en-US" sz="700" dirty="0" err="1" smtClean="0">
                  <a:latin typeface="+mn-ea"/>
                </a:rPr>
                <a:t>이월금액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1641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749558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 smtClean="0"/>
                <a:t>누계</a:t>
              </a:r>
              <a:endParaRPr lang="en-US" altLang="ko-KR" sz="700" dirty="0" smtClean="0"/>
            </a:p>
            <a:p>
              <a:r>
                <a:rPr lang="ko-KR" altLang="en-US" sz="700" dirty="0" err="1" smtClean="0"/>
                <a:t>기성액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958427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 smtClean="0"/>
                <a:t>누계</a:t>
              </a:r>
              <a:endParaRPr lang="en-US" altLang="ko-KR" sz="700" dirty="0" smtClean="0"/>
            </a:p>
            <a:p>
              <a:r>
                <a:rPr lang="ko-KR" altLang="en-US" sz="700" dirty="0" smtClean="0"/>
                <a:t>지급액</a:t>
              </a:r>
              <a:endParaRPr lang="en-US" altLang="ko-KR" sz="700" dirty="0">
                <a:latin typeface="+mn-ea"/>
              </a:endParaRPr>
            </a:p>
          </p:txBody>
        </p:sp>
      </p:grp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5398462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14" name="그룹 21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884740"/>
            <a:ext cx="76863" cy="292489"/>
            <a:chOff x="3750067" y="4683795"/>
            <a:chExt cx="76863" cy="292489"/>
          </a:xfrm>
        </p:grpSpPr>
        <p:sp>
          <p:nvSpPr>
            <p:cNvPr id="215" name="타원 21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16" name="타원 21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17" name="타원 21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21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93145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smtClean="0">
                <a:latin typeface="맑은 고딕"/>
                <a:ea typeface="맑은 고딕" panose="020B0503020000020004" pitchFamily="50" charset="-127"/>
              </a:rPr>
              <a:t>1,000 </a:t>
            </a:r>
            <a:r>
              <a:rPr kumimoji="1" lang="ko-KR" altLang="en-US" sz="700" kern="0" dirty="0" smtClean="0">
                <a:latin typeface="맑은 고딕"/>
                <a:ea typeface="맑은 고딕" panose="020B0503020000020004" pitchFamily="50" charset="-127"/>
              </a:rPr>
              <a:t>천원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1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13918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</a:rPr>
              <a:t>천원 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36644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57417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78104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98877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pic>
        <p:nvPicPr>
          <p:cNvPr id="227" name="그림 226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726942"/>
            <a:ext cx="134873" cy="137278"/>
          </a:xfrm>
          <a:prstGeom prst="rect">
            <a:avLst/>
          </a:prstGeom>
        </p:spPr>
      </p:pic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72013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9" name="그림 22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506510"/>
            <a:ext cx="134873" cy="137278"/>
          </a:xfrm>
          <a:prstGeom prst="rect">
            <a:avLst/>
          </a:prstGeom>
        </p:spPr>
      </p:pic>
      <p:sp>
        <p:nvSpPr>
          <p:cNvPr id="23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49970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31" name="그림 23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292516"/>
            <a:ext cx="134873" cy="137278"/>
          </a:xfrm>
          <a:prstGeom prst="rect">
            <a:avLst/>
          </a:prstGeom>
        </p:spPr>
      </p:pic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28571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42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91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33" name="타원 23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397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grpSp>
        <p:nvGrpSpPr>
          <p:cNvPr id="234" name="그룹 233"/>
          <p:cNvGrpSpPr/>
          <p:nvPr/>
        </p:nvGrpSpPr>
        <p:grpSpPr>
          <a:xfrm>
            <a:off x="3795734" y="1931645"/>
            <a:ext cx="2712027" cy="792634"/>
            <a:chOff x="675399" y="1544009"/>
            <a:chExt cx="2712027" cy="792634"/>
          </a:xfrm>
        </p:grpSpPr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그 밖의 사항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공사의 규모 공법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공통 </a:t>
              </a:r>
              <a:r>
                <a:rPr lang="ko-KR" altLang="en-US" sz="700" dirty="0" err="1">
                  <a:latin typeface="+mn-ea"/>
                </a:rPr>
                <a:t>도급내역</a:t>
              </a:r>
              <a:r>
                <a:rPr lang="ko-KR" altLang="en-US" sz="700" dirty="0">
                  <a:latin typeface="+mn-ea"/>
                </a:rPr>
                <a:t> 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36" name="그룹 235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41" name="직선 연결선 24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65" name="직선 연결선 26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37" name="직선 연결선 2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6643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0" name="직선 연결선 2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54084" y="2250601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3478629436"/>
      </p:ext>
    </p:extLst>
  </p:cSld>
  <p:clrMapOvr>
    <a:masterClrMapping/>
  </p:clrMapOvr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I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10.</a:t>
            </a:r>
            <a:r>
              <a:rPr lang="ko-KR" altLang="en-US" dirty="0"/>
              <a:t>건설공사 </a:t>
            </a:r>
            <a:r>
              <a:rPr lang="ko-KR" altLang="en-US" dirty="0" err="1"/>
              <a:t>직접시공분</a:t>
            </a:r>
            <a:r>
              <a:rPr lang="ko-KR" altLang="en-US" dirty="0"/>
              <a:t> 기성실적증명</a:t>
            </a:r>
            <a:r>
              <a:rPr lang="en-US" altLang="ko-KR" dirty="0"/>
              <a:t>(</a:t>
            </a:r>
            <a:r>
              <a:rPr lang="ko-KR" altLang="en-US" dirty="0"/>
              <a:t>신청</a:t>
            </a:r>
            <a:r>
              <a:rPr lang="en-US" altLang="ko-KR" dirty="0"/>
              <a:t>)</a:t>
            </a:r>
            <a:r>
              <a:rPr lang="ko-KR" altLang="en-US" dirty="0"/>
              <a:t>서 </a:t>
            </a:r>
            <a:r>
              <a:rPr lang="en-US" altLang="ko-KR" dirty="0"/>
              <a:t>[</a:t>
            </a:r>
            <a:r>
              <a:rPr lang="ko-KR" altLang="en-US" dirty="0"/>
              <a:t>건설산업기본법 시행규칙</a:t>
            </a:r>
            <a:r>
              <a:rPr lang="en-US" altLang="ko-KR" dirty="0"/>
              <a:t>/</a:t>
            </a:r>
            <a:r>
              <a:rPr lang="ko-KR" altLang="en-US" dirty="0" err="1"/>
              <a:t>국토해양부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smtClean="0"/>
              <a:t>세부 정보</a:t>
            </a:r>
            <a:endParaRPr lang="en-US" altLang="ko-KR" dirty="0" smtClean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smtClean="0"/>
              <a:t>단위 입력 시 단위 </a:t>
            </a:r>
            <a:r>
              <a:rPr lang="en-US" altLang="ko-KR" dirty="0" smtClean="0"/>
              <a:t>– [</a:t>
            </a:r>
            <a:r>
              <a:rPr lang="ko-KR" altLang="en-US" dirty="0" smtClean="0"/>
              <a:t>백만원</a:t>
            </a:r>
            <a:r>
              <a:rPr lang="en-US" altLang="ko-KR" dirty="0" smtClean="0"/>
              <a:t>]</a:t>
            </a:r>
            <a:r>
              <a:rPr lang="ko-KR" altLang="en-US" dirty="0" smtClean="0"/>
              <a:t>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ex) 1,000 </a:t>
            </a:r>
            <a:r>
              <a:rPr lang="ko-KR" altLang="en-US" dirty="0" smtClean="0"/>
              <a:t>백만원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285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 smtClean="0">
                <a:latin typeface="+mn-ea"/>
              </a:rPr>
              <a:t>unitI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 smtClean="0">
                <a:latin typeface="+mn-ea"/>
              </a:rPr>
              <a:t>실적정보</a:t>
            </a:r>
            <a:r>
              <a:rPr lang="ko-KR" altLang="en-US" sz="900" dirty="0" smtClean="0">
                <a:latin typeface="+mn-ea"/>
              </a:rPr>
              <a:t> 입력</a:t>
            </a:r>
            <a:endParaRPr lang="ko-KR" altLang="en-US" sz="900" dirty="0">
              <a:latin typeface="+mn-ea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실적 정보를 입력해주시길 바랍니다</a:t>
            </a:r>
            <a:r>
              <a:rPr lang="en-US" altLang="ko-KR" sz="700" dirty="0" smtClean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실적정보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실적정보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247" name="그룹 246"/>
          <p:cNvGrpSpPr/>
          <p:nvPr/>
        </p:nvGrpSpPr>
        <p:grpSpPr>
          <a:xfrm>
            <a:off x="720490" y="2873472"/>
            <a:ext cx="2630093" cy="1179711"/>
            <a:chOff x="720490" y="2590223"/>
            <a:chExt cx="2630093" cy="1179711"/>
          </a:xfrm>
        </p:grpSpPr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신청인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49" name="그룹 248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258" name="직선 연결선 2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9" name="직선 연결선 2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50" name="직사각형 249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1" name="직선 연결선 2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영업소재지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업종 및 등록번호 </a:t>
              </a:r>
              <a:r>
                <a:rPr lang="en-US" altLang="ko-KR" sz="700" dirty="0" smtClean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 smtClean="0">
                  <a:latin typeface="+mn-ea"/>
                </a:rPr>
                <a:t>업체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서울특별시 </a:t>
              </a:r>
              <a:r>
                <a:rPr lang="ko-KR" altLang="en-US" sz="700" dirty="0">
                  <a:latin typeface="+mn-ea"/>
                </a:rPr>
                <a:t>종로구</a:t>
              </a:r>
              <a:r>
                <a:rPr lang="en-US" altLang="ko-KR" sz="700" dirty="0" smtClean="0">
                  <a:latin typeface="+mn-ea"/>
                </a:rPr>
                <a:t>…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86451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3795734" y="1939881"/>
            <a:ext cx="2712026" cy="1870756"/>
            <a:chOff x="3795734" y="1939881"/>
            <a:chExt cx="2712026" cy="1870756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1939881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공사내역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58" name="그룹 157"/>
            <p:cNvGrpSpPr/>
            <p:nvPr/>
          </p:nvGrpSpPr>
          <p:grpSpPr>
            <a:xfrm flipV="1">
              <a:off x="6259759" y="2053212"/>
              <a:ext cx="94010" cy="47005"/>
              <a:chOff x="6812560" y="3297172"/>
              <a:chExt cx="94010" cy="47005"/>
            </a:xfrm>
          </p:grpSpPr>
          <p:cxnSp>
            <p:nvCxnSpPr>
              <p:cNvPr id="245" name="직선 연결선 24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6" name="직선 연결선 24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9" name="직사각형 158"/>
            <p:cNvSpPr/>
            <p:nvPr/>
          </p:nvSpPr>
          <p:spPr>
            <a:xfrm>
              <a:off x="3838794" y="2247367"/>
              <a:ext cx="792000" cy="15170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247366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247366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공사명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총공사금액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인 허가 기관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인 허가 </a:t>
              </a:r>
              <a:r>
                <a:rPr lang="ko-KR" altLang="en-US" sz="700" dirty="0" err="1" smtClean="0">
                  <a:latin typeface="+mn-ea"/>
                </a:rPr>
                <a:t>년월일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실적년도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247366"/>
              <a:ext cx="17840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/>
                <a:t>국방전자조달고도화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47847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6921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9058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195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270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69992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현장 소재지</a:t>
              </a:r>
              <a:r>
                <a:rPr lang="en-US" altLang="ko-KR" sz="700" dirty="0" smtClean="0">
                  <a:latin typeface="+mn-ea"/>
                </a:rPr>
                <a:t/>
              </a:r>
              <a:br>
                <a:rPr lang="en-US" altLang="ko-KR" sz="700" dirty="0" smtClean="0">
                  <a:latin typeface="+mn-ea"/>
                </a:rPr>
              </a:br>
              <a:r>
                <a:rPr lang="en-US" altLang="ko-KR" sz="700" dirty="0" smtClean="0">
                  <a:latin typeface="+mn-ea"/>
                </a:rPr>
                <a:t>(</a:t>
              </a:r>
              <a:r>
                <a:rPr lang="ko-KR" altLang="en-US" sz="700" dirty="0" smtClean="0">
                  <a:latin typeface="+mn-ea"/>
                </a:rPr>
                <a:t>번지까지 기재</a:t>
              </a:r>
              <a:r>
                <a:rPr lang="en-US" altLang="ko-KR" sz="700" dirty="0" smtClean="0">
                  <a:latin typeface="+mn-ea"/>
                </a:rPr>
                <a:t>)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16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5" name="직선 연결선 2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593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0" name="직선 연결선 2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381063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50530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백만원 단위로 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262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263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8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57670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88" name="그룹 287"/>
          <p:cNvGrpSpPr/>
          <p:nvPr/>
        </p:nvGrpSpPr>
        <p:grpSpPr>
          <a:xfrm>
            <a:off x="6258557" y="3634198"/>
            <a:ext cx="94010" cy="47005"/>
            <a:chOff x="6812560" y="3297172"/>
            <a:chExt cx="94010" cy="47005"/>
          </a:xfrm>
        </p:grpSpPr>
        <p:cxnSp>
          <p:nvCxnSpPr>
            <p:cNvPr id="289" name="직선 연결선 2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0" name="직선 연결선 2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291" name="그림 29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376585"/>
            <a:ext cx="134873" cy="137278"/>
          </a:xfrm>
          <a:prstGeom prst="rect">
            <a:avLst/>
          </a:prstGeom>
        </p:spPr>
      </p:pic>
      <p:sp>
        <p:nvSpPr>
          <p:cNvPr id="29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36978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14003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5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302" name="타원 3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9669" y="253542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911205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공종</a:t>
            </a:r>
            <a:r>
              <a:rPr lang="en-US" altLang="ko-KR" sz="700" dirty="0">
                <a:latin typeface="+mn-ea"/>
              </a:rPr>
              <a:t>([</a:t>
            </a:r>
            <a:r>
              <a:rPr lang="ko-KR" altLang="en-US" sz="700" dirty="0">
                <a:latin typeface="+mn-ea"/>
              </a:rPr>
              <a:t>건설산업기본법시행규칙</a:t>
            </a:r>
            <a:r>
              <a:rPr lang="en-US" altLang="ko-KR" sz="700" dirty="0">
                <a:latin typeface="+mn-ea"/>
              </a:rPr>
              <a:t>]</a:t>
            </a:r>
            <a:r>
              <a:rPr lang="ko-KR" altLang="en-US" sz="700" dirty="0">
                <a:latin typeface="+mn-ea"/>
              </a:rPr>
              <a:t>제 </a:t>
            </a:r>
            <a:r>
              <a:rPr lang="en-US" altLang="ko-KR" sz="700" dirty="0">
                <a:latin typeface="+mn-ea"/>
              </a:rPr>
              <a:t>25</a:t>
            </a:r>
            <a:r>
              <a:rPr lang="ko-KR" altLang="en-US" sz="700" dirty="0">
                <a:latin typeface="+mn-ea"/>
              </a:rPr>
              <a:t>조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3975901584"/>
      </p:ext>
    </p:extLst>
  </p:cSld>
  <p:clrMapOvr>
    <a:masterClrMapping/>
  </p:clrMapOvr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 smtClean="0"/>
              <a:t>비용정보</a:t>
            </a:r>
            <a:r>
              <a:rPr lang="ko-KR" altLang="en-US" dirty="0" smtClean="0"/>
              <a:t> </a:t>
            </a:r>
            <a:r>
              <a:rPr lang="en-US" altLang="ko-KR" dirty="0" smtClean="0"/>
              <a:t>3</a:t>
            </a:r>
            <a:r>
              <a:rPr lang="ko-KR" altLang="en-US" dirty="0" smtClean="0"/>
              <a:t>개 노출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286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unitI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실적정보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70" name="그룹 16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85" name="직선 연결선 18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6" name="직선 연결선 18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71" name="그룹 17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83" name="타원 18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72" name="그룹 17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실적정보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입력</a:t>
              </a:r>
            </a:p>
          </p:txBody>
        </p:sp>
        <p:grpSp>
          <p:nvGrpSpPr>
            <p:cNvPr id="175" name="그룹 17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79" name="타원 17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76" name="그룹 17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77" name="타원 17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87" name="그룹 186"/>
          <p:cNvGrpSpPr/>
          <p:nvPr/>
        </p:nvGrpSpPr>
        <p:grpSpPr>
          <a:xfrm>
            <a:off x="716367" y="1939175"/>
            <a:ext cx="2630093" cy="2036160"/>
            <a:chOff x="720490" y="3930133"/>
            <a:chExt cx="2630093" cy="2036160"/>
          </a:xfrm>
        </p:grpSpPr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비용정보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9" name="그룹 188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1" name="직선 연결선 21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2" name="직선 연결선 21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0" name="직사각형 189"/>
            <p:cNvSpPr/>
            <p:nvPr/>
          </p:nvSpPr>
          <p:spPr>
            <a:xfrm>
              <a:off x="722583" y="4237619"/>
              <a:ext cx="792000" cy="172867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1" name="직선 연결선 1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68924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연도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계약연월일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착공연월일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준공연월일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533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8" name="직선 연결선 1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04080"/>
              <a:ext cx="792000" cy="32316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해당연도 </a:t>
              </a:r>
              <a:r>
                <a:rPr lang="ko-KR" altLang="en-US" sz="700" dirty="0" err="1"/>
                <a:t>직접시공분</a:t>
              </a:r>
              <a:r>
                <a:rPr lang="en-US" altLang="ko-KR" sz="700" dirty="0"/>
                <a:t> </a:t>
              </a:r>
              <a:r>
                <a:rPr lang="ko-KR" altLang="en-US" sz="700" dirty="0" err="1"/>
                <a:t>세부공종</a:t>
              </a:r>
              <a:r>
                <a:rPr lang="en-US" altLang="ko-KR" sz="700" dirty="0"/>
                <a:t>(</a:t>
              </a:r>
              <a:r>
                <a:rPr lang="ko-KR" altLang="en-US" sz="700" dirty="0" err="1"/>
                <a:t>전문공사</a:t>
              </a:r>
              <a:r>
                <a:rPr lang="en-US" altLang="ko-KR" sz="700" dirty="0"/>
                <a:t>)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07929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해당연도 </a:t>
              </a:r>
              <a:r>
                <a:rPr lang="ko-KR" altLang="en-US" sz="700" dirty="0" err="1"/>
                <a:t>직접시공분</a:t>
              </a:r>
              <a:r>
                <a:rPr lang="ko-KR" altLang="en-US" sz="700" dirty="0"/>
                <a:t> </a:t>
              </a:r>
              <a:r>
                <a:rPr lang="ko-KR" altLang="en-US" sz="700" dirty="0" err="1"/>
                <a:t>기성액</a:t>
              </a:r>
              <a:endParaRPr lang="en-US" altLang="ko-KR" sz="700" dirty="0"/>
            </a:p>
          </p:txBody>
        </p:sp>
      </p:grp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5398462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14" name="그룹 21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581777"/>
            <a:ext cx="76863" cy="292489"/>
            <a:chOff x="3750067" y="4683795"/>
            <a:chExt cx="76863" cy="292489"/>
          </a:xfrm>
        </p:grpSpPr>
        <p:sp>
          <p:nvSpPr>
            <p:cNvPr id="215" name="타원 21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16" name="타원 21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17" name="타원 21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21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10609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</a:rPr>
              <a:t>천원 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36644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57417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78104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pic>
        <p:nvPicPr>
          <p:cNvPr id="227" name="그림 226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3583729"/>
            <a:ext cx="134873" cy="137278"/>
          </a:xfrm>
          <a:prstGeom prst="rect">
            <a:avLst/>
          </a:prstGeom>
        </p:spPr>
      </p:pic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78556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pic>
        <p:nvPicPr>
          <p:cNvPr id="229" name="그림 22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3375472"/>
            <a:ext cx="134873" cy="137278"/>
          </a:xfrm>
          <a:prstGeom prst="rect">
            <a:avLst/>
          </a:prstGeom>
        </p:spPr>
      </p:pic>
      <p:sp>
        <p:nvSpPr>
          <p:cNvPr id="23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49970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28571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42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234" name="그룹 233"/>
          <p:cNvGrpSpPr/>
          <p:nvPr/>
        </p:nvGrpSpPr>
        <p:grpSpPr>
          <a:xfrm>
            <a:off x="3795734" y="1931645"/>
            <a:ext cx="2712027" cy="792634"/>
            <a:chOff x="675399" y="1544009"/>
            <a:chExt cx="2712027" cy="792634"/>
          </a:xfrm>
        </p:grpSpPr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그 밖의 사항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공사의 규모 공법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공통 </a:t>
              </a:r>
              <a:r>
                <a:rPr lang="ko-KR" altLang="en-US" sz="700" dirty="0" err="1">
                  <a:latin typeface="+mn-ea"/>
                </a:rPr>
                <a:t>도급내역</a:t>
              </a:r>
              <a:r>
                <a:rPr lang="ko-KR" altLang="en-US" sz="700" dirty="0">
                  <a:latin typeface="+mn-ea"/>
                </a:rPr>
                <a:t> 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36" name="그룹 235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41" name="직선 연결선 24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65" name="직선 연결선 26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37" name="직선 연결선 2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6643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0" name="직선 연결선 2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54084" y="2250601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 smtClea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101" name="그룹 100"/>
          <p:cNvGrpSpPr/>
          <p:nvPr/>
        </p:nvGrpSpPr>
        <p:grpSpPr>
          <a:xfrm>
            <a:off x="3139425" y="2347239"/>
            <a:ext cx="94010" cy="47005"/>
            <a:chOff x="6812560" y="3297172"/>
            <a:chExt cx="94010" cy="47005"/>
          </a:xfrm>
        </p:grpSpPr>
        <p:cxnSp>
          <p:nvCxnSpPr>
            <p:cNvPr id="102" name="직선 연결선 10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3" name="직선 연결선 10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105" name="그림 104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3793402"/>
            <a:ext cx="134873" cy="137278"/>
          </a:xfrm>
          <a:prstGeom prst="rect">
            <a:avLst/>
          </a:prstGeom>
        </p:spPr>
      </p:pic>
      <p:grpSp>
        <p:nvGrpSpPr>
          <p:cNvPr id="106" name="그룹 105"/>
          <p:cNvGrpSpPr/>
          <p:nvPr/>
        </p:nvGrpSpPr>
        <p:grpSpPr>
          <a:xfrm>
            <a:off x="3139425" y="2840003"/>
            <a:ext cx="94010" cy="47005"/>
            <a:chOff x="6812560" y="3297172"/>
            <a:chExt cx="94010" cy="47005"/>
          </a:xfrm>
        </p:grpSpPr>
        <p:cxnSp>
          <p:nvCxnSpPr>
            <p:cNvPr id="107" name="직선 연결선 10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8" name="직선 연결선 10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564141882"/>
      </p:ext>
    </p:extLst>
  </p:cSld>
  <p:clrMapOvr>
    <a:masterClrMapping/>
  </p:clrMapOvr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</a:t>
            </a:r>
            <a:r>
              <a:rPr lang="ko-KR" altLang="en-US" dirty="0">
                <a:solidFill>
                  <a:srgbClr val="FF0000"/>
                </a:solidFill>
              </a:rPr>
              <a:t>시설공사 </a:t>
            </a:r>
            <a:r>
              <a:rPr lang="ko-KR" altLang="en-US" dirty="0" smtClean="0">
                <a:solidFill>
                  <a:srgbClr val="FF0000"/>
                </a:solidFill>
              </a:rPr>
              <a:t>아님</a:t>
            </a:r>
            <a:endParaRPr lang="en-US" altLang="ko-KR" dirty="0" smtClean="0">
              <a:solidFill>
                <a:srgbClr val="FF0000"/>
              </a:solidFill>
            </a:endParaRP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smtClean="0"/>
              <a:t>세부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 smtClean="0"/>
              <a:t>단위 입력 시 단위 </a:t>
            </a:r>
            <a:r>
              <a:rPr lang="en-US" altLang="ko-KR" dirty="0" smtClean="0"/>
              <a:t>– [</a:t>
            </a:r>
            <a:r>
              <a:rPr lang="ko-KR" altLang="en-US" dirty="0" smtClean="0"/>
              <a:t>원</a:t>
            </a:r>
            <a:r>
              <a:rPr lang="en-US" altLang="ko-KR" dirty="0" smtClean="0"/>
              <a:t>]</a:t>
            </a:r>
            <a:r>
              <a:rPr lang="ko-KR" altLang="en-US" dirty="0" smtClean="0"/>
              <a:t>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ex) 1,000,000 </a:t>
            </a:r>
            <a:r>
              <a:rPr lang="ko-KR" altLang="en-US" dirty="0" smtClean="0"/>
              <a:t>원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err="1" smtClean="0"/>
              <a:t>노출항목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물품</a:t>
            </a:r>
            <a:r>
              <a:rPr lang="en-US" altLang="ko-KR" dirty="0" smtClean="0"/>
              <a:t>, </a:t>
            </a:r>
            <a:r>
              <a:rPr lang="ko-KR" altLang="en-US" dirty="0" smtClean="0"/>
              <a:t>군수품</a:t>
            </a:r>
            <a:r>
              <a:rPr lang="en-US" altLang="ko-KR" dirty="0" smtClean="0"/>
              <a:t> 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그 외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287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시설공사가 아닐 때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 smtClean="0">
                <a:latin typeface="+mn-ea"/>
              </a:rPr>
              <a:t>실적정보</a:t>
            </a:r>
            <a:r>
              <a:rPr lang="ko-KR" altLang="en-US" sz="900" dirty="0" smtClean="0">
                <a:latin typeface="+mn-ea"/>
              </a:rPr>
              <a:t> 입력</a:t>
            </a:r>
            <a:endParaRPr lang="ko-KR" altLang="en-US" sz="900" dirty="0">
              <a:latin typeface="+mn-ea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실적 정보를 입력해주시길 바랍니다</a:t>
            </a:r>
            <a:r>
              <a:rPr lang="en-US" altLang="ko-KR" sz="700" dirty="0" smtClean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실적정보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6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86451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5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675399" y="2873472"/>
            <a:ext cx="2712026" cy="2744695"/>
            <a:chOff x="3795734" y="2590223"/>
            <a:chExt cx="2712026" cy="2744695"/>
          </a:xfrm>
        </p:grpSpPr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추가사항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63" name="그룹 162"/>
            <p:cNvGrpSpPr/>
            <p:nvPr/>
          </p:nvGrpSpPr>
          <p:grpSpPr>
            <a:xfrm flipV="1">
              <a:off x="6259759" y="2703554"/>
              <a:ext cx="94010" cy="47005"/>
              <a:chOff x="6812560" y="3297172"/>
              <a:chExt cx="94010" cy="47005"/>
            </a:xfrm>
          </p:grpSpPr>
          <p:cxnSp>
            <p:nvCxnSpPr>
              <p:cNvPr id="170" name="직선 연결선 16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71" name="직선 연결선 17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2" name="직사각형 171"/>
            <p:cNvSpPr/>
            <p:nvPr/>
          </p:nvSpPr>
          <p:spPr>
            <a:xfrm>
              <a:off x="3838794" y="2897709"/>
              <a:ext cx="792000" cy="236095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897708"/>
              <a:ext cx="792000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실적년도</a:t>
              </a:r>
              <a:r>
                <a:rPr lang="ko-KR" altLang="en-US" sz="700" dirty="0" smtClean="0">
                  <a:latin typeface="+mn-ea"/>
                </a:rPr>
                <a:t> </a:t>
              </a:r>
              <a:r>
                <a:rPr lang="en-US" altLang="ko-KR" sz="700" dirty="0" smtClean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solidFill>
                  <a:srgbClr val="FF0000"/>
                </a:solidFill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실적구분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실적비율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(%)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실적금액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규격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품질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 err="1">
                  <a:latin typeface="+mn-ea"/>
                </a:rPr>
                <a:t>성능통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납품일자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단위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규모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비고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4" name="직선 연결선 1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5334918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4618937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용역범위</a:t>
              </a:r>
              <a:r>
                <a:rPr lang="ko-KR" altLang="en-US" sz="700" dirty="0">
                  <a:latin typeface="+mn-ea"/>
                </a:rPr>
                <a:t> 및 기준</a:t>
              </a:r>
            </a:p>
            <a:p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면적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원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186" name="직선 연결선 18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189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7" name="직선 연결선 1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8264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0509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9" name="직선 연결선 1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25866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1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580545" y="3213069"/>
            <a:ext cx="766867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</a:rPr>
              <a:t>선택</a:t>
            </a:r>
            <a:endParaRPr kumimoji="1" lang="en-US" altLang="ko-KR" sz="700" kern="0" dirty="0">
              <a:solidFill>
                <a:schemeClr val="bg1">
                  <a:lumMod val="75000"/>
                </a:schemeClr>
              </a:solidFill>
            </a:endParaRPr>
          </a:p>
        </p:txBody>
      </p:sp>
      <p:grpSp>
        <p:nvGrpSpPr>
          <p:cNvPr id="215" name="그룹 214"/>
          <p:cNvGrpSpPr/>
          <p:nvPr/>
        </p:nvGrpSpPr>
        <p:grpSpPr>
          <a:xfrm>
            <a:off x="3139425" y="3267506"/>
            <a:ext cx="94010" cy="47005"/>
            <a:chOff x="6812560" y="3297172"/>
            <a:chExt cx="94010" cy="47005"/>
          </a:xfrm>
        </p:grpSpPr>
        <p:cxnSp>
          <p:nvCxnSpPr>
            <p:cNvPr id="216" name="직선 연결선 21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7" name="직선 연결선 21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" name="TextBox 6"/>
          <p:cNvSpPr txBox="1"/>
          <p:nvPr/>
        </p:nvSpPr>
        <p:spPr>
          <a:xfrm>
            <a:off x="2333362" y="3194042"/>
            <a:ext cx="247184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 smtClean="0"/>
              <a:t>~</a:t>
            </a:r>
            <a:endParaRPr lang="ko-KR" altLang="en-US" sz="700" dirty="0"/>
          </a:p>
        </p:txBody>
      </p:sp>
      <p:sp>
        <p:nvSpPr>
          <p:cNvPr id="21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2371" y="3213069"/>
            <a:ext cx="766867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</a:rPr>
              <a:t>선택</a:t>
            </a:r>
            <a:endParaRPr kumimoji="1" lang="en-US" altLang="ko-KR" sz="700" kern="0" dirty="0">
              <a:solidFill>
                <a:schemeClr val="bg1">
                  <a:lumMod val="75000"/>
                </a:schemeClr>
              </a:solidFill>
            </a:endParaRPr>
          </a:p>
        </p:txBody>
      </p:sp>
      <p:grpSp>
        <p:nvGrpSpPr>
          <p:cNvPr id="219" name="그룹 218"/>
          <p:cNvGrpSpPr/>
          <p:nvPr/>
        </p:nvGrpSpPr>
        <p:grpSpPr>
          <a:xfrm>
            <a:off x="2121251" y="3267506"/>
            <a:ext cx="94010" cy="47005"/>
            <a:chOff x="6812560" y="3297172"/>
            <a:chExt cx="94010" cy="47005"/>
          </a:xfrm>
        </p:grpSpPr>
        <p:cxnSp>
          <p:nvCxnSpPr>
            <p:cNvPr id="220" name="직선 연결선 21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1" name="직선 연결선 22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43370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grpSp>
        <p:nvGrpSpPr>
          <p:cNvPr id="223" name="그룹 222"/>
          <p:cNvGrpSpPr/>
          <p:nvPr/>
        </p:nvGrpSpPr>
        <p:grpSpPr>
          <a:xfrm>
            <a:off x="3139425" y="3488141"/>
            <a:ext cx="94010" cy="47005"/>
            <a:chOff x="6812560" y="3297172"/>
            <a:chExt cx="94010" cy="47005"/>
          </a:xfrm>
        </p:grpSpPr>
        <p:cxnSp>
          <p:nvCxnSpPr>
            <p:cNvPr id="224" name="직선 연결선 22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6" name="직선 연결선 22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65090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29194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pic>
        <p:nvPicPr>
          <p:cNvPr id="229" name="그림 22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4304301"/>
            <a:ext cx="134873" cy="137278"/>
          </a:xfrm>
          <a:prstGeom prst="rect">
            <a:avLst/>
          </a:prstGeom>
        </p:spPr>
      </p:pic>
      <p:sp>
        <p:nvSpPr>
          <p:cNvPr id="23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07242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51800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7186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92106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514252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535895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 smtClean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6" name="모서리가 둥근 직사각형 235"/>
          <p:cNvSpPr/>
          <p:nvPr/>
        </p:nvSpPr>
        <p:spPr>
          <a:xfrm>
            <a:off x="3370903" y="3663886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2-1</a:t>
            </a:r>
            <a:endParaRPr lang="ko-KR" altLang="en-US" sz="900" b="1" dirty="0"/>
          </a:p>
        </p:txBody>
      </p:sp>
      <p:sp>
        <p:nvSpPr>
          <p:cNvPr id="237" name="모서리가 둥근 직사각형 236"/>
          <p:cNvSpPr/>
          <p:nvPr/>
        </p:nvSpPr>
        <p:spPr>
          <a:xfrm>
            <a:off x="3370903" y="4094404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r>
              <a:rPr lang="en-US" altLang="ko-KR" sz="900" b="1" dirty="0" smtClean="0"/>
              <a:t>-2</a:t>
            </a:r>
            <a:endParaRPr lang="ko-KR" altLang="en-US" sz="900" b="1" dirty="0"/>
          </a:p>
        </p:txBody>
      </p:sp>
      <p:sp>
        <p:nvSpPr>
          <p:cNvPr id="240" name="모서리가 둥근 직사각형 239"/>
          <p:cNvSpPr/>
          <p:nvPr/>
        </p:nvSpPr>
        <p:spPr>
          <a:xfrm>
            <a:off x="3370903" y="4302190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r>
              <a:rPr lang="en-US" altLang="ko-KR" sz="900" b="1" dirty="0" smtClean="0"/>
              <a:t>-3</a:t>
            </a:r>
            <a:endParaRPr lang="ko-KR" altLang="en-US" sz="900" b="1" dirty="0"/>
          </a:p>
        </p:txBody>
      </p:sp>
      <p:sp>
        <p:nvSpPr>
          <p:cNvPr id="241" name="모서리가 둥근 직사각형 240"/>
          <p:cNvSpPr/>
          <p:nvPr/>
        </p:nvSpPr>
        <p:spPr>
          <a:xfrm>
            <a:off x="3370903" y="4521383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r>
              <a:rPr lang="en-US" altLang="ko-KR" sz="900" b="1" dirty="0" smtClean="0"/>
              <a:t>-4</a:t>
            </a:r>
            <a:endParaRPr lang="ko-KR" altLang="en-US" sz="900" b="1" dirty="0"/>
          </a:p>
        </p:txBody>
      </p:sp>
      <p:sp>
        <p:nvSpPr>
          <p:cNvPr id="243" name="모서리가 둥근 직사각형 242"/>
          <p:cNvSpPr/>
          <p:nvPr/>
        </p:nvSpPr>
        <p:spPr>
          <a:xfrm>
            <a:off x="3370903" y="4732708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r>
              <a:rPr lang="en-US" altLang="ko-KR" sz="900" b="1" dirty="0" smtClean="0"/>
              <a:t>-5</a:t>
            </a:r>
            <a:endParaRPr lang="ko-KR" altLang="en-US" sz="900" b="1" dirty="0"/>
          </a:p>
        </p:txBody>
      </p:sp>
      <p:sp>
        <p:nvSpPr>
          <p:cNvPr id="244" name="모서리가 둥근 직사각형 243"/>
          <p:cNvSpPr/>
          <p:nvPr/>
        </p:nvSpPr>
        <p:spPr>
          <a:xfrm>
            <a:off x="3370903" y="4933762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r>
              <a:rPr lang="en-US" altLang="ko-KR" sz="900" b="1" dirty="0" smtClean="0"/>
              <a:t>-6</a:t>
            </a:r>
            <a:endParaRPr lang="ko-KR" altLang="en-US" sz="900" b="1" dirty="0"/>
          </a:p>
        </p:txBody>
      </p:sp>
      <p:sp>
        <p:nvSpPr>
          <p:cNvPr id="265" name="모서리가 둥근 직사각형 264"/>
          <p:cNvSpPr/>
          <p:nvPr/>
        </p:nvSpPr>
        <p:spPr>
          <a:xfrm>
            <a:off x="3370903" y="5153278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r>
              <a:rPr lang="en-US" altLang="ko-KR" sz="900" b="1" dirty="0" smtClean="0"/>
              <a:t>-7</a:t>
            </a:r>
            <a:endParaRPr lang="ko-KR" altLang="en-US" sz="900" b="1" dirty="0"/>
          </a:p>
        </p:txBody>
      </p:sp>
      <p:sp>
        <p:nvSpPr>
          <p:cNvPr id="8" name="직사각형 7"/>
          <p:cNvSpPr/>
          <p:nvPr/>
        </p:nvSpPr>
        <p:spPr>
          <a:xfrm>
            <a:off x="7074694" y="5923505"/>
            <a:ext cx="2369315" cy="38898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00" dirty="0" err="1" smtClean="0"/>
              <a:t>노차장님</a:t>
            </a:r>
            <a:r>
              <a:rPr lang="ko-KR" altLang="en-US" sz="400" dirty="0" smtClean="0"/>
              <a:t> 확인 필요</a:t>
            </a:r>
            <a:r>
              <a:rPr lang="en-US" altLang="ko-KR" sz="400" dirty="0" smtClean="0"/>
              <a:t>.</a:t>
            </a:r>
          </a:p>
          <a:p>
            <a:pPr algn="ctr"/>
            <a:endParaRPr lang="en-US" altLang="ko-KR" sz="400" dirty="0"/>
          </a:p>
          <a:p>
            <a:pPr algn="ctr"/>
            <a:r>
              <a:rPr lang="ko-KR" altLang="en-US" sz="400" dirty="0"/>
              <a:t>물품</a:t>
            </a:r>
            <a:r>
              <a:rPr lang="en-US" altLang="ko-KR" sz="400" dirty="0"/>
              <a:t>/</a:t>
            </a:r>
            <a:r>
              <a:rPr lang="ko-KR" altLang="en-US" sz="400" dirty="0" err="1"/>
              <a:t>군수품일때</a:t>
            </a:r>
            <a:r>
              <a:rPr lang="ko-KR" altLang="en-US" sz="400" dirty="0"/>
              <a:t> </a:t>
            </a:r>
            <a:r>
              <a:rPr lang="en-US" altLang="ko-KR" sz="400" dirty="0"/>
              <a:t>:  ②⑧⑨ : </a:t>
            </a:r>
            <a:r>
              <a:rPr lang="en-US" altLang="ko-KR" sz="400" dirty="0" err="1"/>
              <a:t>readonly</a:t>
            </a:r>
            <a:r>
              <a:rPr lang="en-US" altLang="ko-KR" sz="400" dirty="0"/>
              <a:t>, ④⑤⑥⑦ : active, ①</a:t>
            </a:r>
            <a:r>
              <a:rPr lang="ko-KR" altLang="en-US" sz="400" dirty="0"/>
              <a:t>의 </a:t>
            </a:r>
            <a:r>
              <a:rPr lang="en-US" altLang="ko-KR" sz="400" dirty="0"/>
              <a:t>value 3 : disable</a:t>
            </a:r>
          </a:p>
          <a:p>
            <a:pPr algn="ctr"/>
            <a:r>
              <a:rPr lang="ko-KR" altLang="en-US" sz="400" dirty="0"/>
              <a:t>그 외 </a:t>
            </a:r>
            <a:r>
              <a:rPr lang="ko-KR" altLang="en-US" sz="400" dirty="0" err="1"/>
              <a:t>일때</a:t>
            </a:r>
            <a:r>
              <a:rPr lang="ko-KR" altLang="en-US" sz="400" dirty="0"/>
              <a:t>         </a:t>
            </a:r>
            <a:r>
              <a:rPr lang="en-US" altLang="ko-KR" sz="400" dirty="0"/>
              <a:t>:  ②⑧ : active, ④⑤⑥⑦ : </a:t>
            </a:r>
            <a:r>
              <a:rPr lang="en-US" altLang="ko-KR" sz="400" dirty="0" err="1"/>
              <a:t>readonly</a:t>
            </a:r>
            <a:r>
              <a:rPr lang="en-US" altLang="ko-KR" sz="400" dirty="0"/>
              <a:t>, ①</a:t>
            </a:r>
            <a:r>
              <a:rPr lang="ko-KR" altLang="en-US" sz="400" dirty="0"/>
              <a:t>의 </a:t>
            </a:r>
            <a:r>
              <a:rPr lang="en-US" altLang="ko-KR" sz="400" dirty="0"/>
              <a:t>value 1,2 : disable</a:t>
            </a:r>
            <a:endParaRPr lang="ko-KR" altLang="en-US" sz="400" dirty="0"/>
          </a:p>
        </p:txBody>
      </p:sp>
    </p:spTree>
    <p:extLst>
      <p:ext uri="{BB962C8B-B14F-4D97-AF65-F5344CB8AC3E}">
        <p14:creationId xmlns:p14="http://schemas.microsoft.com/office/powerpoint/2010/main" val="3423887248"/>
      </p:ext>
    </p:extLst>
  </p:cSld>
  <p:clrMapOvr>
    <a:masterClrMapping/>
  </p:clrMapOvr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288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(01/19)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219507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1431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ctrtYmdFrom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ctrtYmdTo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2738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62700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ctrtInst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계약기관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방위사업청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(1)/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(2)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44419953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2AF88A98-DF3E-37F5-1D9F-FCE47A9DEB4E}"/>
              </a:ext>
            </a:extLst>
          </p:cNvPr>
          <p:cNvSpPr txBox="1"/>
          <p:nvPr/>
        </p:nvSpPr>
        <p:spPr>
          <a:xfrm>
            <a:off x="452999" y="2143255"/>
            <a:ext cx="247400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99A839B-AA49-58B4-C132-06B25B96EB6B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354458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ctrtSe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rprsItemNm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17,2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525561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5309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ofcctrNm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20188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ofcctrTel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 연락처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32914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지출관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dsbofrTel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지출관 연락처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585951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재무관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finrTel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재무관 연락처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2664820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EF34B8CE-1ABB-F150-1327-3373CEA1C65A}"/>
              </a:ext>
            </a:extLst>
          </p:cNvPr>
          <p:cNvSpPr txBox="1"/>
          <p:nvPr/>
        </p:nvSpPr>
        <p:spPr>
          <a:xfrm>
            <a:off x="452999" y="4677684"/>
            <a:ext cx="429821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신청정보 입력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dm_prfmncPrdocAplyInptInfo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C9045936-57F6-F3EA-C491-B82A0DED9AB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4891367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발급수량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dmndQty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발급수량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제출처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sbmsnDeptNm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제출처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usePrpsCdNm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 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etcUsePrps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 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사용목적이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’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경우만 사용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1026954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D1DCF60F-18A8-3BB4-41A1-F17B43F7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28448984"/>
      </p:ext>
    </p:extLst>
  </p:cSld>
  <p:clrMapOvr>
    <a:masterClrMapping/>
  </p:clrMapOvr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289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(02/19)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ED181E2-3BA7-B57D-98EF-0B776A727D98}"/>
              </a:ext>
            </a:extLst>
          </p:cNvPr>
          <p:cNvSpPr txBox="1"/>
          <p:nvPr/>
        </p:nvSpPr>
        <p:spPr>
          <a:xfrm>
            <a:off x="463235" y="822075"/>
            <a:ext cx="35255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dm_prfmncPrdocAplyInptInfo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9BC5F04A-9C28-E86D-C357-41CF63514215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8117" y="1033278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지출년도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지출년도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prfmncIdntyAmt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선금금액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prpamtIdntyAmt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선금금액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clclnAmt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착수금액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otstDmndAmt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착수금액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중도금액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mdwyDmndAmt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중도금액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보증보험번호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grnteInsrncNo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보증보험번호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37490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확인요청사항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idntyDmndMttr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확인요청사항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9075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clclnYmd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60405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01DAF561-8940-F301-28F9-894AFD6AB87A}"/>
              </a:ext>
            </a:extLst>
          </p:cNvPr>
          <p:cNvSpPr txBox="1"/>
          <p:nvPr/>
        </p:nvSpPr>
        <p:spPr>
          <a:xfrm>
            <a:off x="458117" y="3089635"/>
            <a:ext cx="424852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시공자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대표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dm_prfmncPrdocAplyRprsInfo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42EE9CFD-A820-FA44-B1F2-B804E2C36D2C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8117" y="3300838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salsLctnAddr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10269541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D4DB7E85-55B9-F2B1-FF88-A621CA41216B}"/>
              </a:ext>
            </a:extLst>
          </p:cNvPr>
          <p:cNvSpPr txBox="1"/>
          <p:nvPr/>
        </p:nvSpPr>
        <p:spPr>
          <a:xfrm>
            <a:off x="463235" y="4609033"/>
            <a:ext cx="52872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1.6.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계약 및 준공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 err="1">
                <a:solidFill>
                  <a:prstClr val="black"/>
                </a:solidFill>
              </a:rPr>
              <a:t>총공사</a:t>
            </a:r>
            <a:r>
              <a:rPr lang="ko-KR" altLang="en-US" sz="900" b="1" dirty="0">
                <a:solidFill>
                  <a:prstClr val="black"/>
                </a:solidFill>
              </a:rPr>
              <a:t> 기준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dm_prfmncPrdocAplyWholCstrnInfo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D6DB57DF-3264-70A1-5F25-B696A1D2B69D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8117" y="482023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cmcnAmt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gvspAmt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C88E6329-F98D-BBA4-9329-4767233D4D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614011127"/>
      </p:ext>
    </p:extLst>
  </p:cSld>
  <p:clrMapOvr>
    <a:masterClrMapping/>
  </p:clrMapOvr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290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(03/19)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F94482E-9BC8-2B91-6322-DFD524FE23D9}"/>
              </a:ext>
            </a:extLst>
          </p:cNvPr>
          <p:cNvSpPr txBox="1"/>
          <p:nvPr/>
        </p:nvSpPr>
        <p:spPr>
          <a:xfrm>
            <a:off x="463235" y="799547"/>
            <a:ext cx="517506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1.7.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계약 및 준공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금차공사 기준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6384CB9E-D7A4-B068-B2D0-EC38412C4BF5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8117" y="1010750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ctrtYmd2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bgncstYmd2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cmcnYmd2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cstrnAmt2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cmcnAmt2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gvspAmt2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2C62C28-EE12-EE0B-0C0A-A16F41A38450}"/>
              </a:ext>
            </a:extLst>
          </p:cNvPr>
          <p:cNvSpPr txBox="1"/>
          <p:nvPr/>
        </p:nvSpPr>
        <p:spPr>
          <a:xfrm>
            <a:off x="463235" y="2502345"/>
            <a:ext cx="441042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1.8.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공사성질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msb_prfmncPrdocAplyCstrnTypeInfo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F8AAFAF7-108B-EEEE-7473-DE803731BDB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2713548"/>
          <a:ext cx="8994883" cy="947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cnstrDivs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cnstrNewCstrnYn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cnstrExpnCstrnYn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cnstrRmdlCstrnYn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의 값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다중 선택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eltyDivs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eltyNewCstrnYn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eltyEpxnCstrnYn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eltyRlocatCstrnYn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eltyEstblCstrnYn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eltyRprwrkYn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의 값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다중 선택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F09C00F4-9404-C91B-1399-DF8169011927}"/>
              </a:ext>
            </a:extLst>
          </p:cNvPr>
          <p:cNvSpPr txBox="1"/>
          <p:nvPr/>
        </p:nvSpPr>
        <p:spPr>
          <a:xfrm>
            <a:off x="468353" y="3795223"/>
            <a:ext cx="446172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공동도급 여부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rad_prfmncPrdocAplyJntCtrcInfo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7DB4DE96-8723-0921-3DA8-36813F40B07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3235" y="4006426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jntCtrcCd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3B425BEC-47CD-CD5A-3F29-5C4F485229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537094785"/>
      </p:ext>
    </p:extLst>
  </p:cSld>
  <p:clrMapOvr>
    <a:masterClrMapping/>
  </p:clrMapOvr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291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(04/19)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20BE741-117A-6D32-5EBE-43EDB3129FD8}"/>
              </a:ext>
            </a:extLst>
          </p:cNvPr>
          <p:cNvSpPr txBox="1"/>
          <p:nvPr/>
        </p:nvSpPr>
        <p:spPr>
          <a:xfrm>
            <a:off x="463235" y="874033"/>
            <a:ext cx="468614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1.10.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실적의 종류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dm_prfmncPrdocAplyprfmncTypeInfo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6593A7EF-D452-FBE8-B657-CCAAF1ECE555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8117" y="1085236"/>
          <a:ext cx="8994883" cy="38620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078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40875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실적의종류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rsltDivs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prfmncCncptDesignYn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prfmncBscDesignYn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prfmncEnfrcDesignYn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prfmncCnstYn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prfmncSpvbYn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prfmncQltyCstrnMngYn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prfmncTstrnYn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prfmncMcmtrFbctnInstlYn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prfmncEtcYn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의 값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다중 선택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7250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enbrno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04112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08895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7317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wholCstrnCnstAmt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521419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18935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gvspAmt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912704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wholCstrnCnstSclExpln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시공규모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52263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시공 규모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방법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cnstBcoSclMthdCn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시공 규모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방법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661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cnstBcoCnstAmtCn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619111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중공금액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cnstBcoCmcnAmtCn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중공금액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567488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cnstBcoGvspAmtCn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관급금액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7492797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DE98DCE7-3703-62EA-C591-0D2AFCE97F56}"/>
              </a:ext>
            </a:extLst>
          </p:cNvPr>
          <p:cNvSpPr txBox="1"/>
          <p:nvPr/>
        </p:nvSpPr>
        <p:spPr>
          <a:xfrm>
            <a:off x="453000" y="5119726"/>
            <a:ext cx="428058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1.11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하도급 내용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dm_prfmncPrdocAplySbctrInfo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9A4AE937-CE3D-39A4-C44A-325B4A7851E4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3000" y="5326571"/>
          <a:ext cx="8994883" cy="1091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7282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75894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sbctrSeNm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하도급공사규모 및 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sbctrCstrnSclCn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하도급공사규모 및 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5025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 발급일 기준 시공내용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cnstBcoGvspAmtCn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 발급일 기준 시공내용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7547307"/>
                  </a:ext>
                </a:extLst>
              </a:tr>
            </a:tbl>
          </a:graphicData>
        </a:graphic>
      </p:graphicFrame>
      <p:sp>
        <p:nvSpPr>
          <p:cNvPr id="9" name="Text Box 73">
            <a:extLst>
              <a:ext uri="{FF2B5EF4-FFF2-40B4-BE49-F238E27FC236}">
                <a16:creationId xmlns:a16="http://schemas.microsoft.com/office/drawing/2014/main" id="{22CC85B2-AFAE-35F7-BE83-4D56FE2D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17731225"/>
      </p:ext>
    </p:extLst>
  </p:cSld>
  <p:clrMapOvr>
    <a:masterClrMapping/>
  </p:clrMapOvr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292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(05/19)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A9C8262-3EA1-2756-0C68-C364281C05B7}"/>
              </a:ext>
            </a:extLst>
          </p:cNvPr>
          <p:cNvSpPr txBox="1"/>
          <p:nvPr/>
        </p:nvSpPr>
        <p:spPr>
          <a:xfrm>
            <a:off x="455558" y="1064351"/>
            <a:ext cx="56607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1.12.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최저가 적정성심사관련 시공실적자료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dm_prfmncPrdocAplyLwprcInfo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446C8FCD-2050-5A41-D075-16415974C18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8117" y="1278034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사용장비명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useEqpmntNm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사용장비명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장비규격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eqpmntSpcfctCn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장비규격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5025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투입대수 누계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inputCntomCn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투입대수 누계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75473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작업량 누계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wkqtyActotCn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작업량 누계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599187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작업시간 누계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jobHrActotCn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작업시간 누계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437887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시간당 작업량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ptmWkqtyCn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시간당 작업량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83432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 참고사항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etcRefMttr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 참고사항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5429073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F6277042-213F-BD1E-DB8E-DFAFA33C9135}"/>
              </a:ext>
            </a:extLst>
          </p:cNvPr>
          <p:cNvSpPr txBox="1"/>
          <p:nvPr/>
        </p:nvSpPr>
        <p:spPr>
          <a:xfrm>
            <a:off x="455558" y="3147008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1.13.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17E37716-D066-1919-8A1E-A572C82D71A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3379619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salsLctnAddr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D1386225-D664-D673-3575-749B0598A6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93090412"/>
      </p:ext>
    </p:extLst>
  </p:cSld>
  <p:clrMapOvr>
    <a:masterClrMapping/>
  </p:clrMapOvr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293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380480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(06/19)</a:t>
            </a:r>
            <a:endParaRPr lang="ko-KR" altLang="en-US" sz="1000" b="1" dirty="0">
              <a:solidFill>
                <a:prstClr val="black"/>
              </a:solidFill>
            </a:endParaRPr>
          </a:p>
          <a:p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FF92358-CECD-C653-3FA6-3D4C7200DF2E}"/>
              </a:ext>
            </a:extLst>
          </p:cNvPr>
          <p:cNvSpPr txBox="1"/>
          <p:nvPr/>
        </p:nvSpPr>
        <p:spPr>
          <a:xfrm>
            <a:off x="510736" y="952078"/>
            <a:ext cx="446974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3A7250B9-9B5E-2209-667D-08910AAAEAC0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8117" y="1161923"/>
          <a:ext cx="8994883" cy="42662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019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1288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6237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grndsLctnAddr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 소재지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cstrnTypeNm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신설공사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유지보수공사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lcpmtInstNm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mfrcFldNm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snthsDtlCnstpNm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CODE.getCsrtDivsSub1()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84919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99127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30707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755572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이월금액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이월금액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81746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23226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964225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795590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thyrPxcndGiveAmt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824745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누계지급액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prvyrGiveActotAmt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누계지급액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70975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발주자공급자재액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thyrOdrSplyMtrlAmt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발주자공급자재액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06386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누계관급자재액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prvyrGvspMtrlActotAmt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누계관급자재액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14640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etcMttr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사항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56278402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E2DC87E8-B095-9797-67BA-FAE74F2AFE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75497814"/>
      </p:ext>
    </p:extLst>
  </p:cSld>
  <p:clrMapOvr>
    <a:masterClrMapping/>
  </p:clrMapOvr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294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(07/19)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70D660A-7345-AF1D-5B81-E928CEEDB7EC}"/>
              </a:ext>
            </a:extLst>
          </p:cNvPr>
          <p:cNvSpPr txBox="1"/>
          <p:nvPr/>
        </p:nvSpPr>
        <p:spPr>
          <a:xfrm>
            <a:off x="455558" y="875998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1.15.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8D75A14-F914-E1A0-5B45-3CD32C5BD8E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1083301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허가번호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허가번호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38722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증명서용도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prdocUsgCn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증명서용도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27061D54-42C2-ABC2-BEC4-E9F8D2B3ADDF}"/>
              </a:ext>
            </a:extLst>
          </p:cNvPr>
          <p:cNvSpPr txBox="1"/>
          <p:nvPr/>
        </p:nvSpPr>
        <p:spPr>
          <a:xfrm>
            <a:off x="460676" y="2319372"/>
            <a:ext cx="575695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1.16.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건설폐기물 수집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운반용역 이행실적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dm_prfmncPrdocAplyClctCnvncInfo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88055FD-6A65-6C0E-FFEA-FC4E4404E88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2530575"/>
          <a:ext cx="8994883" cy="1795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clctCnvncLbsvcNm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clctCnvncCtrtBgngYmd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clctCnvncCndspKndNm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clctCnvncCnsgnQtyCn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clctCnvncPxcndPrfmncAmt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clctCnvncRmrkCn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364BF7FE-3684-6278-BA47-60FCDEF7768D}"/>
              </a:ext>
            </a:extLst>
          </p:cNvPr>
          <p:cNvSpPr txBox="1"/>
          <p:nvPr/>
        </p:nvSpPr>
        <p:spPr>
          <a:xfrm>
            <a:off x="460676" y="4454936"/>
            <a:ext cx="58755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1.17.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건설폐기물 중간처리용역 이행실적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dm_prfmncPrdocAplyMdPrcsLbsvcInfo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C099DDEA-9A7A-90A8-4440-F5509D4AA7E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4666139"/>
          <a:ext cx="8994883" cy="1795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mdPrcsLbsvcNm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mdPrcsCtprCn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mdPrcsCndspKndNm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mdPrcsCnSgnQtyCn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mdPrcsPxCndPrfmncAmt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mdPrcsRmrkCn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06E16C6D-EBCC-AEC4-9DA3-3596FBA742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76448138"/>
      </p:ext>
    </p:extLst>
  </p:cSld>
  <p:clrMapOvr>
    <a:masterClrMapping/>
  </p:clrMapOvr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295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(08/19)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BE413DB-BAE1-A5CA-06E1-959007BAF8C7}"/>
              </a:ext>
            </a:extLst>
          </p:cNvPr>
          <p:cNvSpPr txBox="1"/>
          <p:nvPr/>
        </p:nvSpPr>
        <p:spPr>
          <a:xfrm>
            <a:off x="463235" y="837759"/>
            <a:ext cx="4113874" cy="349702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1.18.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</a:p>
          <a:p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B9B184D5-1CB7-6E4A-E3B7-E4E1F2322E95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8117" y="1048962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salsLctnAddr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952C0DE-EC99-B818-90E4-0044D8E380B5}"/>
              </a:ext>
            </a:extLst>
          </p:cNvPr>
          <p:cNvSpPr txBox="1"/>
          <p:nvPr/>
        </p:nvSpPr>
        <p:spPr>
          <a:xfrm>
            <a:off x="463235" y="2216782"/>
            <a:ext cx="446974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D01B924D-3AF8-D0AD-B04D-FA009F03FEB4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8117" y="2427985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준공연월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준공연월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이월공사액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이월공사액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thyrPxcndGiveAmt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prvyrGiveActotAmt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thyrPxcndAmt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922AB7D3-1330-192A-380E-E2C81C8EBA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24731997"/>
      </p:ext>
    </p:extLst>
  </p:cSld>
  <p:clrMapOvr>
    <a:masterClrMapping/>
  </p:clrMapOvr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296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(09/19)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4CCEC13-90FF-84FB-1FC6-C272DC4FAD85}"/>
              </a:ext>
            </a:extLst>
          </p:cNvPr>
          <p:cNvSpPr txBox="1"/>
          <p:nvPr/>
        </p:nvSpPr>
        <p:spPr>
          <a:xfrm>
            <a:off x="429215" y="887706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1.20.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5DD2849-0F24-7B79-34A0-1ED4EC256DC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29215" y="1098909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66521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lctnAddr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C0A5D196-94BC-4511-0404-D81CC6B7E970}"/>
              </a:ext>
            </a:extLst>
          </p:cNvPr>
          <p:cNvSpPr txBox="1"/>
          <p:nvPr/>
        </p:nvSpPr>
        <p:spPr>
          <a:xfrm>
            <a:off x="434333" y="2266729"/>
            <a:ext cx="524880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1.21.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실적증명서신처</a:t>
            </a:r>
            <a:r>
              <a:rPr lang="ko-KR" altLang="en-US" sz="900" b="1" dirty="0">
                <a:solidFill>
                  <a:prstClr val="black"/>
                </a:solidFill>
              </a:rPr>
              <a:t> 소방시설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dm_prfmncPrdocAplyFrsvcCstrnDsctnInfo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C38C5703-47BA-C42E-134E-1E7471B15DC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29215" y="2477932"/>
          <a:ext cx="8994883" cy="26428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tpbizNm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cstrnGrndsAddr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공사지역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cstrnRgnNm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공사지역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orderInstNm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orgctrNm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계약체결일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계약체결일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ctrtMthdNm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일반경쟁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제한경쟁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지명경쟁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원도급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소화설비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경보설비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피난설비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소화용수설비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소화활동설비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D57284C7-242C-13C2-BEA2-98E155EEF2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45222683"/>
      </p:ext>
    </p:extLst>
  </p:cSld>
  <p:clrMapOvr>
    <a:masterClrMapping/>
  </p:clrMapOvr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297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(10/19)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2" name="Text Box 73">
            <a:extLst>
              <a:ext uri="{FF2B5EF4-FFF2-40B4-BE49-F238E27FC236}">
                <a16:creationId xmlns:a16="http://schemas.microsoft.com/office/drawing/2014/main" id="{5269E6D2-C599-CE6A-6B73-1B8B10A9A8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CAE51CA8-B851-C014-4942-C9726A17F7F4}"/>
              </a:ext>
            </a:extLst>
          </p:cNvPr>
          <p:cNvSpPr txBox="1"/>
          <p:nvPr/>
        </p:nvSpPr>
        <p:spPr>
          <a:xfrm>
            <a:off x="463235" y="1066746"/>
            <a:ext cx="559985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1.22.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소방시설 공사실적 금액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dm_prfmncPrdocAplyFrsvcCstrnPrfmncInfo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2600223-C915-C0B9-3200-4B075AEEEDEC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8117" y="1277949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953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3401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ctrcTctrtAmt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prvyrNestblAmt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sbctrBzentyNm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업체명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sbctrRegNo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29858650"/>
      </p:ext>
    </p:extLst>
  </p:cSld>
  <p:clrMapOvr>
    <a:masterClrMapping/>
  </p:clrMapOvr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298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(11/19)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2" name="Text Box 73">
            <a:extLst>
              <a:ext uri="{FF2B5EF4-FFF2-40B4-BE49-F238E27FC236}">
                <a16:creationId xmlns:a16="http://schemas.microsoft.com/office/drawing/2014/main" id="{5269E6D2-C599-CE6A-6B73-1B8B10A9A8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77EFA38-0BCF-E62D-6D10-D106B5E68580}"/>
              </a:ext>
            </a:extLst>
          </p:cNvPr>
          <p:cNvSpPr txBox="1"/>
          <p:nvPr/>
        </p:nvSpPr>
        <p:spPr>
          <a:xfrm>
            <a:off x="463235" y="1096221"/>
            <a:ext cx="565916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1.23.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복합공종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타 </a:t>
            </a:r>
            <a:r>
              <a:rPr lang="ko-KR" altLang="en-US" sz="900" b="1" dirty="0" err="1">
                <a:solidFill>
                  <a:prstClr val="black"/>
                </a:solidFill>
              </a:rPr>
              <a:t>공종</a:t>
            </a:r>
            <a:r>
              <a:rPr lang="ko-KR" altLang="en-US" sz="900" b="1" dirty="0">
                <a:solidFill>
                  <a:prstClr val="black"/>
                </a:solidFill>
              </a:rPr>
              <a:t>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실적내용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E76710F9-BC4E-11D5-4F7A-0334F6899640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8117" y="1307424"/>
          <a:ext cx="8994883" cy="31027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cstrnNm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ctrcAmt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prvyrPxcndAmt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thsyrPxcndAmt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nestblAmt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cstrnNm2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ctrcAmt2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5431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prvyrPxcndAmt2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thsyrPxcndAmt2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nestblAmt2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cstrnNm3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39559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ctrcAmt3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60117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prvyrPxcndAmt3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6280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thsyrPxcndAmt3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45448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nestblAmt3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8424885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63199488"/>
      </p:ext>
    </p:extLst>
  </p:cSld>
  <p:clrMapOvr>
    <a:masterClrMapping/>
  </p:clrMapOvr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299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(12/19)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7919742-9F88-3E88-B47F-E969969ECF8E}"/>
              </a:ext>
            </a:extLst>
          </p:cNvPr>
          <p:cNvSpPr txBox="1"/>
          <p:nvPr/>
        </p:nvSpPr>
        <p:spPr>
          <a:xfrm>
            <a:off x="460676" y="867838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4864D96-C35C-12BD-4B29-F02071D1C240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1121903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90394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bldrRegNo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2549965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B795774B-3284-E9D2-5E06-FE879861AA8F}"/>
              </a:ext>
            </a:extLst>
          </p:cNvPr>
          <p:cNvSpPr txBox="1"/>
          <p:nvPr/>
        </p:nvSpPr>
        <p:spPr>
          <a:xfrm>
            <a:off x="460676" y="2509045"/>
            <a:ext cx="494262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1.25.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전기공사 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dm_prfmncPrdocAplyEltyCstrnDsctnInfo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4D3F15B7-33B6-8A14-3D13-C1B9AB224A8B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2720248"/>
          <a:ext cx="8994883" cy="28867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발전설비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송전설비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변전설비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배전설비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산업시설물전기설비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건축물전기설비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구조물전기설비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도로전기설비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공항전기설비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항만전기설비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전기철도설비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철도신호설비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 전기설비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cstrnGrndsNm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orgctrNm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orderIntstNm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orgctrRegNo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ctrtMthdNm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일반경쟁입찰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제한경쟁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지명경쟁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원도급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자가수요공사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667EA6EC-EB5B-ACE9-B68A-3273A9D77F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54662702"/>
      </p:ext>
    </p:extLst>
  </p:cSld>
  <p:clrMapOvr>
    <a:masterClrMapping/>
  </p:clrMapOvr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300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(13/19)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8D020391-6BA9-2E91-175E-D773C7F45A52}"/>
              </a:ext>
            </a:extLst>
          </p:cNvPr>
          <p:cNvSpPr txBox="1"/>
          <p:nvPr/>
        </p:nvSpPr>
        <p:spPr>
          <a:xfrm>
            <a:off x="455558" y="818602"/>
            <a:ext cx="525360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1.26.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전기공사실적 금액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dm_prfmncPrdocAplyEltyCstrnPrfmncInfo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A4FAEE54-16E8-DF49-77FD-01C150F9FEF2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1024033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36697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46548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5334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ctrcTctrtAmt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이월액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prvyrCrfwAmt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이월액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thyrNestblAmt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관급자재액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gvspMtrlAmt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관급자재액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다른공사포함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etcCstrnKndPxcndAmt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다른공사포함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 또는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변경분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 또는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변경분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F7544D27-6A9E-E000-6A4F-43081CDE1086}"/>
              </a:ext>
            </a:extLst>
          </p:cNvPr>
          <p:cNvSpPr txBox="1"/>
          <p:nvPr/>
        </p:nvSpPr>
        <p:spPr>
          <a:xfrm>
            <a:off x="460676" y="3418276"/>
            <a:ext cx="427096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1.27.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하도급내역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dm_prfmncPrdocAplySbctrInfo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F874F7C9-509D-86D7-E153-18CFB398129E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3629479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sbctrRegNo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sbctrBzentyNm2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sbctrRegNo2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sbctrRprsvNm2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3D3E10F7-735A-384B-D044-B5A65A490D4E}"/>
              </a:ext>
            </a:extLst>
          </p:cNvPr>
          <p:cNvSpPr txBox="1"/>
          <p:nvPr/>
        </p:nvSpPr>
        <p:spPr>
          <a:xfrm>
            <a:off x="460676" y="5566009"/>
            <a:ext cx="423570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1.28.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시공규모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dm_prfmncPrdocAplyCnstSclInfo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B7222A68-8CC6-55BD-98CE-A8DEF902A55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5777212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cnstSclExpln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시공규모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798F4079-1F4A-3AA2-EDD7-670B7B3A41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164966135"/>
      </p:ext>
    </p:extLst>
  </p:cSld>
  <p:clrMapOvr>
    <a:masterClrMapping/>
  </p:clrMapOvr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301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(14/19)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C5A8BAA-FEBC-A2D7-CDF6-5161FCA41941}"/>
              </a:ext>
            </a:extLst>
          </p:cNvPr>
          <p:cNvSpPr txBox="1"/>
          <p:nvPr/>
        </p:nvSpPr>
        <p:spPr>
          <a:xfrm>
            <a:off x="460676" y="873352"/>
            <a:ext cx="65151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복합공사종류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다른 공사 종류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 명세 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(1/3)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0F053B0C-6356-2030-886E-67B59B2E902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1084555"/>
          <a:ext cx="8994883" cy="42662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2960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71392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54601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prvyrEltyCstrnPxcndAmt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3144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057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9013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07669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53347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91894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57187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7474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616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prvyrM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3629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84012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878285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7097774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9FF465BE-D071-908C-E037-42D480D087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62718580"/>
      </p:ext>
    </p:extLst>
  </p:cSld>
  <p:clrMapOvr>
    <a:masterClrMapping/>
  </p:clrMapOvr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302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(15/19)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C5ABABC4-5791-1F7E-9C6D-7C88CC75CCDD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08776" y="1135677"/>
          <a:ext cx="8994883" cy="42662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3275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09178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4050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3144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057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prvyrA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9013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07669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53347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91894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commCstrnCtrtAmt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57187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commC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7474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comm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616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prvyrC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omm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3629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84012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614667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4885042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C66EFF21-2FB6-299D-CE6A-F799C6ED1FAA}"/>
              </a:ext>
            </a:extLst>
          </p:cNvPr>
          <p:cNvSpPr txBox="1"/>
          <p:nvPr/>
        </p:nvSpPr>
        <p:spPr>
          <a:xfrm>
            <a:off x="458117" y="905416"/>
            <a:ext cx="65151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복합공사종류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다른 공사 종류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 명세 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(2/3)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B2DD5028-C8D4-B1A6-19BF-AF43B8A50A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7762814"/>
      </p:ext>
    </p:extLst>
  </p:cSld>
  <p:clrMapOvr>
    <a:masterClrMapping/>
  </p:clrMapOvr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303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(16/19)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66EFF21-2FB6-299D-CE6A-F799C6ED1FAA}"/>
              </a:ext>
            </a:extLst>
          </p:cNvPr>
          <p:cNvSpPr txBox="1"/>
          <p:nvPr/>
        </p:nvSpPr>
        <p:spPr>
          <a:xfrm>
            <a:off x="460676" y="885231"/>
            <a:ext cx="65151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복합공사종류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다른 공사 종류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 명세 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(3/3)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ED9E8A80-A4F9-0812-AACD-8E66645E1EF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31758" y="1102368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661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52811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4280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prvyrEtcCstrnPxcndAmt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1571C2C5-D197-A374-72B6-4AC77070BC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68864905"/>
      </p:ext>
    </p:extLst>
  </p:cSld>
  <p:clrMapOvr>
    <a:masterClrMapping/>
  </p:clrMapOvr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304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(17/19)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9D41572-54CB-BB97-14B8-26728B8BF74E}"/>
              </a:ext>
            </a:extLst>
          </p:cNvPr>
          <p:cNvSpPr txBox="1"/>
          <p:nvPr/>
        </p:nvSpPr>
        <p:spPr>
          <a:xfrm>
            <a:off x="455558" y="826601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1.30.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177CE651-A68C-38D8-F57D-83B2DEC3539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1050103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7929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15233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6524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salsLctnAddr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lcnsNoVl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2549965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8A47D1D4-18BA-6688-655A-E575CF4DC5BF}"/>
              </a:ext>
            </a:extLst>
          </p:cNvPr>
          <p:cNvSpPr txBox="1"/>
          <p:nvPr/>
        </p:nvSpPr>
        <p:spPr>
          <a:xfrm>
            <a:off x="460676" y="2107412"/>
            <a:ext cx="451141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1.31.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8DD57D6-6C16-028F-36D2-73484B85928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2318615"/>
          <a:ext cx="8994883" cy="38064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918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15233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63995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grndsLctnAddr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cstrnTypeNm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신설공사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유지보수공사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lcpmtInstNm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mfrcFldNm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년웡일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년웡일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telgmDtlCnstpNm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CODE.getCsrtDivsSub2()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이월금액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이월금액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197575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121432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4709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78492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thyrPxcndGiveAmt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2379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누계지급액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prvyrGiveActotAmt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누계지급액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11401869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C2262D1C-90AA-8AB5-963B-11B9874C6C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45074540"/>
      </p:ext>
    </p:extLst>
  </p:cSld>
  <p:clrMapOvr>
    <a:masterClrMapping/>
  </p:clrMapOvr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305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(18/19)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AA88E40-EC22-8EC3-7EA4-A41FCEA2C056}"/>
              </a:ext>
            </a:extLst>
          </p:cNvPr>
          <p:cNvSpPr txBox="1"/>
          <p:nvPr/>
        </p:nvSpPr>
        <p:spPr>
          <a:xfrm>
            <a:off x="458117" y="850431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1.32.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E221A27-4A35-40D5-4B24-0A904AD4BEF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8117" y="1089907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salsLctnAddr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lcnsNoVl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2549965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C9866966-F2EA-F6E9-3795-7D7FDCF17347}"/>
              </a:ext>
            </a:extLst>
          </p:cNvPr>
          <p:cNvSpPr txBox="1"/>
          <p:nvPr/>
        </p:nvSpPr>
        <p:spPr>
          <a:xfrm>
            <a:off x="463235" y="2277879"/>
            <a:ext cx="443928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1.33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F6986C65-5B27-992A-C159-8829D62C403A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8117" y="2489082"/>
          <a:ext cx="8994883" cy="27148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grndsLctnAddr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cnstpNm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year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thyrPxcndAmt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telgmDtlCnstpNm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CODE.getCsrtDivsSub2()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19757592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D6270751-BA05-4CEC-AF0D-C9D73F987E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68340472"/>
      </p:ext>
    </p:extLst>
  </p:cSld>
  <p:clrMapOvr>
    <a:masterClrMapping/>
  </p:clrMapOvr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306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(19/19)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0650BC42-08DC-7529-EB0E-36C2B48020C9}"/>
              </a:ext>
            </a:extLst>
          </p:cNvPr>
          <p:cNvSpPr txBox="1"/>
          <p:nvPr/>
        </p:nvSpPr>
        <p:spPr>
          <a:xfrm>
            <a:off x="463235" y="906258"/>
            <a:ext cx="46140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추가사항 입력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dm_prfmncPrdocAplyAddMttrInfo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60B0D306-5BE2-05D0-9F7D-337578DB8F5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8117" y="1117461"/>
          <a:ext cx="8994883" cy="2520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prfmncYr1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prfmncYr2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실적비율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prfmncDmndRt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실적비율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prfmncDmndAmt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spcfct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dlvgdsYmd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37490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unitNm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9075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prfmncQty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수량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6040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용역범위 및 기준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lbsvcScp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용역범위 및 기준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72733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scl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규모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1094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7878481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C428832D-480D-B977-43BD-05C938EE3B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103763543"/>
      </p:ext>
    </p:extLst>
  </p:cSld>
  <p:clrMapOvr>
    <a:masterClrMapping/>
  </p:clrMapOvr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307</a:t>
            </a:fld>
            <a:endParaRPr lang="ko-KR" altLang="en-US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DFAC4364-5513-3434-312C-776E5A3675B0}"/>
              </a:ext>
            </a:extLst>
          </p:cNvPr>
          <p:cNvSpPr txBox="1"/>
          <p:nvPr/>
        </p:nvSpPr>
        <p:spPr>
          <a:xfrm>
            <a:off x="455204" y="67304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C4DAA11-E016-20BA-01A0-52F16DF0C25D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204" y="914891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scwin.btn_strg_onclick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신청 내용을 임시 저장한다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0600056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scwin.btn_aply_onclick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저장된 실적증명서 신청 내용을 신청한다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74305612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DC6307A0-C88E-FC16-3BC3-BE78E930BF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776663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09802251"/>
      </p:ext>
    </p:extLst>
  </p:cSld>
  <p:clrMapOvr>
    <a:masterClrMapping/>
  </p:clrMapOvr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온라인 제출 대상 협회 </a:t>
            </a:r>
            <a:r>
              <a:rPr lang="en-US" altLang="ko-KR" dirty="0"/>
              <a:t>(7) </a:t>
            </a:r>
            <a:r>
              <a:rPr lang="en-US" altLang="ko-KR" dirty="0" smtClean="0"/>
              <a:t>: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대한건설협회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건설산업정보원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대한전문건설협회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한국전기공사협회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한국정보통신공사협회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한국건설기술인협회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한국소방시설협회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제출 협회 명칭 표시 및 선택 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제출</a:t>
            </a:r>
            <a:r>
              <a:rPr lang="ko-KR" altLang="en-US" dirty="0"/>
              <a:t>이</a:t>
            </a:r>
            <a:r>
              <a:rPr lang="ko-KR" altLang="en-US" dirty="0" smtClean="0"/>
              <a:t> 되지 않은 상태에서는 레이블 </a:t>
            </a:r>
            <a:r>
              <a:rPr lang="ko-KR" altLang="en-US" dirty="0" err="1" smtClean="0"/>
              <a:t>미표시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상태에 따라 레이블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비고 작성 클릭 시 가상 </a:t>
            </a:r>
            <a:r>
              <a:rPr lang="ko-KR" altLang="en-US" dirty="0" err="1" smtClean="0"/>
              <a:t>키패드</a:t>
            </a:r>
            <a:r>
              <a:rPr lang="ko-KR" altLang="en-US" dirty="0" smtClean="0"/>
              <a:t> 활성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기능 버튼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상태에 따라 제출하기 및 </a:t>
            </a:r>
            <a:r>
              <a:rPr lang="ko-KR" altLang="en-US" dirty="0" err="1" smtClean="0"/>
              <a:t>제출취소</a:t>
            </a:r>
            <a:r>
              <a:rPr lang="ko-KR" altLang="en-US" dirty="0" smtClean="0"/>
              <a:t>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기본값 </a:t>
            </a:r>
            <a:r>
              <a:rPr lang="en-US" altLang="ko-KR" dirty="0" smtClean="0"/>
              <a:t>: </a:t>
            </a:r>
            <a:r>
              <a:rPr lang="ko-KR" altLang="en-US" dirty="0" smtClean="0"/>
              <a:t>제출하기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송신완료</a:t>
            </a:r>
            <a:r>
              <a:rPr lang="ko-KR" altLang="en-US" dirty="0" smtClean="0"/>
              <a:t> 건이 선택되는 경우 제출하기 </a:t>
            </a:r>
            <a:r>
              <a:rPr lang="en-US" altLang="ko-KR" dirty="0" smtClean="0">
                <a:sym typeface="Wingdings" panose="05000000000000000000" pitchFamily="2" charset="2"/>
              </a:rPr>
              <a:t> </a:t>
            </a:r>
            <a:r>
              <a:rPr lang="ko-KR" altLang="en-US" dirty="0" err="1" smtClean="0"/>
              <a:t>제출취소</a:t>
            </a:r>
            <a:r>
              <a:rPr lang="ko-KR" altLang="en-US" dirty="0" smtClean="0"/>
              <a:t> 명칭 변경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308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실적증명서 제출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</a:t>
            </a:r>
            <a:r>
              <a:rPr lang="ko-KR" altLang="en-US" dirty="0" smtClean="0">
                <a:latin typeface="+mn-ea"/>
              </a:rPr>
              <a:t>제출</a:t>
            </a:r>
            <a:r>
              <a:rPr lang="ko-KR" altLang="en-US" dirty="0" smtClean="0"/>
              <a:t> 팝업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상세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제출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MUI-CM-04-P20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31826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실적증명서 제출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241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92374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85" name="그룹 84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86" name="직사각형 85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제출하기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8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27550" y="3927245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대한건설협회</a:t>
            </a:r>
          </a:p>
        </p:txBody>
      </p:sp>
      <p:sp>
        <p:nvSpPr>
          <p:cNvPr id="93" name="모서리가 둥근 직사각형 92"/>
          <p:cNvSpPr/>
          <p:nvPr/>
        </p:nvSpPr>
        <p:spPr>
          <a:xfrm>
            <a:off x="2859859" y="3912224"/>
            <a:ext cx="398489" cy="162000"/>
          </a:xfrm>
          <a:prstGeom prst="roundRect">
            <a:avLst>
              <a:gd name="adj" fmla="val 23409"/>
            </a:avLst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 dirty="0" smtClean="0">
                <a:solidFill>
                  <a:schemeClr val="tx1"/>
                </a:solidFill>
              </a:rPr>
              <a:t>선택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grpSp>
        <p:nvGrpSpPr>
          <p:cNvPr id="133" name="그룹 13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066791"/>
            <a:ext cx="76863" cy="292489"/>
            <a:chOff x="3750067" y="4683795"/>
            <a:chExt cx="76863" cy="292489"/>
          </a:xfrm>
        </p:grpSpPr>
        <p:sp>
          <p:nvSpPr>
            <p:cNvPr id="134" name="타원 13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35" name="타원 13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36" name="타원 13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37" name="TextBox 1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7" y="3557443"/>
            <a:ext cx="1701582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온라인 제출 가능 협회 목록</a:t>
            </a:r>
            <a:endParaRPr lang="ko-KR" altLang="en-US" sz="900" dirty="0">
              <a:latin typeface="+mn-ea"/>
            </a:endParaRPr>
          </a:p>
        </p:txBody>
      </p:sp>
      <p:sp>
        <p:nvSpPr>
          <p:cNvPr id="144" name="모서리가 둥근 직사각형 143"/>
          <p:cNvSpPr/>
          <p:nvPr/>
        </p:nvSpPr>
        <p:spPr>
          <a:xfrm>
            <a:off x="1486956" y="3933524"/>
            <a:ext cx="397895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>
                <a:solidFill>
                  <a:prstClr val="black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송신완료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21688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78108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48" name="TextBox 14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27550" y="4361327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/>
              <a:t>건설산업정보원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27550" y="4571950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비고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4" name="모서리가 둥근 직사각형 153"/>
          <p:cNvSpPr/>
          <p:nvPr/>
        </p:nvSpPr>
        <p:spPr>
          <a:xfrm>
            <a:off x="2859859" y="4458703"/>
            <a:ext cx="398489" cy="162000"/>
          </a:xfrm>
          <a:prstGeom prst="roundRect">
            <a:avLst>
              <a:gd name="adj" fmla="val 23409"/>
            </a:avLst>
          </a:prstGeom>
          <a:solidFill>
            <a:srgbClr val="0070C0"/>
          </a:solidFill>
          <a:ln>
            <a:solidFill>
              <a:srgbClr val="0070C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>
                <a:solidFill>
                  <a:schemeClr val="bg1"/>
                </a:solidFill>
              </a:rPr>
              <a:t>선택</a:t>
            </a:r>
            <a:endParaRPr lang="ko-KR" altLang="en-US" sz="600" b="1" dirty="0">
              <a:solidFill>
                <a:schemeClr val="bg1"/>
              </a:solidFill>
            </a:endParaRPr>
          </a:p>
        </p:txBody>
      </p:sp>
      <p:sp>
        <p:nvSpPr>
          <p:cNvPr id="155" name="모서리가 둥근 직사각형 154"/>
          <p:cNvSpPr/>
          <p:nvPr/>
        </p:nvSpPr>
        <p:spPr>
          <a:xfrm>
            <a:off x="1059429" y="4532211"/>
            <a:ext cx="1713401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smtClean="0">
                <a:solidFill>
                  <a:schemeClr val="tx1"/>
                </a:solidFill>
              </a:rPr>
              <a:t>계약 금액이 다름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57" name="모서리가 둥근 직사각형 156"/>
          <p:cNvSpPr/>
          <p:nvPr/>
        </p:nvSpPr>
        <p:spPr>
          <a:xfrm>
            <a:off x="1595086" y="4367606"/>
            <a:ext cx="397895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 smtClean="0">
                <a:solidFill>
                  <a:prstClr val="black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제출취소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158" name="직선 연결선 1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86424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0" name="타원 1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581786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663757098"/>
      </p:ext>
    </p:extLst>
  </p:cSld>
  <p:clrMapOvr>
    <a:masterClrMapping/>
  </p:clrMapOvr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309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EAA0099C-AAC0-1739-90BF-B50AFF63E31D}"/>
              </a:ext>
            </a:extLst>
          </p:cNvPr>
          <p:cNvSpPr txBox="1"/>
          <p:nvPr/>
        </p:nvSpPr>
        <p:spPr>
          <a:xfrm>
            <a:off x="471620" y="841653"/>
            <a:ext cx="307192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실적증명서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417A8E60-B99E-BD89-0635-F60DBC72D054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6502" y="1052856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issuNo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prfmncRcptNo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452C738E-BB4C-9DAB-6ADA-0F90D10C4093}"/>
              </a:ext>
            </a:extLst>
          </p:cNvPr>
          <p:cNvSpPr txBox="1"/>
          <p:nvPr/>
        </p:nvSpPr>
        <p:spPr>
          <a:xfrm>
            <a:off x="458117" y="510129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8529455-CAFE-C9BD-2851-C328BCB75BB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92789325"/>
              </p:ext>
            </p:extLst>
          </p:nvPr>
        </p:nvGraphicFramePr>
        <p:xfrm>
          <a:off x="458117" y="5332830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제출취소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scwin.btn_sbmsnRtrcn_onclick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협회로 제출된 실적증명서가 오류가 있어 연락을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받았을때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제출취소 버튼을 클릭하여 비고란에 제출취소 내용을 입력 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협회로 내용을 전송한다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403160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제출하기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scwin.btn_sbmsn_onclick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발급된 실적증명서 정보를 선택된 협회로 제출된다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멀티로 협회 선택 가능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845261"/>
                  </a:ext>
                </a:extLst>
              </a:tr>
            </a:tbl>
          </a:graphicData>
        </a:graphic>
      </p:graphicFrame>
      <p:sp>
        <p:nvSpPr>
          <p:cNvPr id="16" name="Text Box 73">
            <a:extLst>
              <a:ext uri="{FF2B5EF4-FFF2-40B4-BE49-F238E27FC236}">
                <a16:creationId xmlns:a16="http://schemas.microsoft.com/office/drawing/2014/main" id="{459A654C-072C-1858-8B43-DE73F578AD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7" y="518535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DAE7EE7-C157-9ABD-C4DC-7CE0E7CF25A9}"/>
              </a:ext>
            </a:extLst>
          </p:cNvPr>
          <p:cNvSpPr txBox="1"/>
          <p:nvPr/>
        </p:nvSpPr>
        <p:spPr>
          <a:xfrm>
            <a:off x="471620" y="1847219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59873AE5-958B-85FB-6950-78DEAD0BB2B5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6502" y="2058422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dmndNo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ctrtPrgrsCd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86439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206441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rprsItemNm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553739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ctrtAmt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17,2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75994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orderInstNm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406441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ofcctrNm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86537702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832293BB-42BE-0AEB-7C7A-13CE286EA995}"/>
              </a:ext>
            </a:extLst>
          </p:cNvPr>
          <p:cNvSpPr txBox="1"/>
          <p:nvPr/>
        </p:nvSpPr>
        <p:spPr>
          <a:xfrm>
            <a:off x="471620" y="3998185"/>
            <a:ext cx="259422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제출 협회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dl_sbmsnAsctnList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1289CC8-30BE-E6F5-0FCE-23C8F033485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6502" y="4209388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제출협회명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sbmsnSttsNm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제출협회명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sttsVl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제출상태 조회 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전송중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송신완료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제출취소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237375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rmrkCn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제출상태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취소시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취소사유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송신완료시 버튼 활성화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34529864"/>
                  </a:ext>
                </a:extLst>
              </a:tr>
            </a:tbl>
          </a:graphicData>
        </a:graphic>
      </p:graphicFrame>
      <p:sp>
        <p:nvSpPr>
          <p:cNvPr id="11" name="Text Box 73">
            <a:extLst>
              <a:ext uri="{FF2B5EF4-FFF2-40B4-BE49-F238E27FC236}">
                <a16:creationId xmlns:a16="http://schemas.microsoft.com/office/drawing/2014/main" id="{3F69CE71-B32E-E7B4-EBB3-D9E34F0098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2862359"/>
      </p:ext>
    </p:extLst>
  </p:cSld>
  <p:clrMapOvr>
    <a:masterClrMapping/>
  </p:clrMapOvr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진행상태 </a:t>
            </a:r>
            <a:r>
              <a:rPr lang="en-US" altLang="ko-KR" dirty="0" smtClean="0"/>
              <a:t>– </a:t>
            </a:r>
            <a:r>
              <a:rPr lang="ko-KR" altLang="en-US" dirty="0" smtClean="0"/>
              <a:t>신청</a:t>
            </a:r>
            <a:r>
              <a:rPr lang="en-US" altLang="ko-KR" dirty="0" smtClean="0"/>
              <a:t>, </a:t>
            </a:r>
            <a:r>
              <a:rPr lang="ko-KR" altLang="en-US" dirty="0" smtClean="0"/>
              <a:t>반려</a:t>
            </a:r>
            <a:r>
              <a:rPr lang="en-US" altLang="ko-KR" dirty="0" smtClean="0"/>
              <a:t>, </a:t>
            </a:r>
            <a:r>
              <a:rPr lang="ko-KR" altLang="en-US" dirty="0" smtClean="0"/>
              <a:t>승인 </a:t>
            </a:r>
            <a:r>
              <a:rPr lang="en-US" altLang="ko-KR" dirty="0" smtClean="0"/>
              <a:t>3</a:t>
            </a:r>
            <a:r>
              <a:rPr lang="ko-KR" altLang="en-US" dirty="0" smtClean="0"/>
              <a:t>종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기 신청한 내역 목록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클릭 시 </a:t>
            </a:r>
            <a:r>
              <a:rPr lang="en-US" altLang="ko-KR" dirty="0" smtClean="0"/>
              <a:t>OZ </a:t>
            </a:r>
            <a:r>
              <a:rPr lang="ko-KR" altLang="en-US" dirty="0" smtClean="0"/>
              <a:t>리포트 국외 조달원 확인서 연결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서류 출력 확인 팝업 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반려 시 발급 사유 대신 반려 사유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상세 화면 없음</a:t>
            </a:r>
            <a:r>
              <a:rPr lang="en-US" altLang="ko-KR" dirty="0" smtClean="0"/>
              <a:t>.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신청 팝업 호출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310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 조달원 등록증 신청 목록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 조달원 등록증 신청 목록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국외 조달원 등록증 목록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MUI-CM-04-M09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국외 조달원 등록증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9066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1727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5" y="1909786"/>
            <a:ext cx="42578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검색필터</a:t>
            </a:r>
            <a:endParaRPr lang="ko-KR" altLang="en-US" sz="700" dirty="0">
              <a:latin typeface="+mn-ea"/>
            </a:endParaRPr>
          </a:p>
        </p:txBody>
      </p:sp>
      <p:sp>
        <p:nvSpPr>
          <p:cNvPr id="40" name="타원 39"/>
          <p:cNvSpPr/>
          <p:nvPr/>
        </p:nvSpPr>
        <p:spPr>
          <a:xfrm>
            <a:off x="783686" y="194113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49" name="그룹 48"/>
          <p:cNvGrpSpPr/>
          <p:nvPr/>
        </p:nvGrpSpPr>
        <p:grpSpPr>
          <a:xfrm>
            <a:off x="781461" y="2343391"/>
            <a:ext cx="2473257" cy="1411269"/>
            <a:chOff x="781461" y="2610063"/>
            <a:chExt cx="2473257" cy="1411269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46166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smtClean="0"/>
                <a:t>접수번호 </a:t>
              </a:r>
              <a:r>
                <a:rPr lang="en-US" altLang="ko-KR" sz="700" dirty="0" smtClean="0"/>
                <a:t>2020101010</a:t>
              </a:r>
              <a:endParaRPr lang="en-US" altLang="ko-KR" sz="700" dirty="0"/>
            </a:p>
            <a:p>
              <a:r>
                <a:rPr lang="ko-KR" altLang="en-US" sz="900" b="1" dirty="0" smtClean="0"/>
                <a:t>발급 </a:t>
              </a:r>
              <a:r>
                <a:rPr lang="ko-KR" altLang="en-US" sz="900" b="1" dirty="0" err="1" smtClean="0"/>
                <a:t>대상업체명</a:t>
              </a:r>
              <a:endParaRPr lang="en-US" altLang="ko-KR" sz="900" b="1" dirty="0" smtClean="0"/>
            </a:p>
            <a:p>
              <a:pPr lvl="0"/>
              <a:r>
                <a:rPr lang="ko-KR" altLang="en-US" sz="700" dirty="0" err="1" smtClean="0">
                  <a:solidFill>
                    <a:prstClr val="black"/>
                  </a:solidFill>
                </a:rPr>
                <a:t>발급사유</a:t>
              </a:r>
              <a:r>
                <a:rPr lang="ko-KR" altLang="en-US" sz="700" dirty="0" smtClean="0">
                  <a:solidFill>
                    <a:prstClr val="black"/>
                  </a:solidFill>
                </a:rPr>
                <a:t> 작성한 발급 사유가 표시됩니다</a:t>
              </a:r>
              <a:r>
                <a:rPr lang="en-US" altLang="ko-KR" sz="700" dirty="0" smtClean="0">
                  <a:solidFill>
                    <a:prstClr val="black"/>
                  </a:solidFill>
                </a:rPr>
                <a:t>. </a:t>
              </a:r>
              <a:r>
                <a:rPr lang="ko-KR" altLang="en-US" sz="700" dirty="0" err="1" smtClean="0">
                  <a:solidFill>
                    <a:prstClr val="black"/>
                  </a:solidFill>
                </a:rPr>
                <a:t>여러줄</a:t>
              </a:r>
              <a:r>
                <a:rPr lang="ko-KR" altLang="en-US" sz="700" dirty="0" smtClean="0">
                  <a:solidFill>
                    <a:prstClr val="black"/>
                  </a:solidFill>
                </a:rPr>
                <a:t> 인 경우</a:t>
              </a:r>
              <a:endParaRPr lang="en-US" altLang="ko-KR" sz="700" dirty="0" smtClean="0">
                <a:solidFill>
                  <a:prstClr val="black"/>
                </a:solidFill>
              </a:endParaRPr>
            </a:p>
            <a:p>
              <a:pPr lvl="0"/>
              <a:r>
                <a:rPr lang="en-US" altLang="ko-KR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 smtClean="0">
                  <a:solidFill>
                    <a:prstClr val="black"/>
                  </a:solidFill>
                </a:rPr>
                <a:t>            2</a:t>
              </a:r>
              <a:r>
                <a:rPr lang="ko-KR" altLang="en-US" sz="700" dirty="0" smtClean="0">
                  <a:solidFill>
                    <a:prstClr val="black"/>
                  </a:solidFill>
                </a:rPr>
                <a:t>줄까지 표시합니다</a:t>
              </a:r>
              <a:r>
                <a:rPr lang="en-US" altLang="ko-KR" sz="700" dirty="0" smtClean="0">
                  <a:solidFill>
                    <a:prstClr val="black"/>
                  </a:solidFill>
                </a:rPr>
                <a:t>.</a:t>
              </a:r>
              <a:endParaRPr lang="en-US" altLang="ko-KR" sz="700" dirty="0">
                <a:solidFill>
                  <a:prstClr val="black"/>
                </a:solidFill>
              </a:endParaRPr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328835"/>
              <a:ext cx="307777" cy="6924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신청인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회사명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연락처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신청일자</a:t>
              </a:r>
              <a:endParaRPr lang="en-US" altLang="ko-KR" sz="600" dirty="0" smtClean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승인일자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68988" y="3313446"/>
              <a:ext cx="565924" cy="6924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홍길동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조달업체명</a:t>
              </a:r>
              <a:r>
                <a:rPr lang="ko-KR" altLang="en-US" sz="600" dirty="0">
                  <a:latin typeface="+mn-ea"/>
                </a:rPr>
                <a:t> 표시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010-1234-5678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2020-10-10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-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신청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292991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67" name="그룹 66"/>
          <p:cNvGrpSpPr/>
          <p:nvPr/>
        </p:nvGrpSpPr>
        <p:grpSpPr>
          <a:xfrm>
            <a:off x="781461" y="3947250"/>
            <a:ext cx="2473257" cy="1361867"/>
            <a:chOff x="781461" y="2610063"/>
            <a:chExt cx="2473257" cy="1361867"/>
          </a:xfrm>
        </p:grpSpPr>
        <p:sp>
          <p:nvSpPr>
            <p:cNvPr id="6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46166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/>
                <a:t>접수번호 </a:t>
              </a:r>
              <a:r>
                <a:rPr lang="en-US" altLang="ko-KR" sz="700" dirty="0"/>
                <a:t>2020101010</a:t>
              </a:r>
            </a:p>
            <a:p>
              <a:r>
                <a:rPr lang="ko-KR" altLang="en-US" sz="900" b="1" dirty="0"/>
                <a:t>발급 </a:t>
              </a:r>
              <a:r>
                <a:rPr lang="ko-KR" altLang="en-US" sz="900" b="1" dirty="0" err="1"/>
                <a:t>대상업체명</a:t>
              </a:r>
              <a:endParaRPr lang="en-US" altLang="ko-KR" sz="900" b="1" dirty="0"/>
            </a:p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발급사유</a:t>
              </a:r>
              <a:r>
                <a:rPr lang="ko-KR" altLang="en-US" sz="700" dirty="0">
                  <a:solidFill>
                    <a:prstClr val="black"/>
                  </a:solidFill>
                </a:rPr>
                <a:t> 작성한 발급 사유가 표시됩니다</a:t>
              </a:r>
              <a:r>
                <a:rPr lang="en-US" altLang="ko-KR" sz="700" dirty="0">
                  <a:solidFill>
                    <a:prstClr val="black"/>
                  </a:solidFill>
                </a:rPr>
                <a:t>.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여러줄</a:t>
              </a:r>
              <a:r>
                <a:rPr lang="ko-KR" altLang="en-US" sz="700" dirty="0">
                  <a:solidFill>
                    <a:prstClr val="black"/>
                  </a:solidFill>
                </a:rPr>
                <a:t> 인 경우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en-US" altLang="ko-KR" sz="700" dirty="0">
                  <a:solidFill>
                    <a:prstClr val="black"/>
                  </a:solidFill>
                </a:rPr>
                <a:t>             2</a:t>
              </a:r>
              <a:r>
                <a:rPr lang="ko-KR" altLang="en-US" sz="700" dirty="0">
                  <a:solidFill>
                    <a:prstClr val="black"/>
                  </a:solidFill>
                </a:rPr>
                <a:t>줄까지 표시합니다</a:t>
              </a:r>
              <a:r>
                <a:rPr lang="en-US" altLang="ko-KR" sz="700" dirty="0">
                  <a:solidFill>
                    <a:prstClr val="black"/>
                  </a:solidFill>
                </a:rPr>
                <a:t>.</a:t>
              </a:r>
            </a:p>
          </p:txBody>
        </p:sp>
        <p:sp>
          <p:nvSpPr>
            <p:cNvPr id="6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294822"/>
              <a:ext cx="307777" cy="6746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신청인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회사명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연락처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승인일자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03265" y="3279433"/>
              <a:ext cx="565924" cy="6924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 smtClean="0">
                  <a:latin typeface="+mn-ea"/>
                </a:rPr>
                <a:t>홍길동</a:t>
              </a:r>
              <a:endParaRPr lang="en-US" altLang="ko-KR" sz="600" dirty="0" smtClean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 smtClean="0">
                  <a:latin typeface="+mn-ea"/>
                </a:rPr>
                <a:t>조달업체명</a:t>
              </a:r>
              <a:r>
                <a:rPr lang="ko-KR" altLang="en-US" sz="600" dirty="0" smtClean="0">
                  <a:latin typeface="+mn-ea"/>
                </a:rPr>
                <a:t> 표시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010-1234-5678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 smtClean="0">
                  <a:latin typeface="+mn-ea"/>
                </a:rPr>
                <a:t>2020-10-10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-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80" name="모서리가 둥근 직사각형 79"/>
            <p:cNvSpPr/>
            <p:nvPr/>
          </p:nvSpPr>
          <p:spPr>
            <a:xfrm>
              <a:off x="781461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smtClean="0">
                  <a:solidFill>
                    <a:schemeClr val="dk1"/>
                  </a:solidFill>
                </a:rPr>
                <a:t>승인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825345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5" name="그룹 84"/>
          <p:cNvGrpSpPr/>
          <p:nvPr/>
        </p:nvGrpSpPr>
        <p:grpSpPr>
          <a:xfrm>
            <a:off x="6255425" y="1650089"/>
            <a:ext cx="94010" cy="94010"/>
            <a:chOff x="6812560" y="3297172"/>
            <a:chExt cx="94010" cy="94010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8" name="타원 87"/>
          <p:cNvSpPr/>
          <p:nvPr/>
        </p:nvSpPr>
        <p:spPr>
          <a:xfrm>
            <a:off x="5890147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5563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4505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grpSp>
        <p:nvGrpSpPr>
          <p:cNvPr id="106" name="그룹 105"/>
          <p:cNvGrpSpPr/>
          <p:nvPr/>
        </p:nvGrpSpPr>
        <p:grpSpPr>
          <a:xfrm>
            <a:off x="3792447" y="1974264"/>
            <a:ext cx="2712027" cy="797589"/>
            <a:chOff x="675399" y="3490553"/>
            <a:chExt cx="2712027" cy="797589"/>
          </a:xfrm>
        </p:grpSpPr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490553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기간 </a:t>
              </a:r>
              <a:r>
                <a:rPr lang="ko-KR" altLang="en-US" sz="700" b="1" dirty="0" smtClean="0">
                  <a:latin typeface="+mn-ea"/>
                </a:rPr>
                <a:t>설정 </a:t>
              </a:r>
              <a:r>
                <a:rPr lang="en-US" altLang="ko-KR" sz="700" b="1" dirty="0" smtClean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713091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검색 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빠른 설정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 flipV="1">
              <a:off x="3140949" y="3588243"/>
              <a:ext cx="91438" cy="45719"/>
              <a:chOff x="6812560" y="3297172"/>
              <a:chExt cx="94010" cy="47005"/>
            </a:xfrm>
          </p:grpSpPr>
          <p:cxnSp>
            <p:nvCxnSpPr>
              <p:cNvPr id="137" name="직선 연결선 13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25" name="그룹 124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1464781" y="3740722"/>
              <a:ext cx="859319" cy="188244"/>
              <a:chOff x="5613534" y="2854836"/>
              <a:chExt cx="804671" cy="188244"/>
            </a:xfrm>
          </p:grpSpPr>
          <p:sp>
            <p:nvSpPr>
              <p:cNvPr id="135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2025-12-15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36" name="그림 135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sp>
          <p:nvSpPr>
            <p:cNvPr id="126" name="TextBox 91">
              <a:extLst>
                <a:ext uri="{FF2B5EF4-FFF2-40B4-BE49-F238E27FC236}">
                  <a16:creationId xmlns:a16="http://schemas.microsoft.com/office/drawing/2014/main" id="{02490888-B81F-0F94-5D5F-078AEEB39DDB}"/>
                </a:ext>
              </a:extLst>
            </p:cNvPr>
            <p:cNvSpPr txBox="1"/>
            <p:nvPr/>
          </p:nvSpPr>
          <p:spPr>
            <a:xfrm>
              <a:off x="2347279" y="3760669"/>
              <a:ext cx="80150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 dirty="0">
                  <a:solidFill>
                    <a:prstClr val="black"/>
                  </a:solidFill>
                  <a:cs typeface="Pretendard Medium" panose="02000603000000020004" pitchFamily="50" charset="-127"/>
                </a:rPr>
                <a:t>~</a:t>
              </a:r>
              <a:endParaRPr lang="ko-KR" altLang="en-US" sz="900" dirty="0">
                <a:solidFill>
                  <a:prstClr val="black"/>
                </a:solidFill>
                <a:cs typeface="Pretendard Medium" panose="02000603000000020004" pitchFamily="50" charset="-127"/>
              </a:endParaRPr>
            </a:p>
          </p:txBody>
        </p:sp>
        <p:grpSp>
          <p:nvGrpSpPr>
            <p:cNvPr id="127" name="그룹 126"/>
            <p:cNvGrpSpPr/>
            <p:nvPr/>
          </p:nvGrpSpPr>
          <p:grpSpPr>
            <a:xfrm>
              <a:off x="1464781" y="3971391"/>
              <a:ext cx="1845146" cy="188135"/>
              <a:chOff x="1430277" y="4057651"/>
              <a:chExt cx="1845146" cy="188135"/>
            </a:xfrm>
          </p:grpSpPr>
          <p:sp>
            <p:nvSpPr>
              <p:cNvPr id="132" name="사각형: 둥근 모서리 169">
                <a:extLst>
                  <a:ext uri="{FF2B5EF4-FFF2-40B4-BE49-F238E27FC236}">
                    <a16:creationId xmlns:a16="http://schemas.microsoft.com/office/drawing/2014/main" id="{A28DD831-0E4B-31EE-CB08-9E188754698D}"/>
                  </a:ext>
                </a:extLst>
              </p:cNvPr>
              <p:cNvSpPr/>
              <p:nvPr/>
            </p:nvSpPr>
            <p:spPr>
              <a:xfrm>
                <a:off x="1430277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최근 </a:t>
                </a:r>
                <a:r>
                  <a:rPr kumimoji="1" lang="en-US" altLang="ko-KR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개월</a:t>
                </a:r>
                <a:endParaRPr kumimoji="1" 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3" name="사각형: 둥근 모서리 171">
                <a:extLst>
                  <a:ext uri="{FF2B5EF4-FFF2-40B4-BE49-F238E27FC236}">
                    <a16:creationId xmlns:a16="http://schemas.microsoft.com/office/drawing/2014/main" id="{75BECEC6-4045-95B1-98C2-242CA0FC5A06}"/>
                  </a:ext>
                </a:extLst>
              </p:cNvPr>
              <p:cNvSpPr/>
              <p:nvPr/>
            </p:nvSpPr>
            <p:spPr>
              <a:xfrm>
                <a:off x="2061841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latin typeface="+mn-ea"/>
                  </a:rPr>
                  <a:t>최근 </a:t>
                </a:r>
                <a:r>
                  <a:rPr kumimoji="1" lang="en-US" altLang="ko-KR" sz="700" kern="0" dirty="0">
                    <a:latin typeface="+mn-ea"/>
                  </a:rPr>
                  <a:t>3</a:t>
                </a:r>
                <a:r>
                  <a:rPr kumimoji="1" lang="ko-KR" altLang="en-US" sz="700" kern="0" dirty="0">
                    <a:latin typeface="+mn-ea"/>
                  </a:rPr>
                  <a:t>개월</a:t>
                </a:r>
                <a:endParaRPr kumimoji="1" lang="en-US" altLang="ko-KR" sz="700" kern="0" dirty="0">
                  <a:latin typeface="+mn-ea"/>
                </a:endParaRPr>
              </a:p>
            </p:txBody>
          </p:sp>
          <p:sp>
            <p:nvSpPr>
              <p:cNvPr id="134" name="사각형: 둥근 모서리 172">
                <a:extLst>
                  <a:ext uri="{FF2B5EF4-FFF2-40B4-BE49-F238E27FC236}">
                    <a16:creationId xmlns:a16="http://schemas.microsoft.com/office/drawing/2014/main" id="{7F182F00-C81F-5F02-6A1E-826222B231A9}"/>
                  </a:ext>
                </a:extLst>
              </p:cNvPr>
              <p:cNvSpPr/>
              <p:nvPr/>
            </p:nvSpPr>
            <p:spPr>
              <a:xfrm>
                <a:off x="2693406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최근 </a:t>
                </a:r>
                <a:r>
                  <a:rPr kumimoji="1" lang="en-US" altLang="ko-KR" sz="700" kern="0" dirty="0">
                    <a:solidFill>
                      <a:prstClr val="black"/>
                    </a:solidFill>
                    <a:latin typeface="+mn-ea"/>
                  </a:rPr>
                  <a:t>6</a:t>
                </a: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개월</a:t>
                </a:r>
                <a:endParaRPr kumimoji="1" lang="en-US" altLang="ko-KR" sz="7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2450608" y="3740722"/>
              <a:ext cx="859319" cy="188244"/>
              <a:chOff x="5613534" y="2854836"/>
              <a:chExt cx="804671" cy="188244"/>
            </a:xfrm>
          </p:grpSpPr>
          <p:sp>
            <p:nvSpPr>
              <p:cNvPr id="130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2026-01-15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31" name="그림 130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28814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9" name="그룹 98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100" name="직사각형 99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1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1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592167"/>
            <a:ext cx="2446613" cy="206419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9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675399" y="5750826"/>
            <a:ext cx="2712027" cy="481472"/>
            <a:chOff x="675399" y="5750826"/>
            <a:chExt cx="2712027" cy="481472"/>
          </a:xfrm>
        </p:grpSpPr>
        <p:sp>
          <p:nvSpPr>
            <p:cNvPr id="114" name="직사각형 11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750826"/>
              <a:ext cx="2712027" cy="48147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7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808106" y="5828262"/>
              <a:ext cx="2446613" cy="279492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356424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9" name="타원 1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6588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grpSp>
        <p:nvGrpSpPr>
          <p:cNvPr id="164" name="그룹 163"/>
          <p:cNvGrpSpPr/>
          <p:nvPr/>
        </p:nvGrpSpPr>
        <p:grpSpPr>
          <a:xfrm>
            <a:off x="3903622" y="2883409"/>
            <a:ext cx="2516607" cy="467691"/>
            <a:chOff x="778515" y="4388257"/>
            <a:chExt cx="2516607" cy="467691"/>
          </a:xfrm>
        </p:grpSpPr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38825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err="1">
                  <a:latin typeface="+mn-ea"/>
                </a:rPr>
                <a:t>검색어</a:t>
              </a:r>
              <a:r>
                <a:rPr lang="ko-KR" altLang="en-US" sz="700" b="1" dirty="0">
                  <a:latin typeface="+mn-ea"/>
                </a:rPr>
                <a:t> </a:t>
              </a:r>
              <a:r>
                <a:rPr lang="en-US" altLang="ko-KR" sz="700" b="1" dirty="0">
                  <a:latin typeface="+mn-ea"/>
                </a:rPr>
                <a:t>(</a:t>
              </a:r>
              <a:r>
                <a:rPr lang="ko-KR" altLang="en-US" sz="700" b="1" dirty="0">
                  <a:latin typeface="+mn-ea"/>
                </a:rPr>
                <a:t>일부 입력 가능</a:t>
              </a:r>
              <a:r>
                <a:rPr lang="en-US" altLang="ko-KR" sz="700" b="1" dirty="0">
                  <a:latin typeface="+mn-ea"/>
                </a:rPr>
                <a:t>)</a:t>
              </a:r>
              <a:endParaRPr lang="ko-KR" altLang="en-US" sz="700" b="1" dirty="0">
                <a:latin typeface="+mn-ea"/>
              </a:endParaRPr>
            </a:p>
          </p:txBody>
        </p:sp>
        <p:grpSp>
          <p:nvGrpSpPr>
            <p:cNvPr id="166" name="그룹 165"/>
            <p:cNvGrpSpPr/>
            <p:nvPr/>
          </p:nvGrpSpPr>
          <p:grpSpPr>
            <a:xfrm flipV="1">
              <a:off x="3140949" y="4485947"/>
              <a:ext cx="91438" cy="45719"/>
              <a:chOff x="6812560" y="3297172"/>
              <a:chExt cx="94010" cy="47005"/>
            </a:xfrm>
          </p:grpSpPr>
          <p:cxnSp>
            <p:nvCxnSpPr>
              <p:cNvPr id="179" name="직선 연결선 17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0" name="직선 연결선 17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7" name="모서리가 둥근 직사각형 166"/>
            <p:cNvSpPr/>
            <p:nvPr/>
          </p:nvSpPr>
          <p:spPr>
            <a:xfrm>
              <a:off x="1449284" y="466874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 smtClean="0">
                  <a:solidFill>
                    <a:schemeClr val="bg1">
                      <a:lumMod val="65000"/>
                    </a:schemeClr>
                  </a:solidFill>
                </a:rPr>
                <a:t>발급 대상 </a:t>
              </a:r>
              <a:r>
                <a:rPr lang="ko-KR" altLang="en-US" sz="700" dirty="0" err="1" smtClean="0">
                  <a:solidFill>
                    <a:schemeClr val="bg1">
                      <a:lumMod val="65000"/>
                    </a:schemeClr>
                  </a:solidFill>
                </a:rPr>
                <a:t>업체명을</a:t>
              </a:r>
              <a:r>
                <a:rPr lang="ko-KR" altLang="en-US" sz="700" dirty="0" smtClean="0">
                  <a:solidFill>
                    <a:schemeClr val="bg1">
                      <a:lumMod val="65000"/>
                    </a:schemeClr>
                  </a:solidFill>
                </a:rPr>
                <a:t> </a:t>
              </a:r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655417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발급 </a:t>
              </a:r>
              <a:r>
                <a:rPr lang="ko-KR" altLang="en-US" sz="700" dirty="0" err="1" smtClean="0">
                  <a:latin typeface="+mn-ea"/>
                </a:rPr>
                <a:t>업체명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91" name="모서리가 둥근 직사각형 90"/>
          <p:cNvSpPr/>
          <p:nvPr/>
        </p:nvSpPr>
        <p:spPr>
          <a:xfrm>
            <a:off x="6605470" y="4649724"/>
            <a:ext cx="2579992" cy="1200743"/>
          </a:xfrm>
          <a:prstGeom prst="roundRect">
            <a:avLst>
              <a:gd name="adj" fmla="val 4663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2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7948308" y="5408886"/>
            <a:ext cx="1080000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확인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9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723164" y="5408886"/>
            <a:ext cx="1080000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723164" y="4796454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서류 출력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742894" y="5028963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OZ </a:t>
            </a:r>
            <a:r>
              <a:rPr lang="ko-KR" altLang="en-US" sz="700" dirty="0">
                <a:latin typeface="+mn-ea"/>
              </a:rPr>
              <a:t>리포트가 실행되며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로딩에 약간의 시간이 소요됩니다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ko-KR" altLang="en-US" sz="700" dirty="0">
                <a:latin typeface="+mn-ea"/>
              </a:rPr>
              <a:t>서류 출력을 진행할까요</a:t>
            </a:r>
            <a:r>
              <a:rPr lang="en-US" altLang="ko-KR" sz="700" dirty="0">
                <a:latin typeface="+mn-ea"/>
              </a:rPr>
              <a:t>?</a:t>
            </a:r>
          </a:p>
        </p:txBody>
      </p:sp>
      <p:grpSp>
        <p:nvGrpSpPr>
          <p:cNvPr id="97" name="그룹 96"/>
          <p:cNvGrpSpPr/>
          <p:nvPr/>
        </p:nvGrpSpPr>
        <p:grpSpPr>
          <a:xfrm>
            <a:off x="8934298" y="4796454"/>
            <a:ext cx="94010" cy="94010"/>
            <a:chOff x="6812560" y="3297172"/>
            <a:chExt cx="94010" cy="94010"/>
          </a:xfrm>
        </p:grpSpPr>
        <p:cxnSp>
          <p:nvCxnSpPr>
            <p:cNvPr id="98" name="직선 연결선 9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1" name="직선 연결선 100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2" name="직사각형 101"/>
          <p:cNvSpPr/>
          <p:nvPr/>
        </p:nvSpPr>
        <p:spPr>
          <a:xfrm>
            <a:off x="6541384" y="4418892"/>
            <a:ext cx="1043876" cy="230832"/>
          </a:xfrm>
          <a:prstGeom prst="rect">
            <a:avLst/>
          </a:prstGeom>
        </p:spPr>
        <p:txBody>
          <a:bodyPr lIns="72000" tIns="36000" rIns="72000" bIns="36000"/>
          <a:lstStyle/>
          <a:p>
            <a:pPr>
              <a:buFont typeface="Arial" panose="020B0604020202020204" pitchFamily="34" charset="0"/>
              <a:buNone/>
            </a:pPr>
            <a:r>
              <a:rPr lang="en-US" altLang="ko-KR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MUI-BD-01-P14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03" name="직사각형 102"/>
          <p:cNvSpPr/>
          <p:nvPr/>
        </p:nvSpPr>
        <p:spPr>
          <a:xfrm>
            <a:off x="8075444" y="4418892"/>
            <a:ext cx="1177967" cy="230832"/>
          </a:xfrm>
          <a:prstGeom prst="rect">
            <a:avLst/>
          </a:prstGeom>
        </p:spPr>
        <p:txBody>
          <a:bodyPr lIns="72000" tIns="36000" rIns="72000" bIns="36000"/>
          <a:lstStyle/>
          <a:p>
            <a:pPr algn="r">
              <a:buFont typeface="Arial" panose="020B0604020202020204" pitchFamily="34" charset="0"/>
              <a:buNone/>
            </a:pPr>
            <a:r>
              <a:rPr lang="ko-KR" altLang="en-US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서류 출력 확인</a:t>
            </a:r>
          </a:p>
        </p:txBody>
      </p:sp>
      <p:cxnSp>
        <p:nvCxnSpPr>
          <p:cNvPr id="96" name="직선 연결선 9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437440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4" name="그룹 103"/>
          <p:cNvGrpSpPr/>
          <p:nvPr/>
        </p:nvGrpSpPr>
        <p:grpSpPr>
          <a:xfrm>
            <a:off x="3903622" y="3693566"/>
            <a:ext cx="2516607" cy="467691"/>
            <a:chOff x="778515" y="4388257"/>
            <a:chExt cx="2516607" cy="467691"/>
          </a:xfrm>
        </p:grpSpPr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38825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smtClean="0">
                  <a:latin typeface="+mn-ea"/>
                </a:rPr>
                <a:t>구분</a:t>
              </a:r>
              <a:endParaRPr lang="ko-KR" altLang="en-US" sz="700" b="1" dirty="0">
                <a:latin typeface="+mn-ea"/>
              </a:endParaRPr>
            </a:p>
          </p:txBody>
        </p:sp>
        <p:grpSp>
          <p:nvGrpSpPr>
            <p:cNvPr id="113" name="그룹 112"/>
            <p:cNvGrpSpPr/>
            <p:nvPr/>
          </p:nvGrpSpPr>
          <p:grpSpPr>
            <a:xfrm flipV="1">
              <a:off x="3140949" y="4485947"/>
              <a:ext cx="91438" cy="45719"/>
              <a:chOff x="6812560" y="3297172"/>
              <a:chExt cx="94010" cy="47005"/>
            </a:xfrm>
          </p:grpSpPr>
          <p:cxnSp>
            <p:nvCxnSpPr>
              <p:cNvPr id="117" name="직선 연결선 11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18" name="직선 연결선 11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5" name="모서리가 둥근 직사각형 114"/>
            <p:cNvSpPr/>
            <p:nvPr/>
          </p:nvSpPr>
          <p:spPr>
            <a:xfrm>
              <a:off x="1449284" y="466874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 smtClean="0">
                  <a:solidFill>
                    <a:schemeClr val="tx1"/>
                  </a:solidFill>
                </a:rPr>
                <a:t>전체</a:t>
              </a:r>
              <a:endParaRPr lang="ko-KR" altLang="en-US" sz="700" dirty="0">
                <a:solidFill>
                  <a:schemeClr val="tx1"/>
                </a:solidFill>
              </a:endParaRP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655417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진행상태</a:t>
              </a:r>
              <a:endParaRPr lang="en-US" altLang="ko-KR" sz="700" dirty="0">
                <a:latin typeface="+mn-ea"/>
              </a:endParaRPr>
            </a:p>
          </p:txBody>
        </p:sp>
      </p:grpSp>
      <p:grpSp>
        <p:nvGrpSpPr>
          <p:cNvPr id="119" name="그룹 118"/>
          <p:cNvGrpSpPr/>
          <p:nvPr/>
        </p:nvGrpSpPr>
        <p:grpSpPr>
          <a:xfrm>
            <a:off x="6226184" y="4042123"/>
            <a:ext cx="94010" cy="47005"/>
            <a:chOff x="6812560" y="3297172"/>
            <a:chExt cx="94010" cy="47005"/>
          </a:xfrm>
        </p:grpSpPr>
        <p:cxnSp>
          <p:nvCxnSpPr>
            <p:cNvPr id="120" name="직선 연결선 11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2" name="직선 연결선 12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3" name="타원 12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080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565093300"/>
      </p:ext>
    </p:extLst>
  </p:cSld>
  <p:clrMapOvr>
    <a:masterClrMapping/>
  </p:clrMapOvr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311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285231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국외조달원 신청 목록 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1431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aplyYmdFrom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aplyYmdTo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2738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prcsStcd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(P)/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(R)/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(A)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62700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발급대상 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trgtBzentyCdNm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발급대상 업체명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44419953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2AF88A98-DF3E-37F5-1D9F-FCE47A9DEB4E}"/>
              </a:ext>
            </a:extLst>
          </p:cNvPr>
          <p:cNvSpPr txBox="1"/>
          <p:nvPr/>
        </p:nvSpPr>
        <p:spPr>
          <a:xfrm>
            <a:off x="460676" y="2195119"/>
            <a:ext cx="286032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국외조달원 신청 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99A839B-AA49-58B4-C132-06B25B96EB6B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2441035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33507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발급대상 업체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trgtBzentyCdNm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발급대상 업체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prcsStcd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(P)/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(R)/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(A)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aprvYmd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</a:tbl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CB270ED7-325D-C87B-19AD-0E2237091A88}"/>
              </a:ext>
            </a:extLst>
          </p:cNvPr>
          <p:cNvSpPr txBox="1"/>
          <p:nvPr/>
        </p:nvSpPr>
        <p:spPr>
          <a:xfrm>
            <a:off x="460676" y="3846285"/>
            <a:ext cx="394876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국외조달원 신청 정보 상세조회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dm_ovsSosAplyDtlInfo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777F5B16-AB1B-306D-1EFD-8E7DB4E2C6AE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5558" y="4069247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33507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aprvYmd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prcsStcd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(P)/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(R)/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(A)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직위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aplcntJbgdNm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직위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aplcntEntlno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133170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발급대상 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trgtBzentyCdNm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발급대상 업체명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701599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발급신청 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aplyRsn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발급신청 사유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44302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 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rjctRsn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 사유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14837965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FE7A915C-F6EF-335A-1F14-38483868ED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03254323"/>
      </p:ext>
    </p:extLst>
  </p:cSld>
  <p:clrMapOvr>
    <a:masterClrMapping/>
  </p:clrMapOvr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312</a:t>
            </a:fld>
            <a:endParaRPr lang="ko-KR" altLang="en-US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02754" y="70070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4454732-E597-33F1-5B5D-6BAFE23E8DCD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02754" y="927298"/>
          <a:ext cx="8995591" cy="177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국외조달원 신청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이벤트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scwin.btn_ovsSosAplyListSrch_onclick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국외조달원 등록증 신청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40544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국외조달원 등록증  신청 목록 선택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scwin.btn_ovsSosAplyDtlInfo_onclick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국외조달원 신청 상세 정보가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26141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출력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scwin.btn_otpt_onclick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승인된 국외조달원 등록증을 발급한다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UI-CM-03-R13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78001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scwin.btn_aply_onclick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국외조달원 등록증 신청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UI-CM-03-M11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5225939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5AC142F5-C333-78A7-1BB1-C49C4FDD73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20329" y="810382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47107048"/>
      </p:ext>
    </p:extLst>
  </p:cSld>
  <p:clrMapOvr>
    <a:masterClrMapping/>
  </p:clrMapOvr>
</p:sld>
</file>

<file path=ppt/slides/slide3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신청인 정보는 자동완성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Dim</a:t>
            </a:r>
            <a:r>
              <a:rPr lang="ko-KR" altLang="en-US" dirty="0" smtClean="0"/>
              <a:t>은 수정 불가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개인정보에서</a:t>
            </a:r>
            <a:r>
              <a:rPr lang="en-US" altLang="ko-KR" dirty="0" smtClean="0"/>
              <a:t> </a:t>
            </a:r>
            <a:r>
              <a:rPr lang="ko-KR" altLang="en-US" dirty="0" smtClean="0"/>
              <a:t>비어 있는 정보 </a:t>
            </a:r>
            <a:r>
              <a:rPr lang="en-US" altLang="ko-KR" dirty="0" smtClean="0"/>
              <a:t>(</a:t>
            </a:r>
            <a:r>
              <a:rPr lang="ko-KR" altLang="en-US" dirty="0" smtClean="0"/>
              <a:t>직위 등</a:t>
            </a:r>
            <a:r>
              <a:rPr lang="en-US" altLang="ko-KR" dirty="0" smtClean="0"/>
              <a:t>)</a:t>
            </a:r>
            <a:r>
              <a:rPr lang="ko-KR" altLang="en-US" dirty="0" smtClean="0"/>
              <a:t>는 비어 있는 상태로 자동 완성함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팝업 진입 시 포커스 이동 및 가상 </a:t>
            </a:r>
            <a:r>
              <a:rPr lang="ko-KR" altLang="en-US" dirty="0" err="1" smtClean="0"/>
              <a:t>키패드</a:t>
            </a:r>
            <a:r>
              <a:rPr lang="ko-KR" altLang="en-US" dirty="0" smtClean="0"/>
              <a:t> 활성화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업체 선택 팝업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신청하기 클릭 시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팝업 닫기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완료 토스트 메시지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신청 내역 발급 가능 상태로 신청 목록 </a:t>
            </a:r>
            <a:r>
              <a:rPr lang="ko-KR" altLang="en-US" dirty="0" err="1" smtClean="0"/>
              <a:t>리프래시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취소 클릭 시 팝업 닫기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313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 조달원 등록증 </a:t>
            </a:r>
            <a:r>
              <a:rPr lang="ko-KR" altLang="en-US" dirty="0" smtClean="0">
                <a:latin typeface="+mn-ea"/>
              </a:rPr>
              <a:t>신청</a:t>
            </a:r>
            <a:r>
              <a:rPr lang="ko-KR" altLang="en-US" dirty="0">
                <a:latin typeface="+mn-ea"/>
              </a:rPr>
              <a:t>서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 조달원 등록증 </a:t>
            </a:r>
            <a:r>
              <a:rPr lang="ko-KR" altLang="en-US" dirty="0" smtClean="0">
                <a:latin typeface="+mn-ea"/>
              </a:rPr>
              <a:t>신청서 팝업 </a:t>
            </a:r>
            <a:r>
              <a:rPr lang="ko-KR" altLang="en-US" dirty="0">
                <a:latin typeface="+mn-ea"/>
              </a:rPr>
              <a:t>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국외 조달원 등록증 </a:t>
            </a:r>
            <a:r>
              <a:rPr lang="ko-KR" altLang="en-US" dirty="0" smtClean="0">
                <a:latin typeface="+mn-ea"/>
              </a:rPr>
              <a:t>목록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신청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MUI-CM-04-P10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0" name="양쪽 모서리가 둥근 사각형 109"/>
          <p:cNvSpPr/>
          <p:nvPr/>
        </p:nvSpPr>
        <p:spPr>
          <a:xfrm>
            <a:off x="679854" y="2451066"/>
            <a:ext cx="2712027" cy="3781233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1765867" y="2487693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12" name="그룹 111"/>
          <p:cNvGrpSpPr/>
          <p:nvPr/>
        </p:nvGrpSpPr>
        <p:grpSpPr>
          <a:xfrm>
            <a:off x="3168793" y="2622109"/>
            <a:ext cx="94010" cy="94010"/>
            <a:chOff x="6812560" y="3297172"/>
            <a:chExt cx="94010" cy="94010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260278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조달원 등록증 신청서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286418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65796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46" name="그룹 45"/>
          <p:cNvGrpSpPr/>
          <p:nvPr/>
        </p:nvGrpSpPr>
        <p:grpSpPr>
          <a:xfrm>
            <a:off x="903581" y="3981944"/>
            <a:ext cx="2255663" cy="306146"/>
            <a:chOff x="3982951" y="3679873"/>
            <a:chExt cx="2255663" cy="306146"/>
          </a:xfrm>
        </p:grpSpPr>
        <p:sp>
          <p:nvSpPr>
            <p:cNvPr id="47" name="모서리가 둥근 직사각형 46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 smtClean="0">
                  <a:latin typeface="+mn-ea"/>
                </a:rPr>
                <a:t>조달테스트</a:t>
              </a:r>
              <a:r>
                <a:rPr lang="ko-KR" altLang="en-US" sz="700" dirty="0" smtClean="0">
                  <a:latin typeface="+mn-ea"/>
                </a:rPr>
                <a:t> 업체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50" name="TextBox 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84300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회사명 </a:t>
            </a:r>
            <a:r>
              <a:rPr lang="en-US" altLang="ko-KR" sz="700" b="1" dirty="0" smtClean="0">
                <a:latin typeface="+mn-ea"/>
              </a:rPr>
              <a:t>(Company Name)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52" name="그룹 51"/>
          <p:cNvGrpSpPr/>
          <p:nvPr/>
        </p:nvGrpSpPr>
        <p:grpSpPr>
          <a:xfrm>
            <a:off x="903581" y="4564592"/>
            <a:ext cx="2255663" cy="306146"/>
            <a:chOff x="3982951" y="3679873"/>
            <a:chExt cx="2255663" cy="306146"/>
          </a:xfrm>
        </p:grpSpPr>
        <p:sp>
          <p:nvSpPr>
            <p:cNvPr id="53" name="모서리가 둥근 직사각형 52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직위를 입력해주세요</a:t>
              </a:r>
              <a:r>
                <a:rPr lang="en-US" altLang="ko-KR" sz="700" dirty="0" smtClean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endParaRPr>
            </a:p>
          </p:txBody>
        </p: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425657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직위</a:t>
            </a:r>
            <a:r>
              <a:rPr lang="en-US" altLang="ko-KR" sz="700" b="1" dirty="0" smtClean="0">
                <a:latin typeface="+mn-ea"/>
              </a:rPr>
              <a:t>(</a:t>
            </a:r>
            <a:r>
              <a:rPr lang="ko-KR" altLang="en-US" sz="700" b="1" dirty="0" smtClean="0">
                <a:latin typeface="+mn-ea"/>
              </a:rPr>
              <a:t>급</a:t>
            </a:r>
            <a:r>
              <a:rPr lang="en-US" altLang="ko-KR" sz="700" b="1" dirty="0" smtClean="0">
                <a:latin typeface="+mn-ea"/>
              </a:rPr>
              <a:t>) (Position)</a:t>
            </a:r>
            <a:r>
              <a:rPr lang="ko-KR" altLang="en-US" sz="700" b="1" dirty="0" smtClean="0">
                <a:latin typeface="+mn-ea"/>
              </a:rPr>
              <a:t> </a:t>
            </a:r>
            <a:r>
              <a:rPr lang="en-US" altLang="ko-KR" sz="700" b="1" dirty="0" smtClean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4425657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25805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성명 </a:t>
            </a:r>
            <a:r>
              <a:rPr lang="en-US" altLang="ko-KR" sz="700" b="1" dirty="0" smtClean="0">
                <a:latin typeface="+mn-ea"/>
              </a:rPr>
              <a:t>(Name)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58" name="그룹 57"/>
          <p:cNvGrpSpPr/>
          <p:nvPr/>
        </p:nvGrpSpPr>
        <p:grpSpPr>
          <a:xfrm>
            <a:off x="903581" y="3405191"/>
            <a:ext cx="2255663" cy="306146"/>
            <a:chOff x="3982951" y="3679873"/>
            <a:chExt cx="2255663" cy="306146"/>
          </a:xfrm>
        </p:grpSpPr>
        <p:sp>
          <p:nvSpPr>
            <p:cNvPr id="59" name="모서리가 둥근 직사각형 5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홍길동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61" name="그룹 60"/>
          <p:cNvGrpSpPr/>
          <p:nvPr/>
        </p:nvGrpSpPr>
        <p:grpSpPr>
          <a:xfrm>
            <a:off x="679854" y="5614711"/>
            <a:ext cx="2712027" cy="617588"/>
            <a:chOff x="675399" y="5614711"/>
            <a:chExt cx="2712027" cy="617588"/>
          </a:xfrm>
        </p:grpSpPr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smtClean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신청하기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6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모서리가 둥근 직사각형 65"/>
          <p:cNvSpPr/>
          <p:nvPr/>
        </p:nvSpPr>
        <p:spPr>
          <a:xfrm>
            <a:off x="7612452" y="5831196"/>
            <a:ext cx="1338948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129354" y="588194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solidFill>
                  <a:schemeClr val="bg1"/>
                </a:solidFill>
                <a:latin typeface="+mn-ea"/>
              </a:rPr>
              <a:t>신청 되었습니다</a:t>
            </a:r>
            <a:r>
              <a:rPr lang="en-US" altLang="ko-KR" sz="700" dirty="0" smtClean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989105"/>
            <a:ext cx="1701582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 smtClean="0">
                <a:latin typeface="+mn-ea"/>
              </a:rPr>
              <a:t>신청인 </a:t>
            </a:r>
            <a:r>
              <a:rPr lang="en-US" altLang="ko-KR" sz="900" b="1" dirty="0" smtClean="0">
                <a:latin typeface="+mn-ea"/>
              </a:rPr>
              <a:t>(Applicant)</a:t>
            </a:r>
            <a:endParaRPr lang="ko-KR" altLang="en-US" sz="900" b="1" dirty="0">
              <a:latin typeface="+mn-ea"/>
            </a:endParaRPr>
          </a:p>
        </p:txBody>
      </p:sp>
      <p:grpSp>
        <p:nvGrpSpPr>
          <p:cNvPr id="51" name="그룹 50"/>
          <p:cNvGrpSpPr/>
          <p:nvPr/>
        </p:nvGrpSpPr>
        <p:grpSpPr>
          <a:xfrm>
            <a:off x="903581" y="4996183"/>
            <a:ext cx="2255661" cy="444066"/>
            <a:chOff x="903581" y="5758108"/>
            <a:chExt cx="2255661" cy="444066"/>
          </a:xfrm>
        </p:grpSpPr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5758108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 smtClean="0">
                  <a:latin typeface="+mn-ea"/>
                </a:rPr>
                <a:t>연락처</a:t>
              </a:r>
              <a:r>
                <a:rPr lang="en-US" altLang="ko-KR" sz="700" b="1" dirty="0" smtClean="0">
                  <a:latin typeface="+mn-ea"/>
                </a:rPr>
                <a:t> (Phone</a:t>
              </a:r>
              <a:r>
                <a:rPr lang="ko-KR" altLang="en-US" sz="700" b="1" dirty="0" smtClean="0">
                  <a:latin typeface="+mn-ea"/>
                </a:rPr>
                <a:t> </a:t>
              </a:r>
              <a:r>
                <a:rPr lang="en-US" altLang="ko-KR" sz="700" b="1" dirty="0" smtClean="0">
                  <a:latin typeface="+mn-ea"/>
                </a:rPr>
                <a:t>Number)</a:t>
              </a:r>
              <a:r>
                <a:rPr lang="ko-KR" altLang="en-US" sz="700" b="1" dirty="0" smtClean="0">
                  <a:latin typeface="+mn-ea"/>
                </a:rPr>
                <a:t>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774155" y="5758108"/>
              <a:ext cx="38508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ko-KR" altLang="en-US" sz="700" dirty="0">
                  <a:latin typeface="+mn-ea"/>
                </a:rPr>
                <a:t>필수</a:t>
              </a:r>
              <a:endParaRPr lang="ko-KR" altLang="en-US" sz="700" dirty="0">
                <a:solidFill>
                  <a:srgbClr val="FF0000"/>
                </a:solidFill>
                <a:latin typeface="+mn-ea"/>
              </a:endParaRPr>
            </a:p>
          </p:txBody>
        </p:sp>
        <p:grpSp>
          <p:nvGrpSpPr>
            <p:cNvPr id="70" name="그룹 69"/>
            <p:cNvGrpSpPr/>
            <p:nvPr/>
          </p:nvGrpSpPr>
          <p:grpSpPr>
            <a:xfrm>
              <a:off x="903582" y="5896028"/>
              <a:ext cx="2255660" cy="306146"/>
              <a:chOff x="903582" y="5841774"/>
              <a:chExt cx="2255660" cy="306146"/>
            </a:xfrm>
          </p:grpSpPr>
          <p:sp>
            <p:nvSpPr>
              <p:cNvPr id="74" name="모서리가 둥근 직사각형 73"/>
              <p:cNvSpPr/>
              <p:nvPr/>
            </p:nvSpPr>
            <p:spPr>
              <a:xfrm>
                <a:off x="903582" y="5841774"/>
                <a:ext cx="550750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035056" y="5940986"/>
                <a:ext cx="31273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 smtClean="0">
                    <a:latin typeface="+mn-ea"/>
                  </a:rPr>
                  <a:t>010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76" name="모서리가 둥근 직사각형 75"/>
              <p:cNvSpPr/>
              <p:nvPr/>
            </p:nvSpPr>
            <p:spPr>
              <a:xfrm>
                <a:off x="1662428" y="5841774"/>
                <a:ext cx="648079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814876" y="5940986"/>
                <a:ext cx="357439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 smtClean="0">
                    <a:latin typeface="+mn-ea"/>
                  </a:rPr>
                  <a:t>1234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78" name="모서리가 둥근 직사각형 77"/>
              <p:cNvSpPr/>
              <p:nvPr/>
            </p:nvSpPr>
            <p:spPr>
              <a:xfrm>
                <a:off x="2513434" y="5841774"/>
                <a:ext cx="645808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649355" y="5940986"/>
                <a:ext cx="357439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 smtClean="0">
                    <a:latin typeface="+mn-ea"/>
                  </a:rPr>
                  <a:t>5678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452060" y="5940986"/>
                <a:ext cx="20519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-</a:t>
                </a:r>
                <a:endParaRPr lang="ko-KR" altLang="en-US" sz="700" dirty="0">
                  <a:solidFill>
                    <a:srgbClr val="FF0000"/>
                  </a:solidFill>
                  <a:latin typeface="+mn-ea"/>
                </a:endParaRPr>
              </a:p>
            </p:txBody>
          </p:sp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308236" y="5940986"/>
                <a:ext cx="20519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 smtClean="0">
                    <a:latin typeface="+mn-ea"/>
                  </a:rPr>
                  <a:t>-</a:t>
                </a:r>
                <a:endParaRPr lang="ko-KR" altLang="en-US" sz="700" dirty="0">
                  <a:solidFill>
                    <a:srgbClr val="FF0000"/>
                  </a:solidFill>
                  <a:latin typeface="+mn-ea"/>
                </a:endParaRPr>
              </a:p>
            </p:txBody>
          </p:sp>
        </p:grpSp>
        <p:grpSp>
          <p:nvGrpSpPr>
            <p:cNvPr id="71" name="그룹 70"/>
            <p:cNvGrpSpPr/>
            <p:nvPr/>
          </p:nvGrpSpPr>
          <p:grpSpPr>
            <a:xfrm>
              <a:off x="1274733" y="6025599"/>
              <a:ext cx="94010" cy="47005"/>
              <a:chOff x="6812560" y="3297172"/>
              <a:chExt cx="94010" cy="47005"/>
            </a:xfrm>
          </p:grpSpPr>
          <p:cxnSp>
            <p:nvCxnSpPr>
              <p:cNvPr id="72" name="직선 연결선 7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3" name="직선 연결선 7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82" name="양쪽 모서리가 둥근 사각형 81"/>
          <p:cNvSpPr/>
          <p:nvPr/>
        </p:nvSpPr>
        <p:spPr>
          <a:xfrm>
            <a:off x="3795734" y="2451066"/>
            <a:ext cx="2712027" cy="3781233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83" name="모서리가 둥근 직사각형 82"/>
          <p:cNvSpPr/>
          <p:nvPr/>
        </p:nvSpPr>
        <p:spPr>
          <a:xfrm>
            <a:off x="4881747" y="2487693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84" name="그룹 83"/>
          <p:cNvGrpSpPr/>
          <p:nvPr/>
        </p:nvGrpSpPr>
        <p:grpSpPr>
          <a:xfrm>
            <a:off x="6284673" y="2622109"/>
            <a:ext cx="94010" cy="94010"/>
            <a:chOff x="6812560" y="3297172"/>
            <a:chExt cx="94010" cy="94010"/>
          </a:xfrm>
        </p:grpSpPr>
        <p:cxnSp>
          <p:nvCxnSpPr>
            <p:cNvPr id="85" name="직선 연결선 84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6" name="직선 연결선 85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7" name="TextBox 8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260278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조달원 등록증 신청서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86418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0" name="모서리가 둥근 직사각형 89"/>
          <p:cNvSpPr/>
          <p:nvPr/>
        </p:nvSpPr>
        <p:spPr>
          <a:xfrm>
            <a:off x="4019461" y="4287897"/>
            <a:ext cx="2255663" cy="925926"/>
          </a:xfrm>
          <a:prstGeom prst="roundRect">
            <a:avLst>
              <a:gd name="adj" fmla="val 10161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0936" y="438710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solidFill>
                  <a:schemeClr val="bg1">
                    <a:lumMod val="75000"/>
                  </a:schemeClr>
                </a:solidFill>
                <a:latin typeface="+mn-ea"/>
              </a:rPr>
              <a:t>사유를 </a:t>
            </a:r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입력해주세요</a:t>
            </a:r>
            <a:r>
              <a:rPr lang="en-US" altLang="ko-KR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+mn-ea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19461" y="4148962"/>
            <a:ext cx="174577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발급신청사유 </a:t>
            </a:r>
            <a:r>
              <a:rPr lang="en-US" altLang="ko-KR" sz="700" b="1" dirty="0">
                <a:latin typeface="+mn-ea"/>
              </a:rPr>
              <a:t>(Reason of Application</a:t>
            </a:r>
            <a:r>
              <a:rPr lang="en-US" altLang="ko-KR" sz="700" b="1" dirty="0" smtClean="0">
                <a:latin typeface="+mn-ea"/>
              </a:rPr>
              <a:t>)</a:t>
            </a:r>
            <a:r>
              <a:rPr lang="en-US" altLang="ko-KR" sz="700" b="1" dirty="0" smtClean="0">
                <a:solidFill>
                  <a:srgbClr val="FF0000"/>
                </a:solidFill>
                <a:latin typeface="+mn-ea"/>
              </a:rPr>
              <a:t> *</a:t>
            </a:r>
            <a:endParaRPr lang="en-US" altLang="ko-KR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90035" y="4148962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19461" y="325805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 smtClean="0">
                <a:latin typeface="+mn-ea"/>
              </a:rPr>
              <a:t>업체명</a:t>
            </a:r>
            <a:r>
              <a:rPr lang="ko-KR" altLang="en-US" sz="700" b="1" dirty="0" smtClean="0">
                <a:latin typeface="+mn-ea"/>
              </a:rPr>
              <a:t> </a:t>
            </a:r>
            <a:r>
              <a:rPr lang="en-US" altLang="ko-KR" sz="700" b="1" dirty="0">
                <a:latin typeface="+mn-ea"/>
              </a:rPr>
              <a:t>(Company Name</a:t>
            </a:r>
            <a:r>
              <a:rPr lang="en-US" altLang="ko-KR" sz="700" b="1" dirty="0" smtClean="0">
                <a:latin typeface="+mn-ea"/>
              </a:rPr>
              <a:t>)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 smtClean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99" name="그룹 98"/>
          <p:cNvGrpSpPr/>
          <p:nvPr/>
        </p:nvGrpSpPr>
        <p:grpSpPr>
          <a:xfrm>
            <a:off x="4019461" y="3405191"/>
            <a:ext cx="2255663" cy="306146"/>
            <a:chOff x="3982951" y="3679873"/>
            <a:chExt cx="2255663" cy="306146"/>
          </a:xfrm>
        </p:grpSpPr>
        <p:sp>
          <p:nvSpPr>
            <p:cNvPr id="100" name="모서리가 둥근 직사각형 99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업체를 선택해주세요</a:t>
              </a:r>
              <a:r>
                <a:rPr lang="en-US" altLang="ko-KR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endParaRPr>
            </a:p>
          </p:txBody>
        </p:sp>
      </p:grpSp>
      <p:grpSp>
        <p:nvGrpSpPr>
          <p:cNvPr id="102" name="그룹 101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103" name="직사각형 102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smtClean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신청하기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0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19460" y="2989105"/>
            <a:ext cx="221915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조달원 </a:t>
            </a:r>
            <a:r>
              <a:rPr lang="ko-KR" altLang="en-US" sz="900" b="1" dirty="0" smtClean="0">
                <a:latin typeface="+mn-ea"/>
              </a:rPr>
              <a:t>등록증</a:t>
            </a:r>
            <a:r>
              <a:rPr lang="en-US" altLang="ko-KR" sz="900" b="1" dirty="0" smtClean="0">
                <a:latin typeface="+mn-ea"/>
              </a:rPr>
              <a:t>(</a:t>
            </a:r>
            <a:r>
              <a:rPr lang="en-US" altLang="ko-KR" sz="900" b="1" dirty="0">
                <a:latin typeface="+mn-ea"/>
              </a:rPr>
              <a:t>Certificate of Registration)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90035" y="3258059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13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4028373" y="3794919"/>
            <a:ext cx="2246750" cy="206419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업체 선택</a:t>
            </a:r>
            <a:endParaRPr kumimoji="1" lang="en-US" sz="9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33" name="타원 13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91142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67" name="타원 1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5214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34" name="타원 1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5214" y="374402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325790915"/>
      </p:ext>
    </p:extLst>
  </p:cSld>
  <p:clrMapOvr>
    <a:masterClrMapping/>
  </p:clrMapOvr>
</p:sld>
</file>

<file path=ppt/slides/slide3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314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2AF88A98-DF3E-37F5-1D9F-FCE47A9DEB4E}"/>
              </a:ext>
            </a:extLst>
          </p:cNvPr>
          <p:cNvSpPr txBox="1"/>
          <p:nvPr/>
        </p:nvSpPr>
        <p:spPr>
          <a:xfrm>
            <a:off x="458117" y="862025"/>
            <a:ext cx="339893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국외조달원 신청 신청인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dm_ovsSosAplyInfo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99A839B-AA49-58B4-C132-06B25B96EB6B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8117" y="1109504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empNm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33507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직위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aplcntJbgdNm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직위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aplcntEntlno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연락처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</a:tbl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CB270ED7-325D-C87B-19AD-0E2237091A88}"/>
              </a:ext>
            </a:extLst>
          </p:cNvPr>
          <p:cNvSpPr txBox="1"/>
          <p:nvPr/>
        </p:nvSpPr>
        <p:spPr>
          <a:xfrm>
            <a:off x="450440" y="2311319"/>
            <a:ext cx="40064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국외조달원 신청 조달원 등록증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dm_ovsSosAplyDataInfo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777F5B16-AB1B-306D-1EFD-8E7DB4E2C6AE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0440" y="2533837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)0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bzentyNm1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33507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bzentyNm2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발급신청사유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aplyRsn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발급신청사유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5F8FDE6B-2650-DAD2-A3E3-004EBEA14F32}"/>
              </a:ext>
            </a:extLst>
          </p:cNvPr>
          <p:cNvSpPr txBox="1"/>
          <p:nvPr/>
        </p:nvSpPr>
        <p:spPr>
          <a:xfrm>
            <a:off x="430605" y="3598498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3435ADA8-DFB4-32D0-15BF-F937ED4E0D6B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25487" y="3825089"/>
          <a:ext cx="8995591" cy="825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업체선택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scwin.btn_bzentySrch_onclick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조달업체선택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UI-CM-03-P12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40544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scwin.btn_aply_onclick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국외조달원 등록증을 신청한다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5225939"/>
                  </a:ext>
                </a:extLst>
              </a:tr>
            </a:tbl>
          </a:graphicData>
        </a:graphic>
      </p:graphicFrame>
      <p:sp>
        <p:nvSpPr>
          <p:cNvPr id="13" name="Text Box 73">
            <a:extLst>
              <a:ext uri="{FF2B5EF4-FFF2-40B4-BE49-F238E27FC236}">
                <a16:creationId xmlns:a16="http://schemas.microsoft.com/office/drawing/2014/main" id="{D564D4C5-32F2-B2D3-17C5-8763B6DAB4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3062" y="367663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48052CAA-8680-E27F-8DFC-51FCF8EC91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01220778"/>
      </p:ext>
    </p:extLst>
  </p:cSld>
  <p:clrMapOvr>
    <a:masterClrMapping/>
  </p:clrMapOvr>
</p:sld>
</file>

<file path=ppt/slides/slide3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오픈 시 </a:t>
            </a:r>
            <a:r>
              <a:rPr lang="ko-KR" altLang="en-US" dirty="0"/>
              <a:t>포커스 </a:t>
            </a:r>
            <a:r>
              <a:rPr lang="ko-KR" altLang="en-US" dirty="0" err="1"/>
              <a:t>자동이동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입력이 있는 경우 내용 삭제 아이콘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입력 내용 기반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Like </a:t>
            </a:r>
            <a:r>
              <a:rPr lang="ko-KR" altLang="en-US" dirty="0"/>
              <a:t>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 버튼 클릭 시 가상 </a:t>
            </a:r>
            <a:r>
              <a:rPr lang="ko-KR" altLang="en-US" dirty="0" err="1"/>
              <a:t>키패드</a:t>
            </a:r>
            <a:r>
              <a:rPr lang="ko-KR" altLang="en-US" dirty="0"/>
              <a:t>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검색 버튼으로 동일 검색 기능 동작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 결과 </a:t>
            </a:r>
            <a:r>
              <a:rPr lang="ko-KR" altLang="en-US" dirty="0" smtClean="0"/>
              <a:t>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결과 </a:t>
            </a:r>
            <a:r>
              <a:rPr lang="ko-KR" altLang="en-US" dirty="0"/>
              <a:t>클릭을 </a:t>
            </a:r>
            <a:r>
              <a:rPr lang="ko-KR" altLang="en-US" dirty="0" smtClean="0"/>
              <a:t>통해 결과 </a:t>
            </a:r>
            <a:r>
              <a:rPr lang="ko-KR" altLang="en-US" dirty="0"/>
              <a:t>반영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선택 시 </a:t>
            </a:r>
            <a:r>
              <a:rPr lang="ko-KR" altLang="en-US" dirty="0" err="1"/>
              <a:t>바텀</a:t>
            </a:r>
            <a:r>
              <a:rPr lang="ko-KR" altLang="en-US" dirty="0"/>
              <a:t> 시트 </a:t>
            </a:r>
            <a:r>
              <a:rPr lang="ko-KR" altLang="en-US" dirty="0" smtClean="0"/>
              <a:t>닫힘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상위 페이지에 정보 반영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315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조달업체</a:t>
            </a:r>
            <a:r>
              <a:rPr lang="ko-KR" altLang="en-US" dirty="0">
                <a:latin typeface="+mn-ea"/>
              </a:rPr>
              <a:t> 선택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조달업체</a:t>
            </a:r>
            <a:r>
              <a:rPr lang="ko-KR" altLang="en-US" dirty="0">
                <a:latin typeface="+mn-ea"/>
              </a:rPr>
              <a:t> </a:t>
            </a:r>
            <a:r>
              <a:rPr lang="ko-KR" altLang="en-US" dirty="0" smtClean="0">
                <a:latin typeface="+mn-ea"/>
              </a:rPr>
              <a:t>선택</a:t>
            </a:r>
            <a:r>
              <a:rPr lang="ko-KR" altLang="en-US" dirty="0" smtClean="0"/>
              <a:t> 팝업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55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국외 조달원 등록증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신청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err="1" smtClean="0">
                <a:latin typeface="+mn-ea"/>
              </a:rPr>
              <a:t>조달업체</a:t>
            </a:r>
            <a:r>
              <a:rPr lang="ko-KR" altLang="en-US" dirty="0" smtClean="0">
                <a:latin typeface="+mn-ea"/>
              </a:rPr>
              <a:t> 선택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MUI-CM-04-P11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3011654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304205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3176467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15714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조달업체</a:t>
            </a:r>
            <a:r>
              <a:rPr lang="ko-KR" altLang="en-US" sz="900" dirty="0">
                <a:latin typeface="+mn-ea"/>
              </a:rPr>
              <a:t> 선택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185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7" name="모서리가 둥근 직사각형 306"/>
          <p:cNvSpPr/>
          <p:nvPr/>
        </p:nvSpPr>
        <p:spPr>
          <a:xfrm>
            <a:off x="4564213" y="3557095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smtClean="0">
                <a:solidFill>
                  <a:schemeClr val="tx1"/>
                </a:solidFill>
              </a:rPr>
              <a:t>단체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625408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업체명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30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88037" y="3890810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800" kern="0" dirty="0">
                <a:solidFill>
                  <a:srgbClr val="0070C0"/>
                </a:solidFill>
              </a:rPr>
              <a:t>검색</a:t>
            </a:r>
            <a:endParaRPr kumimoji="1" lang="en-US" altLang="ko-KR" sz="800" kern="0" dirty="0">
              <a:solidFill>
                <a:srgbClr val="0070C0"/>
              </a:solidFill>
            </a:endParaRP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31826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 smtClean="0">
                <a:latin typeface="+mn-ea"/>
              </a:rPr>
              <a:t>조달업체</a:t>
            </a:r>
            <a:r>
              <a:rPr lang="ko-KR" altLang="en-US" sz="900" dirty="0" smtClean="0">
                <a:latin typeface="+mn-ea"/>
              </a:rPr>
              <a:t> 선택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9" name="모서리가 둥근 직사각형 168"/>
          <p:cNvSpPr/>
          <p:nvPr/>
        </p:nvSpPr>
        <p:spPr>
          <a:xfrm>
            <a:off x="1443878" y="3563324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 smtClean="0">
                <a:solidFill>
                  <a:schemeClr val="bg1">
                    <a:lumMod val="65000"/>
                  </a:schemeClr>
                </a:solidFill>
              </a:rPr>
              <a:t>업체코드를</a:t>
            </a:r>
            <a:r>
              <a:rPr lang="ko-KR" altLang="en-US" sz="700" dirty="0" smtClean="0">
                <a:solidFill>
                  <a:schemeClr val="tx1"/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입력해주세요</a:t>
            </a:r>
            <a:r>
              <a:rPr lang="en-US" altLang="ko-KR" sz="700" dirty="0">
                <a:solidFill>
                  <a:schemeClr val="tx1"/>
                </a:solidFill>
              </a:rPr>
              <a:t>.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631637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latin typeface="+mn-ea"/>
              </a:rPr>
              <a:t>업체코드</a:t>
            </a:r>
            <a:endParaRPr lang="en-US" altLang="ko-KR" sz="700" dirty="0">
              <a:latin typeface="+mn-ea"/>
            </a:endParaRPr>
          </a:p>
        </p:txBody>
      </p:sp>
      <p:sp>
        <p:nvSpPr>
          <p:cNvPr id="17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67702" y="4181984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검색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0" name="타원 309"/>
          <p:cNvSpPr/>
          <p:nvPr/>
        </p:nvSpPr>
        <p:spPr>
          <a:xfrm>
            <a:off x="3112794" y="3601610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1" name="그룹 310"/>
          <p:cNvGrpSpPr/>
          <p:nvPr/>
        </p:nvGrpSpPr>
        <p:grpSpPr>
          <a:xfrm>
            <a:off x="3156699" y="3645514"/>
            <a:ext cx="58075" cy="58074"/>
            <a:chOff x="6812560" y="3297172"/>
            <a:chExt cx="94010" cy="94010"/>
          </a:xfrm>
        </p:grpSpPr>
        <p:cxnSp>
          <p:nvCxnSpPr>
            <p:cNvPr id="312" name="직선 연결선 31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3" name="직선 연결선 31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14" name="타원 313"/>
          <p:cNvSpPr/>
          <p:nvPr/>
        </p:nvSpPr>
        <p:spPr>
          <a:xfrm>
            <a:off x="6240768" y="359991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5" name="그룹 314"/>
          <p:cNvGrpSpPr/>
          <p:nvPr/>
        </p:nvGrpSpPr>
        <p:grpSpPr>
          <a:xfrm>
            <a:off x="6284673" y="3643820"/>
            <a:ext cx="58075" cy="58074"/>
            <a:chOff x="6812560" y="3297172"/>
            <a:chExt cx="94010" cy="94010"/>
          </a:xfrm>
        </p:grpSpPr>
        <p:cxnSp>
          <p:nvCxnSpPr>
            <p:cNvPr id="316" name="직선 연결선 31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7" name="직선 연결선 31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318" name="직선 연결선 3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7422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9" name="TextBox 3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38124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322" name="직선 연결선 3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55678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4" name="TextBox 3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984311"/>
            <a:ext cx="22649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 smtClean="0">
                <a:latin typeface="+mn-ea"/>
              </a:rPr>
              <a:t>99</a:t>
            </a:r>
            <a:endParaRPr lang="en-US" altLang="ko-KR" sz="700" dirty="0">
              <a:latin typeface="+mn-ea"/>
            </a:endParaRP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46276" y="4850652"/>
            <a:ext cx="1418465" cy="3877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700" dirty="0" err="1" smtClean="0">
                <a:latin typeface="+mn-ea"/>
              </a:rPr>
              <a:t>업체명</a:t>
            </a:r>
            <a:r>
              <a:rPr lang="ko-KR" altLang="en-US" sz="700" dirty="0" smtClean="0">
                <a:latin typeface="+mn-ea"/>
              </a:rPr>
              <a:t> </a:t>
            </a:r>
            <a:r>
              <a:rPr lang="en-US" altLang="ko-KR" sz="700" dirty="0" smtClean="0">
                <a:latin typeface="+mn-ea"/>
              </a:rPr>
              <a:t>99</a:t>
            </a:r>
          </a:p>
          <a:p>
            <a:pPr>
              <a:lnSpc>
                <a:spcPct val="120000"/>
              </a:lnSpc>
            </a:pPr>
            <a:r>
              <a:rPr lang="ko-KR" altLang="en-US" sz="700" dirty="0" smtClean="0">
                <a:latin typeface="+mn-ea"/>
              </a:rPr>
              <a:t>홍길동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120000"/>
              </a:lnSpc>
            </a:pPr>
            <a:r>
              <a:rPr lang="en-US" altLang="ko-KR" sz="700" dirty="0" smtClean="0">
                <a:latin typeface="+mn-ea"/>
              </a:rPr>
              <a:t>02-1234-5678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327" name="직선 연결선 3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26352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149915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848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7" name="직사각형 33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41775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43445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5106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6694" y="4984311"/>
            <a:ext cx="2204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 smtClean="0">
                <a:latin typeface="+mn-ea"/>
              </a:rPr>
              <a:t>099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81" name="그룹 80"/>
          <p:cNvGrpSpPr/>
          <p:nvPr/>
        </p:nvGrpSpPr>
        <p:grpSpPr>
          <a:xfrm rot="16200000">
            <a:off x="6266706" y="4993501"/>
            <a:ext cx="94010" cy="47005"/>
            <a:chOff x="6812560" y="3297172"/>
            <a:chExt cx="94010" cy="47005"/>
          </a:xfrm>
        </p:grpSpPr>
        <p:cxnSp>
          <p:nvCxnSpPr>
            <p:cNvPr id="82" name="직선 연결선 8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4" name="직선 연결선 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41601" y="428508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smtClean="0">
                <a:latin typeface="+mn-ea"/>
              </a:rPr>
              <a:t>표시 개수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40987" y="4285080"/>
            <a:ext cx="36855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 smtClean="0">
                <a:latin typeface="+mn-ea"/>
              </a:rPr>
              <a:t>10</a:t>
            </a:r>
            <a:r>
              <a:rPr lang="ko-KR" altLang="en-US" sz="700" dirty="0" smtClean="0">
                <a:latin typeface="+mn-ea"/>
              </a:rPr>
              <a:t>개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>
            <a:off x="6256545" y="4386903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7" name="모서리가 둥근 직사각형 96"/>
          <p:cNvSpPr/>
          <p:nvPr/>
        </p:nvSpPr>
        <p:spPr>
          <a:xfrm>
            <a:off x="1443878" y="3885710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 smtClean="0">
                <a:solidFill>
                  <a:schemeClr val="bg1">
                    <a:lumMod val="65000"/>
                  </a:schemeClr>
                </a:solidFill>
              </a:rPr>
              <a:t>업체명을</a:t>
            </a:r>
            <a:r>
              <a:rPr lang="ko-KR" altLang="en-US" sz="700" dirty="0" smtClean="0">
                <a:solidFill>
                  <a:schemeClr val="tx1"/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입력해주세요</a:t>
            </a:r>
            <a:r>
              <a:rPr lang="en-US" altLang="ko-KR" sz="700" dirty="0">
                <a:solidFill>
                  <a:schemeClr val="tx1"/>
                </a:solidFill>
              </a:rPr>
              <a:t>.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954023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 smtClean="0">
                <a:latin typeface="+mn-ea"/>
              </a:rPr>
              <a:t>업체명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99" name="타원 98"/>
          <p:cNvSpPr/>
          <p:nvPr/>
        </p:nvSpPr>
        <p:spPr>
          <a:xfrm>
            <a:off x="3112794" y="392399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0" name="그룹 99"/>
          <p:cNvGrpSpPr/>
          <p:nvPr/>
        </p:nvGrpSpPr>
        <p:grpSpPr>
          <a:xfrm>
            <a:off x="3156699" y="3967900"/>
            <a:ext cx="58075" cy="58074"/>
            <a:chOff x="6812560" y="3297172"/>
            <a:chExt cx="94010" cy="94010"/>
          </a:xfrm>
        </p:grpSpPr>
        <p:cxnSp>
          <p:nvCxnSpPr>
            <p:cNvPr id="103" name="직선 연결선 10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0" name="직선 연결선 10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481281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2" name="TextBox 11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656767"/>
            <a:ext cx="22649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46276" y="4656767"/>
            <a:ext cx="141846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업체정보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6694" y="4656767"/>
            <a:ext cx="43013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smtClean="0">
                <a:latin typeface="+mn-ea"/>
              </a:rPr>
              <a:t>업체코드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5421848"/>
            <a:ext cx="22649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 smtClean="0">
                <a:latin typeface="+mn-ea"/>
              </a:rPr>
              <a:t>98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46276" y="5288189"/>
            <a:ext cx="1418465" cy="3877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700" dirty="0" err="1" smtClean="0">
                <a:latin typeface="+mn-ea"/>
              </a:rPr>
              <a:t>업체명</a:t>
            </a:r>
            <a:r>
              <a:rPr lang="ko-KR" altLang="en-US" sz="700" dirty="0" smtClean="0">
                <a:latin typeface="+mn-ea"/>
              </a:rPr>
              <a:t> </a:t>
            </a:r>
            <a:r>
              <a:rPr lang="en-US" altLang="ko-KR" sz="700" dirty="0" smtClean="0">
                <a:latin typeface="+mn-ea"/>
              </a:rPr>
              <a:t>98</a:t>
            </a:r>
          </a:p>
          <a:p>
            <a:pPr>
              <a:lnSpc>
                <a:spcPct val="120000"/>
              </a:lnSpc>
            </a:pPr>
            <a:r>
              <a:rPr lang="ko-KR" altLang="en-US" sz="700" dirty="0" err="1" smtClean="0">
                <a:latin typeface="+mn-ea"/>
              </a:rPr>
              <a:t>김길순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120000"/>
              </a:lnSpc>
            </a:pPr>
            <a:r>
              <a:rPr lang="en-US" altLang="ko-KR" sz="700" dirty="0" smtClean="0">
                <a:latin typeface="+mn-ea"/>
              </a:rPr>
              <a:t>02-1234-5678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70106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8" name="TextBox 11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6694" y="5421848"/>
            <a:ext cx="2204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 smtClean="0">
                <a:latin typeface="+mn-ea"/>
              </a:rPr>
              <a:t>098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19" name="그룹 118"/>
          <p:cNvGrpSpPr/>
          <p:nvPr/>
        </p:nvGrpSpPr>
        <p:grpSpPr>
          <a:xfrm rot="16200000">
            <a:off x="6266706" y="5431038"/>
            <a:ext cx="94010" cy="47005"/>
            <a:chOff x="6812560" y="3297172"/>
            <a:chExt cx="94010" cy="47005"/>
          </a:xfrm>
        </p:grpSpPr>
        <p:cxnSp>
          <p:nvCxnSpPr>
            <p:cNvPr id="120" name="직선 연결선 11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1" name="직선 연결선 12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2" name="TextBox 1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5865528"/>
            <a:ext cx="22649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 smtClean="0">
                <a:latin typeface="+mn-ea"/>
              </a:rPr>
              <a:t>97</a:t>
            </a:r>
            <a:endParaRPr lang="en-US" altLang="ko-KR" sz="700" dirty="0">
              <a:latin typeface="+mn-ea"/>
            </a:endParaRP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46276" y="5731869"/>
            <a:ext cx="1418465" cy="3877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700" dirty="0" err="1" smtClean="0">
                <a:latin typeface="+mn-ea"/>
              </a:rPr>
              <a:t>업체명</a:t>
            </a:r>
            <a:r>
              <a:rPr lang="ko-KR" altLang="en-US" sz="700" dirty="0" smtClean="0">
                <a:latin typeface="+mn-ea"/>
              </a:rPr>
              <a:t> </a:t>
            </a:r>
            <a:r>
              <a:rPr lang="en-US" altLang="ko-KR" sz="700" dirty="0" smtClean="0">
                <a:latin typeface="+mn-ea"/>
              </a:rPr>
              <a:t>97</a:t>
            </a:r>
          </a:p>
          <a:p>
            <a:pPr>
              <a:lnSpc>
                <a:spcPct val="120000"/>
              </a:lnSpc>
            </a:pPr>
            <a:r>
              <a:rPr lang="ko-KR" altLang="en-US" sz="700" dirty="0" err="1" smtClean="0">
                <a:latin typeface="+mn-ea"/>
              </a:rPr>
              <a:t>박길동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120000"/>
              </a:lnSpc>
            </a:pPr>
            <a:r>
              <a:rPr lang="en-US" altLang="ko-KR" sz="700" dirty="0" smtClean="0">
                <a:latin typeface="+mn-ea"/>
              </a:rPr>
              <a:t>02-1234-5678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614474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5" name="TextBox 1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6694" y="5865528"/>
            <a:ext cx="2204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 smtClean="0">
                <a:latin typeface="+mn-ea"/>
              </a:rPr>
              <a:t>097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26" name="그룹 125"/>
          <p:cNvGrpSpPr/>
          <p:nvPr/>
        </p:nvGrpSpPr>
        <p:grpSpPr>
          <a:xfrm rot="16200000">
            <a:off x="6266706" y="5874718"/>
            <a:ext cx="94010" cy="47005"/>
            <a:chOff x="6812560" y="3297172"/>
            <a:chExt cx="94010" cy="47005"/>
          </a:xfrm>
        </p:grpSpPr>
        <p:cxnSp>
          <p:nvCxnSpPr>
            <p:cNvPr id="127" name="직선 연결선 12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8" name="직선 연결선 12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741566423"/>
      </p:ext>
    </p:extLst>
  </p:cSld>
  <p:clrMapOvr>
    <a:masterClrMapping/>
  </p:clrMapOvr>
</p:sld>
</file>

<file path=ppt/slides/slide3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316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219507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조달업체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14316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6640549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61384" y="1800668"/>
            <a:ext cx="22030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조달업체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62092" y="2006715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18514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대표전화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대표전화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5529775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61AFF63E-A35D-26A9-40FD-6875A41F652C}"/>
              </a:ext>
            </a:extLst>
          </p:cNvPr>
          <p:cNvSpPr txBox="1"/>
          <p:nvPr/>
        </p:nvSpPr>
        <p:spPr>
          <a:xfrm>
            <a:off x="458117" y="323257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0A97748E-F98A-3B3A-B7BF-ECEA392F13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2021410"/>
              </p:ext>
            </p:extLst>
          </p:nvPr>
        </p:nvGraphicFramePr>
        <p:xfrm>
          <a:off x="461384" y="3445343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scwin.btn_bzentySrch_onclick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조달업체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err="1" smtClean="0"/>
                        <a:t>검색항목</a:t>
                      </a:r>
                      <a:r>
                        <a:rPr lang="ko-KR" altLang="en-US" sz="800" dirty="0" smtClean="0"/>
                        <a:t> </a:t>
                      </a:r>
                      <a:r>
                        <a:rPr lang="ko-KR" altLang="en-US" sz="800" dirty="0"/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조달업체 정보가 부모 화면에 입력되며 팝업창은 닫힌다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UI-CM-03-M11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7647686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52EBE13D-F697-3B6D-4DB3-0C32B29DA7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8959" y="3328427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395E996E-DD98-7B49-87F6-8505D83D76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55385429"/>
      </p:ext>
    </p:extLst>
  </p:cSld>
  <p:clrMapOvr>
    <a:masterClrMapping/>
  </p:clrMapOvr>
</p:sld>
</file>

<file path=ppt/slides/slide3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법령 구분 탭으로 설정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싱글 </a:t>
            </a:r>
            <a:r>
              <a:rPr lang="ko-KR" altLang="en-US" dirty="0" err="1" smtClean="0"/>
              <a:t>셀렉트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법령 구분에 맞춰 하단 목록 재구성</a:t>
            </a:r>
            <a:r>
              <a:rPr lang="en-US" altLang="ko-KR" dirty="0" smtClean="0"/>
              <a:t>(</a:t>
            </a:r>
            <a:r>
              <a:rPr lang="ko-KR" altLang="en-US" dirty="0" err="1" smtClean="0"/>
              <a:t>법령구분에</a:t>
            </a:r>
            <a:r>
              <a:rPr lang="ko-KR" altLang="en-US" dirty="0" smtClean="0"/>
              <a:t> 맞는 항목만 표시</a:t>
            </a:r>
            <a:r>
              <a:rPr lang="en-US" altLang="ko-KR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관심법령</a:t>
            </a:r>
            <a:r>
              <a:rPr lang="ko-KR" altLang="en-US" dirty="0" smtClean="0"/>
              <a:t> </a:t>
            </a:r>
            <a:r>
              <a:rPr lang="ko-KR" altLang="en-US" dirty="0"/>
              <a:t>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외부 브라우저로 법령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관심 법령 </a:t>
            </a:r>
            <a:r>
              <a:rPr lang="ko-KR" altLang="en-US" dirty="0" err="1" smtClean="0"/>
              <a:t>즐겨찾기</a:t>
            </a:r>
            <a:r>
              <a:rPr lang="ko-KR" altLang="en-US" dirty="0" smtClean="0"/>
              <a:t> 및 해제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stared </a:t>
            </a:r>
            <a:r>
              <a:rPr lang="ko-KR" altLang="en-US" dirty="0" smtClean="0"/>
              <a:t>는 </a:t>
            </a:r>
            <a:r>
              <a:rPr lang="ko-KR" altLang="en-US" dirty="0" err="1" smtClean="0"/>
              <a:t>토글</a:t>
            </a:r>
            <a:r>
              <a:rPr lang="ko-KR" altLang="en-US" dirty="0" smtClean="0"/>
              <a:t> 방식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설정에 별다른 메시지 없이 </a:t>
            </a:r>
            <a:r>
              <a:rPr lang="en-US" altLang="ko-KR" dirty="0" smtClean="0"/>
              <a:t>stared </a:t>
            </a:r>
            <a:r>
              <a:rPr lang="ko-KR" altLang="en-US" dirty="0" smtClean="0"/>
              <a:t>표시 변경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317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법령 목록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법령 목록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고객센터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법령 목록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MUI-CM-04-M12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관심법령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3391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5256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2845075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45075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946898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5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289330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en-US" altLang="ko-KR" sz="700" dirty="0" smtClean="0">
                <a:solidFill>
                  <a:prstClr val="black"/>
                </a:solidFill>
              </a:rPr>
              <a:t>[</a:t>
            </a:r>
            <a:r>
              <a:rPr lang="ko-KR" altLang="en-US" sz="700" dirty="0" smtClean="0">
                <a:solidFill>
                  <a:prstClr val="black"/>
                </a:solidFill>
              </a:rPr>
              <a:t>법령</a:t>
            </a:r>
            <a:r>
              <a:rPr lang="en-US" altLang="ko-KR" sz="700" dirty="0" smtClean="0">
                <a:solidFill>
                  <a:prstClr val="black"/>
                </a:solidFill>
              </a:rPr>
              <a:t>] </a:t>
            </a:r>
            <a:r>
              <a:rPr lang="ko-KR" altLang="en-US" sz="700" dirty="0" smtClean="0">
                <a:solidFill>
                  <a:prstClr val="black"/>
                </a:solidFill>
              </a:rPr>
              <a:t>주요 </a:t>
            </a:r>
            <a:r>
              <a:rPr lang="ko-KR" altLang="en-US" sz="700" dirty="0">
                <a:solidFill>
                  <a:prstClr val="black"/>
                </a:solidFill>
              </a:rPr>
              <a:t>법령 모음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방위사업법 법령 모음</a:t>
            </a: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454205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66811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0" name="포인트가 5개인 별 79"/>
          <p:cNvSpPr/>
          <p:nvPr/>
        </p:nvSpPr>
        <p:spPr>
          <a:xfrm>
            <a:off x="3058823" y="3332745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799568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en-US" altLang="ko-KR" sz="700" dirty="0" smtClean="0">
                <a:solidFill>
                  <a:prstClr val="black"/>
                </a:solidFill>
              </a:rPr>
              <a:t>[</a:t>
            </a:r>
            <a:r>
              <a:rPr lang="ko-KR" altLang="en-US" sz="700" dirty="0" smtClean="0">
                <a:solidFill>
                  <a:prstClr val="black"/>
                </a:solidFill>
              </a:rPr>
              <a:t>훈령</a:t>
            </a:r>
            <a:r>
              <a:rPr lang="en-US" altLang="ko-KR" sz="700" dirty="0" smtClean="0">
                <a:solidFill>
                  <a:prstClr val="black"/>
                </a:solidFill>
              </a:rPr>
              <a:t>] </a:t>
            </a:r>
            <a:r>
              <a:rPr lang="ko-KR" altLang="en-US" sz="700" dirty="0" smtClean="0">
                <a:solidFill>
                  <a:prstClr val="black"/>
                </a:solidFill>
              </a:rPr>
              <a:t>방위사업법</a:t>
            </a:r>
            <a:r>
              <a:rPr lang="en-US" altLang="ko-KR" sz="700" dirty="0">
                <a:solidFill>
                  <a:prstClr val="black"/>
                </a:solidFill>
              </a:rPr>
              <a:t>/</a:t>
            </a:r>
            <a:r>
              <a:rPr lang="ko-KR" altLang="en-US" sz="700" dirty="0" err="1">
                <a:solidFill>
                  <a:prstClr val="black"/>
                </a:solidFill>
              </a:rPr>
              <a:t>국계법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방위사업법 시행규칙</a:t>
            </a:r>
          </a:p>
        </p:txBody>
      </p:sp>
      <p:cxnSp>
        <p:nvCxnSpPr>
          <p:cNvPr id="91" name="직선 연결선 9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17834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0" name="포인트가 5개인 별 99"/>
          <p:cNvSpPr/>
          <p:nvPr/>
        </p:nvSpPr>
        <p:spPr>
          <a:xfrm>
            <a:off x="3058823" y="3842983"/>
            <a:ext cx="159391" cy="159391"/>
          </a:xfrm>
          <a:prstGeom prst="star5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4309806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en-US" altLang="ko-KR" sz="700" dirty="0" smtClean="0">
                <a:solidFill>
                  <a:prstClr val="black"/>
                </a:solidFill>
              </a:rPr>
              <a:t>[</a:t>
            </a:r>
            <a:r>
              <a:rPr lang="ko-KR" altLang="en-US" sz="700" dirty="0" smtClean="0">
                <a:solidFill>
                  <a:prstClr val="black"/>
                </a:solidFill>
              </a:rPr>
              <a:t>예규</a:t>
            </a:r>
            <a:r>
              <a:rPr lang="en-US" altLang="ko-KR" sz="700" dirty="0" smtClean="0">
                <a:solidFill>
                  <a:prstClr val="black"/>
                </a:solidFill>
              </a:rPr>
              <a:t>] </a:t>
            </a:r>
            <a:r>
              <a:rPr lang="ko-KR" altLang="en-US" sz="700" dirty="0" err="1" smtClean="0">
                <a:solidFill>
                  <a:prstClr val="black"/>
                </a:solidFill>
              </a:rPr>
              <a:t>방위사업청</a:t>
            </a:r>
            <a:r>
              <a:rPr lang="en-US" altLang="ko-KR" sz="700" dirty="0">
                <a:solidFill>
                  <a:prstClr val="black"/>
                </a:solidFill>
              </a:rPr>
              <a:t>(</a:t>
            </a:r>
            <a:r>
              <a:rPr lang="ko-KR" altLang="en-US" sz="700" dirty="0" err="1">
                <a:solidFill>
                  <a:prstClr val="black"/>
                </a:solidFill>
              </a:rPr>
              <a:t>중앙조달</a:t>
            </a:r>
            <a:r>
              <a:rPr lang="en-US" altLang="ko-KR" sz="700" dirty="0">
                <a:solidFill>
                  <a:prstClr val="black"/>
                </a:solidFill>
              </a:rPr>
              <a:t>) </a:t>
            </a:r>
            <a:r>
              <a:rPr lang="ko-KR" altLang="en-US" sz="700" dirty="0">
                <a:solidFill>
                  <a:prstClr val="black"/>
                </a:solidFill>
              </a:rPr>
              <a:t>주요 규정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군수품조달</a:t>
            </a:r>
            <a:r>
              <a:rPr lang="ko-KR" altLang="en-US" sz="900" b="1" dirty="0">
                <a:solidFill>
                  <a:prstClr val="black"/>
                </a:solidFill>
              </a:rPr>
              <a:t> 관리규정</a:t>
            </a:r>
          </a:p>
        </p:txBody>
      </p:sp>
      <p:cxnSp>
        <p:nvCxnSpPr>
          <p:cNvPr id="109" name="직선 연결선 10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688586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2" name="포인트가 5개인 별 111"/>
          <p:cNvSpPr/>
          <p:nvPr/>
        </p:nvSpPr>
        <p:spPr>
          <a:xfrm>
            <a:off x="3058823" y="4353221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4814278"/>
            <a:ext cx="2061246" cy="3847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en-US" altLang="ko-KR" sz="700" dirty="0" smtClean="0">
                <a:solidFill>
                  <a:prstClr val="black"/>
                </a:solidFill>
              </a:rPr>
              <a:t>[</a:t>
            </a:r>
            <a:r>
              <a:rPr lang="ko-KR" altLang="en-US" sz="700" dirty="0" smtClean="0">
                <a:solidFill>
                  <a:prstClr val="black"/>
                </a:solidFill>
              </a:rPr>
              <a:t>지침</a:t>
            </a:r>
            <a:r>
              <a:rPr lang="en-US" altLang="ko-KR" sz="700" dirty="0" smtClean="0">
                <a:solidFill>
                  <a:prstClr val="black"/>
                </a:solidFill>
              </a:rPr>
              <a:t>] </a:t>
            </a:r>
            <a:r>
              <a:rPr lang="ko-KR" altLang="en-US" sz="700" dirty="0" smtClean="0">
                <a:solidFill>
                  <a:prstClr val="black"/>
                </a:solidFill>
              </a:rPr>
              <a:t>국방부</a:t>
            </a:r>
            <a:r>
              <a:rPr lang="en-US" altLang="ko-KR" sz="700" dirty="0">
                <a:solidFill>
                  <a:prstClr val="black"/>
                </a:solidFill>
              </a:rPr>
              <a:t>(</a:t>
            </a:r>
            <a:r>
              <a:rPr lang="ko-KR" altLang="en-US" sz="700" dirty="0" err="1">
                <a:solidFill>
                  <a:prstClr val="black"/>
                </a:solidFill>
              </a:rPr>
              <a:t>부대조달</a:t>
            </a:r>
            <a:r>
              <a:rPr lang="en-US" altLang="ko-KR" sz="700" dirty="0">
                <a:solidFill>
                  <a:prstClr val="black"/>
                </a:solidFill>
              </a:rPr>
              <a:t>) </a:t>
            </a:r>
            <a:r>
              <a:rPr lang="ko-KR" altLang="en-US" sz="700" dirty="0">
                <a:solidFill>
                  <a:prstClr val="black"/>
                </a:solidFill>
              </a:rPr>
              <a:t>주요 규정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군시설공사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입찰참가자격사전심사</a:t>
            </a:r>
            <a:endParaRPr lang="en-US" altLang="ko-KR" sz="900" b="1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세부운영</a:t>
            </a:r>
            <a:r>
              <a:rPr lang="ko-KR" altLang="en-US" sz="900" b="1" dirty="0">
                <a:solidFill>
                  <a:prstClr val="black"/>
                </a:solidFill>
              </a:rPr>
              <a:t> 기준에 관한 훈령</a:t>
            </a:r>
          </a:p>
        </p:txBody>
      </p:sp>
      <p:cxnSp>
        <p:nvCxnSpPr>
          <p:cNvPr id="114" name="직선 연결선 11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32548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9" name="포인트가 5개인 별 118"/>
          <p:cNvSpPr/>
          <p:nvPr/>
        </p:nvSpPr>
        <p:spPr>
          <a:xfrm>
            <a:off x="3058823" y="4926943"/>
            <a:ext cx="159391" cy="159391"/>
          </a:xfrm>
          <a:prstGeom prst="star5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타원 1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319568" y="33391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3350885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12</a:t>
            </a:r>
            <a:endParaRPr lang="ko-KR" altLang="en-US" sz="800" dirty="0">
              <a:latin typeface="+mn-ea"/>
            </a:endParaRP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3861123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11</a:t>
            </a:r>
            <a:endParaRPr lang="ko-KR" altLang="en-US" sz="800" dirty="0">
              <a:latin typeface="+mn-ea"/>
            </a:endParaRP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4371361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10</a:t>
            </a:r>
            <a:endParaRPr lang="ko-KR" altLang="en-US" sz="800" dirty="0">
              <a:latin typeface="+mn-ea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4945083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9</a:t>
            </a:r>
            <a:endParaRPr lang="ko-KR" altLang="en-US" sz="800" dirty="0">
              <a:latin typeface="+mn-ea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2913532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9731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1" name="그룹 50"/>
          <p:cNvGrpSpPr/>
          <p:nvPr/>
        </p:nvGrpSpPr>
        <p:grpSpPr>
          <a:xfrm>
            <a:off x="767702" y="1934600"/>
            <a:ext cx="2527420" cy="473693"/>
            <a:chOff x="786326" y="2274581"/>
            <a:chExt cx="2527420" cy="473693"/>
          </a:xfrm>
        </p:grpSpPr>
        <p:sp>
          <p:nvSpPr>
            <p:cNvPr id="52" name="모서리가 둥근 직사각형 51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3" name="타원 52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6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95625" y="2274581"/>
              <a:ext cx="615387" cy="155984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법령명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57" name="타원 56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/>
                <a:t>V</a:t>
              </a:r>
              <a:endParaRPr lang="ko-KR" altLang="en-US" sz="600" dirty="0"/>
            </a:p>
          </p:txBody>
        </p:sp>
        <p:sp>
          <p:nvSpPr>
            <p:cNvPr id="58" name="타원 57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59" name="그룹 58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60" name="직선 연결선 59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1" name="직선 연결선 60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56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79669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2" name="TextBox 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258008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smtClean="0">
                <a:latin typeface="+mn-ea"/>
              </a:rPr>
              <a:t>전체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8545" y="2580085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법령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760915" y="2580085"/>
            <a:ext cx="396163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대통령령</a:t>
            </a:r>
          </a:p>
        </p:txBody>
      </p:sp>
      <p:cxnSp>
        <p:nvCxnSpPr>
          <p:cNvPr id="86" name="직선 연결선 8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79669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7" name="그룹 86"/>
          <p:cNvGrpSpPr/>
          <p:nvPr/>
        </p:nvGrpSpPr>
        <p:grpSpPr>
          <a:xfrm>
            <a:off x="2924086" y="254196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89" name="그룹 88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5" name="직선 연결선 9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6" name="직선 연결선 9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0" name="타원 89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2" name="그룹 91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3" name="직선 연결선 9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4" name="직선 연결선 9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331827" y="2580085"/>
            <a:ext cx="396163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 smtClean="0">
                <a:latin typeface="+mn-ea"/>
              </a:rPr>
              <a:t>부령</a:t>
            </a:r>
            <a:endParaRPr lang="ko-KR" altLang="en-US" sz="700" dirty="0">
              <a:latin typeface="+mn-ea"/>
            </a:endParaRPr>
          </a:p>
        </p:txBody>
      </p:sp>
      <p:sp>
        <p:nvSpPr>
          <p:cNvPr id="98" name="타원 9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53106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297407357"/>
      </p:ext>
    </p:extLst>
  </p:cSld>
  <p:clrMapOvr>
    <a:masterClrMapping/>
  </p:clrMapOvr>
</p:sld>
</file>

<file path=ppt/slides/slide3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318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4259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법령정보조회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9" y="396386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1885461"/>
            <a:ext cx="243392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법령정보조회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9" y="1014316"/>
          <a:ext cx="8994883" cy="703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sttType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대통령령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부령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행정규칙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훈령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고시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임의법령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법령명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법령명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0553618"/>
              </p:ext>
            </p:extLst>
          </p:nvPr>
        </p:nvGraphicFramePr>
        <p:xfrm>
          <a:off x="453000" y="4156535"/>
          <a:ext cx="8995591" cy="1457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scwin.grd_sttList_oncellclick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법령정보목록조회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/>
                        <a:t>항목 </a:t>
                      </a:r>
                      <a:r>
                        <a:rPr lang="ko-KR" altLang="en-US" sz="800" dirty="0"/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scwin.grd_sttUrl_oncellclick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 법령의 링크화면으로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즐겨찾기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scwin.grd_sttItrst_oncellclick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즐겨찾기 및 즐겨찾기 해제를 진행한다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 err="1">
                          <a:solidFill>
                            <a:schemeClr val="tx1"/>
                          </a:solidFill>
                        </a:rPr>
                        <a:t>법령정보즐겨찾기등록</a:t>
                      </a: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29770014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52998" y="2092852"/>
          <a:ext cx="8994883" cy="1819584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법령정보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sttType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dirty="0">
                          <a:latin typeface="+mn-ea"/>
                        </a:rPr>
                        <a:t>법령구분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대통령령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부령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행정규칙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훈령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고시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임의법령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법령약어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sttAbbrNm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dirty="0" err="1">
                          <a:latin typeface="+mn-ea"/>
                        </a:rPr>
                        <a:t>법령약어</a:t>
                      </a:r>
                      <a:r>
                        <a:rPr lang="ko-KR" altLang="en-US" sz="800" dirty="0">
                          <a:latin typeface="+mn-ea"/>
                        </a:rPr>
                        <a:t>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법령명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dirty="0" err="1">
                          <a:latin typeface="+mn-ea"/>
                        </a:rPr>
                        <a:t>법령명</a:t>
                      </a:r>
                      <a:r>
                        <a:rPr lang="ko-KR" altLang="en-US" sz="800" dirty="0">
                          <a:latin typeface="+mn-ea"/>
                        </a:rPr>
                        <a:t>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시행일자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sttEnfcYmd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시행일자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링크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sttUrl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링크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57076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즐겨찾기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sttItrst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즐겨찾기유무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69109270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955ED537-3CA0-2A94-77BF-1AD1B2F734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02870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B1893F1C-1BC1-9154-4086-3AB9A54D9213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75FDBB44-DC81-7EBC-28F5-AEF594630BC7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4" name="Text Box 73">
              <a:extLst>
                <a:ext uri="{FF2B5EF4-FFF2-40B4-BE49-F238E27FC236}">
                  <a16:creationId xmlns:a16="http://schemas.microsoft.com/office/drawing/2014/main" id="{8D1325CC-9FA9-0D81-6E38-0B5C4CDC71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78705279"/>
      </p:ext>
    </p:extLst>
  </p:cSld>
  <p:clrMapOvr>
    <a:masterClrMapping/>
  </p:clrMapOvr>
</p:sld>
</file>

<file path=ppt/slides/slide3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319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4. </a:t>
            </a:r>
            <a:r>
              <a:rPr lang="ko-KR" altLang="en-US" dirty="0"/>
              <a:t>인증센터 메뉴</a:t>
            </a:r>
            <a:endParaRPr lang="en-US" altLang="ko-KR" dirty="0"/>
          </a:p>
          <a:p>
            <a:r>
              <a:rPr lang="en-US" altLang="ko-KR" dirty="0"/>
              <a:t>4.1 </a:t>
            </a:r>
            <a:r>
              <a:rPr lang="ko-KR" altLang="en-US" dirty="0"/>
              <a:t>화면 목록</a:t>
            </a:r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92549297"/>
              </p:ext>
            </p:extLst>
          </p:nvPr>
        </p:nvGraphicFramePr>
        <p:xfrm>
          <a:off x="635474" y="1413419"/>
          <a:ext cx="8701200" cy="252862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인증센터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CertMngPage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certMng</a:t>
                      </a: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CertMngPage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인증서 관리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CrtfMng</a:t>
                      </a:r>
                      <a:r>
                        <a:rPr lang="en-US" altLang="ko-KR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보유하고 있는 인증서 목록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crtfMng</a:t>
                      </a:r>
                      <a:endParaRPr lang="en-US" altLang="ko-KR" sz="800" b="0" i="0" u="none" strike="noStrike" dirty="0" smtClean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CrtfMngPage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UC-ZZ-10-04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MUI-CM-04-P15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인증서 삭제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CrtfDel</a:t>
                      </a:r>
                      <a:r>
                        <a:rPr lang="en-US" altLang="ko-KR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인증서 관리 화면에서 인증서 선택 삭제 팝업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crtfDel</a:t>
                      </a: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CrtfDelPage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869652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인증서 가져오기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CrtfReceive</a:t>
                      </a:r>
                      <a:r>
                        <a:rPr lang="en-US" altLang="ko-KR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PC →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모바일 인증서 복사 기능 및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crtfReceive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CrtfReceivePage</a:t>
                      </a:r>
                      <a:endParaRPr lang="en-US" altLang="ko-KR" sz="800" b="0" i="0" u="none" strike="noStrike" dirty="0" smtClean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7373192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인증서 내보내기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CrtfSend</a:t>
                      </a:r>
                      <a:r>
                        <a:rPr lang="en-US" altLang="ko-KR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모바일  →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PC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인증서 복사 기능 및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crtfSend</a:t>
                      </a:r>
                      <a:endParaRPr lang="en-US" altLang="ko-KR" sz="800" b="0" i="0" u="none" strike="noStrike" dirty="0" smtClean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CrtfSendPage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0172525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MUI-CM-04-P18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인증서 비밀번호 확인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CrtfPswd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인증서 비밀번호 확인 팝업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crtfSend</a:t>
                      </a:r>
                      <a:endParaRPr lang="en-US" altLang="ko-KR" sz="800" b="0" i="0" u="none" strike="noStrike" dirty="0" smtClean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CrtfPswd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1151526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MUI-CM-04-P19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 성공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실패 메시지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CrtfPswd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성공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실패 메시지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스마트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PKI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메시지 출력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crtfSend</a:t>
                      </a:r>
                      <a:endParaRPr lang="en-US" altLang="ko-KR" sz="800" b="0" i="0" u="none" strike="noStrike" dirty="0" smtClean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CrtfPswd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0572186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5233387"/>
      </p:ext>
    </p:extLst>
  </p:cSld>
  <p:clrMapOvr>
    <a:masterClrMapping/>
  </p:clrMapOvr>
</p:sld>
</file>

<file path=ppt/slides/slide3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320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4.2.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인증센터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1173151" y="1536362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인증서 관리</a:t>
            </a:r>
          </a:p>
        </p:txBody>
      </p:sp>
      <p:sp>
        <p:nvSpPr>
          <p:cNvPr id="2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인증서 가져오기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700" dirty="0">
                <a:solidFill>
                  <a:schemeClr val="tx1"/>
                </a:solidFill>
              </a:rPr>
              <a:t>(PC </a:t>
            </a:r>
            <a:r>
              <a:rPr lang="en-US" altLang="ko-KR" sz="700" dirty="0">
                <a:solidFill>
                  <a:schemeClr val="tx1"/>
                </a:solidFill>
                <a:sym typeface="Wingdings" panose="05000000000000000000" pitchFamily="2" charset="2"/>
              </a:rPr>
              <a:t> Mobile</a:t>
            </a:r>
            <a:r>
              <a:rPr lang="en-US" altLang="ko-KR" sz="7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22" idx="1"/>
          </p:cNvCxnSpPr>
          <p:nvPr/>
        </p:nvCxnSpPr>
        <p:spPr>
          <a:xfrm>
            <a:off x="3266608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인증서 비밀번호 확인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endCxn id="34" idx="1"/>
          </p:cNvCxnSpPr>
          <p:nvPr/>
        </p:nvCxnSpPr>
        <p:spPr>
          <a:xfrm>
            <a:off x="5092692" y="2451750"/>
            <a:ext cx="93618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98653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인증서 내보내기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700" dirty="0">
                <a:solidFill>
                  <a:schemeClr val="tx1"/>
                </a:solidFill>
              </a:rPr>
              <a:t>(Mobile </a:t>
            </a:r>
            <a:r>
              <a:rPr lang="en-US" altLang="ko-KR" sz="700" dirty="0">
                <a:solidFill>
                  <a:schemeClr val="tx1"/>
                </a:solidFill>
                <a:sym typeface="Wingdings" panose="05000000000000000000" pitchFamily="2" charset="2"/>
              </a:rPr>
              <a:t> PC</a:t>
            </a:r>
            <a:r>
              <a:rPr lang="en-US" altLang="ko-KR" sz="700" dirty="0">
                <a:solidFill>
                  <a:schemeClr val="tx1"/>
                </a:solidFill>
              </a:rPr>
              <a:t>)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220330" y="2558007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249327" y="2361749"/>
            <a:ext cx="180000" cy="180000"/>
            <a:chOff x="5058274" y="2498299"/>
            <a:chExt cx="180000" cy="180000"/>
          </a:xfrm>
        </p:grpSpPr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5" name="타원 104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9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24" idx="1"/>
          </p:cNvCxnSpPr>
          <p:nvPr/>
        </p:nvCxnSpPr>
        <p:spPr>
          <a:xfrm>
            <a:off x="3266608" y="1772964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91" idx="1"/>
          </p:cNvCxnSpPr>
          <p:nvPr/>
        </p:nvCxnSpPr>
        <p:spPr>
          <a:xfrm>
            <a:off x="3266608" y="1772964"/>
            <a:ext cx="931134" cy="135757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인증서 삭제</a:t>
            </a:r>
          </a:p>
        </p:txBody>
      </p:sp>
      <p:cxnSp>
        <p:nvCxnSpPr>
          <p:cNvPr id="72" name="직선 화살표 연결선 7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2" idx="3"/>
            <a:endCxn id="71" idx="1"/>
          </p:cNvCxnSpPr>
          <p:nvPr/>
        </p:nvCxnSpPr>
        <p:spPr>
          <a:xfrm>
            <a:off x="5097742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1" idx="3"/>
            <a:endCxn id="34" idx="1"/>
          </p:cNvCxnSpPr>
          <p:nvPr/>
        </p:nvCxnSpPr>
        <p:spPr>
          <a:xfrm flipV="1">
            <a:off x="5097742" y="2451750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직선 화살표 연결선 8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34" idx="3"/>
            <a:endCxn id="90" idx="1"/>
          </p:cNvCxnSpPr>
          <p:nvPr/>
        </p:nvCxnSpPr>
        <p:spPr>
          <a:xfrm>
            <a:off x="6928876" y="2451750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 성공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실패 메시지</a:t>
            </a:r>
          </a:p>
        </p:txBody>
      </p:sp>
      <p:cxnSp>
        <p:nvCxnSpPr>
          <p:cNvPr id="9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1" idx="3"/>
            <a:endCxn id="90" idx="1"/>
          </p:cNvCxnSpPr>
          <p:nvPr/>
        </p:nvCxnSpPr>
        <p:spPr>
          <a:xfrm>
            <a:off x="6928876" y="1772964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5" name="직선 화살표 연결선 9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0" idx="3"/>
            <a:endCxn id="104" idx="2"/>
          </p:cNvCxnSpPr>
          <p:nvPr/>
        </p:nvCxnSpPr>
        <p:spPr>
          <a:xfrm flipV="1">
            <a:off x="8760010" y="2451749"/>
            <a:ext cx="4893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128876" y="2307750"/>
            <a:ext cx="549831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>
                <a:solidFill>
                  <a:schemeClr val="tx1"/>
                </a:solidFill>
              </a:rPr>
              <a:t>가져온 이후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7898478"/>
      </p:ext>
    </p:extLst>
  </p:cSld>
  <p:clrMapOvr>
    <a:masterClrMapping/>
  </p:clrMapOvr>
</p:sld>
</file>

<file path=ppt/slides/slide3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321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4.3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인증센터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Calibri" panose="020F0502020204030204" pitchFamily="34" charset="0"/>
              </a:rPr>
              <a:t>CertMngPage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인증서 관리</a:t>
            </a: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Calibri" panose="020F0502020204030204" pitchFamily="34" charset="0"/>
              </a:rPr>
              <a:t>CrtfMngPage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인증서 삭제</a:t>
            </a:r>
            <a:endParaRPr lang="en-US" altLang="ko-KR" sz="7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Calibri" panose="020F0502020204030204" pitchFamily="34" charset="0"/>
              </a:rPr>
              <a:t>CrtfDelPage</a:t>
            </a:r>
            <a:r>
              <a:rPr lang="en-US" altLang="ko-KR" sz="7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7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&lt;&lt;Controller&gt;&gt;</a:t>
            </a:r>
          </a:p>
          <a:p>
            <a:pPr algn="ctr"/>
            <a:r>
              <a:rPr lang="ko-KR" altLang="en-US" sz="1100" dirty="0"/>
              <a:t>인증센터 </a:t>
            </a:r>
            <a:r>
              <a:rPr lang="en-US" altLang="ko-KR" sz="1100" dirty="0"/>
              <a:t>Controller</a:t>
            </a:r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인증서 가져오기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Calibri" panose="020F0502020204030204" pitchFamily="34" charset="0"/>
              </a:rPr>
              <a:t>CrtfReceivePage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인증서 내보내기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Calibri" panose="020F0502020204030204" pitchFamily="34" charset="0"/>
              </a:rPr>
              <a:t>CrtfSendPage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인증서 비밀번호 확인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Calibri" panose="020F0502020204030204" pitchFamily="34" charset="0"/>
              </a:rPr>
              <a:t>CrtfPswd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88399349"/>
      </p:ext>
    </p:extLst>
  </p:cSld>
  <p:clrMapOvr>
    <a:masterClrMapping/>
  </p:clrMapOvr>
</p:sld>
</file>

<file path=ppt/slides/slide3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322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인증센터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인증센터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인증센터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MUI-CM-04-M13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인증센터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7" name="그룹 6"/>
          <p:cNvGrpSpPr/>
          <p:nvPr/>
        </p:nvGrpSpPr>
        <p:grpSpPr>
          <a:xfrm>
            <a:off x="903581" y="2145413"/>
            <a:ext cx="2255663" cy="306146"/>
            <a:chOff x="903581" y="2074658"/>
            <a:chExt cx="2255663" cy="306146"/>
          </a:xfrm>
        </p:grpSpPr>
        <p:sp>
          <p:nvSpPr>
            <p:cNvPr id="65" name="모서리가 둥근 직사각형 64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인증서 관리</a:t>
              </a:r>
            </a:p>
          </p:txBody>
        </p:sp>
      </p:grpSp>
      <p:grpSp>
        <p:nvGrpSpPr>
          <p:cNvPr id="6" name="그룹 5"/>
          <p:cNvGrpSpPr/>
          <p:nvPr/>
        </p:nvGrpSpPr>
        <p:grpSpPr>
          <a:xfrm>
            <a:off x="903581" y="2593969"/>
            <a:ext cx="2255663" cy="306146"/>
            <a:chOff x="903581" y="2461599"/>
            <a:chExt cx="2255663" cy="306146"/>
          </a:xfrm>
        </p:grpSpPr>
        <p:sp>
          <p:nvSpPr>
            <p:cNvPr id="69" name="모서리가 둥근 직사각형 68"/>
            <p:cNvSpPr/>
            <p:nvPr/>
          </p:nvSpPr>
          <p:spPr>
            <a:xfrm>
              <a:off x="903581" y="2461599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560811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553117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인증서 가져오기</a:t>
              </a:r>
            </a:p>
          </p:txBody>
        </p:sp>
      </p:grpSp>
      <p:grpSp>
        <p:nvGrpSpPr>
          <p:cNvPr id="5" name="그룹 4"/>
          <p:cNvGrpSpPr/>
          <p:nvPr/>
        </p:nvGrpSpPr>
        <p:grpSpPr>
          <a:xfrm>
            <a:off x="903581" y="3042525"/>
            <a:ext cx="2255663" cy="306146"/>
            <a:chOff x="903581" y="2845891"/>
            <a:chExt cx="2255663" cy="306146"/>
          </a:xfrm>
        </p:grpSpPr>
        <p:sp>
          <p:nvSpPr>
            <p:cNvPr id="67" name="모서리가 둥근 직사각형 66"/>
            <p:cNvSpPr/>
            <p:nvPr/>
          </p:nvSpPr>
          <p:spPr>
            <a:xfrm>
              <a:off x="903581" y="2845891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945103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937409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인증서 내보내기</a:t>
              </a:r>
            </a:p>
          </p:txBody>
        </p:sp>
      </p:grpSp>
      <p:grpSp>
        <p:nvGrpSpPr>
          <p:cNvPr id="3" name="그룹 2"/>
          <p:cNvGrpSpPr/>
          <p:nvPr/>
        </p:nvGrpSpPr>
        <p:grpSpPr>
          <a:xfrm>
            <a:off x="903581" y="3491082"/>
            <a:ext cx="2255663" cy="306146"/>
            <a:chOff x="903581" y="3230183"/>
            <a:chExt cx="2255663" cy="306146"/>
          </a:xfrm>
        </p:grpSpPr>
        <p:sp>
          <p:nvSpPr>
            <p:cNvPr id="31" name="모서리가 둥근 직사각형 30"/>
            <p:cNvSpPr/>
            <p:nvPr/>
          </p:nvSpPr>
          <p:spPr>
            <a:xfrm>
              <a:off x="903581" y="323018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3329395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3321701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 err="1">
                  <a:latin typeface="+mn-ea"/>
                </a:rPr>
                <a:t>생체인증</a:t>
              </a:r>
              <a:r>
                <a:rPr lang="ko-KR" altLang="en-US" sz="800" b="1" dirty="0">
                  <a:latin typeface="+mn-ea"/>
                </a:rPr>
                <a:t> </a:t>
              </a:r>
              <a:r>
                <a:rPr lang="en-US" altLang="ko-KR" sz="800" b="1" dirty="0">
                  <a:latin typeface="+mn-ea"/>
                </a:rPr>
                <a:t>(</a:t>
              </a:r>
              <a:r>
                <a:rPr lang="ko-KR" altLang="en-US" sz="800" b="1" dirty="0">
                  <a:latin typeface="+mn-ea"/>
                </a:rPr>
                <a:t>얼굴</a:t>
              </a:r>
              <a:r>
                <a:rPr lang="en-US" altLang="ko-KR" sz="800" b="1" dirty="0">
                  <a:latin typeface="+mn-ea"/>
                </a:rPr>
                <a:t>, </a:t>
              </a:r>
              <a:r>
                <a:rPr lang="ko-KR" altLang="en-US" sz="800" b="1" dirty="0">
                  <a:latin typeface="+mn-ea"/>
                </a:rPr>
                <a:t>지문</a:t>
              </a:r>
              <a:r>
                <a:rPr lang="en-US" altLang="ko-KR" sz="800" b="1" dirty="0">
                  <a:latin typeface="+mn-ea"/>
                </a:rPr>
                <a:t>)</a:t>
              </a:r>
              <a:endParaRPr lang="ko-KR" altLang="en-US" sz="800" b="1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95200231"/>
      </p:ext>
    </p:extLst>
  </p:cSld>
  <p:clrMapOvr>
    <a:masterClrMapping/>
  </p:clrMapOvr>
</p:sld>
</file>

<file path=ppt/slides/slide3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323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인증서 관리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보유하고 있는 인증서 목록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인증센터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인증서 관리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MUI-CM-04-M14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인증서 관리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65" name="모서리가 둥근 직사각형 64"/>
          <p:cNvSpPr/>
          <p:nvPr/>
        </p:nvSpPr>
        <p:spPr>
          <a:xfrm>
            <a:off x="903581" y="2004729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103942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243941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368920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36" name="모서리가 둥근 직사각형 35"/>
          <p:cNvSpPr/>
          <p:nvPr/>
        </p:nvSpPr>
        <p:spPr>
          <a:xfrm>
            <a:off x="2681859" y="2224346"/>
            <a:ext cx="398489" cy="162000"/>
          </a:xfrm>
          <a:prstGeom prst="roundRect">
            <a:avLst>
              <a:gd name="adj" fmla="val 23409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 dirty="0">
                <a:solidFill>
                  <a:srgbClr val="0070C0"/>
                </a:solidFill>
              </a:rPr>
              <a:t>삭제</a:t>
            </a:r>
          </a:p>
        </p:txBody>
      </p:sp>
      <p:sp>
        <p:nvSpPr>
          <p:cNvPr id="37" name="모서리가 둥근 직사각형 36"/>
          <p:cNvSpPr/>
          <p:nvPr/>
        </p:nvSpPr>
        <p:spPr>
          <a:xfrm>
            <a:off x="903581" y="2720310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819523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2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959522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084501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41" name="모서리가 둥근 직사각형 40"/>
          <p:cNvSpPr/>
          <p:nvPr/>
        </p:nvSpPr>
        <p:spPr>
          <a:xfrm>
            <a:off x="2681859" y="2939927"/>
            <a:ext cx="398489" cy="162000"/>
          </a:xfrm>
          <a:prstGeom prst="roundRect">
            <a:avLst>
              <a:gd name="adj" fmla="val 23409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 dirty="0">
                <a:solidFill>
                  <a:srgbClr val="0070C0"/>
                </a:solidFill>
              </a:rPr>
              <a:t>삭제</a:t>
            </a:r>
          </a:p>
        </p:txBody>
      </p:sp>
      <p:sp>
        <p:nvSpPr>
          <p:cNvPr id="42" name="모서리가 둥근 직사각형 41"/>
          <p:cNvSpPr/>
          <p:nvPr/>
        </p:nvSpPr>
        <p:spPr>
          <a:xfrm>
            <a:off x="903581" y="3435891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535104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3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675103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코스콤</a:t>
            </a:r>
            <a:endParaRPr lang="ko-KR" altLang="en-US" sz="700" dirty="0">
              <a:latin typeface="+mn-ea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800082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46" name="모서리가 둥근 직사각형 45"/>
          <p:cNvSpPr/>
          <p:nvPr/>
        </p:nvSpPr>
        <p:spPr>
          <a:xfrm>
            <a:off x="2681859" y="3655508"/>
            <a:ext cx="398489" cy="162000"/>
          </a:xfrm>
          <a:prstGeom prst="roundRect">
            <a:avLst>
              <a:gd name="adj" fmla="val 23409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 dirty="0">
                <a:solidFill>
                  <a:srgbClr val="0070C0"/>
                </a:solidFill>
              </a:rPr>
              <a:t>삭제</a:t>
            </a:r>
          </a:p>
        </p:txBody>
      </p: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950686"/>
            <a:ext cx="76863" cy="292489"/>
            <a:chOff x="3750067" y="4683795"/>
            <a:chExt cx="76863" cy="292489"/>
          </a:xfrm>
        </p:grpSpPr>
        <p:sp>
          <p:nvSpPr>
            <p:cNvPr id="49" name="타원 48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0" name="타원 49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1" name="타원 5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215156713"/>
      </p:ext>
    </p:extLst>
  </p:cSld>
  <p:clrMapOvr>
    <a:masterClrMapping/>
  </p:clrMapOvr>
</p:sld>
</file>

<file path=ppt/slides/slide3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인증서 가상 </a:t>
            </a:r>
            <a:r>
              <a:rPr lang="ko-KR" altLang="en-US" dirty="0" err="1"/>
              <a:t>키패드는</a:t>
            </a:r>
            <a:r>
              <a:rPr lang="ko-KR" altLang="en-US" dirty="0"/>
              <a:t> 보안 </a:t>
            </a:r>
            <a:r>
              <a:rPr lang="ko-KR" altLang="en-US" dirty="0" err="1"/>
              <a:t>키패드</a:t>
            </a:r>
            <a:r>
              <a:rPr lang="ko-KR" altLang="en-US" dirty="0"/>
              <a:t> 활용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삭제 반영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인증서 관리 화면에서 토스트 메시지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토스트 메시지는 솔루션 메시지 활용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324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인증서 삭제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인증서 삭제</a:t>
            </a:r>
            <a:r>
              <a:rPr lang="ko-KR" altLang="en-US" dirty="0"/>
              <a:t>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인증센터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인증서 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인증서 삭제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MUI-CM-04-P15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2" name="양쪽 모서리가 둥근 사각형 21"/>
          <p:cNvSpPr/>
          <p:nvPr/>
        </p:nvSpPr>
        <p:spPr>
          <a:xfrm>
            <a:off x="679854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3" name="모서리가 둥근 직사각형 22"/>
          <p:cNvSpPr/>
          <p:nvPr/>
        </p:nvSpPr>
        <p:spPr>
          <a:xfrm>
            <a:off x="1765867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4" name="그룹 23"/>
          <p:cNvGrpSpPr/>
          <p:nvPr/>
        </p:nvGrpSpPr>
        <p:grpSpPr>
          <a:xfrm>
            <a:off x="3168793" y="3182696"/>
            <a:ext cx="94010" cy="94010"/>
            <a:chOff x="6812560" y="3297172"/>
            <a:chExt cx="94010" cy="94010"/>
          </a:xfrm>
        </p:grpSpPr>
        <p:cxnSp>
          <p:nvCxnSpPr>
            <p:cNvPr id="25" name="직선 연결선 24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6" name="직선 연결선 25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인증서 삭제</a:t>
            </a:r>
          </a:p>
        </p:txBody>
      </p: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4" name="타원 4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63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3523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5" name="그룹 4"/>
          <p:cNvGrpSpPr/>
          <p:nvPr/>
        </p:nvGrpSpPr>
        <p:grpSpPr>
          <a:xfrm>
            <a:off x="883295" y="5756042"/>
            <a:ext cx="2305144" cy="317083"/>
            <a:chOff x="861671" y="5756042"/>
            <a:chExt cx="2305144" cy="317083"/>
          </a:xfrm>
        </p:grpSpPr>
        <p:sp>
          <p:nvSpPr>
            <p:cNvPr id="47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2086815" y="5756042"/>
              <a:ext cx="1080000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prstClr val="white"/>
                  </a:solidFill>
                </a:rPr>
                <a:t>삭제하기</a:t>
              </a:r>
              <a:endParaRPr kumimoji="1" lang="en-US" altLang="ko-KR" sz="1000" kern="0" dirty="0">
                <a:solidFill>
                  <a:prstClr val="white"/>
                </a:solidFill>
              </a:endParaRPr>
            </a:p>
          </p:txBody>
        </p:sp>
        <p:sp>
          <p:nvSpPr>
            <p:cNvPr id="4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861671" y="5756042"/>
              <a:ext cx="108000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</p:grp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3632975"/>
            <a:ext cx="2305144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선택하신 인증서는 스마트폰에서 삭제되는 것이며</a:t>
            </a:r>
            <a:r>
              <a:rPr lang="en-US" altLang="ko-KR" sz="700" dirty="0">
                <a:latin typeface="+mn-ea"/>
              </a:rPr>
              <a:t>,</a:t>
            </a:r>
            <a:r>
              <a:rPr lang="ko-KR" altLang="en-US" sz="700" dirty="0">
                <a:latin typeface="+mn-ea"/>
              </a:rPr>
              <a:t> 다른 디바이스에 저장된 인증서는 사용할 수 있습니다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endParaRPr lang="en-US" altLang="ko-KR" sz="700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선택한 인증서를 삭제하시겠습니까</a:t>
            </a:r>
            <a:r>
              <a:rPr lang="en-US" altLang="ko-KR" sz="700" dirty="0">
                <a:latin typeface="+mn-ea"/>
              </a:rPr>
              <a:t>?</a:t>
            </a:r>
          </a:p>
        </p:txBody>
      </p:sp>
      <p:sp>
        <p:nvSpPr>
          <p:cNvPr id="73" name="모서리가 둥근 직사각형 72"/>
          <p:cNvSpPr/>
          <p:nvPr/>
        </p:nvSpPr>
        <p:spPr>
          <a:xfrm>
            <a:off x="903581" y="4411543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510756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650755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775734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422666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선택된 인증서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4299147" y="5491535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인증서를 삭제하였습니다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4" name="모서리가 둥근 직사각형 83"/>
          <p:cNvSpPr/>
          <p:nvPr/>
        </p:nvSpPr>
        <p:spPr>
          <a:xfrm>
            <a:off x="903581" y="5371351"/>
            <a:ext cx="2255663" cy="227857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5186470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인증서 비밀번호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87" name="모서리가 둥근 직사각형 86"/>
          <p:cNvSpPr/>
          <p:nvPr/>
        </p:nvSpPr>
        <p:spPr>
          <a:xfrm>
            <a:off x="4299147" y="5116496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16724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인증서 암호 입력이 틀렸습니다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9" name="타원 8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7775" y="43523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4934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인증서 관리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91" name="직선 연결선 9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384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92" name="그룹 91"/>
          <p:cNvGrpSpPr/>
          <p:nvPr/>
        </p:nvGrpSpPr>
        <p:grpSpPr>
          <a:xfrm rot="5400000">
            <a:off x="3868283" y="1640499"/>
            <a:ext cx="94010" cy="47005"/>
            <a:chOff x="6812560" y="3297172"/>
            <a:chExt cx="94010" cy="47005"/>
          </a:xfrm>
        </p:grpSpPr>
        <p:cxnSp>
          <p:nvCxnSpPr>
            <p:cNvPr id="93" name="직선 연결선 9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4" name="직선 연결선 9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5" name="타원 94"/>
          <p:cNvSpPr/>
          <p:nvPr/>
        </p:nvSpPr>
        <p:spPr>
          <a:xfrm>
            <a:off x="615780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모서리가 둥근 직사각형 106"/>
          <p:cNvSpPr/>
          <p:nvPr/>
        </p:nvSpPr>
        <p:spPr>
          <a:xfrm>
            <a:off x="4048656" y="2010783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0130" y="2109996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2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0130" y="2249995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0130" y="2374974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5826934" y="2230400"/>
            <a:ext cx="398489" cy="162000"/>
          </a:xfrm>
          <a:prstGeom prst="roundRect">
            <a:avLst>
              <a:gd name="adj" fmla="val 23409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 dirty="0">
                <a:solidFill>
                  <a:srgbClr val="0070C0"/>
                </a:solidFill>
              </a:rPr>
              <a:t>삭제</a:t>
            </a:r>
          </a:p>
        </p:txBody>
      </p:sp>
      <p:sp>
        <p:nvSpPr>
          <p:cNvPr id="112" name="모서리가 둥근 직사각형 111"/>
          <p:cNvSpPr/>
          <p:nvPr/>
        </p:nvSpPr>
        <p:spPr>
          <a:xfrm>
            <a:off x="4048656" y="2726364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0130" y="2825577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3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0130" y="2965576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코스콤</a:t>
            </a:r>
            <a:endParaRPr lang="ko-KR" altLang="en-US" sz="700" dirty="0">
              <a:latin typeface="+mn-ea"/>
            </a:endParaRP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0130" y="3090555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116" name="모서리가 둥근 직사각형 115"/>
          <p:cNvSpPr/>
          <p:nvPr/>
        </p:nvSpPr>
        <p:spPr>
          <a:xfrm>
            <a:off x="5826934" y="2945981"/>
            <a:ext cx="398489" cy="162000"/>
          </a:xfrm>
          <a:prstGeom prst="roundRect">
            <a:avLst>
              <a:gd name="adj" fmla="val 23409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 dirty="0">
                <a:solidFill>
                  <a:srgbClr val="0070C0"/>
                </a:solidFill>
              </a:rPr>
              <a:t>삭제</a:t>
            </a:r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68455" y="53659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630504819"/>
      </p:ext>
    </p:extLst>
  </p:cSld>
  <p:clrMapOvr>
    <a:masterClrMapping/>
  </p:clrMapOvr>
</p:sld>
</file>

<file path=ppt/slides/slide3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버튼영역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실패 메시지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성공 시 인증서 비밀번호 입력 화면 표시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325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인증서 가져오기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/>
              <a:t>PC → </a:t>
            </a:r>
            <a:r>
              <a:rPr lang="ko-KR" altLang="en-US" dirty="0"/>
              <a:t>모바일 인증서 복사 기능 및 화면 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pPr lvl="0"/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인증센터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인증서 가져오기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MUI-CM-04-M16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인증서 가져오기</a:t>
            </a: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3068904"/>
            <a:ext cx="2305144" cy="53860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PC </a:t>
            </a:r>
            <a:r>
              <a:rPr lang="ko-KR" altLang="en-US" sz="700" dirty="0">
                <a:latin typeface="+mn-ea"/>
              </a:rPr>
              <a:t>화면의 인증서 가져오기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내보내기 화면에 표시되는 인증번호 </a:t>
            </a:r>
            <a:r>
              <a:rPr lang="en-US" altLang="ko-KR" sz="700" dirty="0">
                <a:latin typeface="+mn-ea"/>
              </a:rPr>
              <a:t>12</a:t>
            </a:r>
            <a:r>
              <a:rPr lang="ko-KR" altLang="en-US" sz="700" dirty="0">
                <a:latin typeface="+mn-ea"/>
              </a:rPr>
              <a:t>자리를 입력하여 인증서 가져오기를 하실 수 있습니다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endParaRPr lang="en-US" altLang="ko-KR" sz="700" dirty="0">
              <a:latin typeface="+mn-ea"/>
            </a:endParaRPr>
          </a:p>
          <a:p>
            <a:r>
              <a:rPr lang="en-US" altLang="ko-KR" sz="700" dirty="0">
                <a:latin typeface="+mn-ea"/>
              </a:rPr>
              <a:t>PC </a:t>
            </a:r>
            <a:r>
              <a:rPr lang="en-US" altLang="ko-KR" sz="700" dirty="0">
                <a:latin typeface="+mn-ea"/>
                <a:sym typeface="Wingdings" panose="05000000000000000000" pitchFamily="2" charset="2"/>
              </a:rPr>
              <a:t> </a:t>
            </a:r>
            <a:r>
              <a:rPr lang="ko-KR" altLang="en-US" sz="700" dirty="0">
                <a:latin typeface="+mn-ea"/>
                <a:sym typeface="Wingdings" panose="05000000000000000000" pitchFamily="2" charset="2"/>
              </a:rPr>
              <a:t>스마트폰 으로 인증서를 가져옵니다</a:t>
            </a:r>
            <a:r>
              <a:rPr lang="en-US" altLang="ko-KR" sz="700" dirty="0">
                <a:latin typeface="+mn-ea"/>
                <a:sym typeface="Wingdings" panose="05000000000000000000" pitchFamily="2" charset="2"/>
              </a:rPr>
              <a:t>.</a:t>
            </a:r>
            <a:endParaRPr lang="en-US" altLang="ko-KR" sz="700" dirty="0">
              <a:latin typeface="+mn-ea"/>
            </a:endParaRPr>
          </a:p>
        </p:txBody>
      </p:sp>
      <p:sp>
        <p:nvSpPr>
          <p:cNvPr id="53" name="모서리가 둥근 직사각형 52"/>
          <p:cNvSpPr/>
          <p:nvPr/>
        </p:nvSpPr>
        <p:spPr>
          <a:xfrm>
            <a:off x="903581" y="2443797"/>
            <a:ext cx="714034" cy="27088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</a:rPr>
              <a:t>0000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56" name="모서리가 둥근 직사각형 55"/>
          <p:cNvSpPr/>
          <p:nvPr/>
        </p:nvSpPr>
        <p:spPr>
          <a:xfrm>
            <a:off x="1674396" y="2443797"/>
            <a:ext cx="714034" cy="27088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>
                <a:solidFill>
                  <a:schemeClr val="bg1">
                    <a:lumMod val="75000"/>
                  </a:schemeClr>
                </a:solidFill>
              </a:rPr>
              <a:t>0000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57" name="모서리가 둥근 직사각형 56"/>
          <p:cNvSpPr/>
          <p:nvPr/>
        </p:nvSpPr>
        <p:spPr>
          <a:xfrm>
            <a:off x="2445210" y="2443797"/>
            <a:ext cx="714034" cy="27088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>
                <a:solidFill>
                  <a:schemeClr val="bg1">
                    <a:lumMod val="75000"/>
                  </a:schemeClr>
                </a:solidFill>
              </a:rPr>
              <a:t>0000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2204289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인증번호 입력</a:t>
            </a:r>
            <a:endParaRPr lang="en-US" altLang="ko-KR" sz="700" b="1" dirty="0">
              <a:latin typeface="+mn-ea"/>
            </a:endParaRPr>
          </a:p>
        </p:txBody>
      </p: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01298" y="3940522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1" name="그룹 60"/>
          <p:cNvGrpSpPr/>
          <p:nvPr/>
        </p:nvGrpSpPr>
        <p:grpSpPr>
          <a:xfrm>
            <a:off x="825521" y="4059066"/>
            <a:ext cx="2370716" cy="306146"/>
            <a:chOff x="3982951" y="3679873"/>
            <a:chExt cx="2255663" cy="306146"/>
          </a:xfrm>
        </p:grpSpPr>
        <p:sp>
          <p:nvSpPr>
            <p:cNvPr id="62" name="모서리가 둥근 직사각형 61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인증서 가져오기</a:t>
              </a:r>
            </a:p>
          </p:txBody>
        </p:sp>
      </p:grp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1" name="모서리가 둥근 직사각형 90"/>
          <p:cNvSpPr/>
          <p:nvPr/>
        </p:nvSpPr>
        <p:spPr>
          <a:xfrm>
            <a:off x="4299147" y="5491535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 시간이 초과되었습니다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3" name="모서리가 둥근 직사각형 92"/>
          <p:cNvSpPr/>
          <p:nvPr/>
        </p:nvSpPr>
        <p:spPr>
          <a:xfrm>
            <a:off x="4299147" y="5116496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16724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인증번호가 틀렸습니다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5" name="타원 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07221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418544393"/>
      </p:ext>
    </p:extLst>
  </p:cSld>
  <p:clrMapOvr>
    <a:masterClrMapping/>
  </p:clrMapOvr>
</p:sld>
</file>

<file path=ppt/slides/slide3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인증서 선택 시 인증서 비밀번호 확인 이후 우측 화면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선택된 인증서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인증번호 </a:t>
            </a:r>
            <a:r>
              <a:rPr lang="en-US" altLang="ko-KR" dirty="0"/>
              <a:t>(</a:t>
            </a:r>
            <a:r>
              <a:rPr lang="ko-KR" altLang="en-US" dirty="0" err="1"/>
              <a:t>복사용</a:t>
            </a:r>
            <a:r>
              <a:rPr lang="en-US" altLang="ko-KR" dirty="0"/>
              <a:t>) </a:t>
            </a:r>
            <a:r>
              <a:rPr lang="ko-KR" altLang="en-US" dirty="0"/>
              <a:t>표시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326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인증서 내보내기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모바일 </a:t>
            </a:r>
            <a:r>
              <a:rPr lang="en-US" altLang="ko-KR" dirty="0"/>
              <a:t>→ PC </a:t>
            </a:r>
            <a:r>
              <a:rPr lang="ko-KR" altLang="en-US" dirty="0"/>
              <a:t>인증서 복사 기능 및 화면 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pPr lvl="0"/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인증센터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인증서 내보내기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MUI-CM-04-M17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6407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인증서 내보내기</a:t>
            </a: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0905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3875348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6164872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1736" y="4067478"/>
            <a:ext cx="2305144" cy="53860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PC </a:t>
            </a:r>
            <a:r>
              <a:rPr lang="ko-KR" altLang="en-US" sz="700" dirty="0">
                <a:latin typeface="+mn-ea"/>
              </a:rPr>
              <a:t>화면의 인증서 가져오기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내보내기 화면에 표시되는 인증번호 </a:t>
            </a:r>
            <a:r>
              <a:rPr lang="en-US" altLang="ko-KR" sz="700" dirty="0">
                <a:latin typeface="+mn-ea"/>
              </a:rPr>
              <a:t>12</a:t>
            </a:r>
            <a:r>
              <a:rPr lang="ko-KR" altLang="en-US" sz="700" dirty="0">
                <a:latin typeface="+mn-ea"/>
              </a:rPr>
              <a:t>자리를 입력하여 인증서 내보내기를 하실 수 있습니다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endParaRPr lang="en-US" altLang="ko-KR" sz="700" dirty="0">
              <a:latin typeface="+mn-ea"/>
            </a:endParaRPr>
          </a:p>
          <a:p>
            <a:r>
              <a:rPr lang="ko-KR" altLang="en-US" sz="700" dirty="0">
                <a:latin typeface="+mn-ea"/>
                <a:sym typeface="Wingdings" panose="05000000000000000000" pitchFamily="2" charset="2"/>
              </a:rPr>
              <a:t>스마트폰 </a:t>
            </a:r>
            <a:r>
              <a:rPr lang="en-US" altLang="ko-KR" sz="700" dirty="0">
                <a:latin typeface="+mn-ea"/>
                <a:sym typeface="Wingdings" panose="05000000000000000000" pitchFamily="2" charset="2"/>
              </a:rPr>
              <a:t> </a:t>
            </a:r>
            <a:r>
              <a:rPr lang="en-US" altLang="ko-KR" sz="700" dirty="0">
                <a:latin typeface="+mn-ea"/>
              </a:rPr>
              <a:t>PC </a:t>
            </a:r>
            <a:r>
              <a:rPr lang="ko-KR" altLang="en-US" sz="700" dirty="0">
                <a:latin typeface="+mn-ea"/>
                <a:sym typeface="Wingdings" panose="05000000000000000000" pitchFamily="2" charset="2"/>
              </a:rPr>
              <a:t>로 인증서를 내보냅니다</a:t>
            </a:r>
            <a:r>
              <a:rPr lang="en-US" altLang="ko-KR" sz="700" dirty="0">
                <a:latin typeface="+mn-ea"/>
                <a:sym typeface="Wingdings" panose="05000000000000000000" pitchFamily="2" charset="2"/>
              </a:rPr>
              <a:t>.</a:t>
            </a:r>
            <a:endParaRPr lang="en-US" altLang="ko-KR" sz="700" dirty="0">
              <a:latin typeface="+mn-ea"/>
            </a:endParaRPr>
          </a:p>
        </p:txBody>
      </p:sp>
      <p:sp>
        <p:nvSpPr>
          <p:cNvPr id="53" name="모서리가 둥근 직사각형 52"/>
          <p:cNvSpPr/>
          <p:nvPr/>
        </p:nvSpPr>
        <p:spPr>
          <a:xfrm>
            <a:off x="4023916" y="3335031"/>
            <a:ext cx="714034" cy="27088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b="1" dirty="0">
                <a:solidFill>
                  <a:srgbClr val="0070C0"/>
                </a:solidFill>
              </a:rPr>
              <a:t>1234</a:t>
            </a:r>
            <a:endParaRPr lang="ko-KR" altLang="en-US" sz="800" b="1" dirty="0">
              <a:solidFill>
                <a:srgbClr val="0070C0"/>
              </a:solidFill>
            </a:endParaRPr>
          </a:p>
        </p:txBody>
      </p:sp>
      <p:sp>
        <p:nvSpPr>
          <p:cNvPr id="56" name="모서리가 둥근 직사각형 55"/>
          <p:cNvSpPr/>
          <p:nvPr/>
        </p:nvSpPr>
        <p:spPr>
          <a:xfrm>
            <a:off x="4794731" y="3335031"/>
            <a:ext cx="714034" cy="27088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b="1" dirty="0">
                <a:solidFill>
                  <a:srgbClr val="0070C0"/>
                </a:solidFill>
              </a:rPr>
              <a:t>5678</a:t>
            </a:r>
            <a:endParaRPr lang="ko-KR" altLang="en-US" sz="800" b="1" dirty="0">
              <a:solidFill>
                <a:srgbClr val="0070C0"/>
              </a:solidFill>
            </a:endParaRPr>
          </a:p>
        </p:txBody>
      </p:sp>
      <p:sp>
        <p:nvSpPr>
          <p:cNvPr id="57" name="모서리가 둥근 직사각형 56"/>
          <p:cNvSpPr/>
          <p:nvPr/>
        </p:nvSpPr>
        <p:spPr>
          <a:xfrm>
            <a:off x="5565545" y="3335031"/>
            <a:ext cx="714034" cy="27088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b="1" dirty="0">
                <a:solidFill>
                  <a:srgbClr val="0070C0"/>
                </a:solidFill>
              </a:rPr>
              <a:t>9012</a:t>
            </a:r>
            <a:endParaRPr lang="ko-KR" altLang="en-US" sz="800" b="1" dirty="0">
              <a:solidFill>
                <a:srgbClr val="0070C0"/>
              </a:solidFill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1736" y="309552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인증번호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인증서 내보내기</a:t>
            </a:r>
          </a:p>
        </p:txBody>
      </p: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2" name="그룹 31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33" name="직선 연결선 3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4" name="직선 연결선 3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5" name="타원 34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모서리가 둥근 직사각형 35"/>
          <p:cNvSpPr/>
          <p:nvPr/>
        </p:nvSpPr>
        <p:spPr>
          <a:xfrm>
            <a:off x="903581" y="2386628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485841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625840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750819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41" name="모서리가 둥근 직사각형 40"/>
          <p:cNvSpPr/>
          <p:nvPr/>
        </p:nvSpPr>
        <p:spPr>
          <a:xfrm>
            <a:off x="903581" y="3102209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201422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2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341421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466400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46" name="모서리가 둥근 직사각형 45"/>
          <p:cNvSpPr/>
          <p:nvPr/>
        </p:nvSpPr>
        <p:spPr>
          <a:xfrm>
            <a:off x="903581" y="3817790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917003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3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057002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코스콤</a:t>
            </a:r>
            <a:endParaRPr lang="ko-KR" altLang="en-US" sz="700" dirty="0">
              <a:latin typeface="+mn-ea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181981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grpSp>
        <p:nvGrpSpPr>
          <p:cNvPr id="58" name="그룹 57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950686"/>
            <a:ext cx="76863" cy="292489"/>
            <a:chOff x="3750067" y="4683795"/>
            <a:chExt cx="76863" cy="292489"/>
          </a:xfrm>
        </p:grpSpPr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7" name="타원 6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2009061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  <a:sym typeface="Wingdings" panose="05000000000000000000" pitchFamily="2" charset="2"/>
              </a:rPr>
              <a:t>스마트폰 </a:t>
            </a:r>
            <a:r>
              <a:rPr lang="en-US" altLang="ko-KR" sz="700" dirty="0">
                <a:latin typeface="+mn-ea"/>
                <a:sym typeface="Wingdings" panose="05000000000000000000" pitchFamily="2" charset="2"/>
              </a:rPr>
              <a:t> </a:t>
            </a:r>
            <a:r>
              <a:rPr lang="en-US" altLang="ko-KR" sz="700" dirty="0">
                <a:latin typeface="+mn-ea"/>
              </a:rPr>
              <a:t>PC </a:t>
            </a:r>
            <a:r>
              <a:rPr lang="ko-KR" altLang="en-US" sz="700" dirty="0">
                <a:latin typeface="+mn-ea"/>
                <a:sym typeface="Wingdings" panose="05000000000000000000" pitchFamily="2" charset="2"/>
              </a:rPr>
              <a:t>로 내보내기 하려는 인증서를 선택해주세요</a:t>
            </a:r>
            <a:r>
              <a:rPr lang="en-US" altLang="ko-KR" sz="700" dirty="0">
                <a:latin typeface="+mn-ea"/>
                <a:sym typeface="Wingdings" panose="05000000000000000000" pitchFamily="2" charset="2"/>
              </a:rPr>
              <a:t>.</a:t>
            </a:r>
            <a:endParaRPr lang="en-US" altLang="ko-KR" sz="700" dirty="0">
              <a:latin typeface="+mn-ea"/>
            </a:endParaRP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1736" y="2011786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선택된 인증서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70" name="모서리가 둥근 직사각형 69"/>
          <p:cNvSpPr/>
          <p:nvPr/>
        </p:nvSpPr>
        <p:spPr>
          <a:xfrm>
            <a:off x="4023916" y="2219217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5390" y="2318430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5390" y="2458429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5390" y="2583408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74" name="타원 7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9984" y="23866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75" name="타원 7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9984" y="30633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166514976"/>
      </p:ext>
    </p:extLst>
  </p:cSld>
  <p:clrMapOvr>
    <a:masterClrMapping/>
  </p:clrMapOvr>
</p:sld>
</file>

<file path=ppt/slides/slide3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인증서 가상 </a:t>
            </a:r>
            <a:r>
              <a:rPr lang="ko-KR" altLang="en-US" dirty="0" err="1"/>
              <a:t>키패드는</a:t>
            </a:r>
            <a:r>
              <a:rPr lang="ko-KR" altLang="en-US" dirty="0"/>
              <a:t> 보안 </a:t>
            </a:r>
            <a:r>
              <a:rPr lang="ko-KR" altLang="en-US" dirty="0" err="1"/>
              <a:t>키패드</a:t>
            </a:r>
            <a:r>
              <a:rPr lang="ko-KR" altLang="en-US" dirty="0"/>
              <a:t> 활용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327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인증서 비밀번호 확인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인증서 비밀번호 확인 팝업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인증센터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인증서 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인증서 삭제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MUI-CM-04-P18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2" name="양쪽 모서리가 둥근 사각형 21"/>
          <p:cNvSpPr/>
          <p:nvPr/>
        </p:nvSpPr>
        <p:spPr>
          <a:xfrm>
            <a:off x="679854" y="2230399"/>
            <a:ext cx="2712027" cy="3992893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3" name="모서리가 둥근 직사각형 22"/>
          <p:cNvSpPr/>
          <p:nvPr/>
        </p:nvSpPr>
        <p:spPr>
          <a:xfrm>
            <a:off x="1765867" y="2267027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4" name="그룹 23"/>
          <p:cNvGrpSpPr/>
          <p:nvPr/>
        </p:nvGrpSpPr>
        <p:grpSpPr>
          <a:xfrm>
            <a:off x="3168793" y="2401443"/>
            <a:ext cx="94010" cy="94010"/>
            <a:chOff x="6812560" y="3297172"/>
            <a:chExt cx="94010" cy="94010"/>
          </a:xfrm>
        </p:grpSpPr>
        <p:cxnSp>
          <p:nvCxnSpPr>
            <p:cNvPr id="25" name="직선 연결선 24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6" name="직선 연결선 25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2382122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인증서 비밀번호 확인</a:t>
            </a:r>
          </a:p>
        </p:txBody>
      </p: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264352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4" name="타원 4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63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7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1541933" y="4038347"/>
            <a:ext cx="1646506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1000" kern="0" dirty="0">
                <a:solidFill>
                  <a:prstClr val="white"/>
                </a:solidFill>
              </a:rPr>
              <a:t>완료</a:t>
            </a:r>
            <a:endParaRPr kumimoji="1" lang="en-US" altLang="ko-KR" sz="1000" kern="0" dirty="0">
              <a:solidFill>
                <a:prstClr val="white"/>
              </a:solidFill>
            </a:endParaRPr>
          </a:p>
        </p:txBody>
      </p:sp>
      <p:sp>
        <p:nvSpPr>
          <p:cNvPr id="4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883295" y="4038347"/>
            <a:ext cx="551805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2851722"/>
            <a:ext cx="2305144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인증서 가져오기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내보내기에 사용되는 인증서의 비밀번호를 확인합니다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endParaRPr lang="en-US" altLang="ko-KR" sz="700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인증서의 비밀번호를 입력해주세요</a:t>
            </a:r>
            <a:r>
              <a:rPr lang="en-US" altLang="ko-KR" sz="700" dirty="0">
                <a:latin typeface="+mn-ea"/>
              </a:rPr>
              <a:t>.</a:t>
            </a:r>
          </a:p>
        </p:txBody>
      </p:sp>
      <p:sp>
        <p:nvSpPr>
          <p:cNvPr id="53" name="모서리가 둥근 직사각형 52"/>
          <p:cNvSpPr/>
          <p:nvPr/>
        </p:nvSpPr>
        <p:spPr>
          <a:xfrm>
            <a:off x="903581" y="3631332"/>
            <a:ext cx="2255663" cy="227857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3446451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인증서 비밀번호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보안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3523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68455" y="53659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모서리가 둥근 직사각형 57"/>
          <p:cNvSpPr/>
          <p:nvPr/>
        </p:nvSpPr>
        <p:spPr>
          <a:xfrm>
            <a:off x="4299147" y="5491535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 시간이 초과되었습니다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0" name="모서리가 둥근 직사각형 59"/>
          <p:cNvSpPr/>
          <p:nvPr/>
        </p:nvSpPr>
        <p:spPr>
          <a:xfrm>
            <a:off x="4299147" y="5116496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16724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인증번호가 틀렸습니다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95222033"/>
      </p:ext>
    </p:extLst>
  </p:cSld>
  <p:clrMapOvr>
    <a:masterClrMapping/>
  </p:clrMapOvr>
</p:sld>
</file>

<file path=ppt/slides/slide3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토스트 메시지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328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 성공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실패 메시지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성공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실패 메시지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스마트 </a:t>
            </a:r>
            <a:r>
              <a:rPr lang="en-US" altLang="ko-KR" dirty="0">
                <a:latin typeface="+mn-ea"/>
              </a:rPr>
              <a:t>PKI </a:t>
            </a:r>
            <a:r>
              <a:rPr lang="ko-KR" altLang="en-US" dirty="0">
                <a:latin typeface="+mn-ea"/>
              </a:rPr>
              <a:t>메시지 출력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인증센터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인증서 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각 인증 페이지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MUI-CM-04-P19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모서리가 둥근 직사각형 57"/>
          <p:cNvSpPr/>
          <p:nvPr/>
        </p:nvSpPr>
        <p:spPr>
          <a:xfrm>
            <a:off x="4299147" y="5491535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 시간이 초과되었습니다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0" name="모서리가 둥근 직사각형 59"/>
          <p:cNvSpPr/>
          <p:nvPr/>
        </p:nvSpPr>
        <p:spPr>
          <a:xfrm>
            <a:off x="4299147" y="5116496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16724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인증번호가 틀렸습니다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1" name="모서리가 둥근 직사각형 30"/>
          <p:cNvSpPr/>
          <p:nvPr/>
        </p:nvSpPr>
        <p:spPr>
          <a:xfrm>
            <a:off x="1181373" y="5491535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5" name="타원 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63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6" name="모서리가 둥근 직사각형 35"/>
          <p:cNvSpPr/>
          <p:nvPr/>
        </p:nvSpPr>
        <p:spPr>
          <a:xfrm>
            <a:off x="1181373" y="5116496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516724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인증서를 복사하였습니다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826388861"/>
      </p:ext>
    </p:extLst>
  </p:cSld>
  <p:clrMapOvr>
    <a:masterClrMapping/>
  </p:clrMapOvr>
</p:sld>
</file>

<file path=ppt/slides/slide3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329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</p:spPr>
        <p:txBody>
          <a:bodyPr anchor="t"/>
          <a:lstStyle/>
          <a:p>
            <a:r>
              <a:rPr lang="en-US" altLang="ko-KR" dirty="0"/>
              <a:t>5. </a:t>
            </a:r>
            <a:r>
              <a:rPr lang="ko-KR" altLang="en-US" dirty="0"/>
              <a:t>국방전자조달 소개 메뉴</a:t>
            </a:r>
            <a:endParaRPr lang="en-US" altLang="ko-KR" dirty="0"/>
          </a:p>
          <a:p>
            <a:r>
              <a:rPr lang="en-US" altLang="ko-KR" dirty="0"/>
              <a:t>5.1 </a:t>
            </a:r>
            <a:r>
              <a:rPr lang="ko-KR" altLang="en-US" dirty="0"/>
              <a:t>화면 목록</a:t>
            </a:r>
          </a:p>
        </p:txBody>
      </p:sp>
      <p:graphicFrame>
        <p:nvGraphicFramePr>
          <p:cNvPr id="8" name="표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46345089"/>
              </p:ext>
            </p:extLst>
          </p:nvPr>
        </p:nvGraphicFramePr>
        <p:xfrm>
          <a:off x="635474" y="1574092"/>
          <a:ext cx="8749092" cy="1601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308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530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44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60035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9645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7579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54269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웹페이지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426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시스템소개</a:t>
                      </a:r>
                      <a:endParaRPr lang="ko-KR" altLang="en-US" sz="8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IntroducePage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시스템 소개 정보를 안내한다</a:t>
                      </a:r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introduce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IntroducePage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426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주요특징</a:t>
                      </a:r>
                      <a:endParaRPr lang="ko-KR" altLang="en-US" sz="8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Feature</a:t>
                      </a:r>
                      <a:r>
                        <a:rPr lang="en-US" altLang="ko-KR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주요 특징 정보를 안내한다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feature/</a:t>
                      </a:r>
                      <a:r>
                        <a:rPr lang="en-US" altLang="ko-KR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FeaturePage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UC-ZZ-18-05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426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연혁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History</a:t>
                      </a:r>
                      <a:r>
                        <a:rPr lang="en-US" altLang="ko-KR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연혁 정보를 안내한다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history/</a:t>
                      </a:r>
                      <a:r>
                        <a:rPr lang="en-US" altLang="ko-KR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HistoryPage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UC-ZZ-18-05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799098"/>
                  </a:ext>
                </a:extLst>
              </a:tr>
              <a:tr h="15426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인포그래픽스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Graphic</a:t>
                      </a:r>
                      <a:r>
                        <a:rPr lang="en-US" altLang="ko-KR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인포그래픽스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안내한다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graphic/</a:t>
                      </a:r>
                      <a:r>
                        <a:rPr lang="en-US" altLang="ko-KR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GraphicPage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UC-ZZ-18-05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3635983"/>
                  </a:ext>
                </a:extLst>
              </a:tr>
              <a:tr h="15426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관련시스템</a:t>
                      </a:r>
                      <a:endParaRPr lang="ko-KR" altLang="en-US" sz="8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System</a:t>
                      </a:r>
                      <a:r>
                        <a:rPr lang="en-US" altLang="ko-KR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관련시스템 정보를 안내한다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system/</a:t>
                      </a:r>
                      <a:r>
                        <a:rPr lang="en-US" altLang="ko-KR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SystemPage</a:t>
                      </a:r>
                      <a:endParaRPr lang="en-US" altLang="ko-KR" sz="800" b="0" i="0" u="none" strike="noStrike" dirty="0" smtClean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UC-ZZ-18-05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6479342"/>
                  </a:ext>
                </a:extLst>
              </a:tr>
              <a:tr h="16658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이용문의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Inquiry</a:t>
                      </a:r>
                      <a:r>
                        <a:rPr lang="en-US" altLang="ko-KR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이용문의 정보를 안내한다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inquiry/</a:t>
                      </a:r>
                      <a:r>
                        <a:rPr lang="en-US" altLang="ko-KR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InquiryPage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UC-ZZ-18-05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9031716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6BCDFFF8-E699-5B49-38BC-CBE31E92DF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146637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6980943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/>
    </mc:Choice>
    <mc:Fallback xmlns="" xmlns:c="http://schemas.openxmlformats.org/drawingml/2006/chart" xmlns:dgm="http://schemas.openxmlformats.org/drawingml/2006/diagram" xmlns:dsp="http://schemas.microsoft.com/office/drawing/2008/diagram">
      <p:transition/>
    </mc:Fallback>
  </mc:AlternateContent>
</p:sld>
</file>

<file path=ppt/slides/slide3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330</a:t>
            </a:fld>
            <a:endParaRPr lang="ko-KR" altLang="en-US" dirty="0"/>
          </a:p>
        </p:txBody>
      </p:sp>
      <p:sp>
        <p:nvSpPr>
          <p:cNvPr id="152" name="텍스트 개체 틀 2">
            <a:extLst>
              <a:ext uri="{FF2B5EF4-FFF2-40B4-BE49-F238E27FC236}">
                <a16:creationId xmlns:a16="http://schemas.microsoft.com/office/drawing/2014/main" id="{2A43B398-1F7B-131F-A0D8-AEA5D69709C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</p:spPr>
        <p:txBody>
          <a:bodyPr/>
          <a:lstStyle/>
          <a:p>
            <a:r>
              <a:rPr lang="en-US" altLang="ko-KR" dirty="0"/>
              <a:t>5.2. </a:t>
            </a:r>
            <a:r>
              <a:rPr lang="ko-KR" altLang="en-US" dirty="0"/>
              <a:t>화면 흐름도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2C7FD98A-881C-6F37-BA08-19801A94DD6D}"/>
              </a:ext>
            </a:extLst>
          </p:cNvPr>
          <p:cNvSpPr/>
          <p:nvPr/>
        </p:nvSpPr>
        <p:spPr>
          <a:xfrm>
            <a:off x="1172656" y="989311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b="1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311F177D-FEE3-BEB4-F7D3-295E52612890}"/>
              </a:ext>
            </a:extLst>
          </p:cNvPr>
          <p:cNvSpPr/>
          <p:nvPr/>
        </p:nvSpPr>
        <p:spPr>
          <a:xfrm>
            <a:off x="2366608" y="1130015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시스템소개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6978CD2B-1BB9-BD9C-1ECE-98361D08ADB9}"/>
              </a:ext>
            </a:extLst>
          </p:cNvPr>
          <p:cNvGrpSpPr/>
          <p:nvPr/>
        </p:nvGrpSpPr>
        <p:grpSpPr>
          <a:xfrm>
            <a:off x="1022376" y="1184015"/>
            <a:ext cx="448641" cy="180000"/>
            <a:chOff x="4520608" y="1663914"/>
            <a:chExt cx="448641" cy="180000"/>
          </a:xfrm>
        </p:grpSpPr>
        <p:sp>
          <p:nvSpPr>
            <p:cNvPr id="5" name="타원 4">
              <a:extLst>
                <a:ext uri="{FF2B5EF4-FFF2-40B4-BE49-F238E27FC236}">
                  <a16:creationId xmlns:a16="http://schemas.microsoft.com/office/drawing/2014/main" id="{09D3D24C-C346-627F-6657-2F6131A6BE42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4996C471-E44F-C5C9-F26F-9A9662EC602C}"/>
                </a:ext>
              </a:extLst>
            </p:cNvPr>
            <p:cNvSpPr/>
            <p:nvPr/>
          </p:nvSpPr>
          <p:spPr>
            <a:xfrm>
              <a:off x="4520608" y="1714380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34019EDD-4322-2651-BC19-3D7C8083D355}"/>
              </a:ext>
            </a:extLst>
          </p:cNvPr>
          <p:cNvSpPr/>
          <p:nvPr/>
        </p:nvSpPr>
        <p:spPr>
          <a:xfrm>
            <a:off x="5097742" y="2732031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304C0B0F-7275-1964-CD84-22454585E4D5}"/>
              </a:ext>
            </a:extLst>
          </p:cNvPr>
          <p:cNvGrpSpPr/>
          <p:nvPr/>
        </p:nvGrpSpPr>
        <p:grpSpPr>
          <a:xfrm>
            <a:off x="5126739" y="2516031"/>
            <a:ext cx="180000" cy="180000"/>
            <a:chOff x="5058274" y="2498299"/>
            <a:chExt cx="180000" cy="180000"/>
          </a:xfrm>
        </p:grpSpPr>
        <p:sp>
          <p:nvSpPr>
            <p:cNvPr id="19" name="타원 18">
              <a:extLst>
                <a:ext uri="{FF2B5EF4-FFF2-40B4-BE49-F238E27FC236}">
                  <a16:creationId xmlns:a16="http://schemas.microsoft.com/office/drawing/2014/main" id="{E9B5D9EB-9463-896B-12A2-37CBFEB67E81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9" name="타원 28">
              <a:extLst>
                <a:ext uri="{FF2B5EF4-FFF2-40B4-BE49-F238E27FC236}">
                  <a16:creationId xmlns:a16="http://schemas.microsoft.com/office/drawing/2014/main" id="{5035D845-DB68-ACE3-6F03-D835D7B8D78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33" name="직선 화살표 연결선 32">
            <a:extLst>
              <a:ext uri="{FF2B5EF4-FFF2-40B4-BE49-F238E27FC236}">
                <a16:creationId xmlns:a16="http://schemas.microsoft.com/office/drawing/2014/main" id="{A2217EA9-E206-27C6-6227-E336F5A0DFB7}"/>
              </a:ext>
            </a:extLst>
          </p:cNvPr>
          <p:cNvCxnSpPr>
            <a:cxnSpLocks/>
            <a:stCxn id="5" idx="6"/>
            <a:endCxn id="3" idx="1"/>
          </p:cNvCxnSpPr>
          <p:nvPr/>
        </p:nvCxnSpPr>
        <p:spPr>
          <a:xfrm>
            <a:off x="1471017" y="1274015"/>
            <a:ext cx="895591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98DB5003-88A6-609C-ADAE-D7A05C24EDFC}"/>
              </a:ext>
            </a:extLst>
          </p:cNvPr>
          <p:cNvSpPr/>
          <p:nvPr/>
        </p:nvSpPr>
        <p:spPr>
          <a:xfrm>
            <a:off x="2366608" y="2178157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연혁</a:t>
            </a:r>
          </a:p>
        </p:txBody>
      </p:sp>
      <p:cxnSp>
        <p:nvCxnSpPr>
          <p:cNvPr id="35" name="연결선: 꺾임 34">
            <a:extLst>
              <a:ext uri="{FF2B5EF4-FFF2-40B4-BE49-F238E27FC236}">
                <a16:creationId xmlns:a16="http://schemas.microsoft.com/office/drawing/2014/main" id="{02AF491E-63F1-F699-073F-514A5C4333F6}"/>
              </a:ext>
            </a:extLst>
          </p:cNvPr>
          <p:cNvCxnSpPr>
            <a:stCxn id="5" idx="4"/>
            <a:endCxn id="34" idx="1"/>
          </p:cNvCxnSpPr>
          <p:nvPr/>
        </p:nvCxnSpPr>
        <p:spPr>
          <a:xfrm rot="16200000" flipH="1">
            <a:off x="1394741" y="1350290"/>
            <a:ext cx="958142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478E964E-71D4-0A4A-6B62-9B3E9D98F58D}"/>
              </a:ext>
            </a:extLst>
          </p:cNvPr>
          <p:cNvSpPr/>
          <p:nvPr/>
        </p:nvSpPr>
        <p:spPr>
          <a:xfrm>
            <a:off x="2366608" y="2702228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인포그래픽스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4CFECD5A-167A-2BFA-A89F-A19A249C0BEF}"/>
              </a:ext>
            </a:extLst>
          </p:cNvPr>
          <p:cNvSpPr/>
          <p:nvPr/>
        </p:nvSpPr>
        <p:spPr>
          <a:xfrm>
            <a:off x="2366608" y="3226299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관련시스템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5B17AD25-D206-F26A-9104-B75209208B2A}"/>
              </a:ext>
            </a:extLst>
          </p:cNvPr>
          <p:cNvSpPr/>
          <p:nvPr/>
        </p:nvSpPr>
        <p:spPr>
          <a:xfrm>
            <a:off x="2366608" y="3750370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이용문의</a:t>
            </a:r>
          </a:p>
        </p:txBody>
      </p:sp>
      <p:cxnSp>
        <p:nvCxnSpPr>
          <p:cNvPr id="42" name="연결선: 꺾임 41">
            <a:extLst>
              <a:ext uri="{FF2B5EF4-FFF2-40B4-BE49-F238E27FC236}">
                <a16:creationId xmlns:a16="http://schemas.microsoft.com/office/drawing/2014/main" id="{CFDF6D94-4D2F-7F6C-B069-143F7B96D22A}"/>
              </a:ext>
            </a:extLst>
          </p:cNvPr>
          <p:cNvCxnSpPr>
            <a:stCxn id="5" idx="4"/>
            <a:endCxn id="37" idx="1"/>
          </p:cNvCxnSpPr>
          <p:nvPr/>
        </p:nvCxnSpPr>
        <p:spPr>
          <a:xfrm rot="16200000" flipH="1">
            <a:off x="1132706" y="1612325"/>
            <a:ext cx="1482213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연결선: 꺾임 42">
            <a:extLst>
              <a:ext uri="{FF2B5EF4-FFF2-40B4-BE49-F238E27FC236}">
                <a16:creationId xmlns:a16="http://schemas.microsoft.com/office/drawing/2014/main" id="{CE45CF68-21E8-22BD-72CD-36C63BECD0F7}"/>
              </a:ext>
            </a:extLst>
          </p:cNvPr>
          <p:cNvCxnSpPr>
            <a:stCxn id="5" idx="4"/>
            <a:endCxn id="38" idx="1"/>
          </p:cNvCxnSpPr>
          <p:nvPr/>
        </p:nvCxnSpPr>
        <p:spPr>
          <a:xfrm rot="16200000" flipH="1">
            <a:off x="870670" y="1874361"/>
            <a:ext cx="2006284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연결선: 꺾임 43">
            <a:extLst>
              <a:ext uri="{FF2B5EF4-FFF2-40B4-BE49-F238E27FC236}">
                <a16:creationId xmlns:a16="http://schemas.microsoft.com/office/drawing/2014/main" id="{F85301B9-81E9-EFE4-CD6A-9ECF68788A13}"/>
              </a:ext>
            </a:extLst>
          </p:cNvPr>
          <p:cNvCxnSpPr>
            <a:stCxn id="5" idx="4"/>
            <a:endCxn id="39" idx="1"/>
          </p:cNvCxnSpPr>
          <p:nvPr/>
        </p:nvCxnSpPr>
        <p:spPr>
          <a:xfrm rot="16200000" flipH="1">
            <a:off x="608635" y="2136396"/>
            <a:ext cx="2530355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9AEEDFB4-914D-EC9C-7C39-0AC873E02BC6}"/>
              </a:ext>
            </a:extLst>
          </p:cNvPr>
          <p:cNvSpPr/>
          <p:nvPr/>
        </p:nvSpPr>
        <p:spPr>
          <a:xfrm>
            <a:off x="2366608" y="1654086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주요특징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61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5" idx="4"/>
            <a:endCxn id="60" idx="1"/>
          </p:cNvCxnSpPr>
          <p:nvPr/>
        </p:nvCxnSpPr>
        <p:spPr>
          <a:xfrm rot="16200000" flipH="1">
            <a:off x="1656777" y="1088254"/>
            <a:ext cx="434071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" idx="3"/>
            <a:endCxn id="19" idx="2"/>
          </p:cNvCxnSpPr>
          <p:nvPr/>
        </p:nvCxnSpPr>
        <p:spPr>
          <a:xfrm>
            <a:off x="3788168" y="1274015"/>
            <a:ext cx="1338571" cy="1332016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60" idx="3"/>
            <a:endCxn id="19" idx="2"/>
          </p:cNvCxnSpPr>
          <p:nvPr/>
        </p:nvCxnSpPr>
        <p:spPr>
          <a:xfrm>
            <a:off x="3788168" y="1798086"/>
            <a:ext cx="1338571" cy="807945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4" idx="3"/>
            <a:endCxn id="19" idx="2"/>
          </p:cNvCxnSpPr>
          <p:nvPr/>
        </p:nvCxnSpPr>
        <p:spPr>
          <a:xfrm>
            <a:off x="3788168" y="2322157"/>
            <a:ext cx="1338571" cy="283874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7" idx="3"/>
            <a:endCxn id="19" idx="2"/>
          </p:cNvCxnSpPr>
          <p:nvPr/>
        </p:nvCxnSpPr>
        <p:spPr>
          <a:xfrm flipV="1">
            <a:off x="3788168" y="2606031"/>
            <a:ext cx="1338571" cy="240197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8" idx="3"/>
            <a:endCxn id="19" idx="2"/>
          </p:cNvCxnSpPr>
          <p:nvPr/>
        </p:nvCxnSpPr>
        <p:spPr>
          <a:xfrm flipV="1">
            <a:off x="3788168" y="2606031"/>
            <a:ext cx="1338571" cy="764268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9" idx="3"/>
            <a:endCxn id="19" idx="2"/>
          </p:cNvCxnSpPr>
          <p:nvPr/>
        </p:nvCxnSpPr>
        <p:spPr>
          <a:xfrm flipV="1">
            <a:off x="3788168" y="2606031"/>
            <a:ext cx="1338571" cy="1288339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97780215"/>
      </p:ext>
    </p:extLst>
  </p:cSld>
  <p:clrMapOvr>
    <a:masterClrMapping/>
  </p:clrMapOvr>
</p:sld>
</file>

<file path=ppt/slides/slide3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331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5.3 </a:t>
            </a:r>
            <a:r>
              <a:rPr lang="ko-KR" altLang="en-US" dirty="0" smtClean="0"/>
              <a:t>앱 구성 다이어그램</a:t>
            </a:r>
            <a:endParaRPr lang="ko-KR" altLang="en-US" dirty="0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2F128619-663F-4D19-19E9-1E6F38EFDDF3}"/>
              </a:ext>
            </a:extLst>
          </p:cNvPr>
          <p:cNvSpPr/>
          <p:nvPr/>
        </p:nvSpPr>
        <p:spPr>
          <a:xfrm>
            <a:off x="6284628" y="1007533"/>
            <a:ext cx="2743200" cy="5181316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B1CB2831-A480-99BB-B1E6-806F67233A32}"/>
              </a:ext>
            </a:extLst>
          </p:cNvPr>
          <p:cNvSpPr/>
          <p:nvPr/>
        </p:nvSpPr>
        <p:spPr>
          <a:xfrm>
            <a:off x="389467" y="1007533"/>
            <a:ext cx="5705815" cy="518131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5211F437-2CBB-D7A8-65D2-70363026244A}"/>
              </a:ext>
            </a:extLst>
          </p:cNvPr>
          <p:cNvSpPr/>
          <p:nvPr/>
        </p:nvSpPr>
        <p:spPr>
          <a:xfrm>
            <a:off x="578095" y="1377745"/>
            <a:ext cx="1822590" cy="49338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 err="1">
                <a:solidFill>
                  <a:schemeClr val="tx1"/>
                </a:solidFill>
              </a:rPr>
              <a:t>시스템소개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>
                <a:solidFill>
                  <a:schemeClr val="tx1"/>
                </a:solidFill>
                <a:latin typeface="Calibri" panose="020F0502020204030204" pitchFamily="34" charset="0"/>
              </a:rPr>
              <a:t>IntroducePage</a:t>
            </a:r>
            <a:r>
              <a:rPr lang="en-US" altLang="ko-KR" sz="11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DF474B58-0035-035C-62CD-92C77B7639B8}"/>
              </a:ext>
            </a:extLst>
          </p:cNvPr>
          <p:cNvSpPr/>
          <p:nvPr/>
        </p:nvSpPr>
        <p:spPr>
          <a:xfrm>
            <a:off x="578095" y="1979942"/>
            <a:ext cx="1822590" cy="529907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 err="1">
                <a:solidFill>
                  <a:schemeClr val="tx1"/>
                </a:solidFill>
              </a:rPr>
              <a:t>주요특징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>
                <a:solidFill>
                  <a:schemeClr val="tx1"/>
                </a:solidFill>
                <a:latin typeface="Calibri" panose="020F0502020204030204" pitchFamily="34" charset="0"/>
              </a:rPr>
              <a:t>FeaturePage</a:t>
            </a:r>
            <a:r>
              <a:rPr lang="en-US" altLang="ko-KR" sz="11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7B9F658-66B3-FEBD-9F60-D810061D912D}"/>
              </a:ext>
            </a:extLst>
          </p:cNvPr>
          <p:cNvSpPr/>
          <p:nvPr/>
        </p:nvSpPr>
        <p:spPr>
          <a:xfrm>
            <a:off x="587331" y="2581860"/>
            <a:ext cx="1822590" cy="518665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연혁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 smtClean="0">
                <a:solidFill>
                  <a:schemeClr val="tx1"/>
                </a:solidFill>
                <a:latin typeface="Calibri" panose="020F0502020204030204" pitchFamily="34" charset="0"/>
              </a:rPr>
              <a:t>HistoryPage</a:t>
            </a:r>
            <a:r>
              <a:rPr lang="en-US" altLang="ko-KR" sz="11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E8DE43AF-719F-86AA-AB05-891628BC6BC6}"/>
              </a:ext>
            </a:extLst>
          </p:cNvPr>
          <p:cNvSpPr/>
          <p:nvPr/>
        </p:nvSpPr>
        <p:spPr>
          <a:xfrm>
            <a:off x="6931173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&lt;&lt;Controller&gt;&gt;</a:t>
            </a:r>
          </a:p>
          <a:p>
            <a:pPr algn="ctr"/>
            <a:r>
              <a:rPr lang="ko-KR" altLang="en-US" sz="1100" dirty="0" err="1"/>
              <a:t>콘텐츠관리</a:t>
            </a:r>
            <a:r>
              <a:rPr lang="ko-KR" altLang="en-US" sz="1100" dirty="0"/>
              <a:t> </a:t>
            </a:r>
            <a:r>
              <a:rPr lang="en-US" altLang="ko-KR" sz="1100" dirty="0"/>
              <a:t>Controller</a:t>
            </a:r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C223C0E5-3E8B-2275-E6D7-80AE7BF512A5}"/>
              </a:ext>
            </a:extLst>
          </p:cNvPr>
          <p:cNvCxnSpPr>
            <a:cxnSpLocks/>
            <a:stCxn id="6" idx="3"/>
            <a:endCxn id="39" idx="1"/>
          </p:cNvCxnSpPr>
          <p:nvPr/>
        </p:nvCxnSpPr>
        <p:spPr>
          <a:xfrm>
            <a:off x="2400685" y="1624440"/>
            <a:ext cx="1559406" cy="136573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59541914-3C9F-A030-94F4-E40F62763473}"/>
              </a:ext>
            </a:extLst>
          </p:cNvPr>
          <p:cNvCxnSpPr>
            <a:cxnSpLocks/>
            <a:stCxn id="7" idx="3"/>
            <a:endCxn id="39" idx="1"/>
          </p:cNvCxnSpPr>
          <p:nvPr/>
        </p:nvCxnSpPr>
        <p:spPr>
          <a:xfrm>
            <a:off x="2400685" y="2244896"/>
            <a:ext cx="1559406" cy="74527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" name="직선 화살표 연결선 14">
            <a:extLst>
              <a:ext uri="{FF2B5EF4-FFF2-40B4-BE49-F238E27FC236}">
                <a16:creationId xmlns:a16="http://schemas.microsoft.com/office/drawing/2014/main" id="{09C6E581-C0D7-85C0-7C1C-40297C3C3FF1}"/>
              </a:ext>
            </a:extLst>
          </p:cNvPr>
          <p:cNvCxnSpPr>
            <a:cxnSpLocks/>
            <a:stCxn id="8" idx="3"/>
            <a:endCxn id="39" idx="1"/>
          </p:cNvCxnSpPr>
          <p:nvPr/>
        </p:nvCxnSpPr>
        <p:spPr>
          <a:xfrm>
            <a:off x="2409921" y="2841193"/>
            <a:ext cx="1550170" cy="14898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89CE44EE-C554-DA5F-044C-D26D10995146}"/>
              </a:ext>
            </a:extLst>
          </p:cNvPr>
          <p:cNvCxnSpPr>
            <a:cxnSpLocks/>
            <a:stCxn id="39" idx="3"/>
            <a:endCxn id="12" idx="1"/>
          </p:cNvCxnSpPr>
          <p:nvPr/>
        </p:nvCxnSpPr>
        <p:spPr>
          <a:xfrm>
            <a:off x="5687291" y="2990174"/>
            <a:ext cx="1243882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16F4671E-4427-2BDF-F89C-1D2C6FF8CDC4}"/>
              </a:ext>
            </a:extLst>
          </p:cNvPr>
          <p:cNvSpPr/>
          <p:nvPr/>
        </p:nvSpPr>
        <p:spPr>
          <a:xfrm>
            <a:off x="587331" y="3182219"/>
            <a:ext cx="1822590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인포그래픽스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 smtClean="0">
                <a:solidFill>
                  <a:schemeClr val="tx1"/>
                </a:solidFill>
                <a:latin typeface="Calibri" panose="020F0502020204030204" pitchFamily="34" charset="0"/>
              </a:rPr>
              <a:t>GraphicPage</a:t>
            </a:r>
            <a:r>
              <a:rPr lang="en-US" altLang="ko-KR" sz="11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5DA384F7-003A-8FF5-8CA0-66426F46808C}"/>
              </a:ext>
            </a:extLst>
          </p:cNvPr>
          <p:cNvSpPr/>
          <p:nvPr/>
        </p:nvSpPr>
        <p:spPr>
          <a:xfrm>
            <a:off x="578095" y="3793800"/>
            <a:ext cx="1831826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 err="1">
                <a:solidFill>
                  <a:schemeClr val="tx1"/>
                </a:solidFill>
              </a:rPr>
              <a:t>관련시스템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 smtClean="0">
                <a:solidFill>
                  <a:schemeClr val="tx1"/>
                </a:solidFill>
                <a:latin typeface="Calibri" panose="020F0502020204030204" pitchFamily="34" charset="0"/>
              </a:rPr>
              <a:t>SystemPage</a:t>
            </a:r>
            <a:r>
              <a:rPr lang="en-US" altLang="ko-KR" sz="11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F0E73C03-9092-F094-8AA2-4C44C53A7B41}"/>
              </a:ext>
            </a:extLst>
          </p:cNvPr>
          <p:cNvCxnSpPr>
            <a:cxnSpLocks/>
            <a:stCxn id="18" idx="3"/>
            <a:endCxn id="39" idx="1"/>
          </p:cNvCxnSpPr>
          <p:nvPr/>
        </p:nvCxnSpPr>
        <p:spPr>
          <a:xfrm flipV="1">
            <a:off x="2409921" y="2990174"/>
            <a:ext cx="1550170" cy="4473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3" name="직선 화살표 연결선 22">
            <a:extLst>
              <a:ext uri="{FF2B5EF4-FFF2-40B4-BE49-F238E27FC236}">
                <a16:creationId xmlns:a16="http://schemas.microsoft.com/office/drawing/2014/main" id="{6B7AEA11-AAE1-EEF4-81E7-9065429B580D}"/>
              </a:ext>
            </a:extLst>
          </p:cNvPr>
          <p:cNvCxnSpPr>
            <a:cxnSpLocks/>
            <a:stCxn id="19" idx="3"/>
            <a:endCxn id="39" idx="1"/>
          </p:cNvCxnSpPr>
          <p:nvPr/>
        </p:nvCxnSpPr>
        <p:spPr>
          <a:xfrm flipV="1">
            <a:off x="2409921" y="2990174"/>
            <a:ext cx="1550170" cy="105889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6B2F7C40-600B-875B-C343-ECDD468EC02B}"/>
              </a:ext>
            </a:extLst>
          </p:cNvPr>
          <p:cNvSpPr/>
          <p:nvPr/>
        </p:nvSpPr>
        <p:spPr>
          <a:xfrm>
            <a:off x="587331" y="4347866"/>
            <a:ext cx="1831826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이용문의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 smtClean="0">
                <a:solidFill>
                  <a:schemeClr val="tx1"/>
                </a:solidFill>
                <a:latin typeface="Calibri" panose="020F0502020204030204" pitchFamily="34" charset="0"/>
              </a:rPr>
              <a:t>InquiryPage</a:t>
            </a:r>
            <a:r>
              <a:rPr lang="en-US" altLang="ko-KR" sz="11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BD7FC058-62A0-1FAB-CEB6-BB905872E30E}"/>
              </a:ext>
            </a:extLst>
          </p:cNvPr>
          <p:cNvCxnSpPr>
            <a:cxnSpLocks/>
            <a:stCxn id="27" idx="3"/>
            <a:endCxn id="39" idx="1"/>
          </p:cNvCxnSpPr>
          <p:nvPr/>
        </p:nvCxnSpPr>
        <p:spPr>
          <a:xfrm flipV="1">
            <a:off x="2419157" y="2990174"/>
            <a:ext cx="1540934" cy="161296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9" name="Text Box 73">
            <a:extLst>
              <a:ext uri="{FF2B5EF4-FFF2-40B4-BE49-F238E27FC236}">
                <a16:creationId xmlns:a16="http://schemas.microsoft.com/office/drawing/2014/main" id="{A6A37441-CC1D-D3E2-A9BD-035000473A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0628" y="882139"/>
            <a:ext cx="1727200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ko-KR" altLang="en-US" sz="700" dirty="0"/>
              <a:t>영문명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</p:spTree>
    <p:extLst>
      <p:ext uri="{BB962C8B-B14F-4D97-AF65-F5344CB8AC3E}">
        <p14:creationId xmlns:p14="http://schemas.microsoft.com/office/powerpoint/2010/main" val="2171057455"/>
      </p:ext>
    </p:extLst>
  </p:cSld>
  <p:clrMapOvr>
    <a:masterClrMapping/>
  </p:clrMapOvr>
</p:sld>
</file>

<file path=ppt/slides/slide3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콘텐츠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332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시스템소개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 smtClean="0"/>
              <a:t>시스템 소개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국방전자조달 소개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시스템소개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MUI-CM-05-M01</a:t>
            </a:r>
            <a:endParaRPr lang="ko-KR" altLang="en-US" sz="1000" dirty="0"/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t="1" b="69840"/>
          <a:stretch/>
        </p:blipFill>
        <p:spPr>
          <a:xfrm>
            <a:off x="675399" y="1493927"/>
            <a:ext cx="2712027" cy="4732701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pic>
        <p:nvPicPr>
          <p:cNvPr id="14" name="그림 13"/>
          <p:cNvPicPr>
            <a:picLocks noChangeAspect="1"/>
          </p:cNvPicPr>
          <p:nvPr/>
        </p:nvPicPr>
        <p:blipFill rotWithShape="1">
          <a:blip r:embed="rId2"/>
          <a:srcRect b="25674"/>
          <a:stretch/>
        </p:blipFill>
        <p:spPr>
          <a:xfrm>
            <a:off x="4572457" y="1273831"/>
            <a:ext cx="1202838" cy="5172892"/>
          </a:xfrm>
          <a:prstGeom prst="rect">
            <a:avLst/>
          </a:prstGeom>
        </p:spPr>
      </p:pic>
      <p:sp>
        <p:nvSpPr>
          <p:cNvPr id="17" name="직사각형 1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14543567"/>
      </p:ext>
    </p:extLst>
  </p:cSld>
  <p:clrMapOvr>
    <a:masterClrMapping/>
  </p:clrMapOvr>
</p:sld>
</file>

<file path=ppt/slides/slide3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333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주요특징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주요 특징 정보를 안내한다</a:t>
            </a:r>
            <a:r>
              <a:rPr lang="en-US" altLang="ko-KR" dirty="0">
                <a:latin typeface="+mn-ea"/>
              </a:rPr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국방전자조달 소개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/>
              <a:t>주요특징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MUI-CM-05-M02</a:t>
            </a:r>
            <a:endParaRPr lang="ko-KR" altLang="en-US" sz="1000" dirty="0"/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84142"/>
          <a:stretch/>
        </p:blipFill>
        <p:spPr>
          <a:xfrm>
            <a:off x="675399" y="1493928"/>
            <a:ext cx="2712027" cy="4715283"/>
          </a:xfrm>
          <a:prstGeom prst="rect">
            <a:avLst/>
          </a:prstGeom>
        </p:spPr>
      </p:pic>
      <p:pic>
        <p:nvPicPr>
          <p:cNvPr id="15" name="그림 14"/>
          <p:cNvPicPr>
            <a:picLocks noChangeAspect="1"/>
          </p:cNvPicPr>
          <p:nvPr/>
        </p:nvPicPr>
        <p:blipFill rotWithShape="1">
          <a:blip r:embed="rId2"/>
          <a:srcRect b="54237"/>
          <a:stretch/>
        </p:blipFill>
        <p:spPr>
          <a:xfrm>
            <a:off x="4028222" y="1493928"/>
            <a:ext cx="944988" cy="4741410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7" name="그림 16"/>
          <p:cNvPicPr>
            <a:picLocks noChangeAspect="1"/>
          </p:cNvPicPr>
          <p:nvPr/>
        </p:nvPicPr>
        <p:blipFill rotWithShape="1">
          <a:blip r:embed="rId2"/>
          <a:srcRect t="45763" b="13601"/>
          <a:stretch/>
        </p:blipFill>
        <p:spPr>
          <a:xfrm>
            <a:off x="5353870" y="1493927"/>
            <a:ext cx="944988" cy="4210187"/>
          </a:xfrm>
          <a:prstGeom prst="rect">
            <a:avLst/>
          </a:prstGeom>
        </p:spPr>
      </p:pic>
      <p:sp>
        <p:nvSpPr>
          <p:cNvPr id="16" name="직사각형 1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735101353"/>
      </p:ext>
    </p:extLst>
  </p:cSld>
  <p:clrMapOvr>
    <a:masterClrMapping/>
  </p:clrMapOvr>
</p:sld>
</file>

<file path=ppt/slides/slide3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334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연혁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연혁 정보를 안내한다</a:t>
            </a:r>
            <a:r>
              <a:rPr lang="en-US" altLang="ko-KR" dirty="0">
                <a:latin typeface="+mn-ea"/>
              </a:rPr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국방전자조달 소개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연혁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MUI-CM-05-M03</a:t>
            </a:r>
            <a:endParaRPr lang="ko-KR" altLang="en-US" sz="1000" dirty="0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t="1" b="81764"/>
          <a:stretch/>
        </p:blipFill>
        <p:spPr>
          <a:xfrm>
            <a:off x="675399" y="1493929"/>
            <a:ext cx="2712027" cy="4706574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8" name="그림 17"/>
          <p:cNvPicPr>
            <a:picLocks noChangeAspect="1"/>
          </p:cNvPicPr>
          <p:nvPr/>
        </p:nvPicPr>
        <p:blipFill rotWithShape="1">
          <a:blip r:embed="rId2"/>
          <a:srcRect b="48548"/>
          <a:stretch/>
        </p:blipFill>
        <p:spPr>
          <a:xfrm>
            <a:off x="4068784" y="1493927"/>
            <a:ext cx="964771" cy="4723993"/>
          </a:xfrm>
          <a:prstGeom prst="rect">
            <a:avLst/>
          </a:prstGeom>
        </p:spPr>
      </p:pic>
      <p:pic>
        <p:nvPicPr>
          <p:cNvPr id="19" name="그림 18"/>
          <p:cNvPicPr>
            <a:picLocks noChangeAspect="1"/>
          </p:cNvPicPr>
          <p:nvPr/>
        </p:nvPicPr>
        <p:blipFill rotWithShape="1">
          <a:blip r:embed="rId2"/>
          <a:srcRect t="51547"/>
          <a:stretch/>
        </p:blipFill>
        <p:spPr>
          <a:xfrm>
            <a:off x="5300924" y="1493927"/>
            <a:ext cx="964771" cy="4448698"/>
          </a:xfrm>
          <a:prstGeom prst="rect">
            <a:avLst/>
          </a:prstGeom>
        </p:spPr>
      </p:pic>
      <p:sp>
        <p:nvSpPr>
          <p:cNvPr id="15" name="직사각형 1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987032311"/>
      </p:ext>
    </p:extLst>
  </p:cSld>
  <p:clrMapOvr>
    <a:masterClrMapping/>
  </p:clrMapOvr>
</p:sld>
</file>

<file path=ppt/slides/slide3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en-US" altLang="ko-KR" dirty="0" smtClean="0"/>
              <a:t>PC </a:t>
            </a:r>
            <a:r>
              <a:rPr lang="ko-KR" altLang="en-US" dirty="0" smtClean="0"/>
              <a:t>버전 콘텐츠 </a:t>
            </a:r>
            <a:r>
              <a:rPr lang="ko-KR" altLang="en-US" dirty="0" err="1" smtClean="0"/>
              <a:t>미확정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- PC </a:t>
            </a:r>
            <a:r>
              <a:rPr lang="ko-KR" altLang="en-US" dirty="0" smtClean="0">
                <a:solidFill>
                  <a:srgbClr val="FF0000"/>
                </a:solidFill>
              </a:rPr>
              <a:t>버전 콘텐츠 확정 이후 모바일 업데이트 예정</a:t>
            </a:r>
            <a:endParaRPr lang="ko-KR" altLang="en-US" dirty="0">
              <a:solidFill>
                <a:srgbClr val="FF0000"/>
              </a:solidFill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335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인포그래픽스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인포그래픽스 정보를 안내한다</a:t>
            </a:r>
            <a:r>
              <a:rPr lang="en-US" altLang="ko-KR" dirty="0">
                <a:latin typeface="+mn-ea"/>
              </a:rPr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국방전자조달 소개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인포그래픽스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18" name="그림 17">
            <a:extLst>
              <a:ext uri="{FF2B5EF4-FFF2-40B4-BE49-F238E27FC236}">
                <a16:creationId xmlns:a16="http://schemas.microsoft.com/office/drawing/2014/main" id="{6969B4D1-B485-E260-A44F-DFB4FE93A45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496861" y="1774041"/>
            <a:ext cx="3445451" cy="4069272"/>
          </a:xfrm>
          <a:prstGeom prst="rect">
            <a:avLst/>
          </a:prstGeom>
          <a:ln>
            <a:solidFill>
              <a:schemeClr val="bg1">
                <a:lumMod val="85000"/>
              </a:schemeClr>
            </a:solidFill>
          </a:ln>
        </p:spPr>
      </p:pic>
      <p:sp>
        <p:nvSpPr>
          <p:cNvPr id="14" name="타원 1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401458451"/>
      </p:ext>
    </p:extLst>
  </p:cSld>
  <p:clrMapOvr>
    <a:masterClrMapping/>
  </p:clrMapOvr>
</p:sld>
</file>

<file path=ppt/slides/slide3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336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관련시스템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 err="1">
                <a:latin typeface="+mn-ea"/>
              </a:rPr>
              <a:t>관련시스템</a:t>
            </a:r>
            <a:r>
              <a:rPr lang="ko-KR" altLang="en-US" dirty="0">
                <a:latin typeface="+mn-ea"/>
              </a:rPr>
              <a:t> 정보를 안내한다</a:t>
            </a:r>
            <a:r>
              <a:rPr lang="en-US" altLang="ko-KR" dirty="0">
                <a:latin typeface="+mn-ea"/>
              </a:rPr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국방전자조달 소개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/>
              <a:t>관련시스템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MUI-CM-05-M05</a:t>
            </a:r>
            <a:endParaRPr lang="ko-KR" altLang="en-US" sz="1000" dirty="0"/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64909"/>
          <a:stretch/>
        </p:blipFill>
        <p:spPr>
          <a:xfrm>
            <a:off x="675399" y="1493927"/>
            <a:ext cx="2712027" cy="4723993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pic>
        <p:nvPicPr>
          <p:cNvPr id="17" name="그림 16"/>
          <p:cNvPicPr>
            <a:picLocks noChangeAspect="1"/>
          </p:cNvPicPr>
          <p:nvPr/>
        </p:nvPicPr>
        <p:blipFill rotWithShape="1">
          <a:blip r:embed="rId2"/>
          <a:srcRect b="25789"/>
          <a:stretch/>
        </p:blipFill>
        <p:spPr>
          <a:xfrm>
            <a:off x="3795734" y="1493928"/>
            <a:ext cx="1280010" cy="4715284"/>
          </a:xfrm>
          <a:prstGeom prst="rect">
            <a:avLst/>
          </a:prstGeom>
        </p:spPr>
      </p:pic>
      <p:pic>
        <p:nvPicPr>
          <p:cNvPr id="18" name="그림 17"/>
          <p:cNvPicPr>
            <a:picLocks noChangeAspect="1"/>
          </p:cNvPicPr>
          <p:nvPr/>
        </p:nvPicPr>
        <p:blipFill rotWithShape="1">
          <a:blip r:embed="rId2"/>
          <a:srcRect t="74486"/>
          <a:stretch/>
        </p:blipFill>
        <p:spPr>
          <a:xfrm>
            <a:off x="5227751" y="1493927"/>
            <a:ext cx="1280010" cy="1621123"/>
          </a:xfrm>
          <a:prstGeom prst="rect">
            <a:avLst/>
          </a:prstGeom>
        </p:spPr>
      </p:pic>
      <p:sp>
        <p:nvSpPr>
          <p:cNvPr id="16" name="직사각형 1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55399210"/>
      </p:ext>
    </p:extLst>
  </p:cSld>
  <p:clrMapOvr>
    <a:masterClrMapping/>
  </p:clrMapOvr>
</p:sld>
</file>

<file path=ppt/slides/slide3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337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이용문의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이용문의 정보를 안내한다</a:t>
            </a:r>
            <a:r>
              <a:rPr lang="en-US" altLang="ko-KR" dirty="0">
                <a:latin typeface="+mn-ea"/>
              </a:rPr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국방전자조달 소개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이용문의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MUI-CM-05-M06</a:t>
            </a:r>
            <a:endParaRPr lang="ko-KR" altLang="en-US" sz="1000" dirty="0"/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t="-1" b="71994"/>
          <a:stretch/>
        </p:blipFill>
        <p:spPr>
          <a:xfrm>
            <a:off x="679024" y="1493927"/>
            <a:ext cx="2708402" cy="4723993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5" name="그림 14"/>
          <p:cNvPicPr>
            <a:picLocks noChangeAspect="1"/>
          </p:cNvPicPr>
          <p:nvPr/>
        </p:nvPicPr>
        <p:blipFill rotWithShape="1">
          <a:blip r:embed="rId2"/>
          <a:srcRect b="41561"/>
          <a:stretch/>
        </p:blipFill>
        <p:spPr>
          <a:xfrm>
            <a:off x="3795735" y="1493927"/>
            <a:ext cx="1300401" cy="4732702"/>
          </a:xfrm>
          <a:prstGeom prst="rect">
            <a:avLst/>
          </a:prstGeom>
        </p:spPr>
      </p:pic>
      <p:pic>
        <p:nvPicPr>
          <p:cNvPr id="17" name="그림 16"/>
          <p:cNvPicPr>
            <a:picLocks noChangeAspect="1"/>
          </p:cNvPicPr>
          <p:nvPr/>
        </p:nvPicPr>
        <p:blipFill rotWithShape="1">
          <a:blip r:embed="rId2"/>
          <a:srcRect t="58439" b="23926"/>
          <a:stretch/>
        </p:blipFill>
        <p:spPr>
          <a:xfrm>
            <a:off x="5207360" y="1493927"/>
            <a:ext cx="1300401" cy="1428205"/>
          </a:xfrm>
          <a:prstGeom prst="rect">
            <a:avLst/>
          </a:prstGeom>
        </p:spPr>
      </p:pic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136178583"/>
      </p:ext>
    </p:extLst>
  </p:cSld>
  <p:clrMapOvr>
    <a:masterClrMapping/>
  </p:clrMapOvr>
</p:sld>
</file>

<file path=ppt/slides/slide3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338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</p:spPr>
        <p:txBody>
          <a:bodyPr anchor="t"/>
          <a:lstStyle/>
          <a:p>
            <a:r>
              <a:rPr lang="en-US" altLang="ko-KR" dirty="0"/>
              <a:t>6. </a:t>
            </a:r>
            <a:r>
              <a:rPr lang="ko-KR" altLang="en-US" dirty="0"/>
              <a:t>이용안내 메뉴</a:t>
            </a:r>
            <a:endParaRPr lang="en-US" altLang="ko-KR" dirty="0"/>
          </a:p>
          <a:p>
            <a:r>
              <a:rPr lang="en-US" altLang="ko-KR" dirty="0"/>
              <a:t>6.1 </a:t>
            </a:r>
            <a:r>
              <a:rPr lang="ko-KR" altLang="en-US" dirty="0"/>
              <a:t>화면 목록</a:t>
            </a:r>
          </a:p>
        </p:txBody>
      </p:sp>
      <p:graphicFrame>
        <p:nvGraphicFramePr>
          <p:cNvPr id="8" name="표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1662148"/>
              </p:ext>
            </p:extLst>
          </p:nvPr>
        </p:nvGraphicFramePr>
        <p:xfrm>
          <a:off x="635474" y="1574093"/>
          <a:ext cx="8749092" cy="33523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308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530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44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60035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9645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7579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46764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웹페이지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676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사전준비사항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Preparation01</a:t>
                      </a:r>
                      <a:r>
                        <a:rPr lang="en-US" altLang="ko-KR" sz="9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사전준비사항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/biz/cm/p</a:t>
                      </a: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reparation01/Preparation01Page.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676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 err="1">
                          <a:solidFill>
                            <a:schemeClr val="tx1"/>
                          </a:solidFill>
                        </a:rPr>
                        <a:t>청렴계약제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preparation02</a:t>
                      </a:r>
                      <a:r>
                        <a:rPr lang="en-US" altLang="ko-KR" sz="9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청렴계약제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preparation02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Preparation02Page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국방조달참여절차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Domestic01</a:t>
                      </a:r>
                      <a:r>
                        <a:rPr lang="en-US" altLang="ko-KR" sz="9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국내조달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참여절차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domestic01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Domestic01Page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799098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국내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전자입찰절차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Domestic02</a:t>
                      </a:r>
                      <a:r>
                        <a:rPr lang="en-US" altLang="ko-KR" sz="9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국내조달 전자입찰절차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domestic02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Domestic02Page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3635983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전자대금청구절차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Domestic03</a:t>
                      </a:r>
                      <a:r>
                        <a:rPr lang="en-US" altLang="ko-KR" sz="9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국내조달 전자대금청구절차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domestic03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Domestic03Page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6479342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 err="1">
                          <a:solidFill>
                            <a:schemeClr val="tx1"/>
                          </a:solidFill>
                        </a:rPr>
                        <a:t>국외조달원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 등록절차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Foreign01</a:t>
                      </a:r>
                      <a:r>
                        <a:rPr lang="en-US" altLang="ko-KR" sz="9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국외조달원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등록절차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foreign01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Foreign01Page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9031716"/>
                  </a:ext>
                </a:extLst>
              </a:tr>
              <a:tr h="23903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 err="1">
                          <a:solidFill>
                            <a:schemeClr val="tx1"/>
                          </a:solidFill>
                        </a:rPr>
                        <a:t>국외조달원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 등록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</a:rPr>
                        <a:t>변경안내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Foreign02</a:t>
                      </a:r>
                      <a:r>
                        <a:rPr lang="en-US" altLang="ko-KR" sz="9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국외조달원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변경안내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foreign02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/F</a:t>
                      </a: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oreign02Page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587819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국외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전자입찰절차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Foreign03</a:t>
                      </a:r>
                      <a:r>
                        <a:rPr lang="en-US" altLang="ko-KR" sz="9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국외조달</a:t>
                      </a:r>
                      <a:r>
                        <a:rPr lang="ko-KR" altLang="en-US" sz="800" dirty="0">
                          <a:latin typeface="+mn-ea"/>
                        </a:rPr>
                        <a:t> 전자입찰절차 정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보를 안내한다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foreign03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+mn-ea"/>
                        </a:rPr>
                        <a:t>F</a:t>
                      </a: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oreign03Page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73900013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MUI-CM-05-M15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관련사이트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Site</a:t>
                      </a:r>
                      <a:r>
                        <a:rPr lang="en-US" altLang="ko-KR" sz="9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관련사이트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site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SitePage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8779103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-01-P06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앱 이용 안내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AppSrvcExpln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스플래시에서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사용된 앱 이용 안내 다시 보기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AppSrvcExpln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2674137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6BCDFFF8-E699-5B49-38BC-CBE31E92DF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146637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504465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/>
    </mc:Choice>
    <mc:Fallback xmlns="" xmlns:c="http://schemas.openxmlformats.org/drawingml/2006/chart" xmlns:dgm="http://schemas.openxmlformats.org/drawingml/2006/diagram" xmlns:dsp="http://schemas.microsoft.com/office/drawing/2008/diagram">
      <p:transition/>
    </mc:Fallback>
  </mc:AlternateContent>
</p:sld>
</file>

<file path=ppt/slides/slide3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339</a:t>
            </a:fld>
            <a:endParaRPr lang="ko-KR" altLang="en-US" dirty="0"/>
          </a:p>
        </p:txBody>
      </p:sp>
      <p:sp>
        <p:nvSpPr>
          <p:cNvPr id="152" name="텍스트 개체 틀 2">
            <a:extLst>
              <a:ext uri="{FF2B5EF4-FFF2-40B4-BE49-F238E27FC236}">
                <a16:creationId xmlns:a16="http://schemas.microsoft.com/office/drawing/2014/main" id="{2A43B398-1F7B-131F-A0D8-AEA5D69709C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</p:spPr>
        <p:txBody>
          <a:bodyPr/>
          <a:lstStyle/>
          <a:p>
            <a:r>
              <a:rPr lang="en-US" altLang="ko-KR" dirty="0"/>
              <a:t>7.2. </a:t>
            </a:r>
            <a:r>
              <a:rPr lang="ko-KR" altLang="en-US" dirty="0"/>
              <a:t>화면 흐름도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2C7FD98A-881C-6F37-BA08-19801A94DD6D}"/>
              </a:ext>
            </a:extLst>
          </p:cNvPr>
          <p:cNvSpPr/>
          <p:nvPr/>
        </p:nvSpPr>
        <p:spPr>
          <a:xfrm>
            <a:off x="1172656" y="989311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b="1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311F177D-FEE3-BEB4-F7D3-295E52612890}"/>
              </a:ext>
            </a:extLst>
          </p:cNvPr>
          <p:cNvSpPr/>
          <p:nvPr/>
        </p:nvSpPr>
        <p:spPr>
          <a:xfrm>
            <a:off x="2366608" y="1130015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사전준비사항</a:t>
            </a: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6978CD2B-1BB9-BD9C-1ECE-98361D08ADB9}"/>
              </a:ext>
            </a:extLst>
          </p:cNvPr>
          <p:cNvGrpSpPr/>
          <p:nvPr/>
        </p:nvGrpSpPr>
        <p:grpSpPr>
          <a:xfrm>
            <a:off x="1022376" y="1184015"/>
            <a:ext cx="448641" cy="180000"/>
            <a:chOff x="4520608" y="1663914"/>
            <a:chExt cx="448641" cy="180000"/>
          </a:xfrm>
        </p:grpSpPr>
        <p:sp>
          <p:nvSpPr>
            <p:cNvPr id="5" name="타원 4">
              <a:extLst>
                <a:ext uri="{FF2B5EF4-FFF2-40B4-BE49-F238E27FC236}">
                  <a16:creationId xmlns:a16="http://schemas.microsoft.com/office/drawing/2014/main" id="{09D3D24C-C346-627F-6657-2F6131A6BE42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4996C471-E44F-C5C9-F26F-9A9662EC602C}"/>
                </a:ext>
              </a:extLst>
            </p:cNvPr>
            <p:cNvSpPr/>
            <p:nvPr/>
          </p:nvSpPr>
          <p:spPr>
            <a:xfrm>
              <a:off x="4520608" y="1714380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9E336770-3307-E038-1843-D3E94EEE0172}"/>
              </a:ext>
            </a:extLst>
          </p:cNvPr>
          <p:cNvGrpSpPr/>
          <p:nvPr/>
        </p:nvGrpSpPr>
        <p:grpSpPr>
          <a:xfrm>
            <a:off x="5097742" y="3221511"/>
            <a:ext cx="237994" cy="339111"/>
            <a:chOff x="565604" y="5691736"/>
            <a:chExt cx="237994" cy="339111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34019EDD-4322-2651-BC19-3D7C8083D355}"/>
                </a:ext>
              </a:extLst>
            </p:cNvPr>
            <p:cNvSpPr/>
            <p:nvPr/>
          </p:nvSpPr>
          <p:spPr>
            <a:xfrm>
              <a:off x="565604" y="590773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끝</a:t>
              </a:r>
            </a:p>
          </p:txBody>
        </p:sp>
        <p:grpSp>
          <p:nvGrpSpPr>
            <p:cNvPr id="14" name="그룹 13">
              <a:extLst>
                <a:ext uri="{FF2B5EF4-FFF2-40B4-BE49-F238E27FC236}">
                  <a16:creationId xmlns:a16="http://schemas.microsoft.com/office/drawing/2014/main" id="{304C0B0F-7275-1964-CD84-22454585E4D5}"/>
                </a:ext>
              </a:extLst>
            </p:cNvPr>
            <p:cNvGrpSpPr/>
            <p:nvPr/>
          </p:nvGrpSpPr>
          <p:grpSpPr>
            <a:xfrm>
              <a:off x="594601" y="5691736"/>
              <a:ext cx="180000" cy="180000"/>
              <a:chOff x="5058274" y="2498299"/>
              <a:chExt cx="180000" cy="180000"/>
            </a:xfrm>
          </p:grpSpPr>
          <p:sp>
            <p:nvSpPr>
              <p:cNvPr id="19" name="타원 18">
                <a:extLst>
                  <a:ext uri="{FF2B5EF4-FFF2-40B4-BE49-F238E27FC236}">
                    <a16:creationId xmlns:a16="http://schemas.microsoft.com/office/drawing/2014/main" id="{E9B5D9EB-9463-896B-12A2-37CBFEB67E81}"/>
                  </a:ext>
                </a:extLst>
              </p:cNvPr>
              <p:cNvSpPr/>
              <p:nvPr/>
            </p:nvSpPr>
            <p:spPr>
              <a:xfrm>
                <a:off x="5058274" y="2498299"/>
                <a:ext cx="180000" cy="180000"/>
              </a:xfrm>
              <a:prstGeom prst="ellipse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" name="타원 28">
                <a:extLst>
                  <a:ext uri="{FF2B5EF4-FFF2-40B4-BE49-F238E27FC236}">
                    <a16:creationId xmlns:a16="http://schemas.microsoft.com/office/drawing/2014/main" id="{5035D845-DB68-ACE3-6F03-D835D7B8D78D}"/>
                  </a:ext>
                </a:extLst>
              </p:cNvPr>
              <p:cNvSpPr/>
              <p:nvPr/>
            </p:nvSpPr>
            <p:spPr>
              <a:xfrm>
                <a:off x="5094274" y="2534299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cxnSp>
        <p:nvCxnSpPr>
          <p:cNvPr id="33" name="직선 화살표 연결선 32">
            <a:extLst>
              <a:ext uri="{FF2B5EF4-FFF2-40B4-BE49-F238E27FC236}">
                <a16:creationId xmlns:a16="http://schemas.microsoft.com/office/drawing/2014/main" id="{A2217EA9-E206-27C6-6227-E336F5A0DFB7}"/>
              </a:ext>
            </a:extLst>
          </p:cNvPr>
          <p:cNvCxnSpPr>
            <a:cxnSpLocks/>
            <a:stCxn id="5" idx="6"/>
            <a:endCxn id="3" idx="1"/>
          </p:cNvCxnSpPr>
          <p:nvPr/>
        </p:nvCxnSpPr>
        <p:spPr>
          <a:xfrm>
            <a:off x="1471017" y="1274015"/>
            <a:ext cx="895591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98DB5003-88A6-609C-ADAE-D7A05C24EDFC}"/>
              </a:ext>
            </a:extLst>
          </p:cNvPr>
          <p:cNvSpPr/>
          <p:nvPr/>
        </p:nvSpPr>
        <p:spPr>
          <a:xfrm>
            <a:off x="2366608" y="2178157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국방조달참여절차</a:t>
            </a:r>
          </a:p>
        </p:txBody>
      </p:sp>
      <p:cxnSp>
        <p:nvCxnSpPr>
          <p:cNvPr id="35" name="연결선: 꺾임 34">
            <a:extLst>
              <a:ext uri="{FF2B5EF4-FFF2-40B4-BE49-F238E27FC236}">
                <a16:creationId xmlns:a16="http://schemas.microsoft.com/office/drawing/2014/main" id="{02AF491E-63F1-F699-073F-514A5C4333F6}"/>
              </a:ext>
            </a:extLst>
          </p:cNvPr>
          <p:cNvCxnSpPr>
            <a:stCxn id="5" idx="4"/>
            <a:endCxn id="34" idx="1"/>
          </p:cNvCxnSpPr>
          <p:nvPr/>
        </p:nvCxnSpPr>
        <p:spPr>
          <a:xfrm rot="16200000" flipH="1">
            <a:off x="1394741" y="1350290"/>
            <a:ext cx="958142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478E964E-71D4-0A4A-6B62-9B3E9D98F58D}"/>
              </a:ext>
            </a:extLst>
          </p:cNvPr>
          <p:cNvSpPr/>
          <p:nvPr/>
        </p:nvSpPr>
        <p:spPr>
          <a:xfrm>
            <a:off x="2366608" y="2702228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국내 </a:t>
            </a:r>
            <a:r>
              <a:rPr lang="en-US" altLang="ko-KR" sz="800" dirty="0">
                <a:solidFill>
                  <a:schemeClr val="tx1"/>
                </a:solidFill>
              </a:rPr>
              <a:t>- </a:t>
            </a:r>
            <a:r>
              <a:rPr lang="ko-KR" altLang="en-US" sz="800" dirty="0">
                <a:solidFill>
                  <a:schemeClr val="tx1"/>
                </a:solidFill>
              </a:rPr>
              <a:t>전자입찰절차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4CFECD5A-167A-2BFA-A89F-A19A249C0BEF}"/>
              </a:ext>
            </a:extLst>
          </p:cNvPr>
          <p:cNvSpPr/>
          <p:nvPr/>
        </p:nvSpPr>
        <p:spPr>
          <a:xfrm>
            <a:off x="2366608" y="3226299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전자대금청구절차</a:t>
            </a: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5B17AD25-D206-F26A-9104-B75209208B2A}"/>
              </a:ext>
            </a:extLst>
          </p:cNvPr>
          <p:cNvSpPr/>
          <p:nvPr/>
        </p:nvSpPr>
        <p:spPr>
          <a:xfrm>
            <a:off x="2366608" y="3750370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국외조달원</a:t>
            </a:r>
            <a:r>
              <a:rPr lang="ko-KR" altLang="en-US" sz="800" dirty="0">
                <a:solidFill>
                  <a:schemeClr val="tx1"/>
                </a:solidFill>
              </a:rPr>
              <a:t> 등록절차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8D378D86-4B1E-1F57-AC9B-76EEAE958A06}"/>
              </a:ext>
            </a:extLst>
          </p:cNvPr>
          <p:cNvSpPr/>
          <p:nvPr/>
        </p:nvSpPr>
        <p:spPr>
          <a:xfrm>
            <a:off x="2366608" y="4274441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국외조달원등록</a:t>
            </a:r>
            <a:r>
              <a:rPr lang="en-US" altLang="ko-KR" sz="800" dirty="0">
                <a:solidFill>
                  <a:schemeClr val="tx1"/>
                </a:solidFill>
              </a:rPr>
              <a:t>/</a:t>
            </a:r>
            <a:r>
              <a:rPr lang="ko-KR" altLang="en-US" sz="800" dirty="0">
                <a:solidFill>
                  <a:schemeClr val="tx1"/>
                </a:solidFill>
              </a:rPr>
              <a:t>변경안내</a:t>
            </a: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4BB1C59E-02BD-94B4-9458-F9347CA2D9FF}"/>
              </a:ext>
            </a:extLst>
          </p:cNvPr>
          <p:cNvSpPr/>
          <p:nvPr/>
        </p:nvSpPr>
        <p:spPr>
          <a:xfrm>
            <a:off x="2366608" y="4798512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국외 </a:t>
            </a:r>
            <a:r>
              <a:rPr lang="en-US" altLang="ko-KR" sz="800" dirty="0">
                <a:solidFill>
                  <a:schemeClr val="tx1"/>
                </a:solidFill>
              </a:rPr>
              <a:t>- </a:t>
            </a:r>
            <a:r>
              <a:rPr lang="ko-KR" altLang="en-US" sz="800" dirty="0">
                <a:solidFill>
                  <a:schemeClr val="tx1"/>
                </a:solidFill>
              </a:rPr>
              <a:t>전자입찰절차</a:t>
            </a:r>
          </a:p>
        </p:txBody>
      </p:sp>
      <p:cxnSp>
        <p:nvCxnSpPr>
          <p:cNvPr id="42" name="연결선: 꺾임 41">
            <a:extLst>
              <a:ext uri="{FF2B5EF4-FFF2-40B4-BE49-F238E27FC236}">
                <a16:creationId xmlns:a16="http://schemas.microsoft.com/office/drawing/2014/main" id="{CFDF6D94-4D2F-7F6C-B069-143F7B96D22A}"/>
              </a:ext>
            </a:extLst>
          </p:cNvPr>
          <p:cNvCxnSpPr>
            <a:stCxn id="5" idx="4"/>
            <a:endCxn id="37" idx="1"/>
          </p:cNvCxnSpPr>
          <p:nvPr/>
        </p:nvCxnSpPr>
        <p:spPr>
          <a:xfrm rot="16200000" flipH="1">
            <a:off x="1132706" y="1612325"/>
            <a:ext cx="1482213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연결선: 꺾임 42">
            <a:extLst>
              <a:ext uri="{FF2B5EF4-FFF2-40B4-BE49-F238E27FC236}">
                <a16:creationId xmlns:a16="http://schemas.microsoft.com/office/drawing/2014/main" id="{CE45CF68-21E8-22BD-72CD-36C63BECD0F7}"/>
              </a:ext>
            </a:extLst>
          </p:cNvPr>
          <p:cNvCxnSpPr>
            <a:stCxn id="5" idx="4"/>
            <a:endCxn id="38" idx="1"/>
          </p:cNvCxnSpPr>
          <p:nvPr/>
        </p:nvCxnSpPr>
        <p:spPr>
          <a:xfrm rot="16200000" flipH="1">
            <a:off x="870670" y="1874361"/>
            <a:ext cx="2006284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연결선: 꺾임 43">
            <a:extLst>
              <a:ext uri="{FF2B5EF4-FFF2-40B4-BE49-F238E27FC236}">
                <a16:creationId xmlns:a16="http://schemas.microsoft.com/office/drawing/2014/main" id="{F85301B9-81E9-EFE4-CD6A-9ECF68788A13}"/>
              </a:ext>
            </a:extLst>
          </p:cNvPr>
          <p:cNvCxnSpPr>
            <a:stCxn id="5" idx="4"/>
            <a:endCxn id="39" idx="1"/>
          </p:cNvCxnSpPr>
          <p:nvPr/>
        </p:nvCxnSpPr>
        <p:spPr>
          <a:xfrm rot="16200000" flipH="1">
            <a:off x="608635" y="2136396"/>
            <a:ext cx="2530355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연결선: 꺾임 52">
            <a:extLst>
              <a:ext uri="{FF2B5EF4-FFF2-40B4-BE49-F238E27FC236}">
                <a16:creationId xmlns:a16="http://schemas.microsoft.com/office/drawing/2014/main" id="{CD627301-C430-A011-579E-9C40E27EDB40}"/>
              </a:ext>
            </a:extLst>
          </p:cNvPr>
          <p:cNvCxnSpPr>
            <a:stCxn id="5" idx="4"/>
            <a:endCxn id="40" idx="1"/>
          </p:cNvCxnSpPr>
          <p:nvPr/>
        </p:nvCxnSpPr>
        <p:spPr>
          <a:xfrm rot="16200000" flipH="1">
            <a:off x="346599" y="2398432"/>
            <a:ext cx="3054426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연결선: 꺾임 53">
            <a:extLst>
              <a:ext uri="{FF2B5EF4-FFF2-40B4-BE49-F238E27FC236}">
                <a16:creationId xmlns:a16="http://schemas.microsoft.com/office/drawing/2014/main" id="{729A2AB8-659F-426C-56DA-422C8BAA20F7}"/>
              </a:ext>
            </a:extLst>
          </p:cNvPr>
          <p:cNvCxnSpPr>
            <a:stCxn id="5" idx="4"/>
            <a:endCxn id="41" idx="1"/>
          </p:cNvCxnSpPr>
          <p:nvPr/>
        </p:nvCxnSpPr>
        <p:spPr>
          <a:xfrm rot="16200000" flipH="1">
            <a:off x="84564" y="2660467"/>
            <a:ext cx="3578497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9AEEDFB4-914D-EC9C-7C39-0AC873E02BC6}"/>
              </a:ext>
            </a:extLst>
          </p:cNvPr>
          <p:cNvSpPr/>
          <p:nvPr/>
        </p:nvSpPr>
        <p:spPr>
          <a:xfrm>
            <a:off x="2366608" y="1654086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청렴계약제</a:t>
            </a:r>
          </a:p>
        </p:txBody>
      </p:sp>
      <p:cxnSp>
        <p:nvCxnSpPr>
          <p:cNvPr id="61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5" idx="4"/>
            <a:endCxn id="60" idx="1"/>
          </p:cNvCxnSpPr>
          <p:nvPr/>
        </p:nvCxnSpPr>
        <p:spPr>
          <a:xfrm rot="16200000" flipH="1">
            <a:off x="1656777" y="1088254"/>
            <a:ext cx="434071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3" name="사각형: 둥근 모서리 132">
            <a:extLst>
              <a:ext uri="{FF2B5EF4-FFF2-40B4-BE49-F238E27FC236}">
                <a16:creationId xmlns:a16="http://schemas.microsoft.com/office/drawing/2014/main" id="{20CDCE3D-4C6B-BA16-AA25-2DA6E66BCD2E}"/>
              </a:ext>
            </a:extLst>
          </p:cNvPr>
          <p:cNvSpPr/>
          <p:nvPr/>
        </p:nvSpPr>
        <p:spPr>
          <a:xfrm>
            <a:off x="2366608" y="5322583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>
                <a:solidFill>
                  <a:schemeClr val="tx1"/>
                </a:solidFill>
              </a:rPr>
              <a:t>관련사이트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34" name="연결선: 꺾임 133">
            <a:extLst>
              <a:ext uri="{FF2B5EF4-FFF2-40B4-BE49-F238E27FC236}">
                <a16:creationId xmlns:a16="http://schemas.microsoft.com/office/drawing/2014/main" id="{116E8111-1955-150D-AB7F-15AA6FB9F3C8}"/>
              </a:ext>
            </a:extLst>
          </p:cNvPr>
          <p:cNvCxnSpPr>
            <a:stCxn id="5" idx="4"/>
            <a:endCxn id="133" idx="1"/>
          </p:cNvCxnSpPr>
          <p:nvPr/>
        </p:nvCxnSpPr>
        <p:spPr>
          <a:xfrm rot="16200000" flipH="1">
            <a:off x="-177472" y="2922503"/>
            <a:ext cx="4102568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6" name="사각형: 둥근 모서리 135">
            <a:extLst>
              <a:ext uri="{FF2B5EF4-FFF2-40B4-BE49-F238E27FC236}">
                <a16:creationId xmlns:a16="http://schemas.microsoft.com/office/drawing/2014/main" id="{BE73A25C-8071-605A-9B3F-4CD21668733A}"/>
              </a:ext>
            </a:extLst>
          </p:cNvPr>
          <p:cNvSpPr/>
          <p:nvPr/>
        </p:nvSpPr>
        <p:spPr>
          <a:xfrm>
            <a:off x="2366608" y="5846651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 이용 안내</a:t>
            </a:r>
          </a:p>
        </p:txBody>
      </p:sp>
      <p:cxnSp>
        <p:nvCxnSpPr>
          <p:cNvPr id="137" name="연결선: 꺾임 136">
            <a:extLst>
              <a:ext uri="{FF2B5EF4-FFF2-40B4-BE49-F238E27FC236}">
                <a16:creationId xmlns:a16="http://schemas.microsoft.com/office/drawing/2014/main" id="{E817709E-FD18-1B63-CE48-BED45C5EF2E4}"/>
              </a:ext>
            </a:extLst>
          </p:cNvPr>
          <p:cNvCxnSpPr>
            <a:stCxn id="5" idx="4"/>
            <a:endCxn id="136" idx="1"/>
          </p:cNvCxnSpPr>
          <p:nvPr/>
        </p:nvCxnSpPr>
        <p:spPr>
          <a:xfrm rot="16200000" flipH="1">
            <a:off x="-439506" y="3184537"/>
            <a:ext cx="4626636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" idx="3"/>
            <a:endCxn id="19" idx="2"/>
          </p:cNvCxnSpPr>
          <p:nvPr/>
        </p:nvCxnSpPr>
        <p:spPr>
          <a:xfrm>
            <a:off x="3788168" y="1274015"/>
            <a:ext cx="1338571" cy="2037496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60" idx="3"/>
            <a:endCxn id="19" idx="2"/>
          </p:cNvCxnSpPr>
          <p:nvPr/>
        </p:nvCxnSpPr>
        <p:spPr>
          <a:xfrm>
            <a:off x="3788168" y="1798086"/>
            <a:ext cx="1338571" cy="1513425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4" idx="3"/>
            <a:endCxn id="19" idx="2"/>
          </p:cNvCxnSpPr>
          <p:nvPr/>
        </p:nvCxnSpPr>
        <p:spPr>
          <a:xfrm>
            <a:off x="3788168" y="2322157"/>
            <a:ext cx="1338571" cy="989354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7" idx="3"/>
            <a:endCxn id="19" idx="2"/>
          </p:cNvCxnSpPr>
          <p:nvPr/>
        </p:nvCxnSpPr>
        <p:spPr>
          <a:xfrm>
            <a:off x="3788168" y="2846228"/>
            <a:ext cx="1338571" cy="465283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8" idx="3"/>
            <a:endCxn id="19" idx="2"/>
          </p:cNvCxnSpPr>
          <p:nvPr/>
        </p:nvCxnSpPr>
        <p:spPr>
          <a:xfrm flipV="1">
            <a:off x="3788168" y="3311511"/>
            <a:ext cx="1338571" cy="58788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9" idx="3"/>
            <a:endCxn id="19" idx="2"/>
          </p:cNvCxnSpPr>
          <p:nvPr/>
        </p:nvCxnSpPr>
        <p:spPr>
          <a:xfrm flipV="1">
            <a:off x="3788168" y="3311511"/>
            <a:ext cx="1338571" cy="582859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40" idx="3"/>
            <a:endCxn id="19" idx="2"/>
          </p:cNvCxnSpPr>
          <p:nvPr/>
        </p:nvCxnSpPr>
        <p:spPr>
          <a:xfrm flipV="1">
            <a:off x="3788168" y="3311511"/>
            <a:ext cx="1338571" cy="1106930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41" idx="3"/>
            <a:endCxn id="19" idx="2"/>
          </p:cNvCxnSpPr>
          <p:nvPr/>
        </p:nvCxnSpPr>
        <p:spPr>
          <a:xfrm flipV="1">
            <a:off x="3788168" y="3311511"/>
            <a:ext cx="1338571" cy="1631001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133" idx="3"/>
            <a:endCxn id="19" idx="2"/>
          </p:cNvCxnSpPr>
          <p:nvPr/>
        </p:nvCxnSpPr>
        <p:spPr>
          <a:xfrm flipV="1">
            <a:off x="3788168" y="3311511"/>
            <a:ext cx="1338571" cy="2155072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136" idx="3"/>
            <a:endCxn id="19" idx="2"/>
          </p:cNvCxnSpPr>
          <p:nvPr/>
        </p:nvCxnSpPr>
        <p:spPr>
          <a:xfrm flipV="1">
            <a:off x="3788168" y="3311511"/>
            <a:ext cx="1338571" cy="2679140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59945476"/>
      </p:ext>
    </p:extLst>
  </p:cSld>
  <p:clrMapOvr>
    <a:masterClrMapping/>
  </p:clrMapOvr>
</p:sld>
</file>

<file path=ppt/slides/slide3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340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7.3 </a:t>
            </a:r>
            <a:r>
              <a:rPr lang="ko-KR" altLang="en-US" dirty="0" smtClean="0"/>
              <a:t>앱 구성 다이어그램</a:t>
            </a:r>
            <a:endParaRPr lang="ko-KR" altLang="en-US" dirty="0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2F128619-663F-4D19-19E9-1E6F38EFDDF3}"/>
              </a:ext>
            </a:extLst>
          </p:cNvPr>
          <p:cNvSpPr/>
          <p:nvPr/>
        </p:nvSpPr>
        <p:spPr>
          <a:xfrm>
            <a:off x="6284628" y="1007533"/>
            <a:ext cx="2743200" cy="5181316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B1CB2831-A480-99BB-B1E6-806F67233A32}"/>
              </a:ext>
            </a:extLst>
          </p:cNvPr>
          <p:cNvSpPr/>
          <p:nvPr/>
        </p:nvSpPr>
        <p:spPr>
          <a:xfrm>
            <a:off x="389467" y="1007533"/>
            <a:ext cx="5705815" cy="518131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5211F437-2CBB-D7A8-65D2-70363026244A}"/>
              </a:ext>
            </a:extLst>
          </p:cNvPr>
          <p:cNvSpPr/>
          <p:nvPr/>
        </p:nvSpPr>
        <p:spPr>
          <a:xfrm>
            <a:off x="578095" y="1377745"/>
            <a:ext cx="1822590" cy="49338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사전준비사항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>
                <a:solidFill>
                  <a:schemeClr val="tx1"/>
                </a:solidFill>
                <a:latin typeface="Calibri" panose="020F0502020204030204" pitchFamily="34" charset="0"/>
              </a:rPr>
              <a:t>Preparation01Page</a:t>
            </a:r>
            <a:r>
              <a:rPr lang="en-US" altLang="ko-KR" sz="1100" dirty="0" smtClean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DF474B58-0035-035C-62CD-92C77B7639B8}"/>
              </a:ext>
            </a:extLst>
          </p:cNvPr>
          <p:cNvSpPr/>
          <p:nvPr/>
        </p:nvSpPr>
        <p:spPr>
          <a:xfrm>
            <a:off x="578095" y="1979942"/>
            <a:ext cx="1822590" cy="529907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청렴계약제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smtClean="0">
                <a:solidFill>
                  <a:schemeClr val="tx1"/>
                </a:solidFill>
                <a:latin typeface="Calibri" panose="020F0502020204030204" pitchFamily="34" charset="0"/>
              </a:rPr>
              <a:t>Preparation02Page</a:t>
            </a:r>
            <a:r>
              <a:rPr lang="en-US" altLang="ko-KR" sz="1100" dirty="0" smtClean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7B9F658-66B3-FEBD-9F60-D810061D912D}"/>
              </a:ext>
            </a:extLst>
          </p:cNvPr>
          <p:cNvSpPr/>
          <p:nvPr/>
        </p:nvSpPr>
        <p:spPr>
          <a:xfrm>
            <a:off x="587331" y="2581860"/>
            <a:ext cx="1822590" cy="518665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국방조달참여절차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>
                <a:solidFill>
                  <a:schemeClr val="tx1"/>
                </a:solidFill>
                <a:latin typeface="Calibri" panose="020F0502020204030204" pitchFamily="34" charset="0"/>
              </a:rPr>
              <a:t>Domestic01Page</a:t>
            </a:r>
            <a:r>
              <a:rPr lang="en-US" altLang="ko-KR" sz="1100" dirty="0" smtClean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E8DE43AF-719F-86AA-AB05-891628BC6BC6}"/>
              </a:ext>
            </a:extLst>
          </p:cNvPr>
          <p:cNvSpPr/>
          <p:nvPr/>
        </p:nvSpPr>
        <p:spPr>
          <a:xfrm>
            <a:off x="6931173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&lt;&lt;Controller&gt;&gt;</a:t>
            </a:r>
          </a:p>
          <a:p>
            <a:pPr algn="ctr"/>
            <a:r>
              <a:rPr lang="ko-KR" altLang="en-US" sz="1100" dirty="0" err="1"/>
              <a:t>콘텐츠관리</a:t>
            </a:r>
            <a:r>
              <a:rPr lang="ko-KR" altLang="en-US" sz="1100" dirty="0"/>
              <a:t> </a:t>
            </a:r>
            <a:r>
              <a:rPr lang="en-US" altLang="ko-KR" sz="1100" dirty="0"/>
              <a:t>Controller</a:t>
            </a:r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C223C0E5-3E8B-2275-E6D7-80AE7BF512A5}"/>
              </a:ext>
            </a:extLst>
          </p:cNvPr>
          <p:cNvCxnSpPr>
            <a:cxnSpLocks/>
            <a:stCxn id="6" idx="3"/>
            <a:endCxn id="39" idx="1"/>
          </p:cNvCxnSpPr>
          <p:nvPr/>
        </p:nvCxnSpPr>
        <p:spPr>
          <a:xfrm>
            <a:off x="2400685" y="1624440"/>
            <a:ext cx="1559406" cy="136573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59541914-3C9F-A030-94F4-E40F62763473}"/>
              </a:ext>
            </a:extLst>
          </p:cNvPr>
          <p:cNvCxnSpPr>
            <a:cxnSpLocks/>
            <a:stCxn id="7" idx="3"/>
            <a:endCxn id="39" idx="1"/>
          </p:cNvCxnSpPr>
          <p:nvPr/>
        </p:nvCxnSpPr>
        <p:spPr>
          <a:xfrm>
            <a:off x="2400685" y="2244896"/>
            <a:ext cx="1559406" cy="74527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" name="직선 화살표 연결선 14">
            <a:extLst>
              <a:ext uri="{FF2B5EF4-FFF2-40B4-BE49-F238E27FC236}">
                <a16:creationId xmlns:a16="http://schemas.microsoft.com/office/drawing/2014/main" id="{09C6E581-C0D7-85C0-7C1C-40297C3C3FF1}"/>
              </a:ext>
            </a:extLst>
          </p:cNvPr>
          <p:cNvCxnSpPr>
            <a:cxnSpLocks/>
            <a:stCxn id="8" idx="3"/>
            <a:endCxn id="39" idx="1"/>
          </p:cNvCxnSpPr>
          <p:nvPr/>
        </p:nvCxnSpPr>
        <p:spPr>
          <a:xfrm>
            <a:off x="2409921" y="2841193"/>
            <a:ext cx="1550170" cy="14898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89CE44EE-C554-DA5F-044C-D26D10995146}"/>
              </a:ext>
            </a:extLst>
          </p:cNvPr>
          <p:cNvCxnSpPr>
            <a:cxnSpLocks/>
            <a:stCxn id="39" idx="3"/>
            <a:endCxn id="12" idx="1"/>
          </p:cNvCxnSpPr>
          <p:nvPr/>
        </p:nvCxnSpPr>
        <p:spPr>
          <a:xfrm>
            <a:off x="5687291" y="2990174"/>
            <a:ext cx="1243882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16F4671E-4427-2BDF-F89C-1D2C6FF8CDC4}"/>
              </a:ext>
            </a:extLst>
          </p:cNvPr>
          <p:cNvSpPr/>
          <p:nvPr/>
        </p:nvSpPr>
        <p:spPr>
          <a:xfrm>
            <a:off x="587331" y="3182219"/>
            <a:ext cx="1822590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국내 </a:t>
            </a:r>
            <a:r>
              <a:rPr lang="en-US" altLang="ko-KR" sz="1100" dirty="0">
                <a:solidFill>
                  <a:schemeClr val="tx1"/>
                </a:solidFill>
              </a:rPr>
              <a:t>- </a:t>
            </a:r>
            <a:r>
              <a:rPr lang="ko-KR" altLang="en-US" sz="1100" dirty="0">
                <a:solidFill>
                  <a:schemeClr val="tx1"/>
                </a:solidFill>
              </a:rPr>
              <a:t>전자입찰절차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>
                <a:solidFill>
                  <a:schemeClr val="tx1"/>
                </a:solidFill>
                <a:latin typeface="Calibri" panose="020F0502020204030204" pitchFamily="34" charset="0"/>
              </a:rPr>
              <a:t>Domestic02Page</a:t>
            </a:r>
            <a:r>
              <a:rPr lang="en-US" altLang="ko-KR" sz="1100" dirty="0" smtClean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5DA384F7-003A-8FF5-8CA0-66426F46808C}"/>
              </a:ext>
            </a:extLst>
          </p:cNvPr>
          <p:cNvSpPr/>
          <p:nvPr/>
        </p:nvSpPr>
        <p:spPr>
          <a:xfrm>
            <a:off x="578095" y="3793800"/>
            <a:ext cx="1831826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전자대금청구절차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smtClean="0">
                <a:solidFill>
                  <a:schemeClr val="tx1"/>
                </a:solidFill>
                <a:latin typeface="Calibri" panose="020F0502020204030204" pitchFamily="34" charset="0"/>
              </a:rPr>
              <a:t>Domestic03Page</a:t>
            </a:r>
            <a:r>
              <a:rPr lang="en-US" altLang="ko-KR" sz="1100" dirty="0" smtClean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F0E73C03-9092-F094-8AA2-4C44C53A7B41}"/>
              </a:ext>
            </a:extLst>
          </p:cNvPr>
          <p:cNvCxnSpPr>
            <a:cxnSpLocks/>
            <a:stCxn id="18" idx="3"/>
            <a:endCxn id="39" idx="1"/>
          </p:cNvCxnSpPr>
          <p:nvPr/>
        </p:nvCxnSpPr>
        <p:spPr>
          <a:xfrm flipV="1">
            <a:off x="2409921" y="2990174"/>
            <a:ext cx="1550170" cy="4473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3" name="직선 화살표 연결선 22">
            <a:extLst>
              <a:ext uri="{FF2B5EF4-FFF2-40B4-BE49-F238E27FC236}">
                <a16:creationId xmlns:a16="http://schemas.microsoft.com/office/drawing/2014/main" id="{6B7AEA11-AAE1-EEF4-81E7-9065429B580D}"/>
              </a:ext>
            </a:extLst>
          </p:cNvPr>
          <p:cNvCxnSpPr>
            <a:cxnSpLocks/>
            <a:stCxn id="19" idx="3"/>
            <a:endCxn id="39" idx="1"/>
          </p:cNvCxnSpPr>
          <p:nvPr/>
        </p:nvCxnSpPr>
        <p:spPr>
          <a:xfrm flipV="1">
            <a:off x="2409921" y="2990174"/>
            <a:ext cx="1550170" cy="105889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6B2F7C40-600B-875B-C343-ECDD468EC02B}"/>
              </a:ext>
            </a:extLst>
          </p:cNvPr>
          <p:cNvSpPr/>
          <p:nvPr/>
        </p:nvSpPr>
        <p:spPr>
          <a:xfrm>
            <a:off x="587331" y="4347866"/>
            <a:ext cx="1831826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 err="1">
                <a:solidFill>
                  <a:schemeClr val="tx1"/>
                </a:solidFill>
              </a:rPr>
              <a:t>국외조달원등록절차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>
                <a:solidFill>
                  <a:schemeClr val="tx1"/>
                </a:solidFill>
                <a:latin typeface="Calibri" panose="020F0502020204030204" pitchFamily="34" charset="0"/>
              </a:rPr>
              <a:t>Foreign01Page</a:t>
            </a:r>
            <a:r>
              <a:rPr lang="en-US" altLang="ko-KR" sz="1100" dirty="0" smtClean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BD7FC058-62A0-1FAB-CEB6-BB905872E30E}"/>
              </a:ext>
            </a:extLst>
          </p:cNvPr>
          <p:cNvCxnSpPr>
            <a:cxnSpLocks/>
            <a:stCxn id="27" idx="3"/>
            <a:endCxn id="39" idx="1"/>
          </p:cNvCxnSpPr>
          <p:nvPr/>
        </p:nvCxnSpPr>
        <p:spPr>
          <a:xfrm flipV="1">
            <a:off x="2419157" y="2990174"/>
            <a:ext cx="1540934" cy="161296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EF66584F-EEE5-DF1C-E16B-45A654981E6D}"/>
              </a:ext>
            </a:extLst>
          </p:cNvPr>
          <p:cNvSpPr/>
          <p:nvPr/>
        </p:nvSpPr>
        <p:spPr>
          <a:xfrm>
            <a:off x="587330" y="4976710"/>
            <a:ext cx="1831827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국외조달원등록</a:t>
            </a:r>
            <a:r>
              <a:rPr lang="en-US" altLang="ko-KR" sz="1100" dirty="0">
                <a:solidFill>
                  <a:schemeClr val="tx1"/>
                </a:solidFill>
              </a:rPr>
              <a:t>/</a:t>
            </a:r>
            <a:r>
              <a:rPr lang="ko-KR" altLang="en-US" sz="1100" dirty="0">
                <a:solidFill>
                  <a:schemeClr val="tx1"/>
                </a:solidFill>
              </a:rPr>
              <a:t>변경안내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smtClean="0">
                <a:solidFill>
                  <a:schemeClr val="tx1"/>
                </a:solidFill>
                <a:latin typeface="Calibri" panose="020F0502020204030204" pitchFamily="34" charset="0"/>
              </a:rPr>
              <a:t>Foreign02Page</a:t>
            </a:r>
            <a:r>
              <a:rPr lang="en-US" altLang="ko-KR" sz="1100" dirty="0" smtClean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34360397-962A-DE55-F3AB-F52E7CF3D102}"/>
              </a:ext>
            </a:extLst>
          </p:cNvPr>
          <p:cNvCxnSpPr>
            <a:cxnSpLocks/>
            <a:stCxn id="34" idx="3"/>
            <a:endCxn id="39" idx="1"/>
          </p:cNvCxnSpPr>
          <p:nvPr/>
        </p:nvCxnSpPr>
        <p:spPr>
          <a:xfrm flipV="1">
            <a:off x="2419157" y="2990174"/>
            <a:ext cx="1540934" cy="224180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D4201F9E-7F68-9B8B-10DA-19342D571C18}"/>
              </a:ext>
            </a:extLst>
          </p:cNvPr>
          <p:cNvSpPr/>
          <p:nvPr/>
        </p:nvSpPr>
        <p:spPr>
          <a:xfrm>
            <a:off x="587330" y="5559027"/>
            <a:ext cx="1831827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국외전자입찰절차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smtClean="0">
                <a:solidFill>
                  <a:schemeClr val="tx1"/>
                </a:solidFill>
                <a:latin typeface="Calibri" panose="020F0502020204030204" pitchFamily="34" charset="0"/>
              </a:rPr>
              <a:t>Foreign03Page</a:t>
            </a:r>
            <a:r>
              <a:rPr lang="en-US" altLang="ko-KR" sz="1100" dirty="0" smtClean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48" name="직선 화살표 연결선 47">
            <a:extLst>
              <a:ext uri="{FF2B5EF4-FFF2-40B4-BE49-F238E27FC236}">
                <a16:creationId xmlns:a16="http://schemas.microsoft.com/office/drawing/2014/main" id="{0D4D0308-2143-C1F4-B3DA-D7229C517CFE}"/>
              </a:ext>
            </a:extLst>
          </p:cNvPr>
          <p:cNvCxnSpPr>
            <a:stCxn id="46" idx="3"/>
            <a:endCxn id="39" idx="1"/>
          </p:cNvCxnSpPr>
          <p:nvPr/>
        </p:nvCxnSpPr>
        <p:spPr>
          <a:xfrm flipV="1">
            <a:off x="2419157" y="2990174"/>
            <a:ext cx="1540934" cy="2824123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8F1979A7-187B-8CC0-5EAD-9E911A321D65}"/>
              </a:ext>
            </a:extLst>
          </p:cNvPr>
          <p:cNvSpPr/>
          <p:nvPr/>
        </p:nvSpPr>
        <p:spPr>
          <a:xfrm>
            <a:off x="2888323" y="5481964"/>
            <a:ext cx="1294602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관련사이트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 smtClean="0">
                <a:solidFill>
                  <a:schemeClr val="tx1"/>
                </a:solidFill>
                <a:latin typeface="Calibri" panose="020F0502020204030204" pitchFamily="34" charset="0"/>
              </a:rPr>
              <a:t>SitePage</a:t>
            </a:r>
            <a:r>
              <a:rPr lang="en-US" altLang="ko-KR" sz="11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5BBF5535-8BD2-DA27-9508-2AAACD963DE2}"/>
              </a:ext>
            </a:extLst>
          </p:cNvPr>
          <p:cNvSpPr/>
          <p:nvPr/>
        </p:nvSpPr>
        <p:spPr>
          <a:xfrm>
            <a:off x="4375355" y="5462214"/>
            <a:ext cx="1421601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lvl="0" algn="ctr"/>
            <a:r>
              <a:rPr lang="ko-KR" altLang="en-US" sz="1100" dirty="0">
                <a:solidFill>
                  <a:schemeClr val="tx1"/>
                </a:solidFill>
                <a:latin typeface="맑은 고딕" panose="020B0503020000020004" pitchFamily="50" charset="-127"/>
              </a:rPr>
              <a:t>앱 이용 안내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 smtClean="0">
                <a:solidFill>
                  <a:schemeClr val="tx1"/>
                </a:solidFill>
                <a:latin typeface="Calibri" panose="020F0502020204030204" pitchFamily="34" charset="0"/>
              </a:rPr>
              <a:t>AppSrvcExpln</a:t>
            </a:r>
            <a:r>
              <a:rPr lang="en-US" altLang="ko-KR" sz="11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75" name="직선 화살표 연결선 74">
            <a:extLst>
              <a:ext uri="{FF2B5EF4-FFF2-40B4-BE49-F238E27FC236}">
                <a16:creationId xmlns:a16="http://schemas.microsoft.com/office/drawing/2014/main" id="{DCFF2270-4921-2DBE-4FE7-F47558EADD78}"/>
              </a:ext>
            </a:extLst>
          </p:cNvPr>
          <p:cNvCxnSpPr>
            <a:stCxn id="68" idx="0"/>
            <a:endCxn id="39" idx="2"/>
          </p:cNvCxnSpPr>
          <p:nvPr/>
        </p:nvCxnSpPr>
        <p:spPr>
          <a:xfrm flipV="1">
            <a:off x="3535624" y="3810190"/>
            <a:ext cx="1288067" cy="1671774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직선 화살표 연결선 76">
            <a:extLst>
              <a:ext uri="{FF2B5EF4-FFF2-40B4-BE49-F238E27FC236}">
                <a16:creationId xmlns:a16="http://schemas.microsoft.com/office/drawing/2014/main" id="{E951C1A0-315F-228E-7726-753A2B3E22C9}"/>
              </a:ext>
            </a:extLst>
          </p:cNvPr>
          <p:cNvCxnSpPr>
            <a:stCxn id="69" idx="0"/>
            <a:endCxn id="39" idx="2"/>
          </p:cNvCxnSpPr>
          <p:nvPr/>
        </p:nvCxnSpPr>
        <p:spPr>
          <a:xfrm flipH="1" flipV="1">
            <a:off x="4823691" y="3810190"/>
            <a:ext cx="262465" cy="1652024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 Box 73">
            <a:extLst>
              <a:ext uri="{FF2B5EF4-FFF2-40B4-BE49-F238E27FC236}">
                <a16:creationId xmlns:a16="http://schemas.microsoft.com/office/drawing/2014/main" id="{A6A37441-CC1D-D3E2-A9BD-035000473A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0628" y="882139"/>
            <a:ext cx="1727200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ko-KR" altLang="en-US" sz="700" dirty="0"/>
              <a:t>영문명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</p:spTree>
    <p:extLst>
      <p:ext uri="{BB962C8B-B14F-4D97-AF65-F5344CB8AC3E}">
        <p14:creationId xmlns:p14="http://schemas.microsoft.com/office/powerpoint/2010/main" val="1423540558"/>
      </p:ext>
    </p:extLst>
  </p:cSld>
  <p:clrMapOvr>
    <a:masterClrMapping/>
  </p:clrMapOvr>
</p:sld>
</file>

<file path=ppt/slides/slide3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콘텐츠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사용자 등록 하단 </a:t>
            </a:r>
            <a:r>
              <a:rPr lang="en-US" altLang="ko-KR" dirty="0" smtClean="0"/>
              <a:t>[</a:t>
            </a:r>
            <a:r>
              <a:rPr lang="ko-KR" altLang="en-US" dirty="0" smtClean="0"/>
              <a:t>유의사항</a:t>
            </a:r>
            <a:r>
              <a:rPr lang="en-US" altLang="ko-KR" dirty="0" smtClean="0"/>
              <a:t>]</a:t>
            </a:r>
            <a:r>
              <a:rPr lang="ko-KR" altLang="en-US" dirty="0" smtClean="0"/>
              <a:t> 안내 추가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모바일에서는 사용자 등록되지 않습니다</a:t>
            </a:r>
            <a:r>
              <a:rPr lang="en-US" altLang="ko-KR" dirty="0" smtClean="0"/>
              <a:t>. PC </a:t>
            </a:r>
            <a:r>
              <a:rPr lang="ko-KR" altLang="en-US" dirty="0" smtClean="0"/>
              <a:t>버전에서 </a:t>
            </a:r>
            <a:r>
              <a:rPr lang="ko-KR" altLang="en-US" dirty="0" err="1" smtClean="0"/>
              <a:t>업체등록</a:t>
            </a:r>
            <a:r>
              <a:rPr lang="ko-KR" altLang="en-US" dirty="0" smtClean="0"/>
              <a:t> 및 사용자 등록을 진행한 이후 모바일 앱 서비스 사용이 가능합니다</a:t>
            </a:r>
            <a:r>
              <a:rPr lang="en-US" altLang="ko-KR" dirty="0" smtClean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341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사전준비사항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사전준비사항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조달사전준비안내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사전준비사항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MUI-CM-05-M07</a:t>
            </a: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t="1" b="70846"/>
          <a:stretch/>
        </p:blipFill>
        <p:spPr>
          <a:xfrm>
            <a:off x="675399" y="1493928"/>
            <a:ext cx="2712027" cy="4715284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pic>
        <p:nvPicPr>
          <p:cNvPr id="17" name="그림 16"/>
          <p:cNvPicPr>
            <a:picLocks noChangeAspect="1"/>
          </p:cNvPicPr>
          <p:nvPr/>
        </p:nvPicPr>
        <p:blipFill rotWithShape="1">
          <a:blip r:embed="rId2"/>
          <a:srcRect b="39010"/>
          <a:stretch/>
        </p:blipFill>
        <p:spPr>
          <a:xfrm>
            <a:off x="3795734" y="1493927"/>
            <a:ext cx="1291541" cy="4697867"/>
          </a:xfrm>
          <a:prstGeom prst="rect">
            <a:avLst/>
          </a:prstGeom>
        </p:spPr>
      </p:pic>
      <p:pic>
        <p:nvPicPr>
          <p:cNvPr id="18" name="그림 17"/>
          <p:cNvPicPr>
            <a:picLocks noChangeAspect="1"/>
          </p:cNvPicPr>
          <p:nvPr/>
        </p:nvPicPr>
        <p:blipFill rotWithShape="1">
          <a:blip r:embed="rId2"/>
          <a:srcRect t="61443"/>
          <a:stretch/>
        </p:blipFill>
        <p:spPr>
          <a:xfrm>
            <a:off x="5216220" y="1493927"/>
            <a:ext cx="1291541" cy="2969904"/>
          </a:xfrm>
          <a:prstGeom prst="rect">
            <a:avLst/>
          </a:prstGeom>
        </p:spPr>
      </p:pic>
      <p:sp>
        <p:nvSpPr>
          <p:cNvPr id="15" name="직사각형 1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421696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804237253"/>
      </p:ext>
    </p:extLst>
  </p:cSld>
  <p:clrMapOvr>
    <a:masterClrMapping/>
  </p:clrMapOvr>
</p:sld>
</file>

<file path=ppt/slides/slide3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342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청렴계약제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 err="1">
                <a:latin typeface="+mn-ea"/>
              </a:rPr>
              <a:t>청렴계약제</a:t>
            </a:r>
            <a:r>
              <a:rPr lang="ko-KR" altLang="en-US" dirty="0">
                <a:latin typeface="+mn-ea"/>
              </a:rPr>
              <a:t>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조달사전준비안내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/>
              <a:t>청렴계약제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MUI-CM-05-M08</a:t>
            </a: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47332"/>
          <a:stretch/>
        </p:blipFill>
        <p:spPr>
          <a:xfrm>
            <a:off x="675399" y="1493928"/>
            <a:ext cx="2712027" cy="4741410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6" name="그림 1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433839" y="1493927"/>
            <a:ext cx="1435816" cy="4766110"/>
          </a:xfrm>
          <a:prstGeom prst="rect">
            <a:avLst/>
          </a:prstGeom>
        </p:spPr>
      </p:pic>
      <p:sp>
        <p:nvSpPr>
          <p:cNvPr id="17" name="타원 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135352500"/>
      </p:ext>
    </p:extLst>
  </p:cSld>
  <p:clrMapOvr>
    <a:masterClrMapping/>
  </p:clrMapOvr>
</p:sld>
</file>

<file path=ppt/slides/slide3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343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국방조달참여절차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국내조달 </a:t>
            </a:r>
            <a:r>
              <a:rPr lang="ko-KR" altLang="en-US" dirty="0" err="1">
                <a:latin typeface="+mn-ea"/>
              </a:rPr>
              <a:t>참여절차</a:t>
            </a:r>
            <a:r>
              <a:rPr lang="ko-KR" altLang="en-US" dirty="0">
                <a:latin typeface="+mn-ea"/>
              </a:rPr>
              <a:t>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국내조달안내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국방조달참여절차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MUI-CM-05-M09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23" name="그림 22"/>
          <p:cNvPicPr>
            <a:picLocks noChangeAspect="1"/>
          </p:cNvPicPr>
          <p:nvPr/>
        </p:nvPicPr>
        <p:blipFill rotWithShape="1">
          <a:blip r:embed="rId2"/>
          <a:srcRect b="80601"/>
          <a:stretch/>
        </p:blipFill>
        <p:spPr>
          <a:xfrm>
            <a:off x="3795734" y="1493927"/>
            <a:ext cx="1281087" cy="4723993"/>
          </a:xfrm>
          <a:prstGeom prst="rect">
            <a:avLst/>
          </a:prstGeom>
        </p:spPr>
      </p:pic>
      <p:pic>
        <p:nvPicPr>
          <p:cNvPr id="7" name="그림 6"/>
          <p:cNvPicPr>
            <a:picLocks noChangeAspect="1"/>
          </p:cNvPicPr>
          <p:nvPr/>
        </p:nvPicPr>
        <p:blipFill rotWithShape="1">
          <a:blip r:embed="rId3"/>
          <a:srcRect b="24753"/>
          <a:stretch/>
        </p:blipFill>
        <p:spPr>
          <a:xfrm>
            <a:off x="675399" y="1493927"/>
            <a:ext cx="2712027" cy="4732702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pic>
        <p:nvPicPr>
          <p:cNvPr id="26" name="그림 25"/>
          <p:cNvPicPr>
            <a:picLocks noChangeAspect="1"/>
          </p:cNvPicPr>
          <p:nvPr/>
        </p:nvPicPr>
        <p:blipFill rotWithShape="1">
          <a:blip r:embed="rId2"/>
          <a:srcRect t="19435" b="60235"/>
          <a:stretch/>
        </p:blipFill>
        <p:spPr>
          <a:xfrm>
            <a:off x="5226674" y="1493928"/>
            <a:ext cx="1281087" cy="4950416"/>
          </a:xfrm>
          <a:prstGeom prst="rect">
            <a:avLst/>
          </a:prstGeom>
        </p:spPr>
      </p:pic>
      <p:sp>
        <p:nvSpPr>
          <p:cNvPr id="22" name="직사각형 2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07513105"/>
      </p:ext>
    </p:extLst>
  </p:cSld>
  <p:clrMapOvr>
    <a:masterClrMapping/>
  </p:clrMapOvr>
</p:sld>
</file>

<file path=ppt/slides/slide3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344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국내 </a:t>
            </a:r>
            <a:r>
              <a:rPr lang="en-US" altLang="ko-KR" dirty="0"/>
              <a:t>- </a:t>
            </a:r>
            <a:r>
              <a:rPr lang="ko-KR" altLang="en-US" dirty="0"/>
              <a:t>전자입찰절차</a:t>
            </a:r>
            <a:endParaRPr lang="ko-KR" altLang="en-US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국내조달 전자입찰절차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국내조달안내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전자입찰절차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MUI-CM-05-M010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84916"/>
          <a:stretch/>
        </p:blipFill>
        <p:spPr>
          <a:xfrm>
            <a:off x="675399" y="1493929"/>
            <a:ext cx="2712027" cy="4706574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5" name="그림 14"/>
          <p:cNvPicPr>
            <a:picLocks noChangeAspect="1"/>
          </p:cNvPicPr>
          <p:nvPr/>
        </p:nvPicPr>
        <p:blipFill rotWithShape="1">
          <a:blip r:embed="rId2"/>
          <a:srcRect b="64448"/>
          <a:stretch/>
        </p:blipFill>
        <p:spPr>
          <a:xfrm>
            <a:off x="3795734" y="1493928"/>
            <a:ext cx="1157008" cy="4732702"/>
          </a:xfrm>
          <a:prstGeom prst="rect">
            <a:avLst/>
          </a:prstGeom>
        </p:spPr>
      </p:pic>
      <p:pic>
        <p:nvPicPr>
          <p:cNvPr id="16" name="그림 15"/>
          <p:cNvPicPr>
            <a:picLocks noChangeAspect="1"/>
          </p:cNvPicPr>
          <p:nvPr/>
        </p:nvPicPr>
        <p:blipFill rotWithShape="1">
          <a:blip r:embed="rId2"/>
          <a:srcRect t="35486" b="27326"/>
          <a:stretch/>
        </p:blipFill>
        <p:spPr>
          <a:xfrm>
            <a:off x="5350753" y="1493928"/>
            <a:ext cx="1157008" cy="4950415"/>
          </a:xfrm>
          <a:prstGeom prst="rect">
            <a:avLst/>
          </a:prstGeom>
        </p:spPr>
      </p:pic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022755313"/>
      </p:ext>
    </p:extLst>
  </p:cSld>
  <p:clrMapOvr>
    <a:masterClrMapping/>
  </p:clrMapOvr>
</p:sld>
</file>

<file path=ppt/slides/slide3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345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전자대금청구절차</a:t>
            </a:r>
            <a:endParaRPr lang="ko-KR" altLang="en-US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국내조달 전자대금청구절차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국내조달안내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전자대금청구절차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MUI-CM-05-M11</a:t>
            </a: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t="1" b="66427"/>
          <a:stretch/>
        </p:blipFill>
        <p:spPr>
          <a:xfrm>
            <a:off x="675399" y="1493928"/>
            <a:ext cx="2717346" cy="4741410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15" name="그림 14"/>
          <p:cNvPicPr>
            <a:picLocks noChangeAspect="1"/>
          </p:cNvPicPr>
          <p:nvPr/>
        </p:nvPicPr>
        <p:blipFill rotWithShape="1">
          <a:blip r:embed="rId2"/>
          <a:srcRect b="26769"/>
          <a:stretch/>
        </p:blipFill>
        <p:spPr>
          <a:xfrm>
            <a:off x="3790415" y="1493927"/>
            <a:ext cx="1241197" cy="4723993"/>
          </a:xfrm>
          <a:prstGeom prst="rect">
            <a:avLst/>
          </a:prstGeom>
        </p:spPr>
      </p:pic>
      <p:pic>
        <p:nvPicPr>
          <p:cNvPr id="16" name="그림 15"/>
          <p:cNvPicPr>
            <a:picLocks noChangeAspect="1"/>
          </p:cNvPicPr>
          <p:nvPr/>
        </p:nvPicPr>
        <p:blipFill rotWithShape="1">
          <a:blip r:embed="rId2"/>
          <a:srcRect t="73096"/>
          <a:stretch/>
        </p:blipFill>
        <p:spPr>
          <a:xfrm>
            <a:off x="5266564" y="1493927"/>
            <a:ext cx="1241197" cy="1735490"/>
          </a:xfrm>
          <a:prstGeom prst="rect">
            <a:avLst/>
          </a:prstGeom>
        </p:spPr>
      </p:pic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496272065"/>
      </p:ext>
    </p:extLst>
  </p:cSld>
  <p:clrMapOvr>
    <a:masterClrMapping/>
  </p:clrMapOvr>
</p:sld>
</file>

<file path=ppt/slides/slide3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346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국외조달원</a:t>
            </a:r>
            <a:r>
              <a:rPr lang="ko-KR" altLang="en-US" dirty="0"/>
              <a:t> 등록절차</a:t>
            </a:r>
            <a:endParaRPr lang="ko-KR" altLang="en-US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 err="1">
                <a:solidFill>
                  <a:prstClr val="black"/>
                </a:solidFill>
                <a:latin typeface="맑은 고딕" panose="020B0503020000020004" pitchFamily="50" charset="-127"/>
              </a:rPr>
              <a:t>국외조달원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 등록절차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국외조달안내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/>
              <a:t>국외조달원</a:t>
            </a:r>
            <a:r>
              <a:rPr lang="ko-KR" altLang="en-US" dirty="0"/>
              <a:t> 등록절차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MUI-CM-05-M12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59751"/>
          <a:stretch/>
        </p:blipFill>
        <p:spPr>
          <a:xfrm>
            <a:off x="675399" y="1493927"/>
            <a:ext cx="2712027" cy="4723993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6" name="그림 15"/>
          <p:cNvPicPr>
            <a:picLocks noChangeAspect="1"/>
          </p:cNvPicPr>
          <p:nvPr/>
        </p:nvPicPr>
        <p:blipFill rotWithShape="1">
          <a:blip r:embed="rId2"/>
          <a:srcRect b="15799"/>
          <a:stretch/>
        </p:blipFill>
        <p:spPr>
          <a:xfrm>
            <a:off x="3795734" y="1493926"/>
            <a:ext cx="1301150" cy="4741411"/>
          </a:xfrm>
          <a:prstGeom prst="rect">
            <a:avLst/>
          </a:prstGeom>
        </p:spPr>
      </p:pic>
      <p:pic>
        <p:nvPicPr>
          <p:cNvPr id="17" name="그림 16"/>
          <p:cNvPicPr>
            <a:picLocks noChangeAspect="1"/>
          </p:cNvPicPr>
          <p:nvPr/>
        </p:nvPicPr>
        <p:blipFill rotWithShape="1">
          <a:blip r:embed="rId2"/>
          <a:srcRect t="84046"/>
          <a:stretch/>
        </p:blipFill>
        <p:spPr>
          <a:xfrm>
            <a:off x="5212677" y="1493926"/>
            <a:ext cx="1301150" cy="898384"/>
          </a:xfrm>
          <a:prstGeom prst="rect">
            <a:avLst/>
          </a:prstGeom>
        </p:spPr>
      </p:pic>
      <p:sp>
        <p:nvSpPr>
          <p:cNvPr id="15" name="직사각형 1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328916524"/>
      </p:ext>
    </p:extLst>
  </p:cSld>
  <p:clrMapOvr>
    <a:masterClrMapping/>
  </p:clrMapOvr>
</p:sld>
</file>

<file path=ppt/slides/slide3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347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국외조달원</a:t>
            </a:r>
            <a:r>
              <a:rPr lang="ko-KR" altLang="en-US" dirty="0"/>
              <a:t> 등록</a:t>
            </a:r>
            <a:r>
              <a:rPr lang="en-US" altLang="ko-KR" dirty="0"/>
              <a:t>/</a:t>
            </a:r>
            <a:r>
              <a:rPr lang="ko-KR" altLang="en-US" dirty="0" err="1"/>
              <a:t>변경안내</a:t>
            </a:r>
            <a:endParaRPr lang="ko-KR" altLang="en-US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 err="1">
                <a:latin typeface="+mn-ea"/>
              </a:rPr>
              <a:t>국외조달원</a:t>
            </a:r>
            <a:r>
              <a:rPr lang="ko-KR" altLang="en-US" dirty="0">
                <a:latin typeface="+mn-ea"/>
              </a:rPr>
              <a:t> 등록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 err="1">
                <a:latin typeface="+mn-ea"/>
              </a:rPr>
              <a:t>변경안내</a:t>
            </a:r>
            <a:r>
              <a:rPr lang="ko-KR" altLang="en-US" dirty="0">
                <a:latin typeface="+mn-ea"/>
              </a:rPr>
              <a:t>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국외조달안내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/>
              <a:t>국외조달원</a:t>
            </a:r>
            <a:r>
              <a:rPr lang="ko-KR" altLang="en-US" dirty="0"/>
              <a:t> 등록</a:t>
            </a:r>
            <a:r>
              <a:rPr lang="en-US" altLang="ko-KR" dirty="0"/>
              <a:t>/</a:t>
            </a:r>
            <a:r>
              <a:rPr lang="ko-KR" altLang="en-US" dirty="0" err="1"/>
              <a:t>변경안내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MUI-CM-05-M13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86369"/>
          <a:stretch/>
        </p:blipFill>
        <p:spPr>
          <a:xfrm>
            <a:off x="675399" y="1493928"/>
            <a:ext cx="2712027" cy="4732702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6" name="그림 15"/>
          <p:cNvPicPr>
            <a:picLocks noChangeAspect="1"/>
          </p:cNvPicPr>
          <p:nvPr/>
        </p:nvPicPr>
        <p:blipFill rotWithShape="1">
          <a:blip r:embed="rId2"/>
          <a:srcRect b="71977"/>
          <a:stretch/>
        </p:blipFill>
        <p:spPr>
          <a:xfrm>
            <a:off x="3795735" y="1493927"/>
            <a:ext cx="1311846" cy="4706576"/>
          </a:xfrm>
          <a:prstGeom prst="rect">
            <a:avLst/>
          </a:prstGeom>
        </p:spPr>
      </p:pic>
      <p:pic>
        <p:nvPicPr>
          <p:cNvPr id="17" name="그림 16"/>
          <p:cNvPicPr>
            <a:picLocks noChangeAspect="1"/>
          </p:cNvPicPr>
          <p:nvPr/>
        </p:nvPicPr>
        <p:blipFill rotWithShape="1">
          <a:blip r:embed="rId2"/>
          <a:srcRect t="28127" b="42347"/>
          <a:stretch/>
        </p:blipFill>
        <p:spPr>
          <a:xfrm>
            <a:off x="5195915" y="1493928"/>
            <a:ext cx="1311846" cy="4959124"/>
          </a:xfrm>
          <a:prstGeom prst="rect">
            <a:avLst/>
          </a:prstGeom>
        </p:spPr>
      </p:pic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877668449"/>
      </p:ext>
    </p:extLst>
  </p:cSld>
  <p:clrMapOvr>
    <a:masterClrMapping/>
  </p:clrMapOvr>
</p:sld>
</file>

<file path=ppt/slides/slide3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348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국외 </a:t>
            </a:r>
            <a:r>
              <a:rPr lang="en-US" altLang="ko-KR" dirty="0"/>
              <a:t>- </a:t>
            </a:r>
            <a:r>
              <a:rPr lang="ko-KR" altLang="en-US" dirty="0"/>
              <a:t>전자입찰절차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 err="1">
                <a:latin typeface="+mn-ea"/>
              </a:rPr>
              <a:t>국외조달</a:t>
            </a:r>
            <a:r>
              <a:rPr lang="ko-KR" altLang="en-US" dirty="0">
                <a:latin typeface="+mn-ea"/>
              </a:rPr>
              <a:t> 전자입찰절차 정보를 안내한다 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국외조달안내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전자입찰절차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MUI-CM-05-M14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17079"/>
          <a:stretch/>
        </p:blipFill>
        <p:spPr>
          <a:xfrm>
            <a:off x="675399" y="1493927"/>
            <a:ext cx="2712028" cy="4723993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5" name="그림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795733" y="1493927"/>
            <a:ext cx="1161094" cy="4723993"/>
          </a:xfrm>
          <a:prstGeom prst="rect">
            <a:avLst/>
          </a:prstGeom>
        </p:spPr>
      </p:pic>
      <p:pic>
        <p:nvPicPr>
          <p:cNvPr id="6" name="그림 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291562" y="1496757"/>
            <a:ext cx="1216199" cy="4399165"/>
          </a:xfrm>
          <a:prstGeom prst="rect">
            <a:avLst/>
          </a:prstGeom>
        </p:spPr>
      </p:pic>
      <p:sp>
        <p:nvSpPr>
          <p:cNvPr id="17" name="타원 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19935417"/>
      </p:ext>
    </p:extLst>
  </p:cSld>
  <p:clrMapOvr>
    <a:masterClrMapping/>
  </p:clrMapOvr>
</p:sld>
</file>

<file path=ppt/slides/slide3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349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관련사이트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관련사이트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관련사이트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MUI-CM-05-M15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28789"/>
          <a:stretch/>
        </p:blipFill>
        <p:spPr>
          <a:xfrm>
            <a:off x="675399" y="1493927"/>
            <a:ext cx="2712027" cy="4967833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pic>
        <p:nvPicPr>
          <p:cNvPr id="5" name="그림 4"/>
          <p:cNvPicPr>
            <a:picLocks noChangeAspect="1"/>
          </p:cNvPicPr>
          <p:nvPr/>
        </p:nvPicPr>
        <p:blipFill rotWithShape="1">
          <a:blip r:embed="rId3"/>
          <a:srcRect b="75403"/>
          <a:stretch/>
        </p:blipFill>
        <p:spPr>
          <a:xfrm>
            <a:off x="3805204" y="1493928"/>
            <a:ext cx="1230093" cy="4732702"/>
          </a:xfrm>
          <a:prstGeom prst="rect">
            <a:avLst/>
          </a:prstGeom>
        </p:spPr>
      </p:pic>
      <p:pic>
        <p:nvPicPr>
          <p:cNvPr id="17" name="그림 16"/>
          <p:cNvPicPr>
            <a:picLocks noChangeAspect="1"/>
          </p:cNvPicPr>
          <p:nvPr/>
        </p:nvPicPr>
        <p:blipFill rotWithShape="1">
          <a:blip r:embed="rId3"/>
          <a:srcRect t="24552" b="49629"/>
          <a:stretch/>
        </p:blipFill>
        <p:spPr>
          <a:xfrm>
            <a:off x="5277668" y="1493929"/>
            <a:ext cx="1230093" cy="4967832"/>
          </a:xfrm>
          <a:prstGeom prst="rect">
            <a:avLst/>
          </a:prstGeom>
        </p:spPr>
      </p:pic>
      <p:sp>
        <p:nvSpPr>
          <p:cNvPr id="16" name="직사각형 1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70823945"/>
      </p:ext>
    </p:extLst>
  </p:cSld>
  <p:clrMapOvr>
    <a:masterClrMapping/>
  </p:clrMapOvr>
</p:sld>
</file>

<file path=ppt/slides/slide3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350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</p:spPr>
        <p:txBody>
          <a:bodyPr anchor="t"/>
          <a:lstStyle/>
          <a:p>
            <a:r>
              <a:rPr lang="en-US" altLang="ko-KR" dirty="0" smtClean="0"/>
              <a:t>7. </a:t>
            </a:r>
            <a:r>
              <a:rPr lang="ko-KR" altLang="en-US" dirty="0" smtClean="0"/>
              <a:t>앱 설정</a:t>
            </a:r>
            <a:endParaRPr lang="en-US" altLang="ko-KR" dirty="0" smtClean="0"/>
          </a:p>
          <a:p>
            <a:r>
              <a:rPr lang="en-US" altLang="ko-KR" dirty="0" smtClean="0"/>
              <a:t>7.1 </a:t>
            </a:r>
            <a:r>
              <a:rPr lang="ko-KR" altLang="en-US" dirty="0" smtClean="0"/>
              <a:t>화면 목록</a:t>
            </a:r>
            <a:endParaRPr lang="ko-KR" altLang="en-US" dirty="0"/>
          </a:p>
        </p:txBody>
      </p:sp>
      <p:graphicFrame>
        <p:nvGraphicFramePr>
          <p:cNvPr id="8" name="표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08089385"/>
              </p:ext>
            </p:extLst>
          </p:nvPr>
        </p:nvGraphicFramePr>
        <p:xfrm>
          <a:off x="635474" y="1574093"/>
          <a:ext cx="8749092" cy="897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308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530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44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60035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9645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7579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46764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웹페이지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676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MUI-MS-02-M01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</a:rPr>
                        <a:t>설정</a:t>
                      </a:r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AppStng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앱 설정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ms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</a:t>
                      </a:r>
                      <a:r>
                        <a:rPr lang="en-US" altLang="ko-KR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ppStng</a:t>
                      </a: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AppStngPage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MUI-MS-02-P02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</a:rPr>
                        <a:t>앱 캐시 삭제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AppCashDel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앱 캐시 정보를 삭제한다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ms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</a:t>
                      </a:r>
                      <a:r>
                        <a:rPr lang="en-US" altLang="ko-KR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ppStng</a:t>
                      </a: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AppCashDel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7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799098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MUI-MS-02-P03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 smtClean="0">
                          <a:solidFill>
                            <a:schemeClr val="tx1"/>
                          </a:solidFill>
                        </a:rPr>
                        <a:t>모바일앱서비스 안내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AppSrvc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모바일 웹에서 로그인 서비스를 </a:t>
                      </a:r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사용하려할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때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모바일 앱을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ms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</a:t>
                      </a:r>
                      <a:r>
                        <a:rPr lang="en-US" altLang="ko-KR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ppStng</a:t>
                      </a:r>
                      <a:r>
                        <a:rPr lang="en-US" altLang="ko-KR" sz="8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AppSrvc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7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3635983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6BCDFFF8-E699-5B49-38BC-CBE31E92DF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146637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9888992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/>
    </mc:Choice>
    <mc:Fallback xmlns="" xmlns:c="http://schemas.openxmlformats.org/drawingml/2006/chart" xmlns:dgm="http://schemas.openxmlformats.org/drawingml/2006/diagram" xmlns:dsp="http://schemas.microsoft.com/office/drawing/2008/diagram">
      <p:transition/>
    </mc:Fallback>
  </mc:AlternateContent>
</p:sld>
</file>

<file path=ppt/slides/slide3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351</a:t>
            </a:fld>
            <a:endParaRPr lang="ko-KR" altLang="en-US" dirty="0"/>
          </a:p>
        </p:txBody>
      </p:sp>
      <p:sp>
        <p:nvSpPr>
          <p:cNvPr id="152" name="텍스트 개체 틀 2">
            <a:extLst>
              <a:ext uri="{FF2B5EF4-FFF2-40B4-BE49-F238E27FC236}">
                <a16:creationId xmlns:a16="http://schemas.microsoft.com/office/drawing/2014/main" id="{2A43B398-1F7B-131F-A0D8-AEA5D69709C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</p:spPr>
        <p:txBody>
          <a:bodyPr/>
          <a:lstStyle/>
          <a:p>
            <a:r>
              <a:rPr lang="en-US" altLang="ko-KR" dirty="0"/>
              <a:t>7.2. </a:t>
            </a:r>
            <a:r>
              <a:rPr lang="ko-KR" altLang="en-US" dirty="0"/>
              <a:t>화면 흐름도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2C7FD98A-881C-6F37-BA08-19801A94DD6D}"/>
              </a:ext>
            </a:extLst>
          </p:cNvPr>
          <p:cNvSpPr/>
          <p:nvPr/>
        </p:nvSpPr>
        <p:spPr>
          <a:xfrm>
            <a:off x="1172656" y="1581494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b="1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311F177D-FEE3-BEB4-F7D3-295E52612890}"/>
              </a:ext>
            </a:extLst>
          </p:cNvPr>
          <p:cNvSpPr/>
          <p:nvPr/>
        </p:nvSpPr>
        <p:spPr>
          <a:xfrm>
            <a:off x="2366608" y="1722198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설정</a:t>
            </a: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6978CD2B-1BB9-BD9C-1ECE-98361D08ADB9}"/>
              </a:ext>
            </a:extLst>
          </p:cNvPr>
          <p:cNvGrpSpPr/>
          <p:nvPr/>
        </p:nvGrpSpPr>
        <p:grpSpPr>
          <a:xfrm>
            <a:off x="1022376" y="1776198"/>
            <a:ext cx="448641" cy="180000"/>
            <a:chOff x="4520608" y="1663914"/>
            <a:chExt cx="448641" cy="180000"/>
          </a:xfrm>
        </p:grpSpPr>
        <p:sp>
          <p:nvSpPr>
            <p:cNvPr id="5" name="타원 4">
              <a:extLst>
                <a:ext uri="{FF2B5EF4-FFF2-40B4-BE49-F238E27FC236}">
                  <a16:creationId xmlns:a16="http://schemas.microsoft.com/office/drawing/2014/main" id="{09D3D24C-C346-627F-6657-2F6131A6BE42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4996C471-E44F-C5C9-F26F-9A9662EC602C}"/>
                </a:ext>
              </a:extLst>
            </p:cNvPr>
            <p:cNvSpPr/>
            <p:nvPr/>
          </p:nvSpPr>
          <p:spPr>
            <a:xfrm>
              <a:off x="4520608" y="1714380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9E336770-3307-E038-1843-D3E94EEE0172}"/>
              </a:ext>
            </a:extLst>
          </p:cNvPr>
          <p:cNvGrpSpPr/>
          <p:nvPr/>
        </p:nvGrpSpPr>
        <p:grpSpPr>
          <a:xfrm>
            <a:off x="7863972" y="2664163"/>
            <a:ext cx="237994" cy="339111"/>
            <a:chOff x="565604" y="5691736"/>
            <a:chExt cx="237994" cy="339111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34019EDD-4322-2651-BC19-3D7C8083D355}"/>
                </a:ext>
              </a:extLst>
            </p:cNvPr>
            <p:cNvSpPr/>
            <p:nvPr/>
          </p:nvSpPr>
          <p:spPr>
            <a:xfrm>
              <a:off x="565604" y="590773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끝</a:t>
              </a:r>
            </a:p>
          </p:txBody>
        </p:sp>
        <p:grpSp>
          <p:nvGrpSpPr>
            <p:cNvPr id="14" name="그룹 13">
              <a:extLst>
                <a:ext uri="{FF2B5EF4-FFF2-40B4-BE49-F238E27FC236}">
                  <a16:creationId xmlns:a16="http://schemas.microsoft.com/office/drawing/2014/main" id="{304C0B0F-7275-1964-CD84-22454585E4D5}"/>
                </a:ext>
              </a:extLst>
            </p:cNvPr>
            <p:cNvGrpSpPr/>
            <p:nvPr/>
          </p:nvGrpSpPr>
          <p:grpSpPr>
            <a:xfrm>
              <a:off x="594601" y="5691736"/>
              <a:ext cx="180000" cy="180000"/>
              <a:chOff x="5058274" y="2498299"/>
              <a:chExt cx="180000" cy="180000"/>
            </a:xfrm>
          </p:grpSpPr>
          <p:sp>
            <p:nvSpPr>
              <p:cNvPr id="19" name="타원 18">
                <a:extLst>
                  <a:ext uri="{FF2B5EF4-FFF2-40B4-BE49-F238E27FC236}">
                    <a16:creationId xmlns:a16="http://schemas.microsoft.com/office/drawing/2014/main" id="{E9B5D9EB-9463-896B-12A2-37CBFEB67E81}"/>
                  </a:ext>
                </a:extLst>
              </p:cNvPr>
              <p:cNvSpPr/>
              <p:nvPr/>
            </p:nvSpPr>
            <p:spPr>
              <a:xfrm>
                <a:off x="5058274" y="2498299"/>
                <a:ext cx="180000" cy="180000"/>
              </a:xfrm>
              <a:prstGeom prst="ellipse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" name="타원 28">
                <a:extLst>
                  <a:ext uri="{FF2B5EF4-FFF2-40B4-BE49-F238E27FC236}">
                    <a16:creationId xmlns:a16="http://schemas.microsoft.com/office/drawing/2014/main" id="{5035D845-DB68-ACE3-6F03-D835D7B8D78D}"/>
                  </a:ext>
                </a:extLst>
              </p:cNvPr>
              <p:cNvSpPr/>
              <p:nvPr/>
            </p:nvSpPr>
            <p:spPr>
              <a:xfrm>
                <a:off x="5094274" y="2534299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cxnSp>
        <p:nvCxnSpPr>
          <p:cNvPr id="33" name="직선 화살표 연결선 32">
            <a:extLst>
              <a:ext uri="{FF2B5EF4-FFF2-40B4-BE49-F238E27FC236}">
                <a16:creationId xmlns:a16="http://schemas.microsoft.com/office/drawing/2014/main" id="{A2217EA9-E206-27C6-6227-E336F5A0DFB7}"/>
              </a:ext>
            </a:extLst>
          </p:cNvPr>
          <p:cNvCxnSpPr>
            <a:cxnSpLocks/>
            <a:stCxn id="5" idx="6"/>
            <a:endCxn id="3" idx="1"/>
          </p:cNvCxnSpPr>
          <p:nvPr/>
        </p:nvCxnSpPr>
        <p:spPr>
          <a:xfrm>
            <a:off x="1471017" y="1866198"/>
            <a:ext cx="895591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98DB5003-88A6-609C-ADAE-D7A05C24EDFC}"/>
              </a:ext>
            </a:extLst>
          </p:cNvPr>
          <p:cNvSpPr/>
          <p:nvPr/>
        </p:nvSpPr>
        <p:spPr>
          <a:xfrm>
            <a:off x="5132838" y="2241332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 캐시 삭제</a:t>
            </a: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478E964E-71D4-0A4A-6B62-9B3E9D98F58D}"/>
              </a:ext>
            </a:extLst>
          </p:cNvPr>
          <p:cNvSpPr/>
          <p:nvPr/>
        </p:nvSpPr>
        <p:spPr>
          <a:xfrm>
            <a:off x="2366608" y="3294411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모바일앱서비스 안내</a:t>
            </a:r>
          </a:p>
        </p:txBody>
      </p: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9AEEDFB4-914D-EC9C-7C39-0AC873E02BC6}"/>
              </a:ext>
            </a:extLst>
          </p:cNvPr>
          <p:cNvSpPr/>
          <p:nvPr/>
        </p:nvSpPr>
        <p:spPr>
          <a:xfrm>
            <a:off x="5132838" y="1717261"/>
            <a:ext cx="142156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디바이스 </a:t>
            </a:r>
            <a:r>
              <a:rPr lang="en-US" altLang="ko-KR" sz="800" dirty="0" smtClean="0">
                <a:solidFill>
                  <a:schemeClr val="tx1"/>
                </a:solidFill>
              </a:rPr>
              <a:t>–</a:t>
            </a:r>
            <a:r>
              <a:rPr lang="ko-KR" altLang="en-US" sz="800" dirty="0" smtClean="0">
                <a:solidFill>
                  <a:schemeClr val="tx1"/>
                </a:solidFill>
              </a:rPr>
              <a:t> 앱 권한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82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" idx="3"/>
            <a:endCxn id="34" idx="1"/>
          </p:cNvCxnSpPr>
          <p:nvPr/>
        </p:nvCxnSpPr>
        <p:spPr>
          <a:xfrm>
            <a:off x="3788168" y="1866198"/>
            <a:ext cx="1344670" cy="519134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2C7FD98A-881C-6F37-BA08-19801A94DD6D}"/>
              </a:ext>
            </a:extLst>
          </p:cNvPr>
          <p:cNvSpPr/>
          <p:nvPr/>
        </p:nvSpPr>
        <p:spPr>
          <a:xfrm>
            <a:off x="1022376" y="3149934"/>
            <a:ext cx="755015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b="1" dirty="0" err="1">
                <a:solidFill>
                  <a:schemeClr val="tx1"/>
                </a:solidFill>
              </a:rPr>
              <a:t>모바일웹</a:t>
            </a:r>
            <a:r>
              <a:rPr lang="ko-KR" altLang="en-US" sz="800" b="1" dirty="0">
                <a:solidFill>
                  <a:schemeClr val="tx1"/>
                </a:solidFill>
              </a:rPr>
              <a:t> 사용자</a:t>
            </a:r>
          </a:p>
        </p:txBody>
      </p:sp>
      <p:grpSp>
        <p:nvGrpSpPr>
          <p:cNvPr id="48" name="그룹 47">
            <a:extLst>
              <a:ext uri="{FF2B5EF4-FFF2-40B4-BE49-F238E27FC236}">
                <a16:creationId xmlns:a16="http://schemas.microsoft.com/office/drawing/2014/main" id="{6978CD2B-1BB9-BD9C-1ECE-98361D08ADB9}"/>
              </a:ext>
            </a:extLst>
          </p:cNvPr>
          <p:cNvGrpSpPr/>
          <p:nvPr/>
        </p:nvGrpSpPr>
        <p:grpSpPr>
          <a:xfrm>
            <a:off x="1022376" y="3348411"/>
            <a:ext cx="448641" cy="180000"/>
            <a:chOff x="4520608" y="1663914"/>
            <a:chExt cx="448641" cy="180000"/>
          </a:xfrm>
        </p:grpSpPr>
        <p:sp>
          <p:nvSpPr>
            <p:cNvPr id="49" name="타원 48">
              <a:extLst>
                <a:ext uri="{FF2B5EF4-FFF2-40B4-BE49-F238E27FC236}">
                  <a16:creationId xmlns:a16="http://schemas.microsoft.com/office/drawing/2014/main" id="{09D3D24C-C346-627F-6657-2F6131A6BE42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0" name="직사각형 49">
              <a:extLst>
                <a:ext uri="{FF2B5EF4-FFF2-40B4-BE49-F238E27FC236}">
                  <a16:creationId xmlns:a16="http://schemas.microsoft.com/office/drawing/2014/main" id="{4996C471-E44F-C5C9-F26F-9A9662EC602C}"/>
                </a:ext>
              </a:extLst>
            </p:cNvPr>
            <p:cNvSpPr/>
            <p:nvPr/>
          </p:nvSpPr>
          <p:spPr>
            <a:xfrm>
              <a:off x="4520608" y="1714380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51" name="직선 화살표 연결선 50">
            <a:extLst>
              <a:ext uri="{FF2B5EF4-FFF2-40B4-BE49-F238E27FC236}">
                <a16:creationId xmlns:a16="http://schemas.microsoft.com/office/drawing/2014/main" id="{A2217EA9-E206-27C6-6227-E336F5A0DFB7}"/>
              </a:ext>
            </a:extLst>
          </p:cNvPr>
          <p:cNvCxnSpPr>
            <a:cxnSpLocks/>
            <a:stCxn id="49" idx="6"/>
            <a:endCxn id="37" idx="1"/>
          </p:cNvCxnSpPr>
          <p:nvPr/>
        </p:nvCxnSpPr>
        <p:spPr>
          <a:xfrm>
            <a:off x="1471017" y="3438411"/>
            <a:ext cx="895591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직선 화살표 연결선 55">
            <a:extLst>
              <a:ext uri="{FF2B5EF4-FFF2-40B4-BE49-F238E27FC236}">
                <a16:creationId xmlns:a16="http://schemas.microsoft.com/office/drawing/2014/main" id="{A2217EA9-E206-27C6-6227-E336F5A0DFB7}"/>
              </a:ext>
            </a:extLst>
          </p:cNvPr>
          <p:cNvCxnSpPr>
            <a:cxnSpLocks/>
            <a:stCxn id="3" idx="3"/>
            <a:endCxn id="60" idx="1"/>
          </p:cNvCxnSpPr>
          <p:nvPr/>
        </p:nvCxnSpPr>
        <p:spPr>
          <a:xfrm flipV="1">
            <a:off x="3788168" y="1861261"/>
            <a:ext cx="1344670" cy="4937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사각형: 둥근 모서리 33">
            <a:extLst>
              <a:ext uri="{FF2B5EF4-FFF2-40B4-BE49-F238E27FC236}">
                <a16:creationId xmlns:a16="http://schemas.microsoft.com/office/drawing/2014/main" id="{98DB5003-88A6-609C-ADAE-D7A05C24EDFC}"/>
              </a:ext>
            </a:extLst>
          </p:cNvPr>
          <p:cNvSpPr/>
          <p:nvPr/>
        </p:nvSpPr>
        <p:spPr>
          <a:xfrm>
            <a:off x="5132838" y="3294411"/>
            <a:ext cx="142156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앱 연결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63" name="사각형: 둥근 모서리 33">
            <a:extLst>
              <a:ext uri="{FF2B5EF4-FFF2-40B4-BE49-F238E27FC236}">
                <a16:creationId xmlns:a16="http://schemas.microsoft.com/office/drawing/2014/main" id="{98DB5003-88A6-609C-ADAE-D7A05C24EDFC}"/>
              </a:ext>
            </a:extLst>
          </p:cNvPr>
          <p:cNvSpPr/>
          <p:nvPr/>
        </p:nvSpPr>
        <p:spPr>
          <a:xfrm>
            <a:off x="5132838" y="3808173"/>
            <a:ext cx="142156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앱스토어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64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7" idx="3"/>
            <a:endCxn id="63" idx="1"/>
          </p:cNvCxnSpPr>
          <p:nvPr/>
        </p:nvCxnSpPr>
        <p:spPr>
          <a:xfrm>
            <a:off x="3788168" y="3438411"/>
            <a:ext cx="1344670" cy="513762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직선 화살표 연결선 64">
            <a:extLst>
              <a:ext uri="{FF2B5EF4-FFF2-40B4-BE49-F238E27FC236}">
                <a16:creationId xmlns:a16="http://schemas.microsoft.com/office/drawing/2014/main" id="{A2217EA9-E206-27C6-6227-E336F5A0DFB7}"/>
              </a:ext>
            </a:extLst>
          </p:cNvPr>
          <p:cNvCxnSpPr>
            <a:cxnSpLocks/>
            <a:stCxn id="37" idx="3"/>
            <a:endCxn id="62" idx="1"/>
          </p:cNvCxnSpPr>
          <p:nvPr/>
        </p:nvCxnSpPr>
        <p:spPr>
          <a:xfrm>
            <a:off x="3788168" y="3438411"/>
            <a:ext cx="1344670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60" idx="3"/>
            <a:endCxn id="19" idx="2"/>
          </p:cNvCxnSpPr>
          <p:nvPr/>
        </p:nvCxnSpPr>
        <p:spPr>
          <a:xfrm>
            <a:off x="6554398" y="1861261"/>
            <a:ext cx="1338571" cy="892902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4" idx="3"/>
            <a:endCxn id="19" idx="2"/>
          </p:cNvCxnSpPr>
          <p:nvPr/>
        </p:nvCxnSpPr>
        <p:spPr>
          <a:xfrm>
            <a:off x="6554398" y="2385332"/>
            <a:ext cx="1338571" cy="368831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62" idx="3"/>
            <a:endCxn id="19" idx="2"/>
          </p:cNvCxnSpPr>
          <p:nvPr/>
        </p:nvCxnSpPr>
        <p:spPr>
          <a:xfrm flipV="1">
            <a:off x="6554398" y="2754163"/>
            <a:ext cx="1338571" cy="684248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63" idx="3"/>
            <a:endCxn id="19" idx="2"/>
          </p:cNvCxnSpPr>
          <p:nvPr/>
        </p:nvCxnSpPr>
        <p:spPr>
          <a:xfrm flipV="1">
            <a:off x="6554398" y="2754163"/>
            <a:ext cx="1338571" cy="1198010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82838823"/>
      </p:ext>
    </p:extLst>
  </p:cSld>
  <p:clrMapOvr>
    <a:masterClrMapping/>
  </p:clrMapOvr>
</p:sld>
</file>

<file path=ppt/slides/slide3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352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7.3 </a:t>
            </a:r>
            <a:r>
              <a:rPr lang="ko-KR" altLang="en-US" dirty="0" smtClean="0"/>
              <a:t>앱 구성 다이어그램</a:t>
            </a:r>
            <a:endParaRPr lang="ko-KR" altLang="en-US" dirty="0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2F128619-663F-4D19-19E9-1E6F38EFDDF3}"/>
              </a:ext>
            </a:extLst>
          </p:cNvPr>
          <p:cNvSpPr/>
          <p:nvPr/>
        </p:nvSpPr>
        <p:spPr>
          <a:xfrm>
            <a:off x="6284628" y="1007533"/>
            <a:ext cx="2743200" cy="5181316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B1CB2831-A480-99BB-B1E6-806F67233A32}"/>
              </a:ext>
            </a:extLst>
          </p:cNvPr>
          <p:cNvSpPr/>
          <p:nvPr/>
        </p:nvSpPr>
        <p:spPr>
          <a:xfrm>
            <a:off x="389467" y="1007533"/>
            <a:ext cx="5705815" cy="518131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5211F437-2CBB-D7A8-65D2-70363026244A}"/>
              </a:ext>
            </a:extLst>
          </p:cNvPr>
          <p:cNvSpPr/>
          <p:nvPr/>
        </p:nvSpPr>
        <p:spPr>
          <a:xfrm>
            <a:off x="578095" y="1802607"/>
            <a:ext cx="1822590" cy="49338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100" dirty="0"/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설정</a:t>
            </a:r>
            <a:endParaRPr lang="en-US" altLang="ko-KR" sz="1100" dirty="0"/>
          </a:p>
          <a:p>
            <a:pPr algn="ctr"/>
            <a:r>
              <a:rPr lang="en-US" altLang="ko-KR" sz="1100" dirty="0" err="1">
                <a:solidFill>
                  <a:srgbClr val="000000"/>
                </a:solidFill>
                <a:latin typeface="Calibri" panose="020F0502020204030204" pitchFamily="34" charset="0"/>
              </a:rPr>
              <a:t>AppStngPage</a:t>
            </a:r>
            <a:r>
              <a:rPr lang="en-US" altLang="ko-KR" sz="1100" dirty="0" err="1" smtClean="0"/>
              <a:t>.tsx</a:t>
            </a:r>
            <a:r>
              <a:rPr lang="en-US" altLang="ko-KR" sz="1100" b="1" baseline="30000" dirty="0" smtClean="0">
                <a:latin typeface="+mn-ea"/>
              </a:rPr>
              <a:t> </a:t>
            </a:r>
            <a:r>
              <a:rPr lang="en-US" altLang="ko-KR" sz="1100" b="1" baseline="30000" dirty="0">
                <a:latin typeface="+mn-ea"/>
              </a:rPr>
              <a:t>1)</a:t>
            </a:r>
            <a:endParaRPr lang="en-US" altLang="ko-KR" sz="1100" dirty="0"/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DF474B58-0035-035C-62CD-92C77B7639B8}"/>
              </a:ext>
            </a:extLst>
          </p:cNvPr>
          <p:cNvSpPr/>
          <p:nvPr/>
        </p:nvSpPr>
        <p:spPr>
          <a:xfrm>
            <a:off x="578095" y="2404804"/>
            <a:ext cx="1822590" cy="529907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/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앱 캐시 삭제</a:t>
            </a:r>
            <a:endParaRPr lang="en-US" altLang="ko-KR" sz="1100" dirty="0"/>
          </a:p>
          <a:p>
            <a:pPr algn="ctr"/>
            <a:r>
              <a:rPr lang="en-US" altLang="ko-KR" sz="1100" dirty="0" err="1">
                <a:solidFill>
                  <a:srgbClr val="000000"/>
                </a:solidFill>
                <a:latin typeface="Calibri" panose="020F0502020204030204" pitchFamily="34" charset="0"/>
              </a:rPr>
              <a:t>AppCashDel</a:t>
            </a:r>
            <a:r>
              <a:rPr lang="en-US" altLang="ko-KR" sz="1100" dirty="0" err="1" smtClean="0"/>
              <a:t>.tsx</a:t>
            </a:r>
            <a:r>
              <a:rPr lang="en-US" altLang="ko-KR" sz="1100" b="1" baseline="30000" dirty="0" smtClean="0">
                <a:latin typeface="+mn-ea"/>
              </a:rPr>
              <a:t> </a:t>
            </a:r>
            <a:r>
              <a:rPr lang="en-US" altLang="ko-KR" sz="1100" b="1" baseline="30000" dirty="0">
                <a:latin typeface="+mn-ea"/>
              </a:rPr>
              <a:t>1)</a:t>
            </a:r>
            <a:endParaRPr lang="en-US" altLang="ko-KR" sz="1100" dirty="0"/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7B9F658-66B3-FEBD-9F60-D810061D912D}"/>
              </a:ext>
            </a:extLst>
          </p:cNvPr>
          <p:cNvSpPr/>
          <p:nvPr/>
        </p:nvSpPr>
        <p:spPr>
          <a:xfrm>
            <a:off x="587331" y="3006722"/>
            <a:ext cx="1822590" cy="518665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/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모바일앱서비스 안내</a:t>
            </a:r>
            <a:endParaRPr lang="en-US" altLang="ko-KR" sz="1100" dirty="0"/>
          </a:p>
          <a:p>
            <a:pPr algn="ctr"/>
            <a:r>
              <a:rPr lang="en-US" altLang="ko-KR" sz="1100" dirty="0" err="1">
                <a:solidFill>
                  <a:srgbClr val="000000"/>
                </a:solidFill>
                <a:latin typeface="Calibri" panose="020F0502020204030204" pitchFamily="34" charset="0"/>
              </a:rPr>
              <a:t>AppSrvc</a:t>
            </a:r>
            <a:r>
              <a:rPr lang="en-US" altLang="ko-KR" sz="1100" dirty="0" err="1" smtClean="0"/>
              <a:t>.tsx</a:t>
            </a:r>
            <a:r>
              <a:rPr lang="en-US" altLang="ko-KR" sz="1100" b="1" baseline="30000" dirty="0" smtClean="0">
                <a:latin typeface="+mn-ea"/>
              </a:rPr>
              <a:t> </a:t>
            </a:r>
            <a:r>
              <a:rPr lang="en-US" altLang="ko-KR" sz="1100" b="1" baseline="30000" dirty="0">
                <a:latin typeface="+mn-ea"/>
              </a:rPr>
              <a:t>1)</a:t>
            </a:r>
            <a:endParaRPr lang="en-US" altLang="ko-KR" sz="1100" dirty="0"/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E8DE43AF-719F-86AA-AB05-891628BC6BC6}"/>
              </a:ext>
            </a:extLst>
          </p:cNvPr>
          <p:cNvSpPr/>
          <p:nvPr/>
        </p:nvSpPr>
        <p:spPr>
          <a:xfrm>
            <a:off x="6931173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&lt;&lt;Controller&gt;&gt;</a:t>
            </a:r>
          </a:p>
          <a:p>
            <a:pPr algn="ctr"/>
            <a:r>
              <a:rPr lang="ko-KR" altLang="en-US" sz="1100" dirty="0" smtClean="0"/>
              <a:t>앱 설정 </a:t>
            </a:r>
            <a:r>
              <a:rPr lang="en-US" altLang="ko-KR" sz="1100" dirty="0"/>
              <a:t>Controller</a:t>
            </a:r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C223C0E5-3E8B-2275-E6D7-80AE7BF512A5}"/>
              </a:ext>
            </a:extLst>
          </p:cNvPr>
          <p:cNvCxnSpPr>
            <a:cxnSpLocks/>
            <a:stCxn id="6" idx="3"/>
            <a:endCxn id="39" idx="1"/>
          </p:cNvCxnSpPr>
          <p:nvPr/>
        </p:nvCxnSpPr>
        <p:spPr>
          <a:xfrm>
            <a:off x="2400685" y="2049302"/>
            <a:ext cx="1559406" cy="94087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59541914-3C9F-A030-94F4-E40F62763473}"/>
              </a:ext>
            </a:extLst>
          </p:cNvPr>
          <p:cNvCxnSpPr>
            <a:cxnSpLocks/>
            <a:stCxn id="7" idx="3"/>
            <a:endCxn id="39" idx="1"/>
          </p:cNvCxnSpPr>
          <p:nvPr/>
        </p:nvCxnSpPr>
        <p:spPr>
          <a:xfrm>
            <a:off x="2400685" y="2669758"/>
            <a:ext cx="1559406" cy="32041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" name="직선 화살표 연결선 14">
            <a:extLst>
              <a:ext uri="{FF2B5EF4-FFF2-40B4-BE49-F238E27FC236}">
                <a16:creationId xmlns:a16="http://schemas.microsoft.com/office/drawing/2014/main" id="{09C6E581-C0D7-85C0-7C1C-40297C3C3FF1}"/>
              </a:ext>
            </a:extLst>
          </p:cNvPr>
          <p:cNvCxnSpPr>
            <a:cxnSpLocks/>
            <a:stCxn id="8" idx="3"/>
            <a:endCxn id="39" idx="1"/>
          </p:cNvCxnSpPr>
          <p:nvPr/>
        </p:nvCxnSpPr>
        <p:spPr>
          <a:xfrm flipV="1">
            <a:off x="2409921" y="2990174"/>
            <a:ext cx="1550170" cy="27588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89CE44EE-C554-DA5F-044C-D26D10995146}"/>
              </a:ext>
            </a:extLst>
          </p:cNvPr>
          <p:cNvCxnSpPr>
            <a:cxnSpLocks/>
            <a:stCxn id="39" idx="3"/>
            <a:endCxn id="12" idx="1"/>
          </p:cNvCxnSpPr>
          <p:nvPr/>
        </p:nvCxnSpPr>
        <p:spPr>
          <a:xfrm>
            <a:off x="5687291" y="2990174"/>
            <a:ext cx="1243882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9" name="Text Box 73">
            <a:extLst>
              <a:ext uri="{FF2B5EF4-FFF2-40B4-BE49-F238E27FC236}">
                <a16:creationId xmlns:a16="http://schemas.microsoft.com/office/drawing/2014/main" id="{A6A37441-CC1D-D3E2-A9BD-035000473A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0628" y="882139"/>
            <a:ext cx="1727200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ko-KR" altLang="en-US" sz="700" dirty="0"/>
              <a:t>영문명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</p:spTree>
    <p:extLst>
      <p:ext uri="{BB962C8B-B14F-4D97-AF65-F5344CB8AC3E}">
        <p14:creationId xmlns:p14="http://schemas.microsoft.com/office/powerpoint/2010/main" val="499836018"/>
      </p:ext>
    </p:extLst>
  </p:cSld>
  <p:clrMapOvr>
    <a:masterClrMapping/>
  </p:clrMapOvr>
</p:sld>
</file>

<file path=ppt/slides/slide3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마이페이지</a:t>
            </a:r>
            <a:r>
              <a:rPr lang="ko-KR" altLang="en-US" dirty="0" smtClean="0"/>
              <a:t> </a:t>
            </a:r>
            <a:r>
              <a:rPr lang="ko-KR" altLang="en-US" dirty="0" err="1" smtClean="0"/>
              <a:t>알림설정</a:t>
            </a:r>
            <a:r>
              <a:rPr lang="ko-KR" altLang="en-US" dirty="0" smtClean="0"/>
              <a:t> 값과 동일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알림 서비스 신청 및 해지 페이지 </a:t>
            </a:r>
            <a:r>
              <a:rPr lang="ko-KR" altLang="en-US" dirty="0" err="1" smtClean="0"/>
              <a:t>바로가기</a:t>
            </a:r>
            <a:r>
              <a:rPr lang="ko-KR" altLang="en-US" dirty="0" smtClean="0"/>
              <a:t> 버튼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앱 설정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앱 권한 설정 </a:t>
            </a:r>
            <a:r>
              <a:rPr lang="en-US" altLang="ko-KR" dirty="0" smtClean="0">
                <a:sym typeface="Wingdings" panose="05000000000000000000" pitchFamily="2" charset="2"/>
              </a:rPr>
              <a:t> </a:t>
            </a:r>
            <a:r>
              <a:rPr lang="ko-KR" altLang="en-US" dirty="0" smtClean="0">
                <a:sym typeface="Wingdings" panose="05000000000000000000" pitchFamily="2" charset="2"/>
              </a:rPr>
              <a:t>시스템 앱 설정으로 </a:t>
            </a:r>
            <a:r>
              <a:rPr lang="ko-KR" altLang="en-US" dirty="0" err="1" smtClean="0">
                <a:sym typeface="Wingdings" panose="05000000000000000000" pitchFamily="2" charset="2"/>
              </a:rPr>
              <a:t>바로가기</a:t>
            </a:r>
            <a:r>
              <a:rPr lang="en-US" altLang="ko-KR" dirty="0" smtClean="0">
                <a:sym typeface="Wingdings" panose="05000000000000000000" pitchFamily="2" charset="2"/>
              </a:rPr>
              <a:t/>
            </a:r>
            <a:br>
              <a:rPr lang="en-US" altLang="ko-KR" dirty="0" smtClean="0">
                <a:sym typeface="Wingdings" panose="05000000000000000000" pitchFamily="2" charset="2"/>
              </a:rPr>
            </a:br>
            <a:r>
              <a:rPr lang="en-US" altLang="ko-KR" dirty="0" smtClean="0">
                <a:sym typeface="Wingdings" panose="05000000000000000000" pitchFamily="2" charset="2"/>
              </a:rPr>
              <a:t>- </a:t>
            </a:r>
            <a:r>
              <a:rPr lang="ko-KR" altLang="en-US" dirty="0" smtClean="0">
                <a:sym typeface="Wingdings" panose="05000000000000000000" pitchFamily="2" charset="2"/>
              </a:rPr>
              <a:t>앱 버전 정보 아코디언으로 최소화</a:t>
            </a:r>
            <a:r>
              <a:rPr lang="en-US" altLang="ko-KR" dirty="0" smtClean="0">
                <a:sym typeface="Wingdings" panose="05000000000000000000" pitchFamily="2" charset="2"/>
              </a:rPr>
              <a:t/>
            </a:r>
            <a:br>
              <a:rPr lang="en-US" altLang="ko-KR" dirty="0" smtClean="0">
                <a:sym typeface="Wingdings" panose="05000000000000000000" pitchFamily="2" charset="2"/>
              </a:rPr>
            </a:br>
            <a:r>
              <a:rPr lang="en-US" altLang="ko-KR" dirty="0" smtClean="0">
                <a:sym typeface="Wingdings" panose="05000000000000000000" pitchFamily="2" charset="2"/>
              </a:rPr>
              <a:t>- </a:t>
            </a:r>
            <a:r>
              <a:rPr lang="ko-KR" altLang="en-US" dirty="0" smtClean="0">
                <a:sym typeface="Wingdings" panose="05000000000000000000" pitchFamily="2" charset="2"/>
              </a:rPr>
              <a:t>앱 캐시 삭제 클릭 시 팝업 확인</a:t>
            </a:r>
            <a:endParaRPr lang="en-US" altLang="ko-KR" dirty="0">
              <a:sym typeface="Wingdings" panose="05000000000000000000" pitchFamily="2" charset="2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>
                <a:sym typeface="Wingdings" panose="05000000000000000000" pitchFamily="2" charset="2"/>
              </a:rPr>
              <a:t>약관</a:t>
            </a:r>
            <a:r>
              <a:rPr lang="en-US" altLang="ko-KR" dirty="0">
                <a:sym typeface="Wingdings" panose="05000000000000000000" pitchFamily="2" charset="2"/>
              </a:rPr>
              <a:t> dapa.go.kr</a:t>
            </a:r>
            <a:r>
              <a:rPr lang="en-US" altLang="ko-KR" dirty="0" smtClean="0">
                <a:sym typeface="Wingdings" panose="05000000000000000000" pitchFamily="2" charset="2"/>
              </a:rPr>
              <a:t/>
            </a:r>
            <a:br>
              <a:rPr lang="en-US" altLang="ko-KR" dirty="0" smtClean="0">
                <a:sym typeface="Wingdings" panose="05000000000000000000" pitchFamily="2" charset="2"/>
              </a:rPr>
            </a:br>
            <a:r>
              <a:rPr lang="en-US" altLang="ko-KR" dirty="0" smtClean="0">
                <a:sym typeface="Wingdings" panose="05000000000000000000" pitchFamily="2" charset="2"/>
              </a:rPr>
              <a:t>- </a:t>
            </a:r>
            <a:r>
              <a:rPr lang="ko-KR" altLang="en-US" dirty="0" smtClean="0">
                <a:sym typeface="Wingdings" panose="05000000000000000000" pitchFamily="2" charset="2"/>
              </a:rPr>
              <a:t>개인정보 처리방침 외부 브라우저 링크</a:t>
            </a:r>
            <a:r>
              <a:rPr lang="en-US" altLang="ko-KR" dirty="0" smtClean="0">
                <a:sym typeface="Wingdings" panose="05000000000000000000" pitchFamily="2" charset="2"/>
              </a:rPr>
              <a:t/>
            </a:r>
            <a:br>
              <a:rPr lang="en-US" altLang="ko-KR" dirty="0" smtClean="0">
                <a:sym typeface="Wingdings" panose="05000000000000000000" pitchFamily="2" charset="2"/>
              </a:rPr>
            </a:br>
            <a:r>
              <a:rPr lang="en-US" altLang="ko-KR" dirty="0" smtClean="0">
                <a:sym typeface="Wingdings" panose="05000000000000000000" pitchFamily="2" charset="2"/>
              </a:rPr>
              <a:t>- </a:t>
            </a:r>
            <a:r>
              <a:rPr lang="ko-KR" altLang="en-US" dirty="0" smtClean="0">
                <a:sym typeface="Wingdings" panose="05000000000000000000" pitchFamily="2" charset="2"/>
              </a:rPr>
              <a:t>저작권 정책 외부 브라우저 링크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353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설정</a:t>
            </a:r>
            <a:endParaRPr lang="ko-KR" altLang="en-US" dirty="0"/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 smtClean="0">
                <a:latin typeface="+mn-ea"/>
              </a:rPr>
              <a:t>앱 설정 화면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 smtClean="0">
                <a:latin typeface="+mn-ea"/>
              </a:rPr>
              <a:t>메인 홈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설정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MUI-MS-02-M01</a:t>
            </a:r>
            <a:endParaRPr lang="en-US" altLang="ko-KR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01F397FE-75BC-416F-A3B0-F0A2DFA42B38}"/>
              </a:ext>
            </a:extLst>
          </p:cNvPr>
          <p:cNvSpPr/>
          <p:nvPr/>
        </p:nvSpPr>
        <p:spPr>
          <a:xfrm>
            <a:off x="675401" y="1493927"/>
            <a:ext cx="2712026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799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>
              <a:defRPr/>
            </a:pPr>
            <a:r>
              <a:rPr lang="ko-KR" altLang="en-US" sz="800" dirty="0" smtClean="0">
                <a:solidFill>
                  <a:prstClr val="black"/>
                </a:solidFill>
                <a:latin typeface="맑은 고딕" panose="020B0503020000020004" pitchFamily="50" charset="-127"/>
              </a:rPr>
              <a:t>설정</a:t>
            </a:r>
            <a:endParaRPr lang="ko-KR" altLang="en-US" sz="800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5" name="그룹 2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26" name="직선 연결선 2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7" name="직선 연결선 2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" name="타원 2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9" name="그룹 28"/>
          <p:cNvGrpSpPr/>
          <p:nvPr/>
        </p:nvGrpSpPr>
        <p:grpSpPr>
          <a:xfrm>
            <a:off x="903581" y="3648461"/>
            <a:ext cx="2255663" cy="306146"/>
            <a:chOff x="903581" y="2074658"/>
            <a:chExt cx="2255663" cy="306146"/>
          </a:xfrm>
        </p:grpSpPr>
        <p:sp>
          <p:nvSpPr>
            <p:cNvPr id="30" name="모서리가 둥근 직사각형 29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 smtClean="0">
                  <a:latin typeface="+mn-ea"/>
                </a:rPr>
                <a:t>앱 권한 설정</a:t>
              </a:r>
              <a:endParaRPr lang="ko-KR" altLang="en-US" sz="800" b="1" dirty="0">
                <a:latin typeface="+mn-ea"/>
              </a:endParaRPr>
            </a:p>
          </p:txBody>
        </p:sp>
      </p:grpSp>
      <p:grpSp>
        <p:nvGrpSpPr>
          <p:cNvPr id="38" name="그룹 37"/>
          <p:cNvGrpSpPr/>
          <p:nvPr/>
        </p:nvGrpSpPr>
        <p:grpSpPr>
          <a:xfrm>
            <a:off x="906602" y="5195084"/>
            <a:ext cx="2255663" cy="306146"/>
            <a:chOff x="903581" y="2845891"/>
            <a:chExt cx="2255663" cy="306146"/>
          </a:xfrm>
        </p:grpSpPr>
        <p:sp>
          <p:nvSpPr>
            <p:cNvPr id="39" name="모서리가 둥근 직사각형 38"/>
            <p:cNvSpPr/>
            <p:nvPr/>
          </p:nvSpPr>
          <p:spPr>
            <a:xfrm>
              <a:off x="903581" y="2845891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945103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937409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 smtClean="0">
                  <a:latin typeface="+mn-ea"/>
                </a:rPr>
                <a:t>앱 캐시 삭제</a:t>
              </a:r>
              <a:endParaRPr lang="ko-KR" altLang="en-US" sz="800" b="1" dirty="0">
                <a:latin typeface="+mn-ea"/>
              </a:endParaRPr>
            </a:p>
          </p:txBody>
        </p:sp>
      </p:grp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686" y="3348355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 smtClean="0">
                <a:latin typeface="+mn-ea"/>
              </a:rPr>
              <a:t>앱 설정</a:t>
            </a:r>
            <a:endParaRPr lang="en-US" altLang="ko-KR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3074" y="2002738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 smtClean="0">
                <a:latin typeface="+mn-ea"/>
              </a:rPr>
              <a:t>알림 설정</a:t>
            </a:r>
            <a:endParaRPr lang="en-US" altLang="ko-KR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90624" y="2299999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앱 푸시 알림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90624" y="2446054"/>
            <a:ext cx="185626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모바일 앱으로 알림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88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2910973" y="2361554"/>
            <a:ext cx="301752" cy="137160"/>
            <a:chOff x="840582" y="1601197"/>
            <a:chExt cx="301752" cy="137160"/>
          </a:xfrm>
        </p:grpSpPr>
        <p:sp>
          <p:nvSpPr>
            <p:cNvPr id="89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0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cxnSp>
        <p:nvCxnSpPr>
          <p:cNvPr id="91" name="직선 연결선 9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4787" y="31909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98" name="그룹 97"/>
          <p:cNvGrpSpPr/>
          <p:nvPr/>
        </p:nvGrpSpPr>
        <p:grpSpPr>
          <a:xfrm>
            <a:off x="903581" y="2707140"/>
            <a:ext cx="2255663" cy="306146"/>
            <a:chOff x="903581" y="2074658"/>
            <a:chExt cx="2255663" cy="306146"/>
          </a:xfrm>
        </p:grpSpPr>
        <p:sp>
          <p:nvSpPr>
            <p:cNvPr id="99" name="모서리가 둥근 직사각형 98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 smtClean="0">
                  <a:latin typeface="+mn-ea"/>
                </a:rPr>
                <a:t>알림 서비스 신청 및 해지</a:t>
              </a:r>
              <a:endParaRPr lang="ko-KR" altLang="en-US" sz="800" b="1" dirty="0">
                <a:latin typeface="+mn-ea"/>
              </a:endParaRPr>
            </a:p>
          </p:txBody>
        </p:sp>
      </p:grpSp>
      <p:sp>
        <p:nvSpPr>
          <p:cNvPr id="102" name="모서리가 둥근 직사각형 101"/>
          <p:cNvSpPr/>
          <p:nvPr/>
        </p:nvSpPr>
        <p:spPr>
          <a:xfrm>
            <a:off x="948491" y="4310789"/>
            <a:ext cx="2165844" cy="692962"/>
          </a:xfrm>
          <a:prstGeom prst="roundRect">
            <a:avLst>
              <a:gd name="adj" fmla="val 5797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903581" y="4091030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182548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 smtClean="0">
                <a:latin typeface="+mn-ea"/>
              </a:rPr>
              <a:t>앱 </a:t>
            </a:r>
            <a:r>
              <a:rPr lang="ko-KR" altLang="en-US" sz="800" b="1" dirty="0" err="1" smtClean="0">
                <a:latin typeface="+mn-ea"/>
              </a:rPr>
              <a:t>버전정보</a:t>
            </a:r>
            <a:endParaRPr lang="en-US" altLang="ko-KR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119470" y="4182548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800">
                <a:latin typeface="+mn-ea"/>
              </a:defRPr>
            </a:lvl1pPr>
          </a:lstStyle>
          <a:p>
            <a:pPr algn="r"/>
            <a:r>
              <a:rPr lang="en-US" altLang="ko-KR" dirty="0" smtClean="0"/>
              <a:t>V 1.0.1</a:t>
            </a:r>
            <a:endParaRPr lang="en-US" altLang="ko-KR" dirty="0"/>
          </a:p>
        </p:txBody>
      </p:sp>
      <p:grpSp>
        <p:nvGrpSpPr>
          <p:cNvPr id="78" name="그룹 77"/>
          <p:cNvGrpSpPr/>
          <p:nvPr/>
        </p:nvGrpSpPr>
        <p:grpSpPr>
          <a:xfrm>
            <a:off x="2950527" y="4220601"/>
            <a:ext cx="94010" cy="47005"/>
            <a:chOff x="6812560" y="3297172"/>
            <a:chExt cx="94010" cy="47005"/>
          </a:xfrm>
        </p:grpSpPr>
        <p:cxnSp>
          <p:nvCxnSpPr>
            <p:cNvPr id="79" name="직선 연결선 7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0" name="직선 연결선 7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2502" y="4472572"/>
            <a:ext cx="104421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현재 앱 버전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076712" y="4472572"/>
            <a:ext cx="819796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/>
              <a:t>V 1.0.1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2502" y="4638866"/>
            <a:ext cx="104421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내 기기 정보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076712" y="4638866"/>
            <a:ext cx="819796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 smtClean="0"/>
              <a:t>iPhone 16.2</a:t>
            </a:r>
            <a:endParaRPr lang="en-US" altLang="ko-KR" sz="800" dirty="0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2502" y="4805160"/>
            <a:ext cx="104421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내 기기 </a:t>
            </a:r>
            <a:r>
              <a:rPr lang="en-US" altLang="ko-KR" sz="800" dirty="0" smtClean="0">
                <a:latin typeface="+mn-ea"/>
              </a:rPr>
              <a:t>OS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076712" y="4805160"/>
            <a:ext cx="819796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 err="1" smtClean="0"/>
              <a:t>ios</a:t>
            </a:r>
            <a:endParaRPr lang="en-US" altLang="ko-KR" sz="800" dirty="0"/>
          </a:p>
        </p:txBody>
      </p:sp>
      <p:sp>
        <p:nvSpPr>
          <p:cNvPr id="109" name="모서리가 둥근 직사각형 108"/>
          <p:cNvSpPr/>
          <p:nvPr/>
        </p:nvSpPr>
        <p:spPr>
          <a:xfrm>
            <a:off x="6605470" y="4649724"/>
            <a:ext cx="2579992" cy="1200743"/>
          </a:xfrm>
          <a:prstGeom prst="roundRect">
            <a:avLst>
              <a:gd name="adj" fmla="val 4663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0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7948308" y="5408886"/>
            <a:ext cx="1080000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삭제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11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723164" y="5408886"/>
            <a:ext cx="1080000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723164" y="4796454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앱 캐시 삭제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742894" y="502896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앱에 임시 보관된 캐시를 삭제할까요</a:t>
            </a:r>
            <a:r>
              <a:rPr lang="en-US" altLang="ko-KR" sz="700" dirty="0" smtClean="0">
                <a:latin typeface="+mn-ea"/>
              </a:rPr>
              <a:t>?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14" name="그룹 113"/>
          <p:cNvGrpSpPr/>
          <p:nvPr/>
        </p:nvGrpSpPr>
        <p:grpSpPr>
          <a:xfrm>
            <a:off x="8934298" y="4796454"/>
            <a:ext cx="94010" cy="94010"/>
            <a:chOff x="6812560" y="3297172"/>
            <a:chExt cx="94010" cy="94010"/>
          </a:xfrm>
        </p:grpSpPr>
        <p:cxnSp>
          <p:nvCxnSpPr>
            <p:cNvPr id="115" name="직선 연결선 114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6" name="직선 연결선 115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7" name="직사각형 116"/>
          <p:cNvSpPr/>
          <p:nvPr/>
        </p:nvSpPr>
        <p:spPr>
          <a:xfrm>
            <a:off x="6541384" y="4418892"/>
            <a:ext cx="1043876" cy="230832"/>
          </a:xfrm>
          <a:prstGeom prst="rect">
            <a:avLst/>
          </a:prstGeom>
        </p:spPr>
        <p:txBody>
          <a:bodyPr lIns="72000" tIns="36000" rIns="72000" bIns="36000"/>
          <a:lstStyle/>
          <a:p>
            <a:pPr>
              <a:buFont typeface="Arial" panose="020B0604020202020204" pitchFamily="34" charset="0"/>
              <a:buNone/>
            </a:pPr>
            <a:r>
              <a:rPr lang="en-US" altLang="ko-KR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MUI-MS-02-P02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18" name="직사각형 117"/>
          <p:cNvSpPr/>
          <p:nvPr/>
        </p:nvSpPr>
        <p:spPr>
          <a:xfrm>
            <a:off x="8075444" y="4418892"/>
            <a:ext cx="1177967" cy="230832"/>
          </a:xfrm>
          <a:prstGeom prst="rect">
            <a:avLst/>
          </a:prstGeom>
        </p:spPr>
        <p:txBody>
          <a:bodyPr lIns="72000" tIns="36000" rIns="72000" bIns="36000"/>
          <a:lstStyle/>
          <a:p>
            <a:pPr algn="r">
              <a:buFont typeface="Arial" panose="020B0604020202020204" pitchFamily="34" charset="0"/>
              <a:buNone/>
            </a:pPr>
            <a:r>
              <a:rPr lang="ko-KR" altLang="en-US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앱 캐시 삭제</a:t>
            </a: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20" name="그룹 119"/>
          <p:cNvGrpSpPr/>
          <p:nvPr/>
        </p:nvGrpSpPr>
        <p:grpSpPr>
          <a:xfrm>
            <a:off x="4034528" y="1984727"/>
            <a:ext cx="2255663" cy="306146"/>
            <a:chOff x="903581" y="2074658"/>
            <a:chExt cx="2255663" cy="306146"/>
          </a:xfrm>
        </p:grpSpPr>
        <p:sp>
          <p:nvSpPr>
            <p:cNvPr id="121" name="모서리가 둥근 직사각형 12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 smtClean="0">
                  <a:latin typeface="+mn-ea"/>
                </a:rPr>
                <a:t>개인정보처리방침</a:t>
              </a:r>
              <a:endParaRPr lang="ko-KR" altLang="en-US" sz="800" b="1" dirty="0">
                <a:latin typeface="+mn-ea"/>
              </a:endParaRPr>
            </a:p>
          </p:txBody>
        </p:sp>
      </p:grp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14633" y="1684621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 smtClean="0">
                <a:latin typeface="+mn-ea"/>
              </a:rPr>
              <a:t>약관</a:t>
            </a:r>
            <a:endParaRPr lang="en-US" altLang="ko-KR" sz="800" b="1" dirty="0">
              <a:solidFill>
                <a:srgbClr val="FF0000"/>
              </a:solidFill>
              <a:latin typeface="+mn-ea"/>
            </a:endParaRPr>
          </a:p>
        </p:txBody>
      </p: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8420" y="572596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32" name="그룹 131"/>
          <p:cNvGrpSpPr/>
          <p:nvPr/>
        </p:nvGrpSpPr>
        <p:grpSpPr>
          <a:xfrm>
            <a:off x="4034528" y="2427296"/>
            <a:ext cx="2255663" cy="306146"/>
            <a:chOff x="903581" y="2074658"/>
            <a:chExt cx="2255663" cy="306146"/>
          </a:xfrm>
        </p:grpSpPr>
        <p:sp>
          <p:nvSpPr>
            <p:cNvPr id="133" name="모서리가 둥근 직사각형 132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저작권 정책</a:t>
              </a:r>
              <a:endParaRPr lang="en-US" altLang="ko-KR" sz="800" b="1" dirty="0">
                <a:solidFill>
                  <a:srgbClr val="FF0000"/>
                </a:solidFill>
                <a:latin typeface="+mn-ea"/>
              </a:endParaRPr>
            </a:p>
          </p:txBody>
        </p:sp>
      </p:grpSp>
      <p:cxnSp>
        <p:nvCxnSpPr>
          <p:cNvPr id="136" name="직선 연결선 1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91407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7" name="타원 13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6" y="197010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38" name="타원 1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6" y="329933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39" name="타원 1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8880" y="166669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129785500"/>
      </p:ext>
    </p:extLst>
  </p:cSld>
  <p:clrMapOvr>
    <a:masterClrMapping/>
  </p:clrMapOvr>
</p:sld>
</file>

<file path=ppt/slides/slide3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콘텐츠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모바일 웹에서 서비스 사용 시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smtClean="0">
                <a:solidFill>
                  <a:srgbClr val="FF0000"/>
                </a:solidFill>
              </a:rPr>
              <a:t>로그인 서비스를 사용하려 할 때 노출되는 팝업 메시지임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버튼 클릭 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앱이 설치되어 있다면 앱으로 연결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앱이 설치되어 있지 않다면 앱 설치 스토어로 연결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354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모바일앱서비스안내</a:t>
            </a:r>
            <a:endParaRPr lang="ko-KR" altLang="en-US" dirty="0"/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 smtClean="0">
                <a:latin typeface="+mn-ea"/>
              </a:rPr>
              <a:t>모바일 웹에서 로그인 서비스를 </a:t>
            </a:r>
            <a:r>
              <a:rPr lang="ko-KR" altLang="en-US" dirty="0" err="1" smtClean="0">
                <a:latin typeface="+mn-ea"/>
              </a:rPr>
              <a:t>사용하려할</a:t>
            </a:r>
            <a:r>
              <a:rPr lang="ko-KR" altLang="en-US" dirty="0" smtClean="0">
                <a:latin typeface="+mn-ea"/>
              </a:rPr>
              <a:t> 때</a:t>
            </a:r>
            <a:r>
              <a:rPr lang="en-US" altLang="ko-KR" dirty="0" smtClean="0">
                <a:latin typeface="+mn-ea"/>
              </a:rPr>
              <a:t>, </a:t>
            </a:r>
            <a:r>
              <a:rPr lang="ko-KR" altLang="en-US" dirty="0" smtClean="0">
                <a:latin typeface="+mn-ea"/>
              </a:rPr>
              <a:t>모바일 앱을 </a:t>
            </a:r>
            <a:r>
              <a:rPr lang="ko-KR" altLang="en-US" dirty="0">
                <a:latin typeface="+mn-ea"/>
              </a:rPr>
              <a:t>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 smtClean="0">
                <a:latin typeface="+mn-ea"/>
              </a:rPr>
              <a:t>모바일 웹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로그인 서비스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모바일앱서비스안내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MUI-MS-02-P03</a:t>
            </a:r>
            <a:endParaRPr lang="en-US" altLang="ko-KR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01F397FE-75BC-416F-A3B0-F0A2DFA42B38}"/>
              </a:ext>
            </a:extLst>
          </p:cNvPr>
          <p:cNvSpPr/>
          <p:nvPr/>
        </p:nvSpPr>
        <p:spPr>
          <a:xfrm>
            <a:off x="675401" y="1493927"/>
            <a:ext cx="2712026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799"/>
          </a:p>
        </p:txBody>
      </p:sp>
      <p:grpSp>
        <p:nvGrpSpPr>
          <p:cNvPr id="19" name="Overlay and Alert">
            <a:extLst>
              <a:ext uri="{FF2B5EF4-FFF2-40B4-BE49-F238E27FC236}">
                <a16:creationId xmlns:a16="http://schemas.microsoft.com/office/drawing/2014/main" id="{8570DB11-89E5-44DD-9545-614AC5D78982}"/>
              </a:ext>
            </a:extLst>
          </p:cNvPr>
          <p:cNvGrpSpPr/>
          <p:nvPr/>
        </p:nvGrpSpPr>
        <p:grpSpPr>
          <a:xfrm>
            <a:off x="675401" y="1493927"/>
            <a:ext cx="2701627" cy="4738361"/>
            <a:chOff x="595686" y="1261242"/>
            <a:chExt cx="2286000" cy="4064000"/>
          </a:xfrm>
        </p:grpSpPr>
        <p:sp>
          <p:nvSpPr>
            <p:cNvPr id="20" name="Overlay">
              <a:extLst>
                <a:ext uri="{FF2B5EF4-FFF2-40B4-BE49-F238E27FC236}">
                  <a16:creationId xmlns:a16="http://schemas.microsoft.com/office/drawing/2014/main" id="{50423D8B-855D-4277-89CC-C6A83C8025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686" y="1261242"/>
              <a:ext cx="2286000" cy="4064000"/>
            </a:xfrm>
            <a:prstGeom prst="rect">
              <a:avLst/>
            </a:prstGeom>
            <a:solidFill>
              <a:srgbClr val="000000">
                <a:alpha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" name="Background">
              <a:extLst>
                <a:ext uri="{FF2B5EF4-FFF2-40B4-BE49-F238E27FC236}">
                  <a16:creationId xmlns:a16="http://schemas.microsoft.com/office/drawing/2014/main" id="{A1A44B50-9D70-4862-8DC3-A37BCACED50C}"/>
                </a:ext>
              </a:extLst>
            </p:cNvPr>
            <p:cNvSpPr/>
            <p:nvPr/>
          </p:nvSpPr>
          <p:spPr>
            <a:xfrm>
              <a:off x="781226" y="2038441"/>
              <a:ext cx="1914922" cy="2584963"/>
            </a:xfrm>
            <a:prstGeom prst="roundRect">
              <a:avLst>
                <a:gd name="adj" fmla="val 3509"/>
              </a:avLst>
            </a:prstGeom>
            <a:solidFill>
              <a:srgbClr val="FFFFFF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182880" tIns="128016" rIns="182880" bIns="4572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10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89B1AD0E-77B8-4F9D-ADEF-B1427C8D6092}"/>
              </a:ext>
            </a:extLst>
          </p:cNvPr>
          <p:cNvSpPr/>
          <p:nvPr/>
        </p:nvSpPr>
        <p:spPr>
          <a:xfrm>
            <a:off x="1078300" y="3553946"/>
            <a:ext cx="1962202" cy="91440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국방전자조달 모바일 서비스란</a:t>
            </a:r>
            <a:r>
              <a:rPr lang="en-US" altLang="ko-KR" sz="1000" b="1" dirty="0">
                <a:solidFill>
                  <a:schemeClr val="tx1"/>
                </a:solidFill>
              </a:rPr>
              <a:t>?</a:t>
            </a: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>
                <a:solidFill>
                  <a:schemeClr val="tx1"/>
                </a:solidFill>
              </a:rPr>
              <a:t>국방전자조달시스템에 게시되는 주요 </a:t>
            </a:r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>
                <a:solidFill>
                  <a:schemeClr val="tx1"/>
                </a:solidFill>
              </a:rPr>
              <a:t>조달정보를 언제 어디서나 조회할 수 있도록 </a:t>
            </a:r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>
                <a:solidFill>
                  <a:schemeClr val="tx1"/>
                </a:solidFill>
              </a:rPr>
              <a:t>스마트폰에서도 이용 가능한 모바일 앱 </a:t>
            </a:r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>
                <a:solidFill>
                  <a:schemeClr val="tx1"/>
                </a:solidFill>
              </a:rPr>
              <a:t>서비스입니다</a:t>
            </a:r>
            <a:r>
              <a:rPr lang="en-US" altLang="ko-KR" sz="800" dirty="0">
                <a:solidFill>
                  <a:schemeClr val="tx1"/>
                </a:solidFill>
              </a:rPr>
              <a:t>.</a:t>
            </a: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>
                <a:solidFill>
                  <a:schemeClr val="tx1"/>
                </a:solidFill>
              </a:rPr>
              <a:t>각종 입찰공고는 물론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조달계획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입찰결과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</a:p>
          <a:p>
            <a:r>
              <a:rPr lang="ko-KR" altLang="en-US" sz="800" dirty="0">
                <a:solidFill>
                  <a:schemeClr val="tx1"/>
                </a:solidFill>
              </a:rPr>
              <a:t>계약정보 등 다양한 정보를 실시간으로 </a:t>
            </a:r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>
                <a:solidFill>
                  <a:schemeClr val="tx1"/>
                </a:solidFill>
              </a:rPr>
              <a:t>조회하실 수 있습니다</a:t>
            </a:r>
            <a:r>
              <a:rPr lang="en-US" altLang="ko-KR" sz="800" dirty="0">
                <a:solidFill>
                  <a:schemeClr val="tx1"/>
                </a:solidFill>
              </a:rPr>
              <a:t>.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3" name="사각형: 둥근 모서리 79">
            <a:extLst>
              <a:ext uri="{FF2B5EF4-FFF2-40B4-BE49-F238E27FC236}">
                <a16:creationId xmlns:a16="http://schemas.microsoft.com/office/drawing/2014/main" id="{3086DFF5-18F6-4939-8DBB-B672A87906A0}"/>
              </a:ext>
            </a:extLst>
          </p:cNvPr>
          <p:cNvSpPr/>
          <p:nvPr/>
        </p:nvSpPr>
        <p:spPr>
          <a:xfrm>
            <a:off x="1078300" y="5029200"/>
            <a:ext cx="1962202" cy="220443"/>
          </a:xfrm>
          <a:prstGeom prst="roundRect">
            <a:avLst/>
          </a:prstGeom>
          <a:solidFill>
            <a:srgbClr val="0070C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800">
                <a:solidFill>
                  <a:schemeClr val="bg1"/>
                </a:solidFill>
              </a:rPr>
              <a:t>국방전자조달 앱 실행하기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pic>
        <p:nvPicPr>
          <p:cNvPr id="24" name="그림 23">
            <a:extLst>
              <a:ext uri="{FF2B5EF4-FFF2-40B4-BE49-F238E27FC236}">
                <a16:creationId xmlns:a16="http://schemas.microsoft.com/office/drawing/2014/main" id="{C8E76FAB-6B90-42DF-A52B-36ACEC05675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45001" y="2783146"/>
            <a:ext cx="1828800" cy="371475"/>
          </a:xfrm>
          <a:prstGeom prst="rect">
            <a:avLst/>
          </a:prstGeom>
          <a:solidFill>
            <a:schemeClr val="bg1"/>
          </a:solidFill>
          <a:ln>
            <a:solidFill>
              <a:srgbClr val="F5F5F5"/>
            </a:solidFill>
          </a:ln>
        </p:spPr>
      </p:pic>
      <p:sp>
        <p:nvSpPr>
          <p:cNvPr id="32" name="타원 3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814437" y="231401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452483849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hHNKjcG5LQF3a4yIKJeEMiBUZIB0kVbgXykBmurRQ/4=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hHNKjcG5LQF3a4yIKJeEMiBUZIB0kVbgXykBmurRQ/4="/>
</p:tagLst>
</file>

<file path=ppt/theme/theme1.xml><?xml version="1.0" encoding="utf-8"?>
<a:theme xmlns:a="http://schemas.openxmlformats.org/drawingml/2006/main" name="Office 테마">
  <a:themeElements>
    <a:clrScheme name="Office 테마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테마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13610</TotalTime>
  <Words>47049</Words>
  <Application>Microsoft Office PowerPoint</Application>
  <PresentationFormat>A4 용지(210x297mm)</PresentationFormat>
  <Paragraphs>20955</Paragraphs>
  <Slides>355</Slides>
  <Notes>5</Notes>
  <HiddenSlides>0</HiddenSlides>
  <MMClips>0</MMClips>
  <ScaleCrop>false</ScaleCrop>
  <HeadingPairs>
    <vt:vector size="6" baseType="variant">
      <vt:variant>
        <vt:lpstr>사용한 글꼴</vt:lpstr>
      </vt:variant>
      <vt:variant>
        <vt:i4>10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355</vt:i4>
      </vt:variant>
    </vt:vector>
  </HeadingPairs>
  <TitlesOfParts>
    <vt:vector size="366" baseType="lpstr">
      <vt:lpstr>Pretendard Medium</vt:lpstr>
      <vt:lpstr>맑은 고딕</vt:lpstr>
      <vt:lpstr>맑은 고딕 (본문)</vt:lpstr>
      <vt:lpstr>Arial</vt:lpstr>
      <vt:lpstr>Calibri</vt:lpstr>
      <vt:lpstr>Consolas</vt:lpstr>
      <vt:lpstr>Segoe UI</vt:lpstr>
      <vt:lpstr>Times New Roman</vt:lpstr>
      <vt:lpstr>Verdana</vt:lpstr>
      <vt:lpstr>Wingdings</vt:lpstr>
      <vt:lpstr>Office 테마</vt:lpstr>
      <vt:lpstr>사용자인터페이스 설계서 - 모바일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Company>LIG SYSTEM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표준서식-PPTX-A4-Landscape</dc:title>
  <dc:subject>프로젝트 명</dc:subject>
  <dc:creator>LIG SYSTEM</dc:creator>
  <cp:keywords>표준서식-PPTX-A4-Landscape</cp:keywords>
  <cp:lastModifiedBy>INSoft</cp:lastModifiedBy>
  <cp:revision>780</cp:revision>
  <cp:lastPrinted>2016-10-27T08:57:39Z</cp:lastPrinted>
  <dcterms:created xsi:type="dcterms:W3CDTF">2016-10-27T07:41:55Z</dcterms:created>
  <dcterms:modified xsi:type="dcterms:W3CDTF">2026-06-12T07:13:16Z</dcterms:modified>
  <cp:category>서브시스템/업무명</cp:category>
  <cp:contentStatus>0.1</cp:contentStatus>
</cp:coreProperties>
</file>