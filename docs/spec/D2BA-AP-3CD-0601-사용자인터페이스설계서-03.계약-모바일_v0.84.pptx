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96"/>
  </p:notesMasterIdLst>
  <p:handoutMasterIdLst>
    <p:handoutMasterId r:id="rId197"/>
  </p:handoutMasterIdLst>
  <p:sldIdLst>
    <p:sldId id="861" r:id="rId2"/>
    <p:sldId id="886" r:id="rId3"/>
    <p:sldId id="888" r:id="rId4"/>
    <p:sldId id="863" r:id="rId5"/>
    <p:sldId id="864" r:id="rId6"/>
    <p:sldId id="865" r:id="rId7"/>
    <p:sldId id="889" r:id="rId8"/>
    <p:sldId id="866" r:id="rId9"/>
    <p:sldId id="893" r:id="rId10"/>
    <p:sldId id="867" r:id="rId11"/>
    <p:sldId id="894" r:id="rId12"/>
    <p:sldId id="890" r:id="rId13"/>
    <p:sldId id="895" r:id="rId14"/>
    <p:sldId id="868" r:id="rId15"/>
    <p:sldId id="869" r:id="rId16"/>
    <p:sldId id="870" r:id="rId17"/>
    <p:sldId id="907" r:id="rId18"/>
    <p:sldId id="908" r:id="rId19"/>
    <p:sldId id="909" r:id="rId20"/>
    <p:sldId id="910" r:id="rId21"/>
    <p:sldId id="911" r:id="rId22"/>
    <p:sldId id="912" r:id="rId23"/>
    <p:sldId id="913" r:id="rId24"/>
    <p:sldId id="621" r:id="rId25"/>
    <p:sldId id="292" r:id="rId26"/>
    <p:sldId id="891" r:id="rId27"/>
    <p:sldId id="892" r:id="rId28"/>
    <p:sldId id="778" r:id="rId29"/>
    <p:sldId id="630" r:id="rId30"/>
    <p:sldId id="631" r:id="rId31"/>
    <p:sldId id="633" r:id="rId32"/>
    <p:sldId id="632" r:id="rId33"/>
    <p:sldId id="634" r:id="rId34"/>
    <p:sldId id="779" r:id="rId35"/>
    <p:sldId id="780" r:id="rId36"/>
    <p:sldId id="781" r:id="rId37"/>
    <p:sldId id="782" r:id="rId38"/>
    <p:sldId id="784" r:id="rId39"/>
    <p:sldId id="640" r:id="rId40"/>
    <p:sldId id="785" r:id="rId41"/>
    <p:sldId id="786" r:id="rId42"/>
    <p:sldId id="787" r:id="rId43"/>
    <p:sldId id="788" r:id="rId44"/>
    <p:sldId id="645" r:id="rId45"/>
    <p:sldId id="646" r:id="rId46"/>
    <p:sldId id="647" r:id="rId47"/>
    <p:sldId id="648" r:id="rId48"/>
    <p:sldId id="649" r:id="rId49"/>
    <p:sldId id="789" r:id="rId50"/>
    <p:sldId id="790" r:id="rId51"/>
    <p:sldId id="791" r:id="rId52"/>
    <p:sldId id="792" r:id="rId53"/>
    <p:sldId id="794" r:id="rId54"/>
    <p:sldId id="655" r:id="rId55"/>
    <p:sldId id="656" r:id="rId56"/>
    <p:sldId id="657" r:id="rId57"/>
    <p:sldId id="658" r:id="rId58"/>
    <p:sldId id="795" r:id="rId59"/>
    <p:sldId id="796" r:id="rId60"/>
    <p:sldId id="797" r:id="rId61"/>
    <p:sldId id="798" r:id="rId62"/>
    <p:sldId id="663" r:id="rId63"/>
    <p:sldId id="664" r:id="rId64"/>
    <p:sldId id="874" r:id="rId65"/>
    <p:sldId id="875" r:id="rId66"/>
    <p:sldId id="799" r:id="rId67"/>
    <p:sldId id="800" r:id="rId68"/>
    <p:sldId id="801" r:id="rId69"/>
    <p:sldId id="668" r:id="rId70"/>
    <p:sldId id="873" r:id="rId71"/>
    <p:sldId id="669" r:id="rId72"/>
    <p:sldId id="802" r:id="rId73"/>
    <p:sldId id="803" r:id="rId74"/>
    <p:sldId id="804" r:id="rId75"/>
    <p:sldId id="674" r:id="rId76"/>
    <p:sldId id="675" r:id="rId77"/>
    <p:sldId id="676" r:id="rId78"/>
    <p:sldId id="677" r:id="rId79"/>
    <p:sldId id="805" r:id="rId80"/>
    <p:sldId id="806" r:id="rId81"/>
    <p:sldId id="807" r:id="rId82"/>
    <p:sldId id="681" r:id="rId83"/>
    <p:sldId id="682" r:id="rId84"/>
    <p:sldId id="683" r:id="rId85"/>
    <p:sldId id="684" r:id="rId86"/>
    <p:sldId id="876" r:id="rId87"/>
    <p:sldId id="877" r:id="rId88"/>
    <p:sldId id="878" r:id="rId89"/>
    <p:sldId id="879" r:id="rId90"/>
    <p:sldId id="702" r:id="rId91"/>
    <p:sldId id="811" r:id="rId92"/>
    <p:sldId id="896" r:id="rId93"/>
    <p:sldId id="689" r:id="rId94"/>
    <p:sldId id="808" r:id="rId95"/>
    <p:sldId id="809" r:id="rId96"/>
    <p:sldId id="810" r:id="rId97"/>
    <p:sldId id="693" r:id="rId98"/>
    <p:sldId id="812" r:id="rId99"/>
    <p:sldId id="695" r:id="rId100"/>
    <p:sldId id="696" r:id="rId101"/>
    <p:sldId id="813" r:id="rId102"/>
    <p:sldId id="814" r:id="rId103"/>
    <p:sldId id="815" r:id="rId104"/>
    <p:sldId id="700" r:id="rId105"/>
    <p:sldId id="816" r:id="rId106"/>
    <p:sldId id="857" r:id="rId107"/>
    <p:sldId id="906" r:id="rId108"/>
    <p:sldId id="855" r:id="rId109"/>
    <p:sldId id="854" r:id="rId110"/>
    <p:sldId id="856" r:id="rId111"/>
    <p:sldId id="704" r:id="rId112"/>
    <p:sldId id="705" r:id="rId113"/>
    <p:sldId id="817" r:id="rId114"/>
    <p:sldId id="818" r:id="rId115"/>
    <p:sldId id="708" r:id="rId116"/>
    <p:sldId id="709" r:id="rId117"/>
    <p:sldId id="710" r:id="rId118"/>
    <p:sldId id="711" r:id="rId119"/>
    <p:sldId id="819" r:id="rId120"/>
    <p:sldId id="820" r:id="rId121"/>
    <p:sldId id="821" r:id="rId122"/>
    <p:sldId id="715" r:id="rId123"/>
    <p:sldId id="716" r:id="rId124"/>
    <p:sldId id="717" r:id="rId125"/>
    <p:sldId id="718" r:id="rId126"/>
    <p:sldId id="822" r:id="rId127"/>
    <p:sldId id="823" r:id="rId128"/>
    <p:sldId id="824" r:id="rId129"/>
    <p:sldId id="825" r:id="rId130"/>
    <p:sldId id="723" r:id="rId131"/>
    <p:sldId id="881" r:id="rId132"/>
    <p:sldId id="882" r:id="rId133"/>
    <p:sldId id="883" r:id="rId134"/>
    <p:sldId id="826" r:id="rId135"/>
    <p:sldId id="827" r:id="rId136"/>
    <p:sldId id="828" r:id="rId137"/>
    <p:sldId id="829" r:id="rId138"/>
    <p:sldId id="728" r:id="rId139"/>
    <p:sldId id="729" r:id="rId140"/>
    <p:sldId id="730" r:id="rId141"/>
    <p:sldId id="731" r:id="rId142"/>
    <p:sldId id="830" r:id="rId143"/>
    <p:sldId id="831" r:id="rId144"/>
    <p:sldId id="832" r:id="rId145"/>
    <p:sldId id="833" r:id="rId146"/>
    <p:sldId id="736" r:id="rId147"/>
    <p:sldId id="884" r:id="rId148"/>
    <p:sldId id="737" r:id="rId149"/>
    <p:sldId id="738" r:id="rId150"/>
    <p:sldId id="834" r:id="rId151"/>
    <p:sldId id="835" r:id="rId152"/>
    <p:sldId id="742" r:id="rId153"/>
    <p:sldId id="897" r:id="rId154"/>
    <p:sldId id="743" r:id="rId155"/>
    <p:sldId id="744" r:id="rId156"/>
    <p:sldId id="914" r:id="rId157"/>
    <p:sldId id="745" r:id="rId158"/>
    <p:sldId id="746" r:id="rId159"/>
    <p:sldId id="748" r:id="rId160"/>
    <p:sldId id="836" r:id="rId161"/>
    <p:sldId id="837" r:id="rId162"/>
    <p:sldId id="838" r:id="rId163"/>
    <p:sldId id="840" r:id="rId164"/>
    <p:sldId id="755" r:id="rId165"/>
    <p:sldId id="841" r:id="rId166"/>
    <p:sldId id="842" r:id="rId167"/>
    <p:sldId id="843" r:id="rId168"/>
    <p:sldId id="759" r:id="rId169"/>
    <p:sldId id="844" r:id="rId170"/>
    <p:sldId id="761" r:id="rId171"/>
    <p:sldId id="845" r:id="rId172"/>
    <p:sldId id="763" r:id="rId173"/>
    <p:sldId id="846" r:id="rId174"/>
    <p:sldId id="847" r:id="rId175"/>
    <p:sldId id="747" r:id="rId176"/>
    <p:sldId id="848" r:id="rId177"/>
    <p:sldId id="754" r:id="rId178"/>
    <p:sldId id="899" r:id="rId179"/>
    <p:sldId id="898" r:id="rId180"/>
    <p:sldId id="900" r:id="rId181"/>
    <p:sldId id="901" r:id="rId182"/>
    <p:sldId id="902" r:id="rId183"/>
    <p:sldId id="903" r:id="rId184"/>
    <p:sldId id="904" r:id="rId185"/>
    <p:sldId id="905" r:id="rId186"/>
    <p:sldId id="766" r:id="rId187"/>
    <p:sldId id="767" r:id="rId188"/>
    <p:sldId id="768" r:id="rId189"/>
    <p:sldId id="769" r:id="rId190"/>
    <p:sldId id="849" r:id="rId191"/>
    <p:sldId id="850" r:id="rId192"/>
    <p:sldId id="851" r:id="rId193"/>
    <p:sldId id="773" r:id="rId194"/>
    <p:sldId id="852" r:id="rId195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861"/>
            <p14:sldId id="886"/>
            <p14:sldId id="888"/>
            <p14:sldId id="863"/>
            <p14:sldId id="864"/>
          </p14:sldIdLst>
        </p14:section>
        <p14:section name="목록" id="{A88D8C4A-42D5-488C-851B-9A15CEB54A60}">
          <p14:sldIdLst>
            <p14:sldId id="865"/>
            <p14:sldId id="889"/>
            <p14:sldId id="866"/>
            <p14:sldId id="893"/>
            <p14:sldId id="867"/>
            <p14:sldId id="894"/>
            <p14:sldId id="890"/>
            <p14:sldId id="895"/>
            <p14:sldId id="868"/>
            <p14:sldId id="869"/>
            <p14:sldId id="870"/>
            <p14:sldId id="907"/>
            <p14:sldId id="908"/>
            <p14:sldId id="909"/>
            <p14:sldId id="910"/>
            <p14:sldId id="911"/>
            <p14:sldId id="912"/>
            <p14:sldId id="913"/>
          </p14:sldIdLst>
        </p14:section>
        <p14:section name="1.계약통합목록" id="{BB5718C8-07C1-4018-9189-79486BE9C0C5}">
          <p14:sldIdLst>
            <p14:sldId id="621"/>
            <p14:sldId id="292"/>
            <p14:sldId id="891"/>
            <p14:sldId id="892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874"/>
            <p14:sldId id="875"/>
            <p14:sldId id="799"/>
            <p14:sldId id="800"/>
            <p14:sldId id="801"/>
            <p14:sldId id="668"/>
            <p14:sldId id="873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876"/>
            <p14:sldId id="877"/>
            <p14:sldId id="878"/>
            <p14:sldId id="879"/>
            <p14:sldId id="702"/>
            <p14:sldId id="811"/>
            <p14:sldId id="896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906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81"/>
            <p14:sldId id="882"/>
            <p14:sldId id="88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884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897"/>
            <p14:sldId id="743"/>
            <p14:sldId id="744"/>
            <p14:sldId id="91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899"/>
            <p14:sldId id="898"/>
            <p14:sldId id="900"/>
            <p14:sldId id="901"/>
            <p14:sldId id="902"/>
            <p14:sldId id="903"/>
            <p14:sldId id="904"/>
            <p14:sldId id="905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F4294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127" autoAdjust="0"/>
    <p:restoredTop sz="94660"/>
  </p:normalViewPr>
  <p:slideViewPr>
    <p:cSldViewPr snapToGrid="0">
      <p:cViewPr varScale="1">
        <p:scale>
          <a:sx n="108" d="100"/>
          <a:sy n="108" d="100"/>
        </p:scale>
        <p:origin x="78" y="96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notesMaster" Target="notesMasters/notesMaster1.xml"/><Relationship Id="rId200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handoutMaster" Target="handoutMasters/handoutMaster1.xml"/><Relationship Id="rId201" Type="http://schemas.openxmlformats.org/officeDocument/2006/relationships/tableStyles" Target="tableStyles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presProps" Target="presProps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2026-08-18 (Tuesday)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2026-08-18 (Tuesday)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59209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93730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2092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3186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019220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372544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664098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90580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577097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722549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03.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03.</a:t>
            </a:r>
            <a:r>
              <a:rPr lang="ko-KR" altLang="en-US" dirty="0"/>
              <a:t>계약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3855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25762898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286787"/>
          <a:ext cx="8782571" cy="3743598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.9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PMO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TF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검토요청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107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1319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073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001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13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5530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2" name="Group 759">
            <a:extLst>
              <a:ext uri="{FF2B5EF4-FFF2-40B4-BE49-F238E27FC236}">
                <a16:creationId xmlns:a16="http://schemas.microsoft.com/office/drawing/2014/main" id="{2D87D75F-48CB-BAC6-E8EC-9D54A13E8B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34058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91178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1658976"/>
              </p:ext>
            </p:extLst>
          </p:nvPr>
        </p:nvGraphicFramePr>
        <p:xfrm>
          <a:off x="635474" y="1413419"/>
          <a:ext cx="8701200" cy="4673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계약통합목록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MUI-CT-01-P02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반송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</a:rPr>
                        <a:t>취소사유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_Rsn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CmdtyElctrCtrtPrgrsDtl_Rsn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_Adoc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물품전자계약확정상세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확정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진행상세와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동일함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09198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5614089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물품일반계약서상세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물품수정계약서상세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861732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수정계약명세서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CmdtyMdfcnCtrdocDtl_MdfcnCtrt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CmdtyMdfcnCtrdocDtl_MdfcnCtrt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946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40329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물품총액계약서상세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87666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23959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1703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물품단가계약서상세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MUI-CT-01-T16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상세정보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523606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7708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672635"/>
              </p:ext>
            </p:extLst>
          </p:nvPr>
        </p:nvGraphicFramePr>
        <p:xfrm>
          <a:off x="635474" y="1413419"/>
          <a:ext cx="8701200" cy="49891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CmdtyUntprcCtrdocDtl_Ctrt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7931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CmdtyUntprcCtrdocDtl_Spcl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30978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공사전자계약진행상세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상세내용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9521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5596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5558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CstrnElctrCtrtPrgrsDtl_Adoc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5738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9575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037527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(4/6)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6265309"/>
              </p:ext>
            </p:extLst>
          </p:nvPr>
        </p:nvGraphicFramePr>
        <p:xfrm>
          <a:off x="635474" y="1413419"/>
          <a:ext cx="8701200" cy="34761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4673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연대보증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CstrnCtrdocDtl_Grnte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CstrnCtrdocDtl_Grnte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64090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물품최종계약명세서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물품수정계약명세서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물품일반계약명세서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대금지불 정보 목록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PymtDfryInfoList_SrchFilter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대금지불 정보 검색 필터 화면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PymtDfryInfoList_SrchFilter.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035463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대금지불정보조회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건의 대금지불 상세 정보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계약진행상태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2143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66546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2780469"/>
              </p:ext>
            </p:extLst>
          </p:nvPr>
        </p:nvGraphicFramePr>
        <p:xfrm>
          <a:off x="635474" y="1413419"/>
          <a:ext cx="8701200" cy="4592121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해제목록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MUI-CT-03-P07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해제일반계약상세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456456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해지해제정보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해제일반총액제계약상세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591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총액제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CncltnRmvGnrlCtrtGramtDtl_Artcl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46874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68716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50423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(6/6)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4360672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lt"/>
                          <a:ea typeface="+mn-ea"/>
                        </a:rPr>
                        <a:t>해제일반단가제계약상세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7361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64372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81311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해제수정계약상세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75842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CncltnRmvMdfcnCtrtDtl_Ctrt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14910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403509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해제공사계약상세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45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CstrnCtrtCncltnRmvDtl_Adoc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63196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84635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53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검색필터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계약통합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162468" y="988421"/>
            <a:ext cx="12700" cy="1281085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1971925" y="1772964"/>
            <a:ext cx="381085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1862964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반송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취소사유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40" idx="1"/>
          </p:cNvCxnSpPr>
          <p:nvPr/>
        </p:nvCxnSpPr>
        <p:spPr>
          <a:xfrm flipV="1">
            <a:off x="2754976" y="2199418"/>
            <a:ext cx="1308021" cy="2551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40" idx="1"/>
          </p:cNvCxnSpPr>
          <p:nvPr/>
        </p:nvCxnSpPr>
        <p:spPr>
          <a:xfrm flipV="1">
            <a:off x="2754976" y="2199418"/>
            <a:ext cx="1308021" cy="670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898280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1658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4699392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1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5506169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577375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연대보증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cxnSp>
        <p:nvCxnSpPr>
          <p:cNvPr id="1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42" idx="1"/>
          </p:cNvCxnSpPr>
          <p:nvPr/>
        </p:nvCxnSpPr>
        <p:spPr>
          <a:xfrm flipV="1">
            <a:off x="2754976" y="5035846"/>
            <a:ext cx="1308021" cy="871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148" idx="1"/>
          </p:cNvCxnSpPr>
          <p:nvPr/>
        </p:nvCxnSpPr>
        <p:spPr>
          <a:xfrm>
            <a:off x="2754976" y="5533510"/>
            <a:ext cx="1308021" cy="3091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3"/>
            <a:endCxn id="135" idx="1"/>
          </p:cNvCxnSpPr>
          <p:nvPr/>
        </p:nvCxnSpPr>
        <p:spPr>
          <a:xfrm>
            <a:off x="2754976" y="4118735"/>
            <a:ext cx="1308021" cy="1159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35" idx="1"/>
          </p:cNvCxnSpPr>
          <p:nvPr/>
        </p:nvCxnSpPr>
        <p:spPr>
          <a:xfrm flipV="1">
            <a:off x="2754976" y="4234734"/>
            <a:ext cx="1308021" cy="3023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097168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336475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수정계약명세서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3"/>
            <a:endCxn id="164" idx="1"/>
          </p:cNvCxnSpPr>
          <p:nvPr/>
        </p:nvCxnSpPr>
        <p:spPr>
          <a:xfrm flipV="1">
            <a:off x="2754976" y="3433622"/>
            <a:ext cx="1308021" cy="266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58" idx="2"/>
          </p:cNvCxnSpPr>
          <p:nvPr/>
        </p:nvCxnSpPr>
        <p:spPr>
          <a:xfrm>
            <a:off x="8482149" y="2199418"/>
            <a:ext cx="767178" cy="52750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58" idx="2"/>
          </p:cNvCxnSpPr>
          <p:nvPr/>
        </p:nvCxnSpPr>
        <p:spPr>
          <a:xfrm flipV="1">
            <a:off x="7402286" y="2726921"/>
            <a:ext cx="1847041" cy="706701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5" idx="3"/>
            <a:endCxn id="158" idx="2"/>
          </p:cNvCxnSpPr>
          <p:nvPr/>
        </p:nvCxnSpPr>
        <p:spPr>
          <a:xfrm flipV="1">
            <a:off x="7402286" y="2726921"/>
            <a:ext cx="1847041" cy="1507813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3"/>
            <a:endCxn id="158" idx="2"/>
          </p:cNvCxnSpPr>
          <p:nvPr/>
        </p:nvCxnSpPr>
        <p:spPr>
          <a:xfrm flipV="1">
            <a:off x="8482149" y="2726921"/>
            <a:ext cx="767178" cy="23089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8" idx="3"/>
            <a:endCxn id="158" idx="2"/>
          </p:cNvCxnSpPr>
          <p:nvPr/>
        </p:nvCxnSpPr>
        <p:spPr>
          <a:xfrm flipV="1">
            <a:off x="7402286" y="2726921"/>
            <a:ext cx="1847041" cy="3115702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58" idx="2"/>
          </p:cNvCxnSpPr>
          <p:nvPr/>
        </p:nvCxnSpPr>
        <p:spPr>
          <a:xfrm flipV="1">
            <a:off x="2754976" y="2726921"/>
            <a:ext cx="6494351" cy="557882"/>
          </a:xfrm>
          <a:prstGeom prst="bentConnector3">
            <a:avLst>
              <a:gd name="adj1" fmla="val 155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 smtClean="0"/>
              <a:t>전자계약상세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922870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화면에서 상태에 따라 팝업 화면을 표시함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 flipV="1">
            <a:off x="2873679" y="5246245"/>
            <a:ext cx="1312977" cy="797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8" idx="2"/>
          </p:cNvCxnSpPr>
          <p:nvPr/>
        </p:nvCxnSpPr>
        <p:spPr>
          <a:xfrm>
            <a:off x="5086656" y="2454537"/>
            <a:ext cx="4162671" cy="2723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8" idx="3"/>
            <a:endCxn id="158" idx="2"/>
          </p:cNvCxnSpPr>
          <p:nvPr/>
        </p:nvCxnSpPr>
        <p:spPr>
          <a:xfrm flipV="1">
            <a:off x="5086656" y="2726921"/>
            <a:ext cx="4162671" cy="3216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8" idx="2"/>
          </p:cNvCxnSpPr>
          <p:nvPr/>
        </p:nvCxnSpPr>
        <p:spPr>
          <a:xfrm flipV="1">
            <a:off x="5086656" y="2726921"/>
            <a:ext cx="4162671" cy="91560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58" idx="2"/>
          </p:cNvCxnSpPr>
          <p:nvPr/>
        </p:nvCxnSpPr>
        <p:spPr>
          <a:xfrm flipV="1">
            <a:off x="5086656" y="2726921"/>
            <a:ext cx="4162671" cy="15095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58" idx="2"/>
          </p:cNvCxnSpPr>
          <p:nvPr/>
        </p:nvCxnSpPr>
        <p:spPr>
          <a:xfrm flipV="1">
            <a:off x="5086656" y="2726921"/>
            <a:ext cx="4162671" cy="2519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>
            <a:off x="2873679" y="4567056"/>
            <a:ext cx="1312977" cy="6791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10224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계약진행상태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물품계약명세서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9045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물품최종계약명세서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4985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물품수정계약명세서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0925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물품일반계약명세서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7" idx="1"/>
          </p:cNvCxnSpPr>
          <p:nvPr/>
        </p:nvCxnSpPr>
        <p:spPr>
          <a:xfrm flipV="1">
            <a:off x="2868723" y="2454537"/>
            <a:ext cx="1317933" cy="9593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8" idx="1"/>
          </p:cNvCxnSpPr>
          <p:nvPr/>
        </p:nvCxnSpPr>
        <p:spPr>
          <a:xfrm flipV="1">
            <a:off x="2868723" y="3048531"/>
            <a:ext cx="1317933" cy="3653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9" idx="1"/>
          </p:cNvCxnSpPr>
          <p:nvPr/>
        </p:nvCxnSpPr>
        <p:spPr>
          <a:xfrm>
            <a:off x="2868723" y="3413929"/>
            <a:ext cx="1317933" cy="2285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80" idx="1"/>
          </p:cNvCxnSpPr>
          <p:nvPr/>
        </p:nvCxnSpPr>
        <p:spPr>
          <a:xfrm>
            <a:off x="2868723" y="3413929"/>
            <a:ext cx="1317933" cy="8225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smtClean="0"/>
              <a:t>전자계약상세</a:t>
            </a:r>
            <a:endParaRPr lang="ko-KR" altLang="en-US" sz="900" b="1"/>
          </a:p>
        </p:txBody>
      </p:sp>
    </p:spTree>
    <p:extLst>
      <p:ext uri="{BB962C8B-B14F-4D97-AF65-F5344CB8AC3E}">
        <p14:creationId xmlns:p14="http://schemas.microsoft.com/office/powerpoint/2010/main" val="30264348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2362692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05085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331272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3105237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219458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158" idx="2"/>
          </p:cNvCxnSpPr>
          <p:nvPr/>
        </p:nvCxnSpPr>
        <p:spPr>
          <a:xfrm>
            <a:off x="5097742" y="3194856"/>
            <a:ext cx="2565816" cy="38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1.2.2 </a:t>
            </a:r>
            <a:r>
              <a:rPr lang="ko-KR" altLang="en-US" sz="1200" dirty="0" smtClean="0">
                <a:solidFill>
                  <a:schemeClr val="tx1"/>
                </a:solidFill>
              </a:rPr>
              <a:t>대금지불 </a:t>
            </a:r>
            <a:r>
              <a:rPr lang="ko-KR" altLang="en-US" sz="1200" dirty="0">
                <a:solidFill>
                  <a:schemeClr val="tx1"/>
                </a:solidFill>
              </a:rPr>
              <a:t>정보 조회</a:t>
            </a:r>
          </a:p>
        </p:txBody>
      </p:sp>
      <p:grpSp>
        <p:nvGrpSpPr>
          <p:cNvPr id="21" name="그룹 2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22" name="그룹 21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27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>
                <a:solidFill>
                  <a:schemeClr val="tx1"/>
                </a:solidFill>
              </a:rPr>
              <a:t>대금지불정보</a:t>
            </a:r>
          </a:p>
        </p:txBody>
      </p:sp>
      <p:cxnSp>
        <p:nvCxnSpPr>
          <p:cNvPr id="3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1" idx="0"/>
            <a:endCxn id="6" idx="0"/>
          </p:cNvCxnSpPr>
          <p:nvPr/>
        </p:nvCxnSpPr>
        <p:spPr>
          <a:xfrm rot="16200000" flipV="1">
            <a:off x="3732175" y="1393125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31" idx="1"/>
          </p:cNvCxnSpPr>
          <p:nvPr/>
        </p:nvCxnSpPr>
        <p:spPr>
          <a:xfrm>
            <a:off x="3266608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69" idx="1"/>
          </p:cNvCxnSpPr>
          <p:nvPr/>
        </p:nvCxnSpPr>
        <p:spPr>
          <a:xfrm rot="16200000" flipH="1">
            <a:off x="3208093" y="2205207"/>
            <a:ext cx="598164" cy="138113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51556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63222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4227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108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2532221" y="1772964"/>
            <a:ext cx="372502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해제일반계약상세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54" idx="1"/>
          </p:cNvCxnSpPr>
          <p:nvPr/>
        </p:nvCxnSpPr>
        <p:spPr>
          <a:xfrm rot="16200000" flipH="1">
            <a:off x="1691020" y="2308164"/>
            <a:ext cx="1496965" cy="71456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718472" y="992713"/>
            <a:ext cx="12700" cy="1272502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7199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  <p:grpSp>
        <p:nvGrpSpPr>
          <p:cNvPr id="35" name="그룹 3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36" name="그룹 3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4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1635759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18964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19033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해지해제정보</a:t>
            </a:r>
          </a:p>
        </p:txBody>
      </p:sp>
      <p:sp>
        <p:nvSpPr>
          <p:cNvPr id="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18964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796784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276351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해제일반총액제계약상세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32164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해제일반단가제계약상세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36694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해제수정계약상세</a:t>
            </a:r>
          </a:p>
        </p:txBody>
      </p:sp>
      <p:sp>
        <p:nvSpPr>
          <p:cNvPr id="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904723" y="41224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해제공사계약상세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2456567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2717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272415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271729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3280475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354120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35480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354120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4103653"/>
            <a:ext cx="3330580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4364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607556" y="437124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436437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94703" y="4933723"/>
            <a:ext cx="2312853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418362" y="51944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상세정보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512959" y="51944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49" idx="1"/>
          </p:cNvCxnSpPr>
          <p:nvPr/>
        </p:nvCxnSpPr>
        <p:spPr>
          <a:xfrm flipV="1">
            <a:off x="3804723" y="1972213"/>
            <a:ext cx="489980" cy="482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60" idx="1"/>
          </p:cNvCxnSpPr>
          <p:nvPr/>
        </p:nvCxnSpPr>
        <p:spPr>
          <a:xfrm flipV="1">
            <a:off x="3804723" y="2793021"/>
            <a:ext cx="489980" cy="1144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6" idx="3"/>
            <a:endCxn id="64" idx="1"/>
          </p:cNvCxnSpPr>
          <p:nvPr/>
        </p:nvCxnSpPr>
        <p:spPr>
          <a:xfrm>
            <a:off x="3804723" y="3360489"/>
            <a:ext cx="489980" cy="25644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71" idx="1"/>
          </p:cNvCxnSpPr>
          <p:nvPr/>
        </p:nvCxnSpPr>
        <p:spPr>
          <a:xfrm>
            <a:off x="3804723" y="3813465"/>
            <a:ext cx="489980" cy="6266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9" idx="2"/>
            <a:endCxn id="77" idx="1"/>
          </p:cNvCxnSpPr>
          <p:nvPr/>
        </p:nvCxnSpPr>
        <p:spPr>
          <a:xfrm rot="16200000" flipH="1">
            <a:off x="3394845" y="4370319"/>
            <a:ext cx="859736" cy="9399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9" idx="3"/>
            <a:endCxn id="158" idx="2"/>
          </p:cNvCxnSpPr>
          <p:nvPr/>
        </p:nvCxnSpPr>
        <p:spPr>
          <a:xfrm>
            <a:off x="7625283" y="1972213"/>
            <a:ext cx="1624044" cy="4808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58" idx="2"/>
          </p:cNvCxnSpPr>
          <p:nvPr/>
        </p:nvCxnSpPr>
        <p:spPr>
          <a:xfrm flipV="1">
            <a:off x="7625283" y="2453073"/>
            <a:ext cx="1624044" cy="33994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58" idx="2"/>
          </p:cNvCxnSpPr>
          <p:nvPr/>
        </p:nvCxnSpPr>
        <p:spPr>
          <a:xfrm flipV="1">
            <a:off x="7625283" y="2453073"/>
            <a:ext cx="1624044" cy="1163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158" idx="2"/>
          </p:cNvCxnSpPr>
          <p:nvPr/>
        </p:nvCxnSpPr>
        <p:spPr>
          <a:xfrm flipV="1">
            <a:off x="7625283" y="2453073"/>
            <a:ext cx="1624044" cy="19870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5" idx="2"/>
          </p:cNvCxnSpPr>
          <p:nvPr/>
        </p:nvCxnSpPr>
        <p:spPr>
          <a:xfrm flipV="1">
            <a:off x="6607556" y="2693676"/>
            <a:ext cx="2731771" cy="257650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488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</a:rPr>
              <a:t>계약통합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상세내용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반송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취소사유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CmdtyElctrCtrtPrgrsDtl_Rsn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430039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물품수정계약서상세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수정계약명세서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CmdtyMdfcnCtrdocDtl_MdfcnCtrt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(2/8)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56474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물품단가계약서상세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상세내용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하자담보책임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CstrnElctrCtrtPrgrsDtl_Flw.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(3/8)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719464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공사계약서상세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하자담보책임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CstrnCtrdocDtl_Flw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연대보증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CstrnCtrdocDtl_Grnte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물품최종계약명세서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CmdtyLastCtrdocDtst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물품일반계약명세서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CmdtyGnrlCtrdocDtst.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(4/8)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계약진행상태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CtrtPrgrsSttsInq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17861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대금지불정보목록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>
                <a:solidFill>
                  <a:schemeClr val="tx1"/>
                </a:solidFill>
              </a:rPr>
              <a:t>대금지불정보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PymtDfryInfoList_SrchFilter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대금지불정보조회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(5/8)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079721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</a:rPr>
              <a:t>해제목록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CtrtCncltnRmvListPage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CtrtCncltnRmvList_SrchFilter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해제일반계약상세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계약업체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해지해제정보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CmdtyCtrtCncltnRmvDtl_Info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해제일반총액제계약상세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CncltnRmvGnrlCtrtGramtDtl_Cn.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(6/8)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288428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480906" y="5846371"/>
            <a:ext cx="1513997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CncltnRmvGnrlCtrtGramtDtl_Spcl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958505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</a:rPr>
              <a:t>해제일반단가제계약상세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CncltnRmvGnrlCtrtUntprcDtl_Artcl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CncltnRmvGnrlCtrtUntprcDtl_Spcl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해제수정계약상세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</a:t>
            </a:r>
            <a:r>
              <a:rPr lang="en-US" altLang="ko-KR" sz="1000" dirty="0" smtClean="0">
                <a:solidFill>
                  <a:schemeClr val="tx1"/>
                </a:solidFill>
              </a:rPr>
              <a:t>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800104" y="2990174"/>
            <a:ext cx="1159987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800104" y="2990174"/>
            <a:ext cx="1159987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800104" y="2990174"/>
            <a:ext cx="1159987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800104" y="2990174"/>
            <a:ext cx="1159987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특수조건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CncltnRmvMdfcnCtrtDtl_Spcl.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800104" y="2990174"/>
            <a:ext cx="1159987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(7/8)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53586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072904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해지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해제공사계약상세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072904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상세정보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072904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800104" y="1865266"/>
            <a:ext cx="1159987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800104" y="2465584"/>
            <a:ext cx="1159987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800104" y="2990174"/>
            <a:ext cx="1159987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 smtClean="0">
                <a:solidFill>
                  <a:schemeClr val="tx1"/>
                </a:solidFill>
              </a:rPr>
              <a:t>(8/8)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11984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상단 </a:t>
            </a:r>
            <a:r>
              <a:rPr lang="ko-KR" altLang="en-US" sz="700" dirty="0" err="1" smtClean="0"/>
              <a:t>업무도움은</a:t>
            </a:r>
            <a:r>
              <a:rPr lang="ko-KR" altLang="en-US" sz="700" dirty="0" smtClean="0"/>
              <a:t> 기본 값으로 접힘 상태로 정보 제공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/>
              <a:t>- </a:t>
            </a:r>
            <a:r>
              <a:rPr lang="ko-KR" altLang="en-US" sz="700" dirty="0"/>
              <a:t>기본값 </a:t>
            </a:r>
            <a:r>
              <a:rPr lang="en-US" altLang="ko-KR" sz="700" dirty="0"/>
              <a:t>: </a:t>
            </a:r>
            <a:r>
              <a:rPr lang="ko-KR" altLang="en-US" sz="700" dirty="0"/>
              <a:t>접힘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사용자 </a:t>
            </a:r>
            <a:r>
              <a:rPr lang="ko-KR" altLang="en-US" sz="700" dirty="0" err="1"/>
              <a:t>클릭시</a:t>
            </a:r>
            <a:r>
              <a:rPr lang="ko-KR" altLang="en-US" sz="700" dirty="0"/>
              <a:t> 확장하여 정보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업무도움</a:t>
            </a:r>
            <a:r>
              <a:rPr lang="en-US" altLang="ko-KR" sz="700" dirty="0" smtClean="0"/>
              <a:t> &gt; </a:t>
            </a:r>
            <a:r>
              <a:rPr lang="ko-KR" altLang="en-US" sz="700" dirty="0"/>
              <a:t>내역이 있는 경우 표시</a:t>
            </a:r>
            <a:r>
              <a:rPr lang="en-US" altLang="ko-KR" sz="700" dirty="0"/>
              <a:t>, </a:t>
            </a:r>
            <a:r>
              <a:rPr lang="ko-KR" altLang="en-US" sz="700" dirty="0"/>
              <a:t>내역이 없으면 항목을 표시하지 않음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항목 참고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>
                <a:latin typeface="+mn-ea"/>
              </a:rPr>
              <a:t>검색 필터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en-US" altLang="ko-KR" sz="800" dirty="0">
                <a:latin typeface="+mn-ea"/>
              </a:rPr>
              <a:t>MUI-CT-01-P02</a:t>
            </a:r>
            <a:r>
              <a:rPr lang="en-US" altLang="ko-KR" sz="700" dirty="0" smtClean="0">
                <a:latin typeface="+mn-ea"/>
              </a:rPr>
              <a:t>)</a:t>
            </a:r>
            <a:r>
              <a:rPr lang="ko-KR" altLang="en-US" sz="700" dirty="0" smtClean="0">
                <a:latin typeface="+mn-ea"/>
              </a:rPr>
              <a:t>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개수 영역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총 개수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표시 개수 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선택한 건수 만큼 보여주고 </a:t>
            </a:r>
            <a:r>
              <a:rPr lang="ko-KR" altLang="en-US" sz="700" dirty="0" err="1" smtClean="0"/>
              <a:t>더보기시</a:t>
            </a:r>
            <a:r>
              <a:rPr lang="ko-KR" altLang="en-US" sz="700" dirty="0" smtClean="0"/>
              <a:t> 추가로 불러옴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ko-KR" altLang="en-US" sz="700" dirty="0" smtClean="0"/>
              <a:t>목록 카드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카드 </a:t>
            </a:r>
            <a:r>
              <a:rPr lang="ko-KR" altLang="en-US" sz="700" dirty="0" err="1" smtClean="0"/>
              <a:t>클릭시</a:t>
            </a:r>
            <a:r>
              <a:rPr lang="ko-KR" altLang="en-US" sz="700" dirty="0" smtClean="0"/>
              <a:t> 상세 페이지 이동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3-1]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+</a:t>
            </a:r>
            <a:r>
              <a:rPr lang="ko-KR" altLang="en-US" sz="700" dirty="0" smtClean="0"/>
              <a:t>계약번호차수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700" dirty="0" smtClean="0"/>
              <a:t>- </a:t>
            </a:r>
            <a:r>
              <a:rPr lang="ko-KR" altLang="en-US" sz="700" dirty="0" smtClean="0"/>
              <a:t>레이블이 화면을 넘치는 경우 드래그하여 확인 가능 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스와이프기능</a:t>
            </a:r>
            <a:r>
              <a:rPr lang="ko-KR" altLang="en-US" sz="700" dirty="0" smtClean="0"/>
              <a:t> 반영 필요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4-1</a:t>
            </a:r>
            <a:r>
              <a:rPr lang="en-US" altLang="ko-KR" sz="700" dirty="0"/>
              <a:t>] </a:t>
            </a:r>
            <a:r>
              <a:rPr lang="ko-KR" altLang="en-US" sz="700" dirty="0" err="1"/>
              <a:t>표시레이블</a:t>
            </a:r>
            <a:r>
              <a:rPr lang="ko-KR" altLang="en-US" sz="700" dirty="0"/>
              <a:t> 영역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표시 레이블 참조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b="1" dirty="0" smtClean="0"/>
              <a:t>- AS-IS </a:t>
            </a:r>
            <a:r>
              <a:rPr lang="ko-KR" altLang="en-US" sz="700" b="1" dirty="0" smtClean="0"/>
              <a:t>항목은 기존 공고에 노출되어야 하는 항목</a:t>
            </a:r>
            <a:r>
              <a:rPr lang="en-US" altLang="ko-KR" sz="700" b="1" dirty="0" smtClean="0"/>
              <a:t/>
            </a:r>
            <a:br>
              <a:rPr lang="en-US" altLang="ko-KR" sz="700" b="1" dirty="0" smtClean="0"/>
            </a:br>
            <a:r>
              <a:rPr lang="en-US" altLang="ko-KR" sz="700" b="1" dirty="0" smtClean="0"/>
              <a:t>- TO-BE </a:t>
            </a:r>
            <a:r>
              <a:rPr lang="ko-KR" altLang="en-US" sz="700" b="1" dirty="0" smtClean="0"/>
              <a:t>항목은 고도화 이후 공고에 노출되어야 하는 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>
                <a:solidFill>
                  <a:srgbClr val="FF0000"/>
                </a:solidFill>
              </a:rPr>
              <a:t>4-2] </a:t>
            </a:r>
            <a:r>
              <a:rPr lang="ko-KR" altLang="en-US" sz="700" dirty="0" smtClean="0">
                <a:solidFill>
                  <a:srgbClr val="FF0000"/>
                </a:solidFill>
              </a:rPr>
              <a:t>항목 설명에 </a:t>
            </a:r>
            <a:r>
              <a:rPr lang="ko-KR" altLang="en-US" sz="700" dirty="0" err="1" smtClean="0">
                <a:solidFill>
                  <a:srgbClr val="FF0000"/>
                </a:solidFill>
              </a:rPr>
              <a:t>낙찰방법이</a:t>
            </a:r>
            <a:r>
              <a:rPr lang="ko-KR" altLang="en-US" sz="700" dirty="0" smtClean="0">
                <a:solidFill>
                  <a:srgbClr val="FF0000"/>
                </a:solidFill>
              </a:rPr>
              <a:t> 없으나</a:t>
            </a:r>
            <a:r>
              <a:rPr lang="en-US" altLang="ko-KR" sz="700" dirty="0" smtClean="0">
                <a:solidFill>
                  <a:srgbClr val="FF0000"/>
                </a:solidFill>
              </a:rPr>
              <a:t>, To-Be</a:t>
            </a:r>
            <a:r>
              <a:rPr lang="ko-KR" altLang="en-US" sz="700" dirty="0" smtClean="0">
                <a:solidFill>
                  <a:srgbClr val="FF0000"/>
                </a:solidFill>
              </a:rPr>
              <a:t>에 대한 개발 시 고려가 필요함</a:t>
            </a:r>
            <a:r>
              <a:rPr lang="en-US" altLang="ko-KR" sz="700" dirty="0" smtClean="0">
                <a:solidFill>
                  <a:srgbClr val="FF0000"/>
                </a:solidFill>
              </a:rPr>
              <a:t>. </a:t>
            </a:r>
            <a:r>
              <a:rPr lang="ko-KR" altLang="en-US" sz="700" dirty="0" smtClean="0">
                <a:solidFill>
                  <a:srgbClr val="FF0000"/>
                </a:solidFill>
              </a:rPr>
              <a:t>변경 가능성이 있음</a:t>
            </a:r>
            <a:r>
              <a:rPr lang="en-US" altLang="ko-KR" sz="700" dirty="0" smtClean="0">
                <a:solidFill>
                  <a:srgbClr val="FF0000"/>
                </a:solidFill>
              </a:rPr>
              <a:t>. </a:t>
            </a:r>
            <a:r>
              <a:rPr lang="en-US" altLang="ko-KR" sz="700" dirty="0">
                <a:solidFill>
                  <a:srgbClr val="FF0000"/>
                </a:solidFill>
              </a:rPr>
              <a:t>- 1. </a:t>
            </a:r>
            <a:r>
              <a:rPr lang="ko-KR" altLang="en-US" sz="700" dirty="0" err="1">
                <a:solidFill>
                  <a:srgbClr val="FF0000"/>
                </a:solidFill>
              </a:rPr>
              <a:t>대응개발</a:t>
            </a:r>
            <a:r>
              <a:rPr lang="ko-KR" altLang="en-US" sz="700" dirty="0">
                <a:solidFill>
                  <a:srgbClr val="FF0000"/>
                </a:solidFill>
              </a:rPr>
              <a:t> 관련 정리</a:t>
            </a:r>
            <a:r>
              <a:rPr lang="en-US" altLang="ko-KR" sz="700" dirty="0">
                <a:solidFill>
                  <a:srgbClr val="FF0000"/>
                </a:solidFill>
              </a:rPr>
              <a:t>_</a:t>
            </a:r>
            <a:r>
              <a:rPr lang="ko-KR" altLang="en-US" sz="700" dirty="0">
                <a:solidFill>
                  <a:srgbClr val="FF0000"/>
                </a:solidFill>
              </a:rPr>
              <a:t>통합사업관리</a:t>
            </a:r>
            <a:r>
              <a:rPr lang="en-US" altLang="ko-KR" sz="700" dirty="0">
                <a:solidFill>
                  <a:srgbClr val="FF0000"/>
                </a:solidFill>
              </a:rPr>
              <a:t>(</a:t>
            </a:r>
            <a:r>
              <a:rPr lang="ko-KR" altLang="en-US" sz="700" dirty="0">
                <a:solidFill>
                  <a:srgbClr val="FF0000"/>
                </a:solidFill>
              </a:rPr>
              <a:t>국내</a:t>
            </a:r>
            <a:r>
              <a:rPr lang="en-US" altLang="ko-KR" sz="700" dirty="0">
                <a:solidFill>
                  <a:srgbClr val="FF0000"/>
                </a:solidFill>
              </a:rPr>
              <a:t>).</a:t>
            </a:r>
            <a:r>
              <a:rPr lang="en-US" altLang="ko-KR" sz="700" dirty="0" err="1" smtClean="0">
                <a:solidFill>
                  <a:srgbClr val="FF0000"/>
                </a:solidFill>
              </a:rPr>
              <a:t>pptx</a:t>
            </a:r>
            <a:r>
              <a:rPr lang="en-US" altLang="ko-KR" sz="700" dirty="0" smtClean="0">
                <a:solidFill>
                  <a:srgbClr val="FF0000"/>
                </a:solidFill>
              </a:rPr>
              <a:t> </a:t>
            </a:r>
            <a:r>
              <a:rPr lang="ko-KR" altLang="en-US" sz="700" dirty="0" smtClean="0">
                <a:solidFill>
                  <a:srgbClr val="FF0000"/>
                </a:solidFill>
              </a:rPr>
              <a:t>파일의 </a:t>
            </a:r>
            <a:r>
              <a:rPr lang="en-US" altLang="ko-KR" sz="700" dirty="0" smtClean="0">
                <a:solidFill>
                  <a:srgbClr val="FF0000"/>
                </a:solidFill>
              </a:rPr>
              <a:t>[</a:t>
            </a:r>
            <a:r>
              <a:rPr lang="ko-KR" altLang="en-US" sz="700" dirty="0">
                <a:solidFill>
                  <a:srgbClr val="FF0000"/>
                </a:solidFill>
              </a:rPr>
              <a:t>계약방법</a:t>
            </a:r>
            <a:r>
              <a:rPr lang="en-US" altLang="ko-KR" sz="700" dirty="0">
                <a:solidFill>
                  <a:srgbClr val="FF0000"/>
                </a:solidFill>
              </a:rPr>
              <a:t>/</a:t>
            </a:r>
            <a:r>
              <a:rPr lang="ko-KR" altLang="en-US" sz="700" dirty="0" err="1">
                <a:solidFill>
                  <a:srgbClr val="FF0000"/>
                </a:solidFill>
              </a:rPr>
              <a:t>낙찰방법</a:t>
            </a:r>
            <a:r>
              <a:rPr lang="en-US" altLang="ko-KR" sz="700" dirty="0" smtClean="0">
                <a:solidFill>
                  <a:srgbClr val="FF0000"/>
                </a:solidFill>
              </a:rPr>
              <a:t>] </a:t>
            </a:r>
            <a:r>
              <a:rPr lang="ko-KR" altLang="en-US" sz="700" dirty="0" smtClean="0">
                <a:solidFill>
                  <a:srgbClr val="FF0000"/>
                </a:solidFill>
              </a:rPr>
              <a:t>참조 필요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4-3] </a:t>
            </a:r>
            <a:r>
              <a:rPr lang="ko-KR" altLang="en-US" sz="700" dirty="0" smtClean="0"/>
              <a:t>문서 정보 영역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판단번호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, 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노출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판단번호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전체노출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노출시</a:t>
            </a:r>
            <a:r>
              <a:rPr lang="ko-KR" altLang="en-US" sz="700" dirty="0" smtClean="0"/>
              <a:t> 해당 라인을 넘어가면 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: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+</a:t>
            </a:r>
            <a:r>
              <a:rPr lang="ko-KR" altLang="en-US" sz="700" dirty="0" smtClean="0"/>
              <a:t>계약번호차수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문서 제목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제목은 </a:t>
            </a:r>
            <a:r>
              <a:rPr lang="en-US" altLang="ko-KR" sz="700" dirty="0" smtClean="0"/>
              <a:t>2</a:t>
            </a:r>
            <a:r>
              <a:rPr lang="ko-KR" altLang="en-US" sz="700" dirty="0" smtClean="0"/>
              <a:t>줄 까지 노출 이후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수정계약사유가 있는 경우 노출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기능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- 3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표시 개수 영역에서 선택한 개수로 증가</a:t>
            </a:r>
            <a:r>
              <a:rPr lang="en-US" altLang="ko-KR" sz="700" dirty="0" smtClean="0"/>
              <a:t>.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예</a:t>
            </a:r>
            <a:r>
              <a:rPr lang="en-US" altLang="ko-KR" sz="700" dirty="0" smtClean="0"/>
              <a:t>) </a:t>
            </a:r>
            <a:r>
              <a:rPr lang="en-US" altLang="ko-KR" sz="700" dirty="0"/>
              <a:t>10</a:t>
            </a:r>
            <a:r>
              <a:rPr lang="ko-KR" altLang="en-US" sz="700" dirty="0"/>
              <a:t>개 노출 이후 </a:t>
            </a:r>
            <a:r>
              <a:rPr lang="ko-KR" altLang="en-US" sz="700" dirty="0" err="1"/>
              <a:t>더보기</a:t>
            </a:r>
            <a:r>
              <a:rPr lang="ko-KR" altLang="en-US" sz="700" dirty="0"/>
              <a:t> 버튼 클릭으로 </a:t>
            </a:r>
            <a:r>
              <a:rPr lang="en-US" altLang="ko-KR" sz="700" dirty="0"/>
              <a:t>10</a:t>
            </a:r>
            <a:r>
              <a:rPr lang="ko-KR" altLang="en-US" sz="700" dirty="0"/>
              <a:t>개씩 추가 </a:t>
            </a:r>
            <a:r>
              <a:rPr lang="ko-KR" altLang="en-US" sz="700" dirty="0" smtClean="0"/>
              <a:t>로드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endParaRPr lang="en-US" altLang="ko-KR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1189941"/>
            <a:chOff x="781461" y="3087955"/>
            <a:chExt cx="2473257" cy="118994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판단번호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/>
                <a:t>물품구매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585399"/>
              <a:ext cx="461665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수정계약사유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전자서명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208752" y="3585399"/>
              <a:ext cx="96821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수정계약사유가 표시됩니다</a:t>
              </a:r>
              <a:r>
                <a:rPr lang="en-US" altLang="ko-KR" sz="600" dirty="0" smtClean="0">
                  <a:latin typeface="+mn-ea"/>
                </a:rPr>
                <a:t>.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 1 / 4 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266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693033"/>
            <a:ext cx="2534331" cy="1083172"/>
            <a:chOff x="778515" y="2610063"/>
            <a:chExt cx="2534331" cy="1083172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 smtClean="0"/>
                <a:t>000</a:t>
              </a:r>
              <a:r>
                <a:rPr lang="ko-KR" altLang="en-US" sz="900" b="1" dirty="0" smtClean="0"/>
                <a:t>시설공사</a:t>
              </a:r>
              <a:endParaRPr lang="ko-KR" altLang="en-US" sz="900" b="1" dirty="0"/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전자서명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2,596,060,616,000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 1 / 4 </a:t>
              </a: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제한경쟁</a:t>
              </a:r>
              <a:endParaRPr lang="ko-KR" altLang="en-US" sz="600" dirty="0"/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5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3358" y="45075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1270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69303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70286" y="21800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" name="직사각형 2"/>
          <p:cNvSpPr/>
          <p:nvPr/>
        </p:nvSpPr>
        <p:spPr>
          <a:xfrm>
            <a:off x="7099526" y="6107754"/>
            <a:ext cx="230404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260617 -  </a:t>
            </a:r>
            <a:r>
              <a:rPr lang="ko-KR" altLang="en-US" sz="500" dirty="0" smtClean="0"/>
              <a:t>전체 특이사항 내용 수정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en-US" altLang="ko-KR" sz="500" dirty="0" smtClean="0"/>
              <a:t>3-1,4-2,4-3, </a:t>
            </a:r>
            <a:r>
              <a:rPr lang="ko-KR" altLang="en-US" sz="500" dirty="0" smtClean="0"/>
              <a:t>전자서명항목추가 </a:t>
            </a:r>
            <a:endParaRPr lang="en-US" altLang="ko-KR" sz="500" dirty="0" smtClean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3506" y="46127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1637" y="4994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4-3</a:t>
            </a:r>
            <a:endParaRPr lang="ko-KR" altLang="en-US" sz="600" b="1" dirty="0"/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7061" y="33960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11675403" y="728496"/>
            <a:ext cx="3644276" cy="1597126"/>
            <a:chOff x="3400784" y="3079596"/>
            <a:chExt cx="3644276" cy="1597126"/>
          </a:xfrm>
        </p:grpSpPr>
        <p:sp>
          <p:nvSpPr>
            <p:cNvPr id="106" name="모서리가 둥근 직사각형 105"/>
            <p:cNvSpPr/>
            <p:nvPr/>
          </p:nvSpPr>
          <p:spPr>
            <a:xfrm>
              <a:off x="4318634" y="321739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계약진행</a:t>
              </a:r>
              <a:endParaRPr lang="ko-KR" altLang="en-US" sz="600" dirty="0"/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4762118" y="3218847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계약수정</a:t>
              </a:r>
              <a:endParaRPr lang="ko-KR" altLang="en-US" sz="600" dirty="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3223238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err="1" smtClean="0">
                  <a:latin typeface="+mn-ea"/>
                </a:rPr>
                <a:t>계약상태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5221341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계약최종</a:t>
              </a:r>
              <a:endParaRPr lang="ko-KR" altLang="en-US" sz="600" dirty="0"/>
            </a:p>
          </p:txBody>
        </p:sp>
        <p:sp>
          <p:nvSpPr>
            <p:cNvPr id="110" name="모서리가 둥근 직사각형 109"/>
            <p:cNvSpPr/>
            <p:nvPr/>
          </p:nvSpPr>
          <p:spPr>
            <a:xfrm>
              <a:off x="6169583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계약해지</a:t>
              </a:r>
              <a:endParaRPr lang="ko-KR" altLang="en-US" sz="600" dirty="0"/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6641670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계약해제</a:t>
              </a:r>
              <a:endParaRPr lang="ko-KR" altLang="en-US" sz="600" dirty="0"/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4318634" y="3553817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서류요청</a:t>
              </a:r>
              <a:endParaRPr lang="ko-KR" altLang="en-US" sz="600" dirty="0"/>
            </a:p>
          </p:txBody>
        </p:sp>
        <p:sp>
          <p:nvSpPr>
            <p:cNvPr id="113" name="모서리가 둥근 직사각형 112"/>
            <p:cNvSpPr/>
            <p:nvPr/>
          </p:nvSpPr>
          <p:spPr>
            <a:xfrm>
              <a:off x="4762118" y="355526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서류등록</a:t>
              </a:r>
              <a:endParaRPr lang="ko-KR" altLang="en-US" sz="600" dirty="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3559656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진행상태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5221341" y="3555265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서류반려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5691577" y="3555265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체결의뢰</a:t>
              </a:r>
              <a:endParaRPr lang="ko-KR" altLang="en-US" sz="600" dirty="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67300" y="3079596"/>
              <a:ext cx="753411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계약해지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해제목록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3" name="모서리가 둥근 직사각형 132"/>
            <p:cNvSpPr/>
            <p:nvPr/>
          </p:nvSpPr>
          <p:spPr>
            <a:xfrm>
              <a:off x="5682205" y="3218847"/>
              <a:ext cx="40339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계약확정</a:t>
              </a:r>
              <a:endParaRPr lang="ko-KR" altLang="en-US" sz="600" dirty="0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400784" y="3904394"/>
              <a:ext cx="847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수정계약요청수신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0" name="모서리가 둥근 직사각형 199"/>
            <p:cNvSpPr/>
            <p:nvPr/>
          </p:nvSpPr>
          <p:spPr>
            <a:xfrm>
              <a:off x="4318555" y="3900003"/>
              <a:ext cx="1975904" cy="112113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r>
                <a:rPr lang="en-US" altLang="ko-KR" sz="700" dirty="0" err="1">
                  <a:latin typeface="+mn-ea"/>
                </a:rPr>
                <a:t>mdfcnCtrtDmndrcofc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400784" y="4124313"/>
              <a:ext cx="84791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수정계약사유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04" name="모서리가 둥근 직사각형 203"/>
            <p:cNvSpPr/>
            <p:nvPr/>
          </p:nvSpPr>
          <p:spPr>
            <a:xfrm>
              <a:off x="4318555" y="4119922"/>
              <a:ext cx="1975904" cy="112113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r>
                <a:rPr lang="en-US" altLang="ko-KR" sz="700" dirty="0" err="1" smtClean="0">
                  <a:latin typeface="+mn-ea"/>
                </a:rPr>
                <a:t>mdfcnRncd</a:t>
              </a:r>
              <a:r>
                <a:rPr lang="en-US" altLang="ko-KR" sz="700" dirty="0" smtClean="0">
                  <a:latin typeface="+mn-ea"/>
                </a:rPr>
                <a:t> , </a:t>
              </a:r>
              <a:r>
                <a:rPr lang="ko-KR" altLang="en-US" sz="700" dirty="0" err="1">
                  <a:latin typeface="+mn-ea"/>
                </a:rPr>
                <a:t>상위코드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en-US" altLang="ko-KR" sz="700" dirty="0" smtClean="0">
                  <a:latin typeface="+mn-ea"/>
                </a:rPr>
                <a:t>MRC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3451189" y="3799851"/>
              <a:ext cx="3104851" cy="571521"/>
            </a:xfrm>
            <a:prstGeom prst="rect">
              <a:avLst/>
            </a:prstGeom>
            <a:noFill/>
            <a:ln w="12700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4308589" y="4556396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첨부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4752286" y="4556396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smtClean="0"/>
                <a:t>첨언</a:t>
              </a:r>
              <a:endParaRPr lang="ko-KR" altLang="en-US" sz="600" dirty="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701349" y="4569000"/>
              <a:ext cx="54734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 smtClean="0">
                  <a:latin typeface="+mn-ea"/>
                </a:rPr>
                <a:t>기타</a:t>
              </a:r>
              <a:endParaRPr lang="ko-KR" altLang="en-US" sz="700" dirty="0">
                <a:latin typeface="+mn-ea"/>
              </a:endParaRPr>
            </a:p>
          </p:txBody>
        </p:sp>
      </p:grpSp>
      <p:graphicFrame>
        <p:nvGraphicFramePr>
          <p:cNvPr id="194" name="표 1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628347"/>
              </p:ext>
            </p:extLst>
          </p:nvPr>
        </p:nvGraphicFramePr>
        <p:xfrm>
          <a:off x="3801286" y="1616448"/>
          <a:ext cx="3069778" cy="484124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ctrtMthdCd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700" dirty="0" smtClean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일반경쟁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지명경쟁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제한경쟁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수의계약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역경매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복수경쟁</a:t>
                      </a:r>
                      <a:r>
                        <a:rPr lang="en-US" altLang="ko-KR" sz="700" dirty="0" smtClean="0"/>
                        <a:t>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동시</a:t>
                      </a:r>
                      <a:r>
                        <a:rPr lang="en-US" altLang="ko-KR" sz="700" dirty="0" smtClean="0"/>
                        <a:t>),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분리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서류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전자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종합낙찰제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90872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ctrtMthdCd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700" dirty="0" smtClean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일반경쟁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지명경쟁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제한경쟁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수의계약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535652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입찰방법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bidMthdCd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총액제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리스입찰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최저가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최저가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적격심사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err="1" smtClean="0"/>
                        <a:t>종합심사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내역입찰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설계시공일괄입찰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5755228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/>
                        <a:t>입찰방법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bidMthdCd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총액제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단가제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리스입찰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5764016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/>
                        <a:t>낙찰방법</a:t>
                      </a:r>
                      <a:endParaRPr lang="en-US" altLang="ko-KR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As-Is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제한적최저가격제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적격심사제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협상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최저가격제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072897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/>
                        <a:t>낙찰방법</a:t>
                      </a:r>
                      <a:endParaRPr lang="en-US" altLang="ko-KR" sz="700" dirty="0" smtClean="0"/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To-Be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제한적최저가격제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적격심사제</a:t>
                      </a:r>
                      <a:r>
                        <a:rPr lang="en-US" altLang="ko-KR" sz="700" dirty="0" smtClean="0"/>
                        <a:t>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동시</a:t>
                      </a:r>
                      <a:r>
                        <a:rPr lang="en-US" altLang="ko-KR" sz="700" dirty="0" smtClean="0"/>
                        <a:t>), 2</a:t>
                      </a:r>
                      <a:r>
                        <a:rPr lang="ko-KR" altLang="en-US" sz="700" dirty="0" err="1" smtClean="0"/>
                        <a:t>단계경쟁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분리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역경매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서류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협상에의한계약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전자</a:t>
                      </a:r>
                      <a:r>
                        <a:rPr lang="en-US" altLang="ko-KR" sz="700" dirty="0" smtClean="0"/>
                        <a:t>), </a:t>
                      </a:r>
                      <a:r>
                        <a:rPr lang="ko-KR" altLang="en-US" sz="700" dirty="0" err="1" smtClean="0"/>
                        <a:t>종합낙찰제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종합심사제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설계시공일괄입찰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공개수의협상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ko-KR" altLang="en-US" sz="700" dirty="0" smtClean="0"/>
                        <a:t>가칭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940519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진행상태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ctrtPrgrsStcd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/>
                        <a:t>서류요청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서류등록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서류반려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err="1" smtClean="0"/>
                        <a:t>체결의뢰</a:t>
                      </a:r>
                      <a:r>
                        <a:rPr lang="ko-KR" altLang="en-US" sz="700" dirty="0" smtClean="0"/>
                        <a:t> 등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866750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addCn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+mn-ea"/>
                          <a:ea typeface="+mn-ea"/>
                        </a:rPr>
                        <a:t>값이 있는 경우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첨언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525123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 err="1" smtClean="0">
                          <a:latin typeface="+mn-ea"/>
                          <a:ea typeface="+mn-ea"/>
                        </a:rPr>
                        <a:t>docId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+mn-ea"/>
                          <a:ea typeface="+mn-ea"/>
                        </a:rPr>
                        <a:t>값이 있는 경우</a:t>
                      </a:r>
                      <a:endParaRPr lang="ko-KR" altLang="en-US" sz="700" dirty="0" smtClean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첨부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00407882"/>
                  </a:ext>
                </a:extLst>
              </a:tr>
            </a:tbl>
          </a:graphicData>
        </a:graphic>
      </p:graphicFrame>
      <p:graphicFrame>
        <p:nvGraphicFramePr>
          <p:cNvPr id="197" name="표 196">
            <a:extLst>
              <a:ext uri="{FF2B5EF4-FFF2-40B4-BE49-F238E27FC236}">
                <a16:creationId xmlns:a16="http://schemas.microsoft.com/office/drawing/2014/main" id="{B522DA37-28F9-9CCB-AF10-E2C7941DD5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134719"/>
              </p:ext>
            </p:extLst>
          </p:nvPr>
        </p:nvGraphicFramePr>
        <p:xfrm>
          <a:off x="10179512" y="3920563"/>
          <a:ext cx="2995706" cy="2768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4674">
                  <a:extLst>
                    <a:ext uri="{9D8B030D-6E8A-4147-A177-3AD203B41FA5}">
                      <a16:colId xmlns:a16="http://schemas.microsoft.com/office/drawing/2014/main" val="4063926960"/>
                    </a:ext>
                  </a:extLst>
                </a:gridCol>
                <a:gridCol w="966358">
                  <a:extLst>
                    <a:ext uri="{9D8B030D-6E8A-4147-A177-3AD203B41FA5}">
                      <a16:colId xmlns:a16="http://schemas.microsoft.com/office/drawing/2014/main" val="2948377824"/>
                    </a:ext>
                  </a:extLst>
                </a:gridCol>
                <a:gridCol w="1014674">
                  <a:extLst>
                    <a:ext uri="{9D8B030D-6E8A-4147-A177-3AD203B41FA5}">
                      <a16:colId xmlns:a16="http://schemas.microsoft.com/office/drawing/2014/main" val="3761576444"/>
                    </a:ext>
                  </a:extLst>
                </a:gridCol>
              </a:tblGrid>
              <a:tr h="2206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계약방법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(CTMC)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입찰방법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(BDTC)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낙찰방법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(CCMT)</a:t>
                      </a:r>
                      <a:endParaRPr lang="ko-KR" altLang="en-US" sz="10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876900"/>
                  </a:ext>
                </a:extLst>
              </a:tr>
              <a:tr h="1547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일반경쟁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총액제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제한적최저가격제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23699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지명경쟁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304345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제한경쟁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리스입찰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7243502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수의계약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최저가격제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888237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역경매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최저가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2588190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복수경쟁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550853"/>
                  </a:ext>
                </a:extLst>
              </a:tr>
              <a:tr h="239581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동시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종합심사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613884"/>
                  </a:ext>
                </a:extLst>
              </a:tr>
              <a:tr h="272480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분리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내역입찰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설계시공일괄입찰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2759089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서류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829222"/>
                  </a:ext>
                </a:extLst>
              </a:tr>
              <a:tr h="272344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전자</a:t>
                      </a:r>
                      <a:r>
                        <a:rPr lang="en-US" altLang="ko-KR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8270891"/>
                  </a:ext>
                </a:extLst>
              </a:tr>
              <a:tr h="212833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종합낙찰제</a:t>
                      </a: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3422"/>
                  </a:ext>
                </a:extLst>
              </a:tr>
            </a:tbl>
          </a:graphicData>
        </a:graphic>
      </p:graphicFrame>
      <p:graphicFrame>
        <p:nvGraphicFramePr>
          <p:cNvPr id="199" name="표 198">
            <a:extLst>
              <a:ext uri="{FF2B5EF4-FFF2-40B4-BE49-F238E27FC236}">
                <a16:creationId xmlns:a16="http://schemas.microsoft.com/office/drawing/2014/main" id="{7CCF8D95-8489-327A-F2B5-78561D8A93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0765973"/>
              </p:ext>
            </p:extLst>
          </p:nvPr>
        </p:nvGraphicFramePr>
        <p:xfrm>
          <a:off x="13190302" y="3920563"/>
          <a:ext cx="2995705" cy="27687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80203">
                  <a:extLst>
                    <a:ext uri="{9D8B030D-6E8A-4147-A177-3AD203B41FA5}">
                      <a16:colId xmlns:a16="http://schemas.microsoft.com/office/drawing/2014/main" val="4063926960"/>
                    </a:ext>
                  </a:extLst>
                </a:gridCol>
                <a:gridCol w="880203">
                  <a:extLst>
                    <a:ext uri="{9D8B030D-6E8A-4147-A177-3AD203B41FA5}">
                      <a16:colId xmlns:a16="http://schemas.microsoft.com/office/drawing/2014/main" val="2948377824"/>
                    </a:ext>
                  </a:extLst>
                </a:gridCol>
                <a:gridCol w="1235299">
                  <a:extLst>
                    <a:ext uri="{9D8B030D-6E8A-4147-A177-3AD203B41FA5}">
                      <a16:colId xmlns:a16="http://schemas.microsoft.com/office/drawing/2014/main" val="3761576444"/>
                    </a:ext>
                  </a:extLst>
                </a:gridCol>
              </a:tblGrid>
              <a:tr h="2229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계약방법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(CTMC)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입찰방법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(BDTC)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낙찰방법</a:t>
                      </a:r>
                      <a:r>
                        <a:rPr lang="en-US" altLang="ko-KR" sz="10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(CCMT)</a:t>
                      </a:r>
                      <a:endParaRPr lang="ko-KR" altLang="en-US" sz="10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876900"/>
                  </a:ext>
                </a:extLst>
              </a:tr>
              <a:tr h="1578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일반경쟁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총액제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제한적최저가격제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23699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지명경쟁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단가제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적격심사제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304345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제한경쟁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리스입찰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동시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724350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수의계약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2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단계경쟁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분리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888237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+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산출내역서적용여부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역경매</a:t>
                      </a:r>
                      <a:endParaRPr lang="en-US" altLang="ko-KR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2588190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서류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550853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협상에의한계약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전자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613884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종합낙찰제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2759089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종합심사제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82922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설계시공일괄입찰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8270891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공개수의협상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가칭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3422"/>
                  </a:ext>
                </a:extLst>
              </a:tr>
              <a:tr h="217086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비공개수의협상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가칭</a:t>
                      </a:r>
                      <a:r>
                        <a:rPr lang="en-US" altLang="ko-KR" sz="7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HG꼬딕씨_Pro 40g" panose="02020603020101020101" pitchFamily="18" charset="-127"/>
                          <a:ea typeface="HG꼬딕씨_Pro 40g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700" b="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HG꼬딕씨_Pro 40g" panose="02020603020101020101" pitchFamily="18" charset="-127"/>
                        <a:ea typeface="HG꼬딕씨_Pro 40g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7014058"/>
                  </a:ext>
                </a:extLst>
              </a:tr>
            </a:tbl>
          </a:graphicData>
        </a:graphic>
      </p:graphicFrame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45245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4-2</a:t>
            </a:r>
            <a:endParaRPr lang="ko-KR" altLang="en-US" sz="600" b="1" dirty="0"/>
          </a:p>
        </p:txBody>
      </p:sp>
      <p:sp>
        <p:nvSpPr>
          <p:cNvPr id="9" name="TextBox 8"/>
          <p:cNvSpPr txBox="1"/>
          <p:nvPr/>
        </p:nvSpPr>
        <p:spPr>
          <a:xfrm>
            <a:off x="11270650" y="3601752"/>
            <a:ext cx="7441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AS-IS</a:t>
            </a:r>
            <a:endParaRPr lang="ko-KR" altLang="en-US" dirty="0"/>
          </a:p>
        </p:txBody>
      </p:sp>
      <p:sp>
        <p:nvSpPr>
          <p:cNvPr id="210" name="TextBox 209"/>
          <p:cNvSpPr txBox="1"/>
          <p:nvPr/>
        </p:nvSpPr>
        <p:spPr>
          <a:xfrm>
            <a:off x="14182526" y="3601752"/>
            <a:ext cx="8227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TO-BE</a:t>
            </a:r>
            <a:endParaRPr lang="ko-KR" altLang="en-US" dirty="0"/>
          </a:p>
        </p:txBody>
      </p:sp>
      <p:grpSp>
        <p:nvGrpSpPr>
          <p:cNvPr id="211" name="그룹 2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212" name="직사각형 2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213" name="직사각형 2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</a:t>
              </a:r>
              <a:r>
                <a:rPr lang="ko-KR" altLang="en-US" sz="700" dirty="0" smtClean="0"/>
                <a:t> 설명 추가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변경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카드 목록 </a:t>
              </a:r>
              <a:r>
                <a:rPr lang="en-US" altLang="ko-KR" sz="700" dirty="0" smtClean="0"/>
                <a:t>-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수정계약</a:t>
              </a:r>
              <a:r>
                <a:rPr lang="ko-KR" altLang="en-US" sz="700" dirty="0" smtClean="0"/>
                <a:t> 사유 추가</a:t>
              </a:r>
              <a:endParaRPr lang="ko-KR" altLang="en-US" sz="700" dirty="0"/>
            </a:p>
          </p:txBody>
        </p:sp>
      </p:grpSp>
      <p:sp>
        <p:nvSpPr>
          <p:cNvPr id="15" name="직사각형 14"/>
          <p:cNvSpPr/>
          <p:nvPr/>
        </p:nvSpPr>
        <p:spPr>
          <a:xfrm>
            <a:off x="9999345" y="3148635"/>
            <a:ext cx="21226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/>
              <a:t>계약방법</a:t>
            </a:r>
            <a:r>
              <a:rPr lang="en-US" altLang="ko-KR" dirty="0"/>
              <a:t>/</a:t>
            </a:r>
            <a:r>
              <a:rPr lang="ko-KR" altLang="en-US" dirty="0" err="1"/>
              <a:t>낙찰방법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페이지 타이틀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1-1] </a:t>
            </a:r>
            <a:r>
              <a:rPr lang="ko-KR" altLang="en-US" sz="700" dirty="0" smtClean="0"/>
              <a:t>초기화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1-2] </a:t>
            </a:r>
            <a:r>
              <a:rPr lang="ko-KR" altLang="en-US" sz="700" dirty="0" smtClean="0"/>
              <a:t>창 닫기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각 </a:t>
            </a:r>
            <a:r>
              <a:rPr lang="ko-KR" altLang="en-US" sz="700" dirty="0" err="1"/>
              <a:t>섹션명</a:t>
            </a:r>
            <a:r>
              <a:rPr lang="ko-KR" altLang="en-US" sz="700" dirty="0"/>
              <a:t> 클릭 시 아코디언 </a:t>
            </a:r>
            <a:r>
              <a:rPr lang="ko-KR" altLang="en-US" sz="700" dirty="0" smtClean="0"/>
              <a:t>동작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업무 구분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필수값</a:t>
            </a:r>
            <a:r>
              <a:rPr lang="en-US" altLang="ko-KR" sz="700" dirty="0" smtClean="0"/>
              <a:t>)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전체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검색 설정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서류요청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수신일자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계약일자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당일 포함 과거 </a:t>
            </a:r>
            <a:r>
              <a:rPr lang="en-US" altLang="ko-KR" sz="700" dirty="0" smtClean="0"/>
              <a:t>1</a:t>
            </a:r>
            <a:r>
              <a:rPr lang="ko-KR" altLang="en-US" sz="700" dirty="0" smtClean="0"/>
              <a:t>개월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7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3-1)</a:t>
            </a:r>
            <a:r>
              <a:rPr lang="ko-KR" altLang="en-US" sz="700" dirty="0" smtClean="0"/>
              <a:t>직접 입력 가능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/>
              <a:t>좌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과거 우</a:t>
            </a:r>
            <a:r>
              <a:rPr lang="en-US" altLang="ko-KR" sz="700" dirty="0" smtClean="0"/>
              <a:t>)</a:t>
            </a:r>
            <a:r>
              <a:rPr lang="ko-KR" altLang="en-US" sz="700" dirty="0" err="1" smtClean="0"/>
              <a:t>현재로한다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 값은 미래를 선택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입력 할 </a:t>
            </a:r>
            <a:r>
              <a:rPr lang="ko-KR" altLang="en-US" sz="700" dirty="0" err="1" smtClean="0"/>
              <a:t>수없다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 </a:t>
            </a:r>
            <a:r>
              <a:rPr lang="ko-KR" altLang="en-US" sz="700" dirty="0" smtClean="0"/>
              <a:t>값이 미래를 입력한 경우 오늘로 자동 변경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당일 기준 최대 </a:t>
            </a:r>
            <a:r>
              <a:rPr lang="en-US" altLang="ko-KR" sz="700" dirty="0"/>
              <a:t>1</a:t>
            </a:r>
            <a:r>
              <a:rPr lang="ko-KR" altLang="en-US" sz="700" dirty="0" smtClean="0"/>
              <a:t>년</a:t>
            </a:r>
            <a:r>
              <a:rPr lang="en-US" altLang="ko-KR" sz="700" dirty="0" smtClean="0"/>
              <a:t>(365</a:t>
            </a:r>
            <a:r>
              <a:rPr lang="ko-KR" altLang="en-US" sz="700" dirty="0" smtClean="0"/>
              <a:t>일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까지 조회 가능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3-2) </a:t>
            </a:r>
            <a:r>
              <a:rPr lang="ko-KR" altLang="en-US" sz="700" dirty="0" smtClean="0"/>
              <a:t>아이콘 </a:t>
            </a:r>
            <a:r>
              <a:rPr lang="en-US" altLang="ko-KR" sz="700" dirty="0" smtClean="0">
                <a:sym typeface="Wingdings" panose="05000000000000000000" pitchFamily="2" charset="2"/>
              </a:rPr>
              <a:t> </a:t>
            </a:r>
            <a:r>
              <a:rPr lang="ko-KR" altLang="en-US" sz="7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700" dirty="0" smtClean="0">
                <a:sym typeface="Wingdings" panose="05000000000000000000" pitchFamily="2" charset="2"/>
              </a:rPr>
              <a:t> 호출</a:t>
            </a:r>
            <a:r>
              <a:rPr lang="en-US" altLang="ko-KR" sz="700" dirty="0" smtClean="0">
                <a:sym typeface="Wingdings" panose="05000000000000000000" pitchFamily="2" charset="2"/>
              </a:rPr>
              <a:t>(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700" dirty="0" smtClean="0">
                <a:sym typeface="Wingdings" panose="05000000000000000000" pitchFamily="2" charset="2"/>
              </a:rPr>
              <a:t>)</a:t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3-3) </a:t>
            </a:r>
            <a:r>
              <a:rPr lang="ko-KR" altLang="en-US" sz="700" dirty="0" smtClean="0">
                <a:sym typeface="Wingdings" panose="05000000000000000000" pitchFamily="2" charset="2"/>
              </a:rPr>
              <a:t>최근</a:t>
            </a:r>
            <a:r>
              <a:rPr lang="en-US" altLang="ko-KR" sz="700" dirty="0" smtClean="0">
                <a:sym typeface="Wingdings" panose="05000000000000000000" pitchFamily="2" charset="2"/>
              </a:rPr>
              <a:t>1,3,6</a:t>
            </a:r>
            <a:r>
              <a:rPr lang="ko-KR" altLang="en-US" sz="7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700" dirty="0" smtClean="0">
                <a:sym typeface="Wingdings" panose="05000000000000000000" pitchFamily="2" charset="2"/>
              </a:rPr>
              <a:t>30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 90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,180</a:t>
            </a:r>
            <a:r>
              <a:rPr lang="ko-KR" altLang="en-US" sz="7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7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700" dirty="0" smtClean="0">
                <a:sym typeface="Wingdings" panose="05000000000000000000" pitchFamily="2" charset="2"/>
              </a:rPr>
              <a:t> 영역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글자검색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: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strike="sngStrike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계약 번호 </a:t>
            </a:r>
            <a:r>
              <a:rPr lang="en-US" altLang="ko-KR" sz="700" dirty="0">
                <a:sym typeface="Wingdings" panose="05000000000000000000" pitchFamily="2" charset="2"/>
              </a:rPr>
              <a:t>(MUI-EX-02-P79)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입찰 발주부서기관 검색</a:t>
            </a:r>
            <a:r>
              <a:rPr lang="en-US" altLang="ko-KR" sz="700" dirty="0" smtClean="0">
                <a:sym typeface="Wingdings" panose="05000000000000000000" pitchFamily="2" charset="2"/>
              </a:rPr>
              <a:t>(MUI-BD-01-P04)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구분 설정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sz="700" dirty="0" smtClean="0">
                <a:sym typeface="Wingdings" panose="05000000000000000000" pitchFamily="2" charset="2"/>
              </a:rPr>
              <a:t> 설정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항목 설명 </a:t>
            </a:r>
            <a:r>
              <a:rPr lang="ko-KR" altLang="en-US" sz="700" dirty="0" smtClean="0">
                <a:solidFill>
                  <a:prstClr val="black"/>
                </a:solidFill>
              </a:rPr>
              <a:t>페이지 참고</a:t>
            </a:r>
            <a:endParaRPr lang="en-US" altLang="ko-KR" sz="7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700" dirty="0" smtClean="0">
                <a:sym typeface="Wingdings" panose="05000000000000000000" pitchFamily="2" charset="2"/>
              </a:rPr>
              <a:t> 처리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endParaRPr lang="en-US" altLang="ko-KR" sz="7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endParaRPr lang="en-US" altLang="ko-KR" sz="7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계약통합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MUI-CT-01-P02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22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373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69626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서류요청</a:t>
            </a:r>
            <a:r>
              <a:rPr lang="ko-KR" altLang="en-US" sz="700" dirty="0" smtClean="0">
                <a:latin typeface="+mn-ea"/>
              </a:rPr>
              <a:t> 수신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1420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3899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384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4568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3899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005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728026"/>
            <a:chOff x="3795734" y="1919434"/>
            <a:chExt cx="2712027" cy="728026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 설정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4524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1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업무구분</a:t>
            </a:r>
            <a:r>
              <a:rPr lang="ko-KR" altLang="en-US" sz="700" b="1" dirty="0">
                <a:latin typeface="+mn-ea"/>
              </a:rPr>
              <a:t>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1042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용역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459897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4574391" y="2237253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530637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2174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49805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69752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0474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49805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963362"/>
            <a:chOff x="772169" y="2297325"/>
            <a:chExt cx="107950" cy="963362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5" name="직사각형 184"/>
            <p:cNvSpPr/>
            <p:nvPr/>
          </p:nvSpPr>
          <p:spPr>
            <a:xfrm>
              <a:off x="772169" y="315273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직사각형 150"/>
          <p:cNvSpPr/>
          <p:nvPr/>
        </p:nvSpPr>
        <p:spPr>
          <a:xfrm>
            <a:off x="7100725" y="6106561"/>
            <a:ext cx="229040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/>
              <a:t>260617 -  </a:t>
            </a:r>
            <a:r>
              <a:rPr lang="ko-KR" altLang="en-US" sz="500" dirty="0"/>
              <a:t>전체 특이사항 내용 </a:t>
            </a:r>
            <a:r>
              <a:rPr lang="ko-KR" altLang="en-US" sz="500" dirty="0" smtClean="0"/>
              <a:t>수정</a:t>
            </a:r>
            <a:r>
              <a:rPr lang="en-US" altLang="ko-KR" sz="500" dirty="0" smtClean="0"/>
              <a:t>4-1~3 </a:t>
            </a:r>
            <a:r>
              <a:rPr lang="ko-KR" altLang="en-US" sz="500" dirty="0" smtClean="0"/>
              <a:t>추가</a:t>
            </a:r>
            <a:endParaRPr lang="en-US" altLang="ko-KR" sz="5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910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3-3</a:t>
            </a:r>
            <a:endParaRPr lang="ko-KR" altLang="en-US" sz="500" b="1" dirty="0"/>
          </a:p>
        </p:txBody>
      </p:sp>
      <p:grpSp>
        <p:nvGrpSpPr>
          <p:cNvPr id="167" name="그룹 16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71" name="직사각형 1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화면과 일치 수정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검색유형</a:t>
              </a:r>
              <a:r>
                <a:rPr lang="ko-KR" altLang="en-US" sz="700" dirty="0" smtClean="0"/>
                <a:t> 구분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구분 설정 일부 삭제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팝업 시트 검색 추가</a:t>
              </a:r>
              <a:endParaRPr lang="ko-KR" altLang="en-US" sz="7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 rot="16200000">
            <a:off x="6266061" y="2303330"/>
            <a:ext cx="91438" cy="45719"/>
            <a:chOff x="6812560" y="3297172"/>
            <a:chExt cx="94010" cy="47005"/>
          </a:xfrm>
        </p:grpSpPr>
        <p:cxnSp>
          <p:nvCxnSpPr>
            <p:cNvPr id="187" name="직선 연결선 18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8" name="직선 연결선 18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2" name="직사각형 191"/>
          <p:cNvSpPr/>
          <p:nvPr/>
        </p:nvSpPr>
        <p:spPr>
          <a:xfrm>
            <a:off x="7100725" y="5852989"/>
            <a:ext cx="2290404" cy="21991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260714 </a:t>
            </a:r>
            <a:r>
              <a:rPr lang="en-US" altLang="ko-KR" sz="500" dirty="0"/>
              <a:t>-  </a:t>
            </a:r>
            <a:r>
              <a:rPr lang="en-US" altLang="ko-KR" sz="500" dirty="0" smtClean="0"/>
              <a:t>AS-IS </a:t>
            </a:r>
            <a:r>
              <a:rPr lang="ko-KR" altLang="en-US" sz="500" dirty="0" smtClean="0"/>
              <a:t>화면에서는 검색 </a:t>
            </a:r>
            <a:r>
              <a:rPr lang="ko-KR" altLang="en-US" sz="500" dirty="0" err="1" smtClean="0"/>
              <a:t>계약건명이</a:t>
            </a:r>
            <a:r>
              <a:rPr lang="ko-KR" altLang="en-US" sz="500" dirty="0" smtClean="0"/>
              <a:t> 존재하여 유지함</a:t>
            </a:r>
            <a:r>
              <a:rPr lang="en-US" altLang="ko-KR" sz="500" dirty="0" smtClean="0"/>
              <a:t>.</a:t>
            </a:r>
            <a:endParaRPr lang="en-US" altLang="ko-KR" sz="500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21395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계약건명</a:t>
              </a:r>
              <a:r>
                <a:rPr lang="ko-KR" altLang="en-US" sz="700" dirty="0" smtClean="0"/>
                <a:t> 검색 삭제 </a:t>
              </a:r>
              <a:r>
                <a:rPr lang="en-US" altLang="ko-KR" sz="700" dirty="0" smtClean="0"/>
                <a:t>– PC </a:t>
              </a:r>
              <a:r>
                <a:rPr lang="ko-KR" altLang="en-US" sz="700" dirty="0" smtClean="0"/>
                <a:t>버전과 일치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4688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88810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업무구분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9349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6201723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13472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3106201"/>
              </p:ext>
            </p:extLst>
          </p:nvPr>
        </p:nvGraphicFramePr>
        <p:xfrm>
          <a:off x="453000" y="1037328"/>
          <a:ext cx="8995591" cy="3358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MUI-EX-02-P79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계약번호조회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MUI-BD-01-P04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발주부서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기관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카드 목록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(MUI-CT-01-M03)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 err="1" smtClean="0"/>
                        <a:t>전자계약</a:t>
                      </a:r>
                      <a:r>
                        <a:rPr lang="ko-KR" altLang="en-US" sz="800" dirty="0" smtClean="0"/>
                        <a:t>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(MUI-CT-01-M09)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(MUI-CT-01-M71) </a:t>
                      </a:r>
                      <a:r>
                        <a:rPr lang="ko-KR" altLang="en-US" sz="800" dirty="0" err="1" smtClean="0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 smtClean="0"/>
                        <a:t>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(MUI-CT-01-M04) </a:t>
                      </a:r>
                      <a:r>
                        <a:rPr lang="ko-KR" altLang="en-US" sz="800" dirty="0" smtClean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</a:t>
                      </a:r>
                      <a:r>
                        <a:rPr lang="en-US" altLang="ko-KR" sz="800" dirty="0" smtClean="0"/>
                        <a:t>(MUI-CT-01-M06)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/>
                        <a:t>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(MUI-CT-01-M10)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(MUI-CT-01-M72) </a:t>
                      </a:r>
                      <a:r>
                        <a:rPr lang="ko-KR" altLang="en-US" sz="800" dirty="0" err="1" smtClean="0"/>
                        <a:t>국외전자계약확정상세</a:t>
                      </a:r>
                      <a:endParaRPr lang="en-US" altLang="ko-KR" sz="800" dirty="0" smtClean="0"/>
                    </a:p>
                    <a:p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타 계약서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MUI-CT-01-M05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MUI-CT-01-M07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MUI-CT-01-M08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물품단가계약서상세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/>
              <a:t>레이블이 </a:t>
            </a:r>
            <a:r>
              <a:rPr lang="ko-KR" altLang="en-US" sz="800" dirty="0" smtClean="0"/>
              <a:t>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</a:t>
            </a:r>
            <a:r>
              <a:rPr lang="ko-KR" altLang="en-US" sz="800" dirty="0"/>
              <a:t>경우 드래그하여 확인 가능 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en-US" altLang="ko-KR" sz="800" dirty="0"/>
              <a:t>, 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노출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전체노출</a:t>
            </a:r>
            <a:r>
              <a:rPr lang="ko-KR" altLang="en-US" sz="800" dirty="0"/>
              <a:t> </a:t>
            </a:r>
            <a:r>
              <a:rPr lang="en-US" altLang="ko-KR" sz="800" dirty="0"/>
              <a:t>/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노출시</a:t>
            </a:r>
            <a:r>
              <a:rPr lang="ko-KR" altLang="en-US" sz="800" dirty="0"/>
              <a:t> 해당 라인을 넘어가면 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</a:t>
            </a:r>
            <a:r>
              <a:rPr lang="ko-KR" altLang="en-US" sz="800" dirty="0" smtClean="0"/>
              <a:t>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/>
              <a:t>문서 제목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제목은 </a:t>
            </a:r>
            <a:r>
              <a:rPr lang="en-US" altLang="ko-KR" sz="800" dirty="0"/>
              <a:t>2</a:t>
            </a:r>
            <a:r>
              <a:rPr lang="ko-KR" altLang="en-US" sz="800" dirty="0"/>
              <a:t>줄 까지 노출 이후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</a:t>
            </a:r>
            <a:r>
              <a:rPr lang="ko-KR" altLang="en-US" sz="800" dirty="0" smtClean="0"/>
              <a:t>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/>
              <a:t>접힘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</a:t>
            </a:r>
            <a:r>
              <a:rPr lang="ko-KR" altLang="en-US" sz="800" dirty="0"/>
              <a:t>확장하여 정보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&gt; </a:t>
            </a:r>
            <a:r>
              <a:rPr lang="ko-KR" altLang="en-US" sz="800" dirty="0"/>
              <a:t>내역이 있는 경우 </a:t>
            </a:r>
            <a:r>
              <a:rPr lang="ko-KR" altLang="en-US" sz="800" dirty="0" smtClean="0"/>
              <a:t>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- </a:t>
            </a:r>
            <a:r>
              <a:rPr lang="ko-KR" altLang="en-US" sz="800" dirty="0"/>
              <a:t>상세내용 </a:t>
            </a:r>
            <a:r>
              <a:rPr lang="en-US" altLang="ko-KR" sz="800" dirty="0"/>
              <a:t>Tab</a:t>
            </a:r>
            <a:r>
              <a:rPr lang="ko-KR" altLang="en-US" sz="800" dirty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err="1" smtClean="0"/>
              <a:t>취소사유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/>
              <a:t>&gt; </a:t>
            </a:r>
            <a:r>
              <a:rPr lang="ko-KR" altLang="en-US" sz="800" dirty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</a:t>
            </a:r>
            <a:r>
              <a:rPr lang="ko-KR" altLang="en-US" sz="800" dirty="0"/>
              <a:t>포함된 정보 </a:t>
            </a:r>
            <a:r>
              <a:rPr lang="ko-KR" altLang="en-US" sz="800" dirty="0" smtClean="0"/>
              <a:t>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상단 이동 버튼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>
                <a:solidFill>
                  <a:srgbClr val="FF0000"/>
                </a:solidFill>
              </a:rPr>
              <a:t>- [</a:t>
            </a:r>
            <a:r>
              <a:rPr lang="ko-KR" altLang="en-US" sz="800" dirty="0">
                <a:solidFill>
                  <a:srgbClr val="FF0000"/>
                </a:solidFill>
              </a:rPr>
              <a:t>계약진행상태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 err="1">
                <a:solidFill>
                  <a:srgbClr val="FF0000"/>
                </a:solidFill>
              </a:rPr>
              <a:t>계약명세서</a:t>
            </a:r>
            <a:r>
              <a:rPr lang="ko-KR" altLang="en-US" sz="800" dirty="0">
                <a:solidFill>
                  <a:srgbClr val="FF0000"/>
                </a:solidFill>
              </a:rPr>
              <a:t>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>
                <a:solidFill>
                  <a:srgbClr val="FF0000"/>
                </a:solidFill>
              </a:rPr>
              <a:t>계약서 표지 출력</a:t>
            </a:r>
            <a:r>
              <a:rPr lang="en-US" altLang="ko-KR" sz="800" dirty="0">
                <a:solidFill>
                  <a:srgbClr val="FF0000"/>
                </a:solidFill>
              </a:rPr>
              <a:t>] </a:t>
            </a:r>
            <a:r>
              <a:rPr lang="ko-KR" altLang="en-US" sz="800" dirty="0" smtClean="0">
                <a:solidFill>
                  <a:srgbClr val="FF0000"/>
                </a:solidFill>
              </a:rPr>
              <a:t>버튼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바텀시트</a:t>
            </a:r>
            <a:r>
              <a:rPr lang="ko-KR" altLang="en-US" sz="800" dirty="0" smtClean="0">
                <a:solidFill>
                  <a:srgbClr val="FF0000"/>
                </a:solidFill>
              </a:rPr>
              <a:t> 노출</a:t>
            </a:r>
            <a:endParaRPr lang="en-US" altLang="ko-KR" sz="800" dirty="0" smtClean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04074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7" name="평행 사변형 166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65951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46937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48026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904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2200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35337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17572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9426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9426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04074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TextBox 168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3" name="직사각형 152"/>
          <p:cNvSpPr/>
          <p:nvPr/>
        </p:nvSpPr>
        <p:spPr>
          <a:xfrm>
            <a:off x="7066443" y="623229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6" name="직사각형 16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+ </a:t>
              </a:r>
              <a:r>
                <a:rPr lang="ko-KR" altLang="en-US" sz="700" dirty="0" smtClean="0"/>
                <a:t>버튼 설명 변경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항목 설명에서 조건에 맞는 화면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출력물로 연결</a:t>
              </a:r>
              <a:endParaRPr lang="ko-KR" altLang="en-US" sz="700" dirty="0"/>
            </a:p>
          </p:txBody>
        </p: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144030"/>
              </p:ext>
            </p:extLst>
          </p:nvPr>
        </p:nvGraphicFramePr>
        <p:xfrm>
          <a:off x="10160749" y="4188698"/>
          <a:ext cx="5292613" cy="216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17098446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8005642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115279459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계약진행상태 조회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(MUI-CT-01-P17)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계약진행상태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995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(MUI-CT-01-P11)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(MUI-CT-01-P14)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계약서표지</a:t>
                      </a:r>
                      <a:r>
                        <a:rPr lang="ko-KR" altLang="en-US" sz="800" dirty="0" smtClean="0"/>
                        <a:t>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07391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1-1</a:t>
            </a:r>
            <a:r>
              <a:rPr lang="en-US" altLang="ko-KR" dirty="0"/>
              <a:t>] </a:t>
            </a:r>
            <a:r>
              <a:rPr lang="ko-KR" altLang="en-US" dirty="0" err="1"/>
              <a:t>계약일자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1-2</a:t>
            </a:r>
            <a:r>
              <a:rPr lang="en-US" altLang="ko-KR" dirty="0"/>
              <a:t>] </a:t>
            </a:r>
            <a:r>
              <a:rPr lang="ko-KR" altLang="en-US" dirty="0"/>
              <a:t>계약시작일자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1-3</a:t>
            </a:r>
            <a:r>
              <a:rPr lang="en-US" altLang="ko-KR" dirty="0"/>
              <a:t>] </a:t>
            </a:r>
            <a:r>
              <a:rPr lang="ko-KR" altLang="en-US" dirty="0"/>
              <a:t>계약종료일자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</a:t>
            </a:r>
            <a:r>
              <a:rPr lang="ko-KR" altLang="en-US" dirty="0" smtClean="0"/>
              <a:t>표시 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납품시작일자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납품종료일자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일반용역계약인 경우 표시 항목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대여계약서</a:t>
            </a:r>
            <a:r>
              <a:rPr lang="ko-KR" altLang="en-US" dirty="0" smtClean="0"/>
              <a:t> </a:t>
            </a:r>
            <a:r>
              <a:rPr lang="ko-KR" altLang="en-US" dirty="0"/>
              <a:t>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K </a:t>
            </a:r>
            <a:r>
              <a:rPr lang="ko-KR" altLang="en-US" dirty="0"/>
              <a:t>무상 </a:t>
            </a:r>
            <a:r>
              <a:rPr lang="ko-KR" altLang="en-US" dirty="0" err="1" smtClean="0"/>
              <a:t>대여계약서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</a:t>
            </a:r>
            <a:r>
              <a:rPr lang="ko-KR" altLang="en-US" dirty="0" smtClean="0"/>
              <a:t>표시 항목</a:t>
            </a:r>
            <a:r>
              <a:rPr lang="ko-KR" altLang="en-US" dirty="0"/>
              <a:t/>
            </a:r>
            <a:br>
              <a:rPr lang="ko-KR" altLang="en-US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리스 </a:t>
            </a:r>
            <a:r>
              <a:rPr lang="ko-KR" altLang="en-US" dirty="0"/>
              <a:t>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H </a:t>
            </a:r>
            <a:r>
              <a:rPr lang="ko-KR" altLang="en-US" dirty="0" err="1"/>
              <a:t>리스계약서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계약품목별</a:t>
            </a:r>
            <a:r>
              <a:rPr lang="ko-KR" altLang="en-US" dirty="0" smtClean="0"/>
              <a:t> </a:t>
            </a:r>
            <a:r>
              <a:rPr lang="ko-KR" altLang="en-US" dirty="0"/>
              <a:t>계약금액 </a:t>
            </a:r>
            <a:r>
              <a:rPr lang="ko-KR" altLang="en-US" dirty="0" smtClean="0"/>
              <a:t>합계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담당자정보</a:t>
            </a:r>
            <a:r>
              <a:rPr lang="ko-KR" altLang="en-US" dirty="0"/>
              <a:t> 데이터 </a:t>
            </a:r>
            <a:r>
              <a:rPr lang="ko-KR" altLang="en-US" dirty="0" smtClean="0"/>
              <a:t>영역 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상세내용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상세내용 </a:t>
            </a:r>
            <a:r>
              <a:rPr lang="ko-KR" altLang="en-US" dirty="0" err="1" smtClean="0"/>
              <a:t>탭화면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15110"/>
            <a:ext cx="2630093" cy="4317189"/>
            <a:chOff x="701175" y="1527996"/>
            <a:chExt cx="2630093" cy="431718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097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위치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대여목적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반납장소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경기도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시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구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대여 </a:t>
              </a:r>
              <a:r>
                <a:rPr lang="ko-KR" altLang="en-US" sz="700" dirty="0" err="1" smtClean="0">
                  <a:latin typeface="+mn-ea"/>
                </a:rPr>
                <a:t>목정</a:t>
              </a:r>
              <a:r>
                <a:rPr lang="ko-KR" altLang="en-US" sz="700" dirty="0" smtClean="0">
                  <a:latin typeface="+mn-ea"/>
                </a:rPr>
                <a:t>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862545"/>
              <a:chOff x="701175" y="1835481"/>
              <a:chExt cx="2630093" cy="38625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853496"/>
            <a:ext cx="792000" cy="129266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853495"/>
            <a:ext cx="89334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리스료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지급기준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r>
              <a:rPr lang="ko-KR" altLang="en-US" sz="700" dirty="0" smtClean="0">
                <a:latin typeface="+mn-ea"/>
              </a:rPr>
              <a:t> 기준금액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지출관 연락처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재무관연락처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853495"/>
            <a:ext cx="1619722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리스 구분 정보 표시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지급 기준 정보 </a:t>
            </a:r>
            <a:r>
              <a:rPr lang="ko-KR" altLang="en-US" sz="700" dirty="0" smtClean="0">
                <a:latin typeface="+mn-ea"/>
              </a:rPr>
              <a:t>표시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853495"/>
            <a:ext cx="2630093" cy="1284819"/>
            <a:chOff x="701175" y="1835481"/>
            <a:chExt cx="2630093" cy="1284819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55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3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213592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0571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08866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201992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96951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54238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092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092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4789845"/>
            <a:ext cx="2775293" cy="42576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43356" y="49445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5234856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65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680019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08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861864"/>
            <a:ext cx="2775293" cy="8400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92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1411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1322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1899" y="43052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0329" y="45560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3425" y="45433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9774" y="4802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2870" y="47898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05" name="직사각형 104"/>
          <p:cNvSpPr/>
          <p:nvPr/>
        </p:nvSpPr>
        <p:spPr>
          <a:xfrm>
            <a:off x="7069348" y="5934182"/>
            <a:ext cx="2334222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2-1~5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  <p:grpSp>
        <p:nvGrpSpPr>
          <p:cNvPr id="100" name="그룹 9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6" name="직사각형 10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/>
                <a:t>2026-05-26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설명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번 영역 수정</a:t>
              </a:r>
              <a:endParaRPr lang="ko-KR" altLang="en-US" sz="7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1" name="그룹 12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2" name="타원 12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3" name="그룹 12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8" name="직선 연결선 12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직선 연결선 12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4" name="타원 12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5" name="그룹 12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6" name="직선 연결선 12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직선 연결선 12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34" name="그룹 133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1" name="그룹 14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4" name="타원 14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0" name="직선 연결선 14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직선 연결선 15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6" name="타원 14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7" name="그룹 14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생산공장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여러 건 표시될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방위사업청</a:t>
            </a:r>
            <a:r>
              <a:rPr lang="ko-KR" altLang="en-US" dirty="0" smtClean="0"/>
              <a:t> 계약의 경우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2186860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2218297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915110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2028441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45065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7151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15110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82088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1204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2218297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6405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949596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1329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1" name="타원 6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2" name="그룹 6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9" name="직선 연결선 6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직선 연결선 6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" name="타원 6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4" name="그룹 6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7" name="직선 연결선 6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직선 연결선 6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5331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7" name="그룹 7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0" name="타원 7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1" name="그룹 8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6" name="직선 연결선 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직선 연결선 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" name="타원 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3" name="그룹 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반송</a:t>
            </a:r>
            <a:r>
              <a:rPr lang="en-US" altLang="ko-KR" dirty="0" smtClean="0"/>
              <a:t>/</a:t>
            </a:r>
            <a:r>
              <a:rPr lang="ko-KR" altLang="en-US" dirty="0" smtClean="0"/>
              <a:t>취소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낙찰단가반송사유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제출서류반송사유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계약서 </a:t>
            </a:r>
            <a:r>
              <a:rPr lang="ko-KR" altLang="en-US" dirty="0"/>
              <a:t>반송 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 </a:t>
            </a:r>
            <a:r>
              <a:rPr lang="ko-KR" altLang="en-US" dirty="0"/>
              <a:t>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본문 내용은 하단으로 확장되어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박스 세로 크기 제한 없음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전자수입인지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PC</a:t>
            </a:r>
            <a:r>
              <a:rPr lang="ko-KR" altLang="en-US" dirty="0" smtClean="0"/>
              <a:t>에서만 제공되는 서비스라는 추가 </a:t>
            </a:r>
            <a:r>
              <a:rPr lang="ko-KR" altLang="en-US" dirty="0" err="1" smtClean="0"/>
              <a:t>안내글</a:t>
            </a:r>
            <a:r>
              <a:rPr lang="ko-KR" altLang="en-US" dirty="0" smtClean="0"/>
              <a:t>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err="1" smtClean="0">
                <a:latin typeface="+mn-ea"/>
              </a:rPr>
              <a:t>취소사유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4204344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4302628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789853" y="4292977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4341475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7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70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3541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취소 반송 사유 표시 영역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7267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7" name="그룹 2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3" name="그룹 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36" name="타원 3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" name="그룹 36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2" name="직선 연결선 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직선 연결선 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타원 37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9" name="그룹 38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0" name="직선 연결선 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직선 연결선 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반송</a:t>
              </a:r>
              <a:r>
                <a:rPr lang="en-US" altLang="ko-KR" sz="700" b="1" dirty="0" smtClean="0">
                  <a:latin typeface="+mn-ea"/>
                </a:rPr>
                <a:t>/</a:t>
              </a:r>
              <a:r>
                <a:rPr lang="ko-KR" altLang="en-US" sz="700" b="1" dirty="0" smtClean="0">
                  <a:latin typeface="+mn-ea"/>
                </a:rPr>
                <a:t>취소 사유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205919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</a:p>
          <a:p>
            <a:pPr marL="0" indent="0">
              <a:buNone/>
            </a:pPr>
            <a:r>
              <a:rPr lang="en-US" altLang="ko-KR" dirty="0" smtClean="0"/>
              <a:t> </a:t>
            </a:r>
            <a:endParaRPr lang="ko-KR" altLang="en-US" dirty="0" smtClean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89642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1330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734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0262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69687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5" name="그룹 54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82" name="직선 연결선 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6" name="모서리가 둥근 직사각형 55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5" name="직사각형 84"/>
          <p:cNvSpPr/>
          <p:nvPr/>
        </p:nvSpPr>
        <p:spPr>
          <a:xfrm>
            <a:off x="2550244" y="466453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grpSp>
        <p:nvGrpSpPr>
          <p:cNvPr id="86" name="그룹 8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2416546" y="4358842"/>
              <a:ext cx="38562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8" name="그룹 10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1" name="타원 11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7" name="직선 연결선 1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직선 연결선 1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" name="타원 11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4" name="그룹 11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5" name="직선 연결선 11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직선 연결선 11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첨부서류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694002"/>
              </p:ext>
            </p:extLst>
          </p:nvPr>
        </p:nvGraphicFramePr>
        <p:xfrm>
          <a:off x="458468" y="960432"/>
          <a:ext cx="8995591" cy="255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계약진행상태 조회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계약진행상태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조회 팝업 화면을 호출한다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(MUI-CT-01-P17)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계약진행상태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32116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(MUI-CT-01-P11)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(MUI-CT-01-P14)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계약서표지</a:t>
                      </a:r>
                      <a:r>
                        <a:rPr lang="ko-KR" altLang="en-US" sz="800" dirty="0" smtClean="0"/>
                        <a:t>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화면에서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(+) 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플로팅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버튼을 클릭 했을 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조건에 따라 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[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계약진행상태 조회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], [</a:t>
            </a:r>
            <a:r>
              <a:rPr lang="ko-KR" altLang="en-US" sz="800" kern="0" dirty="0" err="1" smtClean="0">
                <a:solidFill>
                  <a:srgbClr val="0000FF"/>
                </a:solidFill>
                <a:latin typeface="+mn-ea"/>
              </a:rPr>
              <a:t>계약명세서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 조회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], [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계약서 표지 출력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]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버튼 노출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확인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인지세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dirty="0">
                          <a:effectLst/>
                        </a:rPr>
                        <a:t>80-</a:t>
                      </a:r>
                      <a:r>
                        <a:rPr lang="ko-KR" altLang="en-US" sz="500" u="none" strike="noStrike" dirty="0">
                          <a:effectLst/>
                        </a:rPr>
                        <a:t>계약확정요청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확정 상세 </a:t>
            </a: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물품전자계약확정상세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30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17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453767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4654748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02292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152393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76163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509493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197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3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2049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234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234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300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>
                <a:solidFill>
                  <a:srgbClr val="FF0000"/>
                </a:solidFill>
              </a:rPr>
              <a:t>참고사항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0" indent="0">
              <a:buNone/>
            </a:pP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err="1" smtClean="0">
                <a:solidFill>
                  <a:srgbClr val="FF0000"/>
                </a:solidFill>
              </a:rPr>
              <a:t>물품전자계약진행상세와</a:t>
            </a:r>
            <a:r>
              <a:rPr lang="ko-KR" altLang="en-US" dirty="0" smtClean="0">
                <a:solidFill>
                  <a:srgbClr val="FF0000"/>
                </a:solidFill>
              </a:rPr>
              <a:t> 화면이 동일함</a:t>
            </a:r>
            <a:endParaRPr lang="en-US" altLang="ko-KR" dirty="0">
              <a:solidFill>
                <a:srgbClr val="FF0000"/>
              </a:solidFill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6" name="평행 사변형 16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TextBox 16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타이틀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1-1] </a:t>
            </a:r>
            <a:r>
              <a:rPr lang="ko-KR" altLang="en-US" sz="800" dirty="0"/>
              <a:t>레이블이 화면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화면 넘치는 경우 드래그하여 확인 가능 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/>
              <a:t>1-2] </a:t>
            </a:r>
            <a:r>
              <a:rPr lang="ko-KR" altLang="en-US" sz="800" dirty="0"/>
              <a:t>문서 정보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en-US" altLang="ko-KR" sz="800" dirty="0"/>
              <a:t>, 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노출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판단번호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전체노출</a:t>
            </a:r>
            <a:r>
              <a:rPr lang="ko-KR" altLang="en-US" sz="800" dirty="0"/>
              <a:t> </a:t>
            </a:r>
            <a:r>
              <a:rPr lang="en-US" altLang="ko-KR" sz="800" dirty="0"/>
              <a:t>/ </a:t>
            </a:r>
            <a:r>
              <a:rPr lang="ko-KR" altLang="en-US" sz="800" dirty="0" err="1"/>
              <a:t>계약번호</a:t>
            </a:r>
            <a:r>
              <a:rPr lang="ko-KR" altLang="en-US" sz="800" dirty="0"/>
              <a:t> </a:t>
            </a:r>
            <a:r>
              <a:rPr lang="ko-KR" altLang="en-US" sz="800" dirty="0" err="1"/>
              <a:t>노출시</a:t>
            </a:r>
            <a:r>
              <a:rPr lang="ko-KR" altLang="en-US" sz="800" dirty="0"/>
              <a:t> 해당 라인을 넘어가면 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1-3] </a:t>
            </a:r>
            <a:r>
              <a:rPr lang="ko-KR" altLang="en-US" sz="800" dirty="0"/>
              <a:t>문서 제목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제목은 </a:t>
            </a:r>
            <a:r>
              <a:rPr lang="en-US" altLang="ko-KR" sz="800" dirty="0"/>
              <a:t>2</a:t>
            </a:r>
            <a:r>
              <a:rPr lang="ko-KR" altLang="en-US" sz="800" dirty="0"/>
              <a:t>줄 까지 노출 이후</a:t>
            </a:r>
            <a:r>
              <a:rPr lang="en-US" altLang="ko-KR" sz="800" dirty="0"/>
              <a:t>(…) </a:t>
            </a:r>
            <a:r>
              <a:rPr lang="ko-KR" altLang="en-US" sz="800" dirty="0" err="1"/>
              <a:t>말줄임</a:t>
            </a:r>
            <a:r>
              <a:rPr lang="ko-KR" altLang="en-US" sz="800" dirty="0"/>
              <a:t>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기본값 </a:t>
            </a:r>
            <a:r>
              <a:rPr lang="en-US" altLang="ko-KR" sz="800" dirty="0"/>
              <a:t>: </a:t>
            </a:r>
            <a:r>
              <a:rPr lang="ko-KR" altLang="en-US" sz="800" dirty="0"/>
              <a:t>접힘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클릭시</a:t>
            </a:r>
            <a:r>
              <a:rPr lang="ko-KR" altLang="en-US" sz="800" dirty="0"/>
              <a:t> 확장하여 정보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</a:t>
            </a:r>
            <a:r>
              <a:rPr lang="ko-KR" altLang="en-US" sz="800" dirty="0" err="1"/>
              <a:t>업무도움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&gt; </a:t>
            </a:r>
            <a:r>
              <a:rPr lang="ko-KR" altLang="en-US" sz="800" dirty="0"/>
              <a:t>내역이 있는 경우 만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탭 영역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상세내용 </a:t>
            </a:r>
            <a:r>
              <a:rPr lang="en-US" altLang="ko-KR" sz="800" dirty="0"/>
              <a:t>Tab</a:t>
            </a:r>
            <a:r>
              <a:rPr lang="ko-KR" altLang="en-US" sz="800" dirty="0"/>
              <a:t>은 진입 시 고정 노출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탭 내용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/>
              <a:t>계약업체</a:t>
            </a:r>
            <a:r>
              <a:rPr lang="en-US" altLang="ko-KR" sz="800" dirty="0"/>
              <a:t>, </a:t>
            </a:r>
            <a:r>
              <a:rPr lang="ko-KR" altLang="en-US" sz="800" dirty="0"/>
              <a:t>반송</a:t>
            </a:r>
            <a:r>
              <a:rPr lang="en-US" altLang="ko-KR" sz="800" dirty="0"/>
              <a:t>/</a:t>
            </a:r>
            <a:r>
              <a:rPr lang="ko-KR" altLang="en-US" sz="800" dirty="0" err="1"/>
              <a:t>취소사유</a:t>
            </a:r>
            <a:r>
              <a:rPr lang="en-US" altLang="ko-KR" sz="800" dirty="0"/>
              <a:t>, </a:t>
            </a:r>
            <a:r>
              <a:rPr lang="ko-KR" altLang="en-US" sz="800" dirty="0"/>
              <a:t>첨부서류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&gt; </a:t>
            </a:r>
            <a:r>
              <a:rPr lang="ko-KR" altLang="en-US" sz="800" dirty="0"/>
              <a:t>로그인 필요 서비스 안내 표시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smtClean="0"/>
              <a:t>화면이 넘치는 경우 </a:t>
            </a:r>
            <a:r>
              <a:rPr lang="ko-KR" altLang="en-US" sz="800" dirty="0"/>
              <a:t>드래그하여 확인</a:t>
            </a:r>
            <a:r>
              <a:rPr lang="en-US" altLang="ko-KR" sz="800" dirty="0"/>
              <a:t>(</a:t>
            </a:r>
            <a:r>
              <a:rPr lang="ko-KR" altLang="en-US" sz="800" dirty="0" err="1"/>
              <a:t>스와이프기능</a:t>
            </a:r>
            <a:r>
              <a:rPr lang="ko-KR" altLang="en-US" sz="800" dirty="0"/>
              <a:t> 반영 필요</a:t>
            </a:r>
            <a:r>
              <a:rPr lang="en-US" altLang="ko-KR" sz="8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계약 상세 정보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각 공고에 맞춰 폼 변화에 유의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 err="1"/>
              <a:t>상세내용에</a:t>
            </a:r>
            <a:r>
              <a:rPr lang="ko-KR" altLang="en-US" sz="800" dirty="0"/>
              <a:t> 포함된 정보 표시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기본값은 상단 이동 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/>
              <a:t>현 상세내용 탭에서는 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/>
              <a:t>+</a:t>
            </a:r>
            <a:r>
              <a:rPr lang="ko-KR" altLang="en-US" sz="800" dirty="0"/>
              <a:t>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해당 페이지에서 호출되는 이벤트 목록 표시</a:t>
            </a:r>
            <a:r>
              <a:rPr lang="en-US" altLang="ko-KR" sz="800" dirty="0"/>
              <a:t> (</a:t>
            </a:r>
            <a:r>
              <a:rPr lang="ko-KR" altLang="en-US" sz="800" dirty="0"/>
              <a:t>항목설명페이지 참고</a:t>
            </a:r>
            <a:r>
              <a:rPr lang="en-US" altLang="ko-KR" sz="800" dirty="0"/>
              <a:t>)</a:t>
            </a:r>
            <a:br>
              <a:rPr lang="en-US" altLang="ko-KR" sz="800" dirty="0"/>
            </a:br>
            <a:r>
              <a:rPr lang="en-US" altLang="ko-KR" sz="800" dirty="0">
                <a:solidFill>
                  <a:srgbClr val="FF0000"/>
                </a:solidFill>
              </a:rPr>
              <a:t>- [</a:t>
            </a:r>
            <a:r>
              <a:rPr lang="ko-KR" altLang="en-US" sz="800" dirty="0">
                <a:solidFill>
                  <a:srgbClr val="FF0000"/>
                </a:solidFill>
              </a:rPr>
              <a:t>계약진행상태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 err="1">
                <a:solidFill>
                  <a:srgbClr val="FF0000"/>
                </a:solidFill>
              </a:rPr>
              <a:t>계약명세서</a:t>
            </a:r>
            <a:r>
              <a:rPr lang="ko-KR" altLang="en-US" sz="800" dirty="0">
                <a:solidFill>
                  <a:srgbClr val="FF0000"/>
                </a:solidFill>
              </a:rPr>
              <a:t> 조회</a:t>
            </a:r>
            <a:r>
              <a:rPr lang="en-US" altLang="ko-KR" sz="800" dirty="0">
                <a:solidFill>
                  <a:srgbClr val="FF0000"/>
                </a:solidFill>
              </a:rPr>
              <a:t>], [</a:t>
            </a:r>
            <a:r>
              <a:rPr lang="ko-KR" altLang="en-US" sz="800" dirty="0">
                <a:solidFill>
                  <a:srgbClr val="FF0000"/>
                </a:solidFill>
              </a:rPr>
              <a:t>계약서 표지 출력</a:t>
            </a:r>
            <a:r>
              <a:rPr lang="en-US" altLang="ko-KR" sz="800" dirty="0">
                <a:solidFill>
                  <a:srgbClr val="FF0000"/>
                </a:solidFill>
              </a:rPr>
              <a:t>] </a:t>
            </a:r>
            <a:r>
              <a:rPr lang="ko-KR" altLang="en-US" sz="800" dirty="0">
                <a:solidFill>
                  <a:srgbClr val="FF0000"/>
                </a:solidFill>
              </a:rPr>
              <a:t>버튼 </a:t>
            </a:r>
            <a:r>
              <a:rPr lang="ko-KR" altLang="en-US" sz="800" dirty="0" err="1">
                <a:solidFill>
                  <a:srgbClr val="FF0000"/>
                </a:solidFill>
              </a:rPr>
              <a:t>바텀시트</a:t>
            </a:r>
            <a:r>
              <a:rPr lang="ko-KR" altLang="en-US" sz="800" dirty="0">
                <a:solidFill>
                  <a:srgbClr val="FF0000"/>
                </a:solidFill>
              </a:rPr>
              <a:t> </a:t>
            </a:r>
            <a:r>
              <a:rPr lang="ko-KR" altLang="en-US" sz="800" dirty="0" smtClean="0">
                <a:solidFill>
                  <a:srgbClr val="FF0000"/>
                </a:solidFill>
              </a:rPr>
              <a:t>노출</a:t>
            </a:r>
            <a:endParaRPr lang="en-US" altLang="ko-KR" sz="800" dirty="0">
              <a:solidFill>
                <a:srgbClr val="FF0000"/>
              </a:solidFill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5287" y="44784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9293" y="5066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4" name="직사각형 173"/>
          <p:cNvSpPr/>
          <p:nvPr/>
        </p:nvSpPr>
        <p:spPr>
          <a:xfrm>
            <a:off x="7066443" y="585237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29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6883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" name="그룹 7"/>
          <p:cNvGrpSpPr/>
          <p:nvPr/>
        </p:nvGrpSpPr>
        <p:grpSpPr>
          <a:xfrm>
            <a:off x="6553092" y="5134085"/>
            <a:ext cx="371277" cy="868327"/>
            <a:chOff x="6596790" y="5154989"/>
            <a:chExt cx="371277" cy="868327"/>
          </a:xfrm>
        </p:grpSpPr>
        <p:sp>
          <p:nvSpPr>
            <p:cNvPr id="277" name="타원 276"/>
            <p:cNvSpPr/>
            <p:nvPr/>
          </p:nvSpPr>
          <p:spPr>
            <a:xfrm>
              <a:off x="6596790" y="5154989"/>
              <a:ext cx="371277" cy="38307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" name="그룹 26"/>
            <p:cNvGrpSpPr/>
            <p:nvPr/>
          </p:nvGrpSpPr>
          <p:grpSpPr>
            <a:xfrm>
              <a:off x="6726256" y="5272060"/>
              <a:ext cx="120320" cy="148935"/>
              <a:chOff x="161606" y="5392781"/>
              <a:chExt cx="97885" cy="117432"/>
            </a:xfrm>
          </p:grpSpPr>
          <p:cxnSp>
            <p:nvCxnSpPr>
              <p:cNvPr id="279" name="직선 연결선 278"/>
              <p:cNvCxnSpPr/>
              <p:nvPr/>
            </p:nvCxnSpPr>
            <p:spPr>
              <a:xfrm flipV="1">
                <a:off x="163100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0" name="직선 연결선 279"/>
              <p:cNvCxnSpPr/>
              <p:nvPr/>
            </p:nvCxnSpPr>
            <p:spPr>
              <a:xfrm flipH="1" flipV="1">
                <a:off x="210105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" name="직선 연결선 24"/>
              <p:cNvCxnSpPr/>
              <p:nvPr/>
            </p:nvCxnSpPr>
            <p:spPr>
              <a:xfrm>
                <a:off x="210549" y="541232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rot="16200000">
                <a:off x="210549" y="534383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" name="그룹 2"/>
            <p:cNvGrpSpPr/>
            <p:nvPr/>
          </p:nvGrpSpPr>
          <p:grpSpPr>
            <a:xfrm>
              <a:off x="6596790" y="5640239"/>
              <a:ext cx="371277" cy="383077"/>
              <a:chOff x="6596790" y="5640239"/>
              <a:chExt cx="383077" cy="383077"/>
            </a:xfrm>
          </p:grpSpPr>
          <p:sp>
            <p:nvSpPr>
              <p:cNvPr id="284" name="타원 283"/>
              <p:cNvSpPr/>
              <p:nvPr/>
            </p:nvSpPr>
            <p:spPr>
              <a:xfrm>
                <a:off x="6596790" y="5640239"/>
                <a:ext cx="383077" cy="3830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8" name="그룹 27"/>
              <p:cNvGrpSpPr/>
              <p:nvPr/>
            </p:nvGrpSpPr>
            <p:grpSpPr>
              <a:xfrm>
                <a:off x="6726257" y="5769705"/>
                <a:ext cx="124144" cy="124144"/>
                <a:chOff x="162544" y="5299917"/>
                <a:chExt cx="124144" cy="124144"/>
              </a:xfrm>
            </p:grpSpPr>
            <p:cxnSp>
              <p:nvCxnSpPr>
                <p:cNvPr id="288" name="직선 연결선 287"/>
                <p:cNvCxnSpPr/>
                <p:nvPr/>
              </p:nvCxnSpPr>
              <p:spPr>
                <a:xfrm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직선 연결선 288"/>
                <p:cNvCxnSpPr/>
                <p:nvPr/>
              </p:nvCxnSpPr>
              <p:spPr>
                <a:xfrm rot="16200000"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2606" y="1846562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525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2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299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387" name="타원 3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89" name="평행 사변형 388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0" name="TextBox 389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+ </a:t>
            </a:r>
            <a:r>
              <a:rPr lang="ko-KR" altLang="en-US" sz="800" dirty="0" err="1" smtClean="0"/>
              <a:t>계약회차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smtClean="0"/>
              <a:t>취소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>
                <a:latin typeface="+mn-ea"/>
              </a:rPr>
              <a:t>출력물이 </a:t>
            </a:r>
            <a:r>
              <a:rPr lang="ko-KR" altLang="en-US" sz="800" dirty="0">
                <a:latin typeface="+mn-ea"/>
              </a:rPr>
              <a:t>있는 계약의 경우</a:t>
            </a:r>
            <a:r>
              <a:rPr lang="en-US" altLang="ko-KR" sz="800" dirty="0">
                <a:latin typeface="+mn-ea"/>
              </a:rPr>
              <a:t/>
            </a:r>
            <a:br>
              <a:rPr lang="en-US" altLang="ko-KR" sz="800" dirty="0">
                <a:latin typeface="+mn-ea"/>
              </a:rPr>
            </a:br>
            <a:r>
              <a:rPr lang="en-US" altLang="ko-KR" sz="800" dirty="0">
                <a:latin typeface="+mn-ea"/>
              </a:rPr>
              <a:t>(UI-CT-01-R35)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공사도급계약서출력물</a:t>
            </a:r>
            <a:r>
              <a:rPr lang="en-US" altLang="ko-KR" sz="800" dirty="0">
                <a:latin typeface="+mn-ea"/>
              </a:rPr>
              <a:t>, (UI-CT-01-R36)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기술용역계약서출력물</a:t>
            </a:r>
            <a:endParaRPr lang="ko-KR" altLang="en-US" sz="8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60" name="직사각형 159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078406" y="1483462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5963"/>
            <a:ext cx="2630093" cy="4400913"/>
            <a:chOff x="701175" y="1527996"/>
            <a:chExt cx="2630093" cy="440091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808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하자담보유무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낙찰자확정일자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077285"/>
              <a:chOff x="701175" y="1835481"/>
              <a:chExt cx="2630093" cy="407728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901752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901751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901751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기타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901751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77704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계약금액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838794" y="3028626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30286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028627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일반예산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합계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총부기금액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계약보증금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공채매입금액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낙찰율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낙찰금액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예정금액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3028627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</a:t>
            </a:r>
            <a:r>
              <a:rPr lang="en-US" altLang="ko-KR" sz="700" dirty="0" smtClean="0">
                <a:latin typeface="+mn-ea"/>
              </a:rPr>
              <a:t>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597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734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6871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008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1145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2826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135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43864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국민주택채권</a:t>
            </a:r>
            <a:endParaRPr lang="en-US" altLang="ko-KR" sz="700" dirty="0" smtClean="0">
              <a:latin typeface="+mn-ea"/>
            </a:endParaRPr>
          </a:p>
          <a:p>
            <a:r>
              <a:rPr lang="ko-KR" altLang="en-US" sz="700" dirty="0" err="1" smtClean="0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49250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6446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7817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1918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05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619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492367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81732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2" name="타원 11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8" name="직선 연결선 1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직선 연결선 1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4" name="타원 11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5" name="그룹 11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9" name="그룹 12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2" name="타원 13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3" name="그룹 13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" name="타원 13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5" name="그룹 13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6" name="직선 연결선 1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7" name="직선 연결선 13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2828622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3095600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법인번호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772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555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135896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1878493"/>
            <a:ext cx="2712026" cy="880857"/>
            <a:chOff x="3795735" y="5745099"/>
            <a:chExt cx="2712026" cy="880857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2153" y="574509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담당자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6264240" y="5858430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구분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성명</a:t>
              </a:r>
              <a:r>
                <a:rPr lang="en-US" altLang="ko-KR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계급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662595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8" name="모서리가 둥근 직사각형 47"/>
            <p:cNvSpPr/>
            <p:nvPr/>
          </p:nvSpPr>
          <p:spPr>
            <a:xfrm>
              <a:off x="3831550" y="6198818"/>
              <a:ext cx="2652743" cy="344810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317362"/>
              <a:ext cx="49390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계약담당관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317362"/>
              <a:ext cx="64751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홍길동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8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급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2" name="그룹 6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7" name="타원 6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8" name="그룹 6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입력된 데이터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/</a:t>
            </a:r>
            <a:r>
              <a:rPr lang="ko-KR" altLang="en-US" dirty="0" smtClean="0"/>
              <a:t>수정 불가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데이터가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하자담보책임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MUI-CT-01-T11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923303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2190281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195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024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10153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5939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3115079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2" name="그룹 4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8" name="그룹 4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51" name="타원 5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2" name="그룹 5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하자담보책임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 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580536" y="2429433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2576950" y="1984067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2550244" y="413861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2546658" y="3718650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5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078406" y="5997168"/>
            <a:ext cx="2312723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858959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출력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계약명세서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3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25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09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평행 사변형 2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TextBox 264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8883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 err="1"/>
              <a:t>계약명세서</a:t>
            </a:r>
            <a:r>
              <a:rPr lang="en-US" altLang="ko-KR" sz="800" dirty="0"/>
              <a:t>,</a:t>
            </a:r>
            <a:r>
              <a:rPr lang="ko-KR" altLang="en-US" sz="800" dirty="0"/>
              <a:t> </a:t>
            </a:r>
            <a:r>
              <a:rPr lang="ko-KR" altLang="en-US" sz="800" dirty="0" err="1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＋ 버튼 없음</a:t>
            </a:r>
            <a:endParaRPr lang="en-US" altLang="ko-KR" sz="800" dirty="0" smtClean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: </a:t>
            </a:r>
            <a:r>
              <a:rPr lang="ko-KR" altLang="en-US" dirty="0" err="1">
                <a:latin typeface="+mn-ea"/>
              </a:rPr>
              <a:t>상위코드</a:t>
            </a:r>
            <a:r>
              <a:rPr lang="en-US" altLang="ko-KR" dirty="0">
                <a:latin typeface="+mn-ea"/>
              </a:rPr>
              <a:t>:</a:t>
            </a:r>
            <a:r>
              <a:rPr lang="en-US" altLang="ko-KR" dirty="0" smtClean="0">
                <a:latin typeface="+mn-ea"/>
              </a:rPr>
              <a:t>GMCC(</a:t>
            </a:r>
            <a:r>
              <a:rPr lang="ko-KR" altLang="en-US" dirty="0" smtClean="0">
                <a:latin typeface="+mn-ea"/>
              </a:rPr>
              <a:t>항목확인불가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41429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0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6177"/>
            <a:ext cx="2630093" cy="1759690"/>
            <a:chOff x="3865118" y="2694619"/>
            <a:chExt cx="2630093" cy="1759690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062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4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4140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24148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4346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547962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88835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00689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00689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678600"/>
            <a:ext cx="2630093" cy="1577775"/>
            <a:chOff x="3865118" y="2694619"/>
            <a:chExt cx="2630093" cy="1577775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3261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25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4660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8" name="직사각형 87"/>
          <p:cNvSpPr/>
          <p:nvPr/>
        </p:nvSpPr>
        <p:spPr>
          <a:xfrm>
            <a:off x="7077637" y="6036456"/>
            <a:ext cx="232593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2" name="타원 9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3" name="그룹 9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8" name="직선 연결선 9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직선 연결선 9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4" name="타원 9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6" name="직선 연결선 9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직선 연결선 9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0" name="그룹 99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4" name="그룹 103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0" name="그룹 10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6" name="그룹 11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1" name="직선 연결선 14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직선 연결선 14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타원 13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7" name="그룹 13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1" name="그룹 11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43" name="그룹 142"/>
          <p:cNvGrpSpPr/>
          <p:nvPr/>
        </p:nvGrpSpPr>
        <p:grpSpPr>
          <a:xfrm>
            <a:off x="3828452" y="1862092"/>
            <a:ext cx="2630093" cy="444813"/>
            <a:chOff x="3865118" y="2946203"/>
            <a:chExt cx="2630093" cy="444813"/>
          </a:xfrm>
        </p:grpSpPr>
        <p:sp>
          <p:nvSpPr>
            <p:cNvPr id="145" name="직사각형 144"/>
            <p:cNvSpPr/>
            <p:nvPr/>
          </p:nvSpPr>
          <p:spPr>
            <a:xfrm>
              <a:off x="3867211" y="2946203"/>
              <a:ext cx="792000" cy="4436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28591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95569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18730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5343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02753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0651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75963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40345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9903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단가제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－이벤트 항목 호출 없음</a:t>
            </a:r>
            <a:endParaRPr lang="en-US" altLang="ko-KR" sz="800" dirty="0" smtClean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총액제와</a:t>
            </a:r>
            <a:r>
              <a:rPr lang="ko-KR" altLang="en-US" dirty="0" smtClean="0"/>
              <a:t> 부서명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조달판단번호가 상이함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계약방법조회결과 </a:t>
            </a:r>
            <a:r>
              <a:rPr lang="ko-KR" altLang="en-US" dirty="0" err="1" smtClean="0"/>
              <a:t>상위코드</a:t>
            </a:r>
            <a:r>
              <a:rPr lang="ko-KR" altLang="en-US" dirty="0" smtClean="0"/>
              <a:t> </a:t>
            </a:r>
            <a:r>
              <a:rPr lang="en-US" altLang="ko-KR" dirty="0" smtClean="0"/>
              <a:t>,</a:t>
            </a:r>
            <a:r>
              <a:rPr lang="en-US" altLang="ko-KR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CTMC)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392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000-0000-00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0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4158804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776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074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79819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911523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25191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37045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37045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951773"/>
            <a:ext cx="2630093" cy="2190577"/>
            <a:chOff x="3865118" y="2694619"/>
            <a:chExt cx="2630093" cy="219057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9336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6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99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8295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직사각형 89"/>
          <p:cNvSpPr/>
          <p:nvPr/>
        </p:nvSpPr>
        <p:spPr>
          <a:xfrm>
            <a:off x="7079461" y="6069668"/>
            <a:ext cx="2324109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91" name="그룹 9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5" name="그룹 9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00" name="타원 9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1" name="그룹 10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6" name="직선 연결선 10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직선 연결선 10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2" name="타원 10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3" name="그룹 10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4" name="직선 연결선 10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직선 연결선 10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6" name="그룹 95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8" name="타원 13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0" name="그룹 13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5" name="직선 연결선 14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6" name="직선 연결선 14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1" name="타원 14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2" name="그룹 14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3" name="직선 연결선 14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직선 연결선 14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3483239"/>
            <a:chOff x="3865118" y="2694619"/>
            <a:chExt cx="2630093" cy="348323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29770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986923"/>
              <a:ext cx="930144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fontAlgn="ctr"/>
              <a:r>
                <a:rPr lang="ko-KR" altLang="ko-KR" sz="700" dirty="0" err="1" smtClean="0"/>
                <a:t>항목번호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err="1" smtClean="0"/>
                <a:t>재고번호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/>
                <a:t>품명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단위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수량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단가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금액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도면번호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규격번호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부품번호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검사형태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납기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</a:t>
              </a:r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납지수량</a:t>
              </a:r>
              <a:endParaRPr lang="ko-KR" altLang="ko-KR" sz="700" dirty="0">
                <a:solidFill>
                  <a:srgbClr val="FF0000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8405..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564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60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746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4884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0038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1408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32390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2" name="직사각형 71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계약명세정보 화면 추가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ko-KR" altLang="en-US" sz="500" dirty="0" smtClean="0"/>
              <a:t>예산항목 삭제 외</a:t>
            </a:r>
            <a:r>
              <a:rPr lang="en-US" altLang="ko-KR" sz="500" dirty="0"/>
              <a:t/>
            </a:r>
            <a:br>
              <a:rPr lang="en-US" altLang="ko-KR" sz="500" dirty="0"/>
            </a:br>
            <a:r>
              <a:rPr lang="ko-KR" altLang="en-US" sz="500" dirty="0" smtClean="0"/>
              <a:t>항목 다수 변경 이슈로 </a:t>
            </a:r>
            <a:r>
              <a:rPr lang="en-US" altLang="ko-KR" sz="500" dirty="0" smtClean="0"/>
              <a:t>layout </a:t>
            </a:r>
            <a:r>
              <a:rPr lang="ko-KR" altLang="en-US" sz="500" dirty="0" smtClean="0"/>
              <a:t>변경사항 반영 필요</a:t>
            </a:r>
            <a:endParaRPr lang="en-US" altLang="ko-KR" sz="500" dirty="0"/>
          </a:p>
        </p:txBody>
      </p:sp>
      <p:grpSp>
        <p:nvGrpSpPr>
          <p:cNvPr id="81" name="그룹 8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9" name="타원 11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0" name="그룹 11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5" name="직선 연결선 12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직선 연결선 12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타원 12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2" name="그룹 12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3" name="직선 연결선 12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직선 연결선 12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7" name="그룹 126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3" name="그룹 1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0" name="타원 13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3" name="그룹 14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4" name="타원 14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6" name="직선 연결선 14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7" name="직선 연결선 14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4" name="그룹 133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099765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특수조건</a:t>
            </a:r>
            <a:r>
              <a:rPr lang="ko-KR" altLang="en-US" sz="500" dirty="0" smtClean="0"/>
              <a:t> 화면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2977246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073128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18645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380613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80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38061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38061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6117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825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391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528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665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802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99053" y="5585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364435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 내역은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이벤트 항목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노출항목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3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7" name="직사각형 206"/>
          <p:cNvSpPr/>
          <p:nvPr/>
        </p:nvSpPr>
        <p:spPr>
          <a:xfrm>
            <a:off x="7066462" y="6072298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물가변동계약금액조정방법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납품장소</a:t>
            </a:r>
            <a:r>
              <a:rPr lang="ko-KR" altLang="en-US" sz="500" dirty="0" smtClean="0"/>
              <a:t> 누락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상세 기능이 있는 페이지에만 노출된다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</a:t>
            </a:r>
            <a:r>
              <a:rPr lang="en-US" altLang="ko-KR" sz="800" dirty="0" smtClean="0"/>
              <a:t>] </a:t>
            </a:r>
            <a:r>
              <a:rPr lang="ko-KR" altLang="en-US" sz="800" dirty="0" err="1" smtClean="0"/>
              <a:t>계약명세서</a:t>
            </a:r>
            <a:r>
              <a:rPr lang="ko-KR" altLang="en-US" sz="800" dirty="0" smtClean="0"/>
              <a:t> 조회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en-US" altLang="ko-KR" sz="800" dirty="0">
                <a:latin typeface="+mn-ea"/>
              </a:rPr>
              <a:t> (MUI-CT-01-P10)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물품계약명세서</a:t>
            </a:r>
            <a:r>
              <a:rPr lang="en-US" altLang="ko-KR" sz="800" dirty="0">
                <a:latin typeface="+mn-ea"/>
              </a:rPr>
              <a:t>, (MUI-CT-01-P11)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물품최종계약명세서</a:t>
            </a:r>
            <a:r>
              <a:rPr lang="en-US" altLang="ko-KR" sz="800" dirty="0">
                <a:latin typeface="+mn-ea"/>
              </a:rPr>
              <a:t>, (MUI-CT-01-P12)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물품수정계약명세서</a:t>
            </a:r>
            <a:r>
              <a:rPr lang="en-US" altLang="ko-KR" sz="800" dirty="0">
                <a:latin typeface="+mn-ea"/>
              </a:rPr>
              <a:t>, (MUI-CT-01-P13)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물품일반계약명세서</a:t>
            </a:r>
            <a:endParaRPr lang="ko-KR" altLang="en-US" sz="800" dirty="0">
              <a:latin typeface="+mn-ea"/>
            </a:endParaRPr>
          </a:p>
          <a:p>
            <a:pPr marL="228600" lvl="0" indent="-228600">
              <a:buFont typeface="+mj-lt"/>
              <a:buAutoNum type="arabicPeriod"/>
            </a:pPr>
            <a:endParaRPr lang="en-US" altLang="ko-KR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23" name="그룹 222"/>
          <p:cNvGrpSpPr/>
          <p:nvPr/>
        </p:nvGrpSpPr>
        <p:grpSpPr>
          <a:xfrm>
            <a:off x="3723466" y="2945746"/>
            <a:ext cx="2749909" cy="3337178"/>
            <a:chOff x="7056452" y="5531684"/>
            <a:chExt cx="2749909" cy="3337178"/>
          </a:xfrm>
        </p:grpSpPr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8" name="그룹 227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1" name="직선 연결선 3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2" name="직선 연결선 34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6" name="그룹 235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0" name="타원 32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1" name="그룹 33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6" name="직선 연결선 3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직선 연결선 33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2" name="타원 33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3" name="그룹 33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4" name="직선 연결선 3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직선 연결선 3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38" name="그룹 237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8" name="직선 연결선 32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9" name="직선 연결선 3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39" name="직사각형 238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6" name="직선 연결선 3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7" name="직선 연결선 3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0" name="타원 269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2" name="그룹 271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4" name="직선 연결선 32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5" name="직선 연결선 3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3" name="그룹 272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2" name="직선 연결선 3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3" name="직선 연결선 3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4" name="타원 273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8" name="그룹 277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8" name="그룹 317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0" name="타원 319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5" name="그룹 284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4" name="그룹 313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6" name="타원 315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7" name="TextBox 3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10" name="타원 30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1" name="그룹 31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2" name="직선 연결선 31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7" name="양쪽 모서리가 둥근 사각형 286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90" name="모서리가 둥근 직사각형 289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308" name="직선 연결선 30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7" name="타원 306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37A7FF4F-0EAA-1463-560A-D5EC24416103}"/>
                </a:ext>
              </a:extLst>
            </p:cNvPr>
            <p:cNvSpPr/>
            <p:nvPr/>
          </p:nvSpPr>
          <p:spPr>
            <a:xfrm>
              <a:off x="7056452" y="5531684"/>
              <a:ext cx="172130" cy="172130"/>
            </a:xfrm>
            <a:prstGeom prst="ellipse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500" dirty="0" smtClean="0"/>
                <a:t>1-1</a:t>
              </a:r>
              <a:endParaRPr lang="ko-KR" altLang="en-US" sz="900" dirty="0"/>
            </a:p>
          </p:txBody>
        </p:sp>
        <p:sp>
          <p:nvSpPr>
            <p:cNvPr id="300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 smtClean="0">
                  <a:solidFill>
                    <a:schemeClr val="bg1"/>
                  </a:solidFill>
                  <a:latin typeface="+mn-ea"/>
                </a:rPr>
                <a:t>계약명세서</a:t>
              </a:r>
              <a:r>
                <a:rPr lang="ko-KR" altLang="en-US" sz="700" dirty="0" smtClean="0">
                  <a:solidFill>
                    <a:schemeClr val="bg1"/>
                  </a:solidFill>
                  <a:latin typeface="+mn-ea"/>
                </a:rPr>
                <a:t> 조회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535946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338580"/>
              </p:ext>
            </p:extLst>
          </p:nvPr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1062786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(MUI-CT-01-P10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smtClean="0">
                          <a:latin typeface="+mn-ea"/>
                        </a:rPr>
                        <a:t>MUI-CT-01-P11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공사계약서상세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7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603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437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하자담보책임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연대보증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</a:t>
            </a:r>
            <a:endParaRPr lang="en-US" altLang="ko-KR" sz="800" dirty="0" smtClean="0"/>
          </a:p>
        </p:txBody>
      </p:sp>
      <p:sp>
        <p:nvSpPr>
          <p:cNvPr id="187" name="직사각형 186"/>
          <p:cNvSpPr/>
          <p:nvPr/>
        </p:nvSpPr>
        <p:spPr>
          <a:xfrm>
            <a:off x="7080202" y="6060844"/>
            <a:ext cx="2373139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수의계약사유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총부기금액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지체상금률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 상세정보업체정보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계약대상자 </a:t>
            </a:r>
            <a:r>
              <a:rPr lang="en-US" altLang="ko-KR" smtClean="0"/>
              <a:t>- </a:t>
            </a:r>
            <a:r>
              <a:rPr lang="ko-KR" altLang="en-US" smtClean="0"/>
              <a:t>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계약금액 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9878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5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99526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6183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048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63891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75224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9263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21117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21117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917539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2008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67030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84390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89776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3795734" y="1494789"/>
            <a:ext cx="2712027" cy="355980"/>
            <a:chOff x="3795734" y="1494789"/>
            <a:chExt cx="2712027" cy="355980"/>
          </a:xfrm>
        </p:grpSpPr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3" name="그룹 92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94" name="타원 9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9" name="타원 9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1" name="직선 연결선 10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직선 연결선 10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하자담보책임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하자담보책임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42029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209007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5988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1614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3371830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67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389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42" name="그룹 41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4332253" y="1850769"/>
              <a:ext cx="55883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6" name="그룹 45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50" name="타원 4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6" name="직선 연결선 5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직선 연결선 5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2" name="타원 5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3" name="그룹 5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연대보증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MUI-CT-01-T21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24535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191513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49252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0401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31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14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6" name="그룹 35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086365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0" name="그룹 39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48" name="타원 4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9" name="그룹 4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" name="타원 4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2" name="직선 연결선 5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직선 연결선 5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4833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109740"/>
              </p:ext>
            </p:extLst>
          </p:nvPr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물품수정계약서상세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타원 2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66462" y="6100910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smtClean="0"/>
              <a:t>물품수정계약서상세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3248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89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9838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0442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1775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5814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669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669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893248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975457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29167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85047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369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188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25395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47909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85047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4366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1" name="그룹 14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7880" y="4358842"/>
              <a:ext cx="67850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4" name="그룹 15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59" name="타원 15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0" name="그룹 15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5" name="직선 연결선 16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직선 연결선 16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1" name="타원 16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2" name="그룹 16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3" name="직선 연결선 16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직선 연결선 16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그룹 15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7" name="그룹 166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97297" y="4358842"/>
              <a:ext cx="68521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1" name="그룹 17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77" name="타원 1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0" name="그룹 17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6" name="직선 연결선 1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7" name="직선 연결선 1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2" name="타원 1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3" name="그룹 1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4" name="직선 연결선 1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5" name="직선 연결선 1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2" name="그룹 17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21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08780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9757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942336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811333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50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616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551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671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644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016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255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9770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6762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61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8001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8999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128099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88041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80630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687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spclCnd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10219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3145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scwin.btn_list_onclick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2545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공사 계약의 진행 상태 이력을 </a:t>
            </a:r>
            <a:r>
              <a:rPr lang="ko-KR" altLang="en-US" dirty="0" smtClean="0"/>
              <a:t>조회하기위한화면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내역 조회만 가능하고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클릭 불가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계약에서 조회할 때 보여지는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국외 계약에서 조회할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처리 담당자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반려사유</a:t>
            </a:r>
            <a:r>
              <a:rPr lang="ko-KR" altLang="en-US" dirty="0" smtClean="0"/>
              <a:t>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반려사유가</a:t>
            </a:r>
            <a:r>
              <a:rPr lang="ko-KR" altLang="en-US" dirty="0" smtClean="0"/>
              <a:t> 없을 때 </a:t>
            </a:r>
            <a:r>
              <a:rPr lang="ko-KR" altLang="en-US" dirty="0" err="1" smtClean="0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계약진행상태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</a:t>
            </a:r>
            <a:r>
              <a:rPr lang="ko-KR" altLang="en-US" dirty="0" smtClean="0"/>
              <a:t>계약진행상태조회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계약진행상태조회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1356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양쪽 모서리가 둥근 사각형 37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41" name="직선 연결선 4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직선 연결선 4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5" name="모서리가 둥근 직사각형 44"/>
          <p:cNvSpPr/>
          <p:nvPr/>
        </p:nvSpPr>
        <p:spPr>
          <a:xfrm rot="5400000">
            <a:off x="5782577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293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711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8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0" name="모서리가 둥근 직사각형 49"/>
          <p:cNvSpPr/>
          <p:nvPr/>
        </p:nvSpPr>
        <p:spPr>
          <a:xfrm>
            <a:off x="3827764" y="2991506"/>
            <a:ext cx="2652743" cy="558594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21694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056189"/>
            <a:ext cx="164695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반려사유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en-US" altLang="ko-KR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oooooooooooooo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3827764" y="3680726"/>
            <a:ext cx="2652743" cy="4440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8489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745409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3827764" y="4190123"/>
            <a:ext cx="2652743" cy="471381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437195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4254807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김길동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5" y="5007935"/>
            <a:ext cx="76863" cy="292489"/>
            <a:chOff x="3750067" y="4683795"/>
            <a:chExt cx="76863" cy="292489"/>
          </a:xfrm>
        </p:grpSpPr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70964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국내 </a:t>
            </a:r>
            <a:r>
              <a:rPr lang="ko-KR" altLang="en-US" sz="900" b="1" dirty="0" err="1" smtClean="0">
                <a:solidFill>
                  <a:prstClr val="black"/>
                </a:solidFill>
              </a:rPr>
              <a:t>계약현황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6954"/>
            <a:ext cx="29356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국외 계약진행상태목록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41338"/>
          <a:ext cx="8994883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prcsStts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계약생성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전자계약의뢰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서류재확정요청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전자서명의뢰반려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결재승인완료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해지해제통보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prcsDt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prcsSbsdBzenty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prcsPic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305868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3290273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 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8C16C6DE-C792-6335-2214-3871E42EC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" name="직사각형 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1803991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5" name="직사각형 84"/>
          <p:cNvSpPr/>
          <p:nvPr/>
        </p:nvSpPr>
        <p:spPr>
          <a:xfrm>
            <a:off x="7095103" y="6080144"/>
            <a:ext cx="23084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106415"/>
              </p:ext>
            </p:extLst>
          </p:nvPr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2725"/>
              </p:ext>
            </p:extLst>
          </p:nvPr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최종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물품최종계약명세서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275406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</a:t>
              </a: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3068" y="2511680"/>
            <a:ext cx="2630093" cy="3946281"/>
            <a:chOff x="3836701" y="3418175"/>
            <a:chExt cx="2630093" cy="394628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5"/>
              <a:ext cx="792000" cy="35453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36639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순번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구분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조달요구번호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군급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재고번호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군구분</a:t>
              </a:r>
              <a:endParaRPr lang="en-US" altLang="ko-KR" sz="600" dirty="0" smtClean="0">
                <a:latin typeface="+mn-ea"/>
              </a:endParaRPr>
            </a:p>
            <a:p>
              <a:pPr fontAlgn="ctr"/>
              <a:endParaRPr lang="en-US" altLang="ko-KR" sz="600" dirty="0" smtClean="0">
                <a:latin typeface="+mn-ea"/>
              </a:endParaRPr>
            </a:p>
            <a:p>
              <a:pPr fontAlgn="ctr"/>
              <a:r>
                <a:rPr lang="ko-KR" altLang="en-US" sz="600" dirty="0" smtClean="0">
                  <a:latin typeface="+mn-ea"/>
                </a:rPr>
                <a:t>품명</a:t>
              </a:r>
              <a:r>
                <a:rPr lang="ko-KR" altLang="ko-KR" sz="600" dirty="0" smtClean="0"/>
                <a:t>예산구분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사업</a:t>
              </a:r>
              <a:r>
                <a:rPr lang="en-US" altLang="ko-KR" sz="600" dirty="0"/>
                <a:t>ID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금액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단가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규격번호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납지별수량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수량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금액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검사형태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납기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</a:t>
              </a:r>
              <a:endParaRPr lang="ko-KR" altLang="ko-KR" sz="600" dirty="0"/>
            </a:p>
            <a:p>
              <a:pPr>
                <a:lnSpc>
                  <a:spcPct val="200000"/>
                </a:lnSpc>
              </a:pP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36933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으로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600" dirty="0">
                  <a:latin typeface="+mn-ea"/>
                </a:rPr>
                <a:t>MWDW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육군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>
                  <a:latin typeface="+mn-ea"/>
                </a:rPr>
                <a:t>일반우의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6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63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542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23443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26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5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80159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941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84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35718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5497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7402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9243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116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3074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646449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6570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8475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700850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72010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89" y="1493927"/>
            <a:ext cx="2712027" cy="4890000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 </a:t>
            </a:r>
            <a:r>
              <a:rPr lang="ko-KR" altLang="en-US" sz="500" dirty="0" err="1" smtClean="0"/>
              <a:t>예산구분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수량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금액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+ 00,000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649319"/>
              </p:ext>
            </p:extLst>
          </p:nvPr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7059758" y="6036541"/>
            <a:ext cx="2343812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260623 -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5525964"/>
              </p:ext>
            </p:extLst>
          </p:nvPr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/>
              <a:t>상단 </a:t>
            </a:r>
            <a:r>
              <a:rPr lang="ko-KR" altLang="en-US" sz="700" dirty="0" err="1"/>
              <a:t>업무도움은</a:t>
            </a:r>
            <a:r>
              <a:rPr lang="ko-KR" altLang="en-US" sz="700" dirty="0"/>
              <a:t> 기본 값으로 접힘 상태로 정보 제공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기본값 </a:t>
            </a:r>
            <a:r>
              <a:rPr lang="en-US" altLang="ko-KR" sz="700" dirty="0"/>
              <a:t>: </a:t>
            </a:r>
            <a:r>
              <a:rPr lang="ko-KR" altLang="en-US" sz="700" dirty="0"/>
              <a:t>접힘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사용자 </a:t>
            </a:r>
            <a:r>
              <a:rPr lang="ko-KR" altLang="en-US" sz="700" dirty="0" err="1"/>
              <a:t>클릭시</a:t>
            </a:r>
            <a:r>
              <a:rPr lang="ko-KR" altLang="en-US" sz="700" dirty="0"/>
              <a:t> 확장하여 정보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업무도움</a:t>
            </a:r>
            <a:r>
              <a:rPr lang="en-US" altLang="ko-KR" sz="700" dirty="0"/>
              <a:t> &gt; </a:t>
            </a:r>
            <a:r>
              <a:rPr lang="ko-KR" altLang="en-US" sz="700" dirty="0"/>
              <a:t>내역이 있는 경우 표시</a:t>
            </a:r>
            <a:r>
              <a:rPr lang="en-US" altLang="ko-KR" sz="700" dirty="0"/>
              <a:t>, </a:t>
            </a:r>
            <a:r>
              <a:rPr lang="ko-KR" altLang="en-US" sz="700" dirty="0"/>
              <a:t>내역이 없으면 항목을 표시하지 않음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2-1] </a:t>
            </a:r>
            <a:r>
              <a:rPr lang="ko-KR" altLang="en-US" sz="700" dirty="0" smtClean="0"/>
              <a:t>통합참조정보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예약번호중</a:t>
            </a:r>
            <a:r>
              <a:rPr lang="ko-KR" altLang="en-US" sz="700" dirty="0" smtClean="0"/>
              <a:t> 선택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2-2] </a:t>
            </a:r>
            <a:r>
              <a:rPr lang="ko-KR" altLang="en-US" sz="700" dirty="0" err="1" smtClean="0"/>
              <a:t>검색어</a:t>
            </a:r>
            <a:r>
              <a:rPr lang="ko-KR" altLang="en-US" sz="700" dirty="0" smtClean="0"/>
              <a:t> 입력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latin typeface="+mn-ea"/>
              </a:rPr>
              <a:t>검색 필터 호출</a:t>
            </a:r>
            <a:r>
              <a:rPr lang="en-US" altLang="ko-KR" sz="700" dirty="0" smtClean="0">
                <a:latin typeface="+mn-ea"/>
              </a:rPr>
              <a:t/>
            </a:r>
            <a:br>
              <a:rPr lang="en-US" altLang="ko-KR" sz="700" dirty="0" smtClean="0">
                <a:latin typeface="+mn-ea"/>
              </a:rPr>
            </a:b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페이지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</a:t>
            </a:r>
            <a:r>
              <a:rPr lang="ko-KR" altLang="en-US" sz="700" dirty="0"/>
              <a:t>개수 영역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총 개수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4-1] </a:t>
            </a:r>
            <a:r>
              <a:rPr lang="ko-KR" altLang="en-US" sz="700" dirty="0" smtClean="0"/>
              <a:t>표시 </a:t>
            </a:r>
            <a:r>
              <a:rPr lang="ko-KR" altLang="en-US" sz="700" dirty="0"/>
              <a:t>개수 </a:t>
            </a:r>
            <a:r>
              <a:rPr lang="en-US" altLang="ko-KR" sz="700" dirty="0"/>
              <a:t>(</a:t>
            </a:r>
            <a:r>
              <a:rPr lang="ko-KR" altLang="en-US" sz="700" dirty="0"/>
              <a:t>선택한 건수 만큼 보여주고 </a:t>
            </a:r>
            <a:r>
              <a:rPr lang="ko-KR" altLang="en-US" sz="700" dirty="0" err="1"/>
              <a:t>더보기시</a:t>
            </a:r>
            <a:r>
              <a:rPr lang="ko-KR" altLang="en-US" sz="700" dirty="0"/>
              <a:t> 추가로 불러옴</a:t>
            </a:r>
            <a:r>
              <a:rPr lang="en-US" altLang="ko-KR" sz="7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목록 </a:t>
            </a:r>
            <a:r>
              <a:rPr lang="ko-KR" altLang="en-US" sz="700" dirty="0"/>
              <a:t>카드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레이블이 </a:t>
            </a:r>
            <a:r>
              <a:rPr lang="ko-KR" altLang="en-US" sz="700" dirty="0"/>
              <a:t>화면을 넘치는 경우 드래그하여 확인 가능 </a:t>
            </a:r>
            <a:r>
              <a:rPr lang="en-US" altLang="ko-KR" sz="700" dirty="0"/>
              <a:t>(</a:t>
            </a:r>
            <a:r>
              <a:rPr lang="ko-KR" altLang="en-US" sz="700" dirty="0" err="1"/>
              <a:t>스와이프기능</a:t>
            </a:r>
            <a:r>
              <a:rPr lang="ko-KR" altLang="en-US" sz="700" dirty="0"/>
              <a:t> 반영 필요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 smtClean="0"/>
              <a:t>5-1</a:t>
            </a:r>
            <a:r>
              <a:rPr lang="en-US" altLang="ko-KR" sz="700" dirty="0"/>
              <a:t>] </a:t>
            </a:r>
            <a:r>
              <a:rPr lang="ko-KR" altLang="en-US" sz="700" dirty="0" err="1"/>
              <a:t>표시레이블</a:t>
            </a:r>
            <a:r>
              <a:rPr lang="ko-KR" altLang="en-US" sz="700" dirty="0"/>
              <a:t> 영역 </a:t>
            </a:r>
            <a:r>
              <a:rPr lang="ko-KR" altLang="en-US" sz="700" dirty="0" smtClean="0"/>
              <a:t>항목 </a:t>
            </a:r>
            <a:r>
              <a:rPr lang="ko-KR" altLang="en-US" sz="700" dirty="0" err="1" smtClean="0"/>
              <a:t>항목</a:t>
            </a:r>
            <a:r>
              <a:rPr lang="ko-KR" altLang="en-US" sz="700" dirty="0" smtClean="0"/>
              <a:t> 확인 필요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업무구분</a:t>
            </a:r>
            <a:r>
              <a:rPr lang="ko-KR" altLang="en-US" sz="700" dirty="0"/>
              <a:t> </a:t>
            </a:r>
            <a:r>
              <a:rPr lang="en-US" altLang="ko-KR" sz="700" dirty="0"/>
              <a:t>:  </a:t>
            </a:r>
            <a:r>
              <a:rPr lang="ko-KR" altLang="en-US" sz="700" dirty="0"/>
              <a:t>전체</a:t>
            </a:r>
            <a:r>
              <a:rPr lang="en-US" altLang="ko-KR" sz="700" dirty="0"/>
              <a:t>, </a:t>
            </a:r>
            <a:r>
              <a:rPr lang="ko-KR" altLang="en-US" sz="700" dirty="0"/>
              <a:t>물품</a:t>
            </a:r>
            <a:r>
              <a:rPr lang="en-US" altLang="ko-KR" sz="700" dirty="0"/>
              <a:t>, </a:t>
            </a:r>
            <a:r>
              <a:rPr lang="ko-KR" altLang="en-US" sz="700" dirty="0"/>
              <a:t>용역</a:t>
            </a:r>
            <a:r>
              <a:rPr lang="en-US" altLang="ko-KR" sz="700" dirty="0"/>
              <a:t>, </a:t>
            </a:r>
            <a:r>
              <a:rPr lang="ko-KR" altLang="en-US" sz="700" dirty="0"/>
              <a:t>공사</a:t>
            </a:r>
            <a:r>
              <a:rPr lang="en-US" altLang="ko-KR" sz="700" dirty="0"/>
              <a:t>, 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5-2</a:t>
            </a:r>
            <a:r>
              <a:rPr lang="en-US" altLang="ko-KR" sz="700" dirty="0"/>
              <a:t>] </a:t>
            </a:r>
            <a:r>
              <a:rPr lang="ko-KR" altLang="en-US" sz="700" dirty="0"/>
              <a:t>수정계약요청수신</a:t>
            </a:r>
            <a:r>
              <a:rPr lang="en-US" altLang="ko-KR" sz="700" dirty="0"/>
              <a:t>, </a:t>
            </a:r>
            <a:r>
              <a:rPr lang="ko-KR" altLang="en-US" sz="700" dirty="0"/>
              <a:t>수정계약사유 항목 확인 불가</a:t>
            </a:r>
            <a:r>
              <a:rPr lang="en-US" altLang="ko-KR" sz="700" dirty="0"/>
              <a:t>.</a:t>
            </a:r>
            <a:r>
              <a:rPr lang="ko-KR" altLang="en-US" sz="700" dirty="0"/>
              <a:t> 항목명과 코드</a:t>
            </a:r>
            <a:r>
              <a:rPr lang="en-US" altLang="ko-KR" sz="700" dirty="0"/>
              <a:t>,</a:t>
            </a:r>
            <a:r>
              <a:rPr lang="ko-KR" altLang="en-US" sz="700" dirty="0"/>
              <a:t>전달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5-3</a:t>
            </a:r>
            <a:r>
              <a:rPr lang="en-US" altLang="ko-KR" sz="700" dirty="0"/>
              <a:t>] </a:t>
            </a:r>
            <a:r>
              <a:rPr lang="ko-KR" altLang="en-US" sz="700" dirty="0"/>
              <a:t>레이블 항목 </a:t>
            </a:r>
            <a:r>
              <a:rPr lang="ko-KR" altLang="en-US" sz="700" dirty="0" smtClean="0"/>
              <a:t>기타사항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문서 </a:t>
            </a:r>
            <a:r>
              <a:rPr lang="ko-KR" altLang="en-US" sz="700" dirty="0"/>
              <a:t>정보 영역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en-US" altLang="ko-KR" sz="700" dirty="0"/>
              <a:t>, 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/>
              <a:t>노출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/>
              <a:t>전체노출</a:t>
            </a:r>
            <a:r>
              <a:rPr lang="ko-KR" altLang="en-US" sz="700" dirty="0"/>
              <a:t> </a:t>
            </a:r>
            <a:r>
              <a:rPr lang="en-US" altLang="ko-KR" sz="700" dirty="0"/>
              <a:t>/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 err="1"/>
              <a:t>노출시</a:t>
            </a:r>
            <a:r>
              <a:rPr lang="ko-KR" altLang="en-US" sz="700" dirty="0"/>
              <a:t> 해당 라인을 넘어가면 </a:t>
            </a:r>
            <a:r>
              <a:rPr lang="en-US" altLang="ko-KR" sz="700" dirty="0"/>
              <a:t>(…) </a:t>
            </a:r>
            <a:r>
              <a:rPr lang="ko-KR" altLang="en-US" sz="700" dirty="0" err="1"/>
              <a:t>말줄임</a:t>
            </a:r>
            <a:r>
              <a:rPr lang="ko-KR" altLang="en-US" sz="700" dirty="0"/>
              <a:t> 표시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:</a:t>
            </a:r>
            <a:r>
              <a:rPr lang="ko-KR" altLang="en-US" sz="700" dirty="0"/>
              <a:t> </a:t>
            </a:r>
            <a:r>
              <a:rPr lang="ko-KR" altLang="en-US" sz="700" dirty="0" err="1"/>
              <a:t>계약번호</a:t>
            </a:r>
            <a:r>
              <a:rPr lang="en-US" altLang="ko-KR" sz="700" dirty="0"/>
              <a:t>+</a:t>
            </a:r>
            <a:r>
              <a:rPr lang="ko-KR" altLang="en-US" sz="700" dirty="0"/>
              <a:t>계약번호차수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6-3] </a:t>
            </a:r>
            <a:r>
              <a:rPr lang="ko-KR" altLang="en-US" sz="700" dirty="0"/>
              <a:t>문서 제목 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제목은 </a:t>
            </a:r>
            <a:r>
              <a:rPr lang="en-US" altLang="ko-KR" sz="700" dirty="0"/>
              <a:t>2</a:t>
            </a:r>
            <a:r>
              <a:rPr lang="ko-KR" altLang="en-US" sz="700" dirty="0"/>
              <a:t>줄 까지 노출 이후</a:t>
            </a:r>
            <a:r>
              <a:rPr lang="en-US" altLang="ko-KR" sz="700" dirty="0"/>
              <a:t>(…) </a:t>
            </a:r>
            <a:r>
              <a:rPr lang="ko-KR" altLang="en-US" sz="700" dirty="0" err="1"/>
              <a:t>말줄임</a:t>
            </a:r>
            <a:r>
              <a:rPr lang="ko-KR" altLang="en-US" sz="700" dirty="0"/>
              <a:t> 표시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/>
              <a:t>더보기</a:t>
            </a:r>
            <a:r>
              <a:rPr lang="ko-KR" altLang="en-US" sz="700" dirty="0"/>
              <a:t> 기능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-4 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</a:t>
            </a:r>
            <a:r>
              <a:rPr lang="ko-KR" altLang="en-US" sz="700" dirty="0"/>
              <a:t>표시 개수 영역에서 선택한 개수로 증가</a:t>
            </a:r>
            <a:r>
              <a:rPr lang="en-US" altLang="ko-KR" sz="700" dirty="0"/>
              <a:t>.</a:t>
            </a:r>
            <a:br>
              <a:rPr lang="en-US" altLang="ko-KR" sz="700" dirty="0"/>
            </a:br>
            <a:r>
              <a:rPr lang="ko-KR" altLang="en-US" sz="700" dirty="0"/>
              <a:t>예</a:t>
            </a:r>
            <a:r>
              <a:rPr lang="en-US" altLang="ko-KR" sz="700" dirty="0"/>
              <a:t>) 10</a:t>
            </a:r>
            <a:r>
              <a:rPr lang="ko-KR" altLang="en-US" sz="700" dirty="0"/>
              <a:t>개 노출 이후 </a:t>
            </a:r>
            <a:r>
              <a:rPr lang="ko-KR" altLang="en-US" sz="700" dirty="0" err="1"/>
              <a:t>더보기</a:t>
            </a:r>
            <a:r>
              <a:rPr lang="ko-KR" altLang="en-US" sz="700" dirty="0"/>
              <a:t> 버튼 클릭으로 </a:t>
            </a:r>
            <a:r>
              <a:rPr lang="en-US" altLang="ko-KR" sz="700" dirty="0"/>
              <a:t>10</a:t>
            </a:r>
            <a:r>
              <a:rPr lang="ko-KR" altLang="en-US" sz="700" dirty="0"/>
              <a:t>개씩 추가 로드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endParaRPr lang="en-US" altLang="ko-KR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</a:t>
            </a:r>
            <a:r>
              <a:rPr lang="ko-KR" altLang="en-US" dirty="0" smtClean="0"/>
              <a:t>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 / </a:t>
              </a:r>
              <a:r>
                <a:rPr lang="ko-KR" altLang="en-US" sz="700" dirty="0" err="1" smtClean="0"/>
                <a:t>증빙번호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00000000-0000</a:t>
              </a:r>
            </a:p>
            <a:p>
              <a:r>
                <a:rPr lang="ko-KR" altLang="en-US" sz="900" b="1" dirty="0" err="1" smtClean="0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업체명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지출금액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지체상금액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국고환수액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 smtClean="0">
                  <a:latin typeface="+mn-ea"/>
                </a:rPr>
                <a:t>업체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500" kern="0" dirty="0" smtClean="0">
                    <a:solidFill>
                      <a:srgbClr val="0070C0"/>
                    </a:solidFill>
                  </a:rPr>
                  <a:t>   통합참조번호</a:t>
                </a:r>
                <a:endParaRPr kumimoji="1" lang="en-US" sz="5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156" name="직사각형 155"/>
          <p:cNvSpPr/>
          <p:nvPr/>
        </p:nvSpPr>
        <p:spPr>
          <a:xfrm>
            <a:off x="7062870" y="5819409"/>
            <a:ext cx="235790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5-1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</a:t>
            </a:r>
            <a:r>
              <a:rPr lang="en-US" altLang="ko-KR" sz="500" dirty="0" smtClean="0"/>
              <a:t>.</a:t>
            </a:r>
            <a:br>
              <a:rPr lang="en-US" altLang="ko-KR" sz="500" dirty="0" smtClean="0"/>
            </a:br>
            <a:r>
              <a:rPr lang="ko-KR" altLang="en-US" sz="500" dirty="0" err="1" smtClean="0"/>
              <a:t>지불일자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순번</a:t>
            </a:r>
            <a:r>
              <a:rPr lang="en-US" altLang="ko-KR" sz="500" dirty="0" smtClean="0"/>
              <a:t>, 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graphicFrame>
        <p:nvGraphicFramePr>
          <p:cNvPr id="179" name="표 1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4967261"/>
              </p:ext>
            </p:extLst>
          </p:nvPr>
        </p:nvGraphicFramePr>
        <p:xfrm>
          <a:off x="3801286" y="1616448"/>
          <a:ext cx="3069778" cy="74168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</a:tbl>
          </a:graphicData>
        </a:graphic>
      </p:graphicFrame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594554" y="13298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grpSp>
        <p:nvGrpSpPr>
          <p:cNvPr id="184" name="그룹 18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85" name="직사각형 18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86" name="직사각형 18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 </a:t>
              </a:r>
              <a:r>
                <a:rPr lang="ko-KR" altLang="en-US" sz="700" dirty="0" smtClean="0"/>
                <a:t>정리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검색필터</a:t>
            </a:r>
            <a:r>
              <a:rPr lang="ko-KR" altLang="en-US" sz="800" dirty="0" smtClean="0"/>
              <a:t> 페이지 타이틀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초기화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창 닫기 버튼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ko-KR" altLang="en-US" sz="800" dirty="0" smtClean="0"/>
              <a:t>각 </a:t>
            </a:r>
            <a:r>
              <a:rPr lang="ko-KR" altLang="en-US" sz="800" dirty="0" err="1"/>
              <a:t>섹션명</a:t>
            </a:r>
            <a:r>
              <a:rPr lang="ko-KR" altLang="en-US" sz="800" dirty="0"/>
              <a:t> 클릭 시 아코디언 </a:t>
            </a:r>
            <a:r>
              <a:rPr lang="ko-KR" altLang="en-US" sz="800" dirty="0" smtClean="0"/>
              <a:t>동작</a:t>
            </a: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검색 설정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서류요청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수신일자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계약일자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- default) </a:t>
            </a:r>
            <a:r>
              <a:rPr lang="ko-KR" altLang="en-US" sz="800" dirty="0" smtClean="0"/>
              <a:t>당일 포함 과거 </a:t>
            </a:r>
            <a:r>
              <a:rPr lang="en-US" altLang="ko-KR" sz="800" dirty="0" smtClean="0"/>
              <a:t>1</a:t>
            </a:r>
            <a:r>
              <a:rPr lang="ko-KR" altLang="en-US" sz="800" dirty="0" smtClean="0"/>
              <a:t>개월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8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2-1)</a:t>
            </a:r>
            <a:r>
              <a:rPr lang="ko-KR" altLang="en-US" sz="800" dirty="0" smtClean="0"/>
              <a:t>직접 입력 가능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/>
              <a:t>좌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과거 우</a:t>
            </a:r>
            <a:r>
              <a:rPr lang="en-US" altLang="ko-KR" sz="800" dirty="0" smtClean="0"/>
              <a:t>)</a:t>
            </a:r>
            <a:r>
              <a:rPr lang="ko-KR" altLang="en-US" sz="800" dirty="0" err="1" smtClean="0"/>
              <a:t>현재로한다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우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 값은 미래를 선택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입력 할 </a:t>
            </a:r>
            <a:r>
              <a:rPr lang="ko-KR" altLang="en-US" sz="800" dirty="0" err="1" smtClean="0"/>
              <a:t>수없다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우</a:t>
            </a:r>
            <a:r>
              <a:rPr lang="en-US" altLang="ko-KR" sz="800" dirty="0" smtClean="0"/>
              <a:t>) </a:t>
            </a:r>
            <a:r>
              <a:rPr lang="ko-KR" altLang="en-US" sz="800" dirty="0" smtClean="0"/>
              <a:t>값이 미래를 입력한 경우 오늘로 자동 변경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당일 기준 최대 </a:t>
            </a:r>
            <a:r>
              <a:rPr lang="en-US" altLang="ko-KR" sz="800" dirty="0"/>
              <a:t>1</a:t>
            </a:r>
            <a:r>
              <a:rPr lang="ko-KR" altLang="en-US" sz="800" dirty="0" smtClean="0"/>
              <a:t>년</a:t>
            </a:r>
            <a:r>
              <a:rPr lang="en-US" altLang="ko-KR" sz="800" dirty="0" smtClean="0"/>
              <a:t>(365</a:t>
            </a:r>
            <a:r>
              <a:rPr lang="ko-KR" altLang="en-US" sz="800" dirty="0" smtClean="0"/>
              <a:t>일</a:t>
            </a:r>
            <a:r>
              <a:rPr lang="en-US" altLang="ko-KR" sz="800" dirty="0" smtClean="0"/>
              <a:t>)</a:t>
            </a:r>
            <a:r>
              <a:rPr lang="ko-KR" altLang="en-US" sz="800" dirty="0" smtClean="0"/>
              <a:t>까지 조회 가능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 smtClean="0"/>
              <a:t>2-2) </a:t>
            </a:r>
            <a:r>
              <a:rPr lang="ko-KR" altLang="en-US" sz="800" dirty="0" smtClean="0"/>
              <a:t>아이콘 </a:t>
            </a:r>
            <a:r>
              <a:rPr lang="en-US" altLang="ko-KR" sz="800" dirty="0" smtClean="0">
                <a:sym typeface="Wingdings" panose="05000000000000000000" pitchFamily="2" charset="2"/>
              </a:rPr>
              <a:t> </a:t>
            </a:r>
            <a:r>
              <a:rPr lang="ko-KR" altLang="en-US" sz="8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800" dirty="0" smtClean="0">
                <a:sym typeface="Wingdings" panose="05000000000000000000" pitchFamily="2" charset="2"/>
              </a:rPr>
              <a:t> 호출</a:t>
            </a:r>
            <a:r>
              <a:rPr lang="en-US" altLang="ko-KR" sz="800" dirty="0" smtClean="0">
                <a:sym typeface="Wingdings" panose="05000000000000000000" pitchFamily="2" charset="2"/>
              </a:rPr>
              <a:t>(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800" dirty="0" smtClean="0">
                <a:sym typeface="Wingdings" panose="05000000000000000000" pitchFamily="2" charset="2"/>
              </a:rPr>
              <a:t>)</a:t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2-3) </a:t>
            </a:r>
            <a:r>
              <a:rPr lang="ko-KR" altLang="en-US" sz="800" dirty="0" smtClean="0">
                <a:sym typeface="Wingdings" panose="05000000000000000000" pitchFamily="2" charset="2"/>
              </a:rPr>
              <a:t>최근</a:t>
            </a:r>
            <a:r>
              <a:rPr lang="en-US" altLang="ko-KR" sz="800" dirty="0" smtClean="0">
                <a:sym typeface="Wingdings" panose="05000000000000000000" pitchFamily="2" charset="2"/>
              </a:rPr>
              <a:t>1,3,6</a:t>
            </a:r>
            <a:r>
              <a:rPr lang="ko-KR" altLang="en-US" sz="8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800" dirty="0" smtClean="0">
                <a:sym typeface="Wingdings" panose="05000000000000000000" pitchFamily="2" charset="2"/>
              </a:rPr>
              <a:t>30</a:t>
            </a:r>
            <a:r>
              <a:rPr lang="ko-KR" altLang="en-US" sz="800" dirty="0" smtClean="0">
                <a:sym typeface="Wingdings" panose="05000000000000000000" pitchFamily="2" charset="2"/>
              </a:rPr>
              <a:t>일</a:t>
            </a:r>
            <a:r>
              <a:rPr lang="en-US" altLang="ko-KR" sz="800" dirty="0" smtClean="0">
                <a:sym typeface="Wingdings" panose="05000000000000000000" pitchFamily="2" charset="2"/>
              </a:rPr>
              <a:t>, 90</a:t>
            </a:r>
            <a:r>
              <a:rPr lang="ko-KR" altLang="en-US" sz="800" dirty="0" smtClean="0">
                <a:sym typeface="Wingdings" panose="05000000000000000000" pitchFamily="2" charset="2"/>
              </a:rPr>
              <a:t>일</a:t>
            </a:r>
            <a:r>
              <a:rPr lang="en-US" altLang="ko-KR" sz="800" dirty="0" smtClean="0">
                <a:sym typeface="Wingdings" panose="05000000000000000000" pitchFamily="2" charset="2"/>
              </a:rPr>
              <a:t>,180</a:t>
            </a:r>
            <a:r>
              <a:rPr lang="ko-KR" altLang="en-US" sz="8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8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sz="800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800" dirty="0" smtClean="0">
                <a:sym typeface="Wingdings" panose="05000000000000000000" pitchFamily="2" charset="2"/>
              </a:rPr>
              <a:t> 영역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800" dirty="0">
                <a:sym typeface="Wingdings" panose="05000000000000000000" pitchFamily="2" charset="2"/>
              </a:rPr>
              <a:t/>
            </a:r>
            <a:br>
              <a:rPr lang="en-US" altLang="ko-KR" sz="800" dirty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smtClean="0">
                <a:sym typeface="Wingdings" panose="05000000000000000000" pitchFamily="2" charset="2"/>
              </a:rPr>
              <a:t>통합참조번호</a:t>
            </a:r>
            <a:r>
              <a:rPr lang="en-US" altLang="ko-KR" sz="800" dirty="0" smtClean="0">
                <a:sym typeface="Wingdings" panose="05000000000000000000" pitchFamily="2" charset="2"/>
              </a:rPr>
              <a:t>,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-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800" dirty="0" smtClean="0">
                <a:sym typeface="Wingdings" panose="05000000000000000000" pitchFamily="2" charset="2"/>
              </a:rPr>
              <a:t>: </a:t>
            </a:r>
            <a:r>
              <a:rPr lang="ko-KR" altLang="en-US" sz="800" dirty="0" smtClean="0">
                <a:sym typeface="Wingdings" panose="05000000000000000000" pitchFamily="2" charset="2"/>
              </a:rPr>
              <a:t> 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r>
              <a:rPr lang="en-US" altLang="ko-KR" sz="800" dirty="0" smtClean="0">
                <a:sym typeface="Wingdings" panose="05000000000000000000" pitchFamily="2" charset="2"/>
              </a:rPr>
              <a:t>  &gt; </a:t>
            </a:r>
            <a:r>
              <a:rPr lang="ko-KR" altLang="en-US" sz="800" dirty="0" smtClean="0">
                <a:sym typeface="Wingdings" panose="05000000000000000000" pitchFamily="2" charset="2"/>
              </a:rPr>
              <a:t>계약 번호 </a:t>
            </a:r>
            <a:r>
              <a:rPr lang="en-US" altLang="ko-KR" sz="800" dirty="0">
                <a:sym typeface="Wingdings" panose="05000000000000000000" pitchFamily="2" charset="2"/>
              </a:rPr>
              <a:t>(MUI-EX-02-P79)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endParaRPr lang="en-US" altLang="ko-KR" sz="8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8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800" dirty="0" smtClean="0">
                <a:sym typeface="Wingdings" panose="05000000000000000000" pitchFamily="2" charset="2"/>
              </a:rPr>
              <a:t> 처리</a:t>
            </a:r>
            <a:r>
              <a:rPr lang="en-US" altLang="ko-KR" sz="800" dirty="0" smtClean="0">
                <a:sym typeface="Wingdings" panose="05000000000000000000" pitchFamily="2" charset="2"/>
              </a:rPr>
              <a:t/>
            </a:r>
            <a:br>
              <a:rPr lang="en-US" altLang="ko-KR" sz="800" dirty="0" smtClean="0">
                <a:sym typeface="Wingdings" panose="05000000000000000000" pitchFamily="2" charset="2"/>
              </a:rPr>
            </a:br>
            <a:endParaRPr lang="en-US" altLang="ko-KR" sz="8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800" dirty="0"/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/>
              <a:t>대금지불정보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대금지불정보목록 </a:t>
            </a:r>
            <a:r>
              <a:rPr lang="en-US" altLang="ko-KR" dirty="0" smtClean="0"/>
              <a:t>&gt; </a:t>
            </a:r>
            <a:r>
              <a:rPr lang="ko-KR" altLang="en-US" dirty="0" err="1" smtClean="0"/>
              <a:t>검색필터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MUI-CT-01-P18</a:t>
            </a:r>
            <a:endParaRPr lang="ko-KR" altLang="en-US" sz="1000" dirty="0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5432" y="28932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033819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5635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지불일자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2131509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2283988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230393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2514657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2283988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221" name="그룹 22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9117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320" y="294289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3155754" y="3040585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1464089" y="322338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320" y="3179886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1464089" y="344993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22039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22039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24710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2-3</a:t>
            </a:r>
            <a:endParaRPr lang="ko-KR" altLang="en-US" sz="500" b="1" dirty="0"/>
          </a:p>
        </p:txBody>
      </p:sp>
      <p:grpSp>
        <p:nvGrpSpPr>
          <p:cNvPr id="167" name="그룹 16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71" name="직사각형 1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 추가</a:t>
              </a:r>
              <a:endParaRPr lang="ko-KR" altLang="en-US" sz="7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 rot="16200000">
            <a:off x="3155759" y="3516013"/>
            <a:ext cx="91438" cy="45719"/>
            <a:chOff x="6812560" y="3297172"/>
            <a:chExt cx="94010" cy="47005"/>
          </a:xfrm>
        </p:grpSpPr>
        <p:cxnSp>
          <p:nvCxnSpPr>
            <p:cNvPr id="187" name="직선 연결선 18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8" name="직선 연결선 18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3787" y="29571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2143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06118435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596576"/>
              </p:ext>
            </p:extLst>
          </p:nvPr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136180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카드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</a:t>
            </a:r>
            <a:r>
              <a:rPr lang="ko-KR" altLang="en-US" dirty="0" smtClean="0"/>
              <a:t>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대금지불정보목록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대금지불정보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지출관증빙번호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272976"/>
              </p:ext>
            </p:extLst>
          </p:nvPr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공사번호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 smtClean="0"/>
                <a:t>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해지해제일자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070492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해지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364686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해지확정</a:t>
              </a:r>
              <a:endParaRPr lang="ko-KR" altLang="en-US" sz="600" dirty="0"/>
            </a:p>
          </p:txBody>
        </p:sp>
        <p:sp>
          <p:nvSpPr>
            <p:cNvPr id="209" name="모서리가 둥근 직사각형 208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물품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상단 </a:t>
            </a:r>
            <a:r>
              <a:rPr lang="ko-KR" altLang="en-US" sz="800" dirty="0" err="1" smtClean="0"/>
              <a:t>업무도움은</a:t>
            </a:r>
            <a:r>
              <a:rPr lang="ko-KR" altLang="en-US" sz="800" dirty="0" smtClean="0"/>
              <a:t> 기본 값으로 접힘 상태로 정보 제공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사용자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> &gt; </a:t>
            </a:r>
            <a:r>
              <a:rPr lang="ko-KR" altLang="en-US" sz="800" dirty="0" smtClean="0"/>
              <a:t>내역이 있는 경우 표시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내역이 없으면 항목을 표시하지 않음</a:t>
            </a:r>
            <a:r>
              <a:rPr lang="en-US" altLang="ko-KR" sz="8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검색필터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2-1] </a:t>
            </a:r>
            <a:r>
              <a:rPr lang="ko-KR" altLang="en-US" sz="800" dirty="0" smtClean="0"/>
              <a:t>통합참조정보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예약번호중</a:t>
            </a:r>
            <a:r>
              <a:rPr lang="ko-KR" altLang="en-US" sz="800" dirty="0" smtClean="0"/>
              <a:t> 선택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2-2] </a:t>
            </a:r>
            <a:r>
              <a:rPr lang="ko-KR" altLang="en-US" sz="800" dirty="0" err="1" smtClean="0"/>
              <a:t>검색어</a:t>
            </a:r>
            <a:r>
              <a:rPr lang="ko-KR" altLang="en-US" sz="800" dirty="0" smtClean="0"/>
              <a:t> 입력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>
                <a:latin typeface="+mn-ea"/>
              </a:rPr>
              <a:t>검색 필터 호출</a:t>
            </a:r>
            <a:r>
              <a:rPr lang="en-US" altLang="ko-KR" sz="800" dirty="0" smtClean="0">
                <a:latin typeface="+mn-ea"/>
              </a:rPr>
              <a:t/>
            </a:r>
            <a:br>
              <a:rPr lang="en-US" altLang="ko-KR" sz="800" dirty="0" smtClean="0">
                <a:latin typeface="+mn-ea"/>
              </a:rPr>
            </a:br>
            <a:r>
              <a:rPr lang="ko-KR" altLang="en-US" sz="800" dirty="0" smtClean="0">
                <a:latin typeface="+mn-ea"/>
              </a:rPr>
              <a:t> </a:t>
            </a:r>
            <a:r>
              <a:rPr lang="en-US" altLang="ko-KR" sz="800" dirty="0" smtClean="0">
                <a:latin typeface="+mn-ea"/>
              </a:rPr>
              <a:t>– </a:t>
            </a:r>
            <a:r>
              <a:rPr lang="ko-KR" altLang="en-US" sz="800" dirty="0" smtClean="0">
                <a:latin typeface="+mn-ea"/>
              </a:rPr>
              <a:t>계약 페이지 참고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표시 개수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총 개수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4-1] </a:t>
            </a:r>
            <a:r>
              <a:rPr lang="ko-KR" altLang="en-US" sz="800" dirty="0" smtClean="0"/>
              <a:t>표시 개수 </a:t>
            </a:r>
            <a:r>
              <a:rPr lang="en-US" altLang="ko-KR" sz="800" dirty="0" smtClean="0"/>
              <a:t>(</a:t>
            </a:r>
            <a:r>
              <a:rPr lang="ko-KR" altLang="en-US" sz="800" dirty="0" smtClean="0"/>
              <a:t>선택한 건수 만큼 보여주고 </a:t>
            </a:r>
            <a:r>
              <a:rPr lang="ko-KR" altLang="en-US" sz="800" dirty="0" err="1" smtClean="0"/>
              <a:t>더보기시</a:t>
            </a:r>
            <a:r>
              <a:rPr lang="ko-KR" altLang="en-US" sz="800" dirty="0" smtClean="0"/>
              <a:t> 추가로 불러옴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목록 카드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레이블이 화면을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5-1] </a:t>
            </a:r>
            <a:r>
              <a:rPr lang="ko-KR" altLang="en-US" sz="800" dirty="0" err="1" smtClean="0"/>
              <a:t>표시레이블</a:t>
            </a:r>
            <a:r>
              <a:rPr lang="ko-KR" altLang="en-US" sz="800" dirty="0" smtClean="0"/>
              <a:t> 영역 항목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>
                <a:solidFill>
                  <a:srgbClr val="FF0000"/>
                </a:solidFill>
              </a:rPr>
              <a:t>-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업무구분</a:t>
            </a:r>
            <a:r>
              <a:rPr lang="ko-KR" altLang="en-US" sz="800" dirty="0" smtClean="0">
                <a:solidFill>
                  <a:srgbClr val="FF0000"/>
                </a:solidFill>
              </a:rPr>
              <a:t> 항목은 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검색필터에</a:t>
            </a:r>
            <a:r>
              <a:rPr lang="ko-KR" altLang="en-US" sz="800" dirty="0" smtClean="0">
                <a:solidFill>
                  <a:srgbClr val="FF0000"/>
                </a:solidFill>
              </a:rPr>
              <a:t> 존재하며</a:t>
            </a:r>
            <a:r>
              <a:rPr lang="en-US" altLang="ko-KR" sz="800" dirty="0" smtClean="0">
                <a:solidFill>
                  <a:srgbClr val="FF0000"/>
                </a:solidFill>
              </a:rPr>
              <a:t>, </a:t>
            </a:r>
            <a:r>
              <a:rPr lang="ko-KR" altLang="en-US" sz="800" dirty="0" smtClean="0">
                <a:solidFill>
                  <a:srgbClr val="FF0000"/>
                </a:solidFill>
              </a:rPr>
              <a:t>카드 내역에는 없어</a:t>
            </a:r>
            <a:r>
              <a:rPr lang="en-US" altLang="ko-KR" sz="800" dirty="0" smtClean="0">
                <a:solidFill>
                  <a:srgbClr val="FF0000"/>
                </a:solidFill>
              </a:rPr>
              <a:t>, </a:t>
            </a:r>
            <a:r>
              <a:rPr lang="ko-KR" altLang="en-US" sz="800" dirty="0" smtClean="0">
                <a:solidFill>
                  <a:srgbClr val="FF0000"/>
                </a:solidFill>
              </a:rPr>
              <a:t>개발 시 추가 노출에 대한 고려가 필요함</a:t>
            </a:r>
            <a:r>
              <a:rPr lang="en-US" altLang="ko-KR" sz="800" dirty="0" smtClean="0">
                <a:solidFill>
                  <a:srgbClr val="FF0000"/>
                </a:solidFill>
              </a:rPr>
              <a:t>.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문서 정보 영역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6-1]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증빙번호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6-2]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증빙번호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+</a:t>
            </a:r>
            <a:r>
              <a:rPr lang="ko-KR" altLang="en-US" sz="800" dirty="0" smtClean="0"/>
              <a:t>계약번호차수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6-3]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더보기</a:t>
            </a:r>
            <a:r>
              <a:rPr lang="ko-KR" altLang="en-US" sz="800" dirty="0" smtClean="0"/>
              <a:t> 기능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-4 </a:t>
            </a:r>
            <a:r>
              <a:rPr lang="ko-KR" altLang="en-US" sz="800" dirty="0" err="1" smtClean="0"/>
              <a:t>번항목</a:t>
            </a:r>
            <a:r>
              <a:rPr lang="ko-KR" altLang="en-US" sz="800" dirty="0" smtClean="0"/>
              <a:t> 표시 개수 영역에서 선택한 개수로 증가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ko-KR" altLang="en-US" sz="800" dirty="0" smtClean="0"/>
              <a:t>예</a:t>
            </a:r>
            <a:r>
              <a:rPr lang="en-US" altLang="ko-KR" sz="800" dirty="0" smtClean="0"/>
              <a:t>) 10</a:t>
            </a:r>
            <a:r>
              <a:rPr lang="ko-KR" altLang="en-US" sz="800" dirty="0" smtClean="0"/>
              <a:t>개 노출 이후 </a:t>
            </a:r>
            <a:r>
              <a:rPr lang="ko-KR" altLang="en-US" sz="800" dirty="0" err="1" smtClean="0"/>
              <a:t>더보기</a:t>
            </a:r>
            <a:r>
              <a:rPr lang="ko-KR" altLang="en-US" sz="800" dirty="0" smtClean="0"/>
              <a:t> 버튼 클릭으로 </a:t>
            </a:r>
            <a:r>
              <a:rPr lang="en-US" altLang="ko-KR" sz="800" dirty="0" smtClean="0"/>
              <a:t>10</a:t>
            </a:r>
            <a:r>
              <a:rPr lang="ko-KR" altLang="en-US" sz="800" dirty="0" smtClean="0"/>
              <a:t>개씩 추가 로드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205" name="직사각형 204"/>
          <p:cNvSpPr/>
          <p:nvPr/>
        </p:nvSpPr>
        <p:spPr>
          <a:xfrm>
            <a:off x="7045060" y="6376802"/>
            <a:ext cx="2358510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 </a:t>
            </a:r>
            <a:r>
              <a:rPr lang="en-US" altLang="ko-KR" sz="500" dirty="0" smtClean="0"/>
              <a:t>,</a:t>
            </a:r>
            <a:br>
              <a:rPr lang="en-US" altLang="ko-KR" sz="500" dirty="0" smtClean="0"/>
            </a:br>
            <a:r>
              <a:rPr lang="en-US" altLang="ko-KR" sz="500" dirty="0" smtClean="0"/>
              <a:t> </a:t>
            </a:r>
            <a:r>
              <a:rPr lang="ko-KR" altLang="en-US" sz="500" dirty="0" err="1" smtClean="0"/>
              <a:t>진행일자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해지해제사유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계약담당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13493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12706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5-1</a:t>
            </a:r>
            <a:endParaRPr lang="ko-KR" altLang="en-US" sz="600" b="1" dirty="0"/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02614"/>
              </p:ext>
            </p:extLst>
          </p:nvPr>
        </p:nvGraphicFramePr>
        <p:xfrm>
          <a:off x="3801286" y="1616448"/>
          <a:ext cx="3069778" cy="148336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534889">
                  <a:extLst>
                    <a:ext uri="{9D8B030D-6E8A-4147-A177-3AD203B41FA5}">
                      <a16:colId xmlns:a16="http://schemas.microsoft.com/office/drawing/2014/main" val="3115782702"/>
                    </a:ext>
                  </a:extLst>
                </a:gridCol>
                <a:gridCol w="1534889">
                  <a:extLst>
                    <a:ext uri="{9D8B030D-6E8A-4147-A177-3AD203B41FA5}">
                      <a16:colId xmlns:a16="http://schemas.microsoft.com/office/drawing/2014/main" val="3935822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항목명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표시 값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97094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+mn-ea"/>
                        </a:rPr>
                        <a:t>업무구분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/>
                        <a:t>물품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용역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공사</a:t>
                      </a:r>
                      <a:r>
                        <a:rPr lang="en-US" altLang="ko-KR" sz="700" dirty="0" smtClean="0"/>
                        <a:t>, </a:t>
                      </a:r>
                      <a:r>
                        <a:rPr lang="ko-KR" altLang="en-US" sz="700" dirty="0" smtClean="0"/>
                        <a:t>국외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04684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</a:rPr>
                        <a:t>구분</a:t>
                      </a:r>
                      <a:r>
                        <a:rPr lang="ko-KR" altLang="en-US" sz="700" dirty="0" smtClean="0"/>
                        <a:t> </a:t>
                      </a:r>
                      <a:r>
                        <a:rPr lang="en-US" altLang="ko-KR" sz="700" dirty="0" smtClean="0"/>
                        <a:t>(</a:t>
                      </a:r>
                      <a:r>
                        <a:rPr lang="en-US" altLang="ko-KR" sz="7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r>
                        <a:rPr lang="en-US" altLang="ko-KR" sz="700" dirty="0" smtClean="0"/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해제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4225505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진행상태 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700" dirty="0" err="1" smtClean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700" dirty="0" err="1" smtClean="0">
                          <a:latin typeface="+mn-ea"/>
                          <a:ea typeface="+mn-ea"/>
                        </a:rPr>
                        <a:t>해제확정</a:t>
                      </a:r>
                      <a:endParaRPr lang="ko-KR" altLang="en-US" sz="7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86675074"/>
                  </a:ext>
                </a:extLst>
              </a:tr>
            </a:tbl>
          </a:graphicData>
        </a:graphic>
      </p:graphicFrame>
      <p:grpSp>
        <p:nvGrpSpPr>
          <p:cNvPr id="206" name="그룹 2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207" name="직사각형 2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2026-08-03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208" name="직사각형 2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레이블</a:t>
              </a:r>
              <a:r>
                <a:rPr lang="en-US" altLang="ko-KR" sz="700" dirty="0" smtClean="0"/>
                <a:t>(</a:t>
              </a:r>
              <a:r>
                <a:rPr lang="ko-KR" altLang="en-US" sz="700" dirty="0" err="1" smtClean="0"/>
                <a:t>뱃지</a:t>
              </a:r>
              <a:r>
                <a:rPr lang="en-US" altLang="ko-KR" sz="700" dirty="0" smtClean="0"/>
                <a:t>) </a:t>
              </a:r>
              <a:r>
                <a:rPr lang="ko-KR" altLang="en-US" sz="700" dirty="0" smtClean="0"/>
                <a:t>정리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비활성화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계약 해지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해제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83697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2213855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22801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2497393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2081387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269448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290914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3121110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245903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68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4478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831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700851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6003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8482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8429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9151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8482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46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구분 설정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4524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진행상태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 smtClean="0">
                <a:latin typeface="+mn-ea"/>
              </a:rPr>
              <a:t>해지구분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62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675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54388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7433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5057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54388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453667"/>
              </p:ext>
            </p:extLst>
          </p:nvPr>
        </p:nvGraphicFramePr>
        <p:xfrm>
          <a:off x="453000" y="1006507"/>
          <a:ext cx="8995591" cy="13228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카드 목록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(UI-CT-03-M04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해제일반계약상세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해지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물품계약해지해제상세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>
                <a:latin typeface="+mn-ea"/>
              </a:rPr>
              <a:t>해지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해제 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계약서유형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1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937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188046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10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4289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365622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399661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1515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1515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163771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해지해제정보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화면이 넘치는 경우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185" name="평행 사변형 184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TextBox 18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상세조회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592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926657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454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75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6604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67937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1976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383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3830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576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7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406450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411836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0" name="직선 연결선 8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직선 연결선 9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1" name="그룹 7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2" name="직선 연결선 7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직선 연결선 8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4" name="그룹 10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0" name="타원 10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1" name="그룹 11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직선 연결선 12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2" name="타원 1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62615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29593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12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5955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11563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608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4" name="그룹 53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9336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2" name="타원 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3" name="그룹 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4" name="타원 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해지해제정보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MUI-CT-03-T03</a:t>
            </a:r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9356" y="3785661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121443" y="3898992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011" y="482571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17978" y="4077028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통보차수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통지일시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통보메일내용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</a:t>
              </a:r>
              <a:r>
                <a:rPr lang="ko-KR" altLang="en-US" sz="700" dirty="0" smtClean="0"/>
                <a:t>계약해지</a:t>
              </a:r>
              <a:endParaRPr lang="ko-KR" altLang="en-US" sz="700" dirty="0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9" name="그룹 118"/>
          <p:cNvGrpSpPr/>
          <p:nvPr/>
        </p:nvGrpSpPr>
        <p:grpSpPr>
          <a:xfrm>
            <a:off x="675399" y="2068054"/>
            <a:ext cx="2712026" cy="1602288"/>
            <a:chOff x="3795735" y="2878425"/>
            <a:chExt cx="2712026" cy="1602288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34" name="직선 연결선 1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5" name="직선 연결선 1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모서리가 둥근 직사각형 12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9" name="타원 128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2580536" y="2964212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4" name="직사각형 153"/>
          <p:cNvSpPr/>
          <p:nvPr/>
        </p:nvSpPr>
        <p:spPr>
          <a:xfrm>
            <a:off x="2576950" y="2518846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7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해지해제통보내용 표시</a:t>
            </a:r>
            <a:endParaRPr lang="en-US" altLang="ko-KR" dirty="0" smtClean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90528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221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8234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114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7057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86230" y="4358842"/>
              <a:ext cx="64233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0" name="그룹 5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4" name="타원 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5" name="그룹 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6" name="타원 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해지해제</a:t>
              </a:r>
              <a:r>
                <a:rPr lang="ko-KR" altLang="en-US" sz="700" b="1" dirty="0" smtClean="0">
                  <a:latin typeface="+mn-ea"/>
                </a:rPr>
                <a:t> 정보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/>
              <a:t>해지</a:t>
            </a:r>
            <a:r>
              <a:rPr lang="en-US" altLang="ko-KR" dirty="0"/>
              <a:t>/</a:t>
            </a:r>
            <a:r>
              <a:rPr lang="ko-KR" altLang="en-US" dirty="0" err="1"/>
              <a:t>해제일반총액제계약상세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0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65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3988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0120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58914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01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25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5879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62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48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48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1684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직사각형 199"/>
          <p:cNvSpPr/>
          <p:nvPr/>
        </p:nvSpPr>
        <p:spPr>
          <a:xfrm>
            <a:off x="7101170" y="6023316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사업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9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7004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6" name="평행 사변형 24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045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91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0642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252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550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4580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5913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99952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1807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1807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5638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0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771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2402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974525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6701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1627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72909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632083"/>
              </p:ext>
            </p:extLst>
          </p:nvPr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204190"/>
              </p:ext>
            </p:extLst>
          </p:nvPr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해제일반단가제계약상세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일반계약단가제해지해제상세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1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7442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5773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1905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0699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19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433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7664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805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659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659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3469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9" name="타원 2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513670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78049" y="6122339"/>
            <a:ext cx="2300641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ko-KR" altLang="en-US" sz="500" dirty="0" smtClean="0"/>
              <a:t> 사업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납기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납지순위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ko-KR" altLang="en-US" sz="500" dirty="0" smtClean="0"/>
              <a:t>  누락</a:t>
            </a:r>
            <a:endParaRPr lang="en-US" altLang="ko-KR" sz="500" dirty="0" smtClean="0"/>
          </a:p>
        </p:txBody>
      </p:sp>
      <p:sp>
        <p:nvSpPr>
          <p:cNvPr id="164" name="평행 사변형 1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TextBox 247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872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3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1469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334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63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5407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6740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077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63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634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38530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120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85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7881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265100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37813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04791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646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59369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6266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11975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9873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85185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802007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82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1645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005965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423697"/>
              </p:ext>
            </p:extLst>
          </p:nvPr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7204796"/>
              </p:ext>
            </p:extLst>
          </p:nvPr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847770"/>
              </p:ext>
            </p:extLst>
          </p:nvPr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해제수정계약상세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305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139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192196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631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263860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365573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타원 2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67" name="타원 2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68" name="타원 2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69" name="타원 2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7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81" name="직사각형 280"/>
          <p:cNvSpPr/>
          <p:nvPr/>
        </p:nvSpPr>
        <p:spPr>
          <a:xfrm>
            <a:off x="7089279" y="6154771"/>
            <a:ext cx="2301850" cy="1660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수정항목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  <p:sp>
        <p:nvSpPr>
          <p:cNvPr id="200" name="평행 사변형 199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084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6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186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392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5259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9298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1152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1152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928084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4010293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64003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무슨 항목이 변경되었는지 표시되는 항목으로 사용자 선택 불가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단순 노출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으로 바뀌었다는 의미로 사용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 smtClean="0">
                <a:solidFill>
                  <a:srgbClr val="FF0000"/>
                </a:solidFill>
              </a:rPr>
              <a:t>코멘트를 </a:t>
            </a:r>
            <a:r>
              <a:rPr lang="ko-KR" altLang="en-US" dirty="0" err="1" smtClean="0">
                <a:solidFill>
                  <a:srgbClr val="FF0000"/>
                </a:solidFill>
              </a:rPr>
              <a:t>코드값에</a:t>
            </a:r>
            <a:r>
              <a:rPr lang="ko-KR" altLang="en-US" dirty="0" smtClean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사용자가 인지할 수 있도록 추가함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표의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표시정보는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항목정보</a:t>
            </a:r>
            <a:r>
              <a:rPr lang="ko-KR" altLang="en-US" dirty="0" smtClean="0">
                <a:solidFill>
                  <a:srgbClr val="FF0000"/>
                </a:solidFill>
              </a:rPr>
              <a:t> 참조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펼치기를 통해서 </a:t>
            </a:r>
            <a:r>
              <a:rPr lang="en-US" altLang="ko-KR" dirty="0" smtClean="0">
                <a:solidFill>
                  <a:srgbClr val="FF0000"/>
                </a:solidFill>
              </a:rPr>
              <a:t>4</a:t>
            </a:r>
            <a:r>
              <a:rPr lang="ko-KR" altLang="en-US" dirty="0" smtClean="0">
                <a:solidFill>
                  <a:srgbClr val="FF0000"/>
                </a:solidFill>
              </a:rPr>
              <a:t>개 </a:t>
            </a:r>
            <a:r>
              <a:rPr lang="ko-KR" altLang="en-US" dirty="0" err="1" smtClean="0">
                <a:solidFill>
                  <a:srgbClr val="FF0000"/>
                </a:solidFill>
              </a:rPr>
              <a:t>표까지만</a:t>
            </a:r>
            <a:r>
              <a:rPr lang="ko-KR" altLang="en-US" dirty="0" smtClean="0">
                <a:solidFill>
                  <a:srgbClr val="FF0000"/>
                </a:solidFill>
              </a:rPr>
              <a:t> 노출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2</a:t>
            </a:r>
            <a:r>
              <a:rPr lang="ko-KR" altLang="en-US" dirty="0" err="1" smtClean="0"/>
              <a:t>번항으로</a:t>
            </a:r>
            <a:r>
              <a:rPr lang="ko-KR" altLang="en-US" dirty="0" smtClean="0"/>
              <a:t> 바뀌기 전 내용을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>
                <a:solidFill>
                  <a:srgbClr val="FF0000"/>
                </a:solidFill>
              </a:rPr>
              <a:t>코멘트를 </a:t>
            </a:r>
            <a:r>
              <a:rPr lang="ko-KR" altLang="en-US" dirty="0" err="1">
                <a:solidFill>
                  <a:srgbClr val="FF0000"/>
                </a:solidFill>
              </a:rPr>
              <a:t>코드값에</a:t>
            </a:r>
            <a:r>
              <a:rPr lang="ko-KR" altLang="en-US" dirty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사용자가 인지할 수 있도록 </a:t>
            </a:r>
            <a:r>
              <a:rPr lang="ko-KR" altLang="en-US" dirty="0" smtClean="0">
                <a:solidFill>
                  <a:srgbClr val="FF0000"/>
                </a:solidFill>
              </a:rPr>
              <a:t>추가함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펼치기를 통해서 </a:t>
            </a:r>
            <a:r>
              <a:rPr lang="en-US" altLang="ko-KR" dirty="0">
                <a:solidFill>
                  <a:srgbClr val="FF0000"/>
                </a:solidFill>
              </a:rPr>
              <a:t>4</a:t>
            </a:r>
            <a:r>
              <a:rPr lang="ko-KR" altLang="en-US" dirty="0">
                <a:solidFill>
                  <a:srgbClr val="FF0000"/>
                </a:solidFill>
              </a:rPr>
              <a:t>개 </a:t>
            </a:r>
            <a:r>
              <a:rPr lang="ko-KR" altLang="en-US" dirty="0" err="1">
                <a:solidFill>
                  <a:srgbClr val="FF0000"/>
                </a:solidFill>
              </a:rPr>
              <a:t>표까지만</a:t>
            </a:r>
            <a:r>
              <a:rPr lang="ko-KR" altLang="en-US" dirty="0">
                <a:solidFill>
                  <a:srgbClr val="FF0000"/>
                </a:solidFill>
              </a:rPr>
              <a:t> 노출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건의 수정이 발생할 수 있으며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수정전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수정후를</a:t>
            </a:r>
            <a:r>
              <a:rPr lang="ko-KR" altLang="en-US" dirty="0" smtClean="0"/>
              <a:t> 반복적으로 노출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9375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2751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3410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으로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5661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9375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을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5237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14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194619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435044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7" name="그룹 8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1" name="그룹 12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3" name="직선 연결선 15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직선 연결선 15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" name="타원 12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직선 연결선 15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2" name="그룹 9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55" name="그룹 154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64" name="타원 1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5" name="그룹 1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0" name="직선 연결선 1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직선 연결선 1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6" name="타원 1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7" name="그룹 1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8" name="직선 연결선 1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직선 연결선 1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0" name="그룹 159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75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64201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011621"/>
              </p:ext>
            </p:extLst>
          </p:nvPr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521130"/>
              </p:ext>
            </p:extLst>
          </p:nvPr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24" name="직사각형 223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계약부대</a:t>
            </a:r>
            <a:r>
              <a:rPr lang="en-US" altLang="ko-KR" sz="500" dirty="0" smtClean="0"/>
              <a:t>(</a:t>
            </a:r>
            <a:r>
              <a:rPr lang="ko-KR" altLang="en-US" sz="500" dirty="0" err="1" smtClean="0"/>
              <a:t>명칭확인</a:t>
            </a:r>
            <a:r>
              <a:rPr lang="en-US" altLang="ko-KR" sz="500" dirty="0" smtClean="0"/>
              <a:t>), 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출력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76" name="타원 175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7" name="그룹 17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78" name="직선 연결선 177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9" name="직선 연결선 178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0" name="직선 연결선 179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1" name="직선 연결선 180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5" name="타원 184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7" name="그룹 186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5" name="직선 연결선 224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8" name="직선 연결선 2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31" name="직선 연결선 2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2" name="직선 연결선 2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36" name="그룹 235"/>
          <p:cNvGrpSpPr/>
          <p:nvPr/>
        </p:nvGrpSpPr>
        <p:grpSpPr>
          <a:xfrm>
            <a:off x="3754378" y="3013814"/>
            <a:ext cx="2718997" cy="3269110"/>
            <a:chOff x="7087364" y="5599752"/>
            <a:chExt cx="2718997" cy="3269110"/>
          </a:xfrm>
        </p:grpSpPr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7" name="그룹 246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2" name="직선 연결선 3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3" name="직선 연결선 3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3" name="그룹 252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1" name="타원 33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2" name="그룹 33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9" name="직선 연결선 33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직선 연결선 3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3" name="타원 33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4" name="그룹 33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5" name="직선 연결선 3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직선 연결선 3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55" name="그룹 254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9" name="직선 연결선 32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30" name="직선 연결선 32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6" name="직사각형 255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7" name="직선 연결선 3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8" name="직선 연결선 3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69" name="타원 268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1" name="그룹 270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5" name="직선 연결선 3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6" name="직선 연결선 3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2" name="그룹 271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3" name="직선 연결선 3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4" name="직선 연결선 3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3" name="타원 272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6" name="그룹 275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9" name="그룹 318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1" name="타원 320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2" name="그룹 281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5" name="그룹 314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7" name="타원 316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8" name="TextBox 317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5" name="그룹 284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01" name="타원 3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8" name="그룹 30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0" name="직선 연결선 30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6" name="양쪽 모서리가 둥근 사각형 285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87" name="모서리가 둥근 직사각형 286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299" name="직선 연결선 29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7" name="타원 296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8" name="타원 297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4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>
                  <a:solidFill>
                    <a:schemeClr val="bg1"/>
                  </a:solidFill>
                  <a:latin typeface="+mn-ea"/>
                </a:rPr>
                <a:t>해지해제확정서출력물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4" name="타원 3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734" y="29070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4" name="TextBox 3"/>
          <p:cNvSpPr txBox="1"/>
          <p:nvPr/>
        </p:nvSpPr>
        <p:spPr>
          <a:xfrm>
            <a:off x="7079998" y="1510029"/>
            <a:ext cx="23552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/>
              <a:t>1. </a:t>
            </a:r>
            <a:r>
              <a:rPr lang="ko-KR" altLang="en-US" sz="700" dirty="0" smtClean="0"/>
              <a:t>기능 </a:t>
            </a:r>
            <a:r>
              <a:rPr lang="ko-KR" altLang="en-US" sz="700" dirty="0" err="1" smtClean="0"/>
              <a:t>바텀시트</a:t>
            </a:r>
            <a:r>
              <a:rPr lang="ko-KR" altLang="en-US" sz="700" dirty="0" smtClean="0"/>
              <a:t> 호출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1-1</a:t>
            </a:r>
            <a:r>
              <a:rPr lang="en-US" altLang="ko-KR" sz="700" dirty="0"/>
              <a:t>] </a:t>
            </a:r>
            <a:r>
              <a:rPr lang="ko-KR" altLang="en-US" sz="700" dirty="0" err="1" smtClean="0"/>
              <a:t>해지해제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확정서</a:t>
            </a:r>
            <a:r>
              <a:rPr lang="ko-KR" altLang="en-US" sz="700" dirty="0"/>
              <a:t> </a:t>
            </a:r>
            <a:r>
              <a:rPr lang="ko-KR" altLang="en-US" sz="700" dirty="0" smtClean="0"/>
              <a:t>출력물</a:t>
            </a:r>
            <a:r>
              <a:rPr lang="en-US" altLang="ko-KR" sz="700" dirty="0" smtClean="0"/>
              <a:t>- </a:t>
            </a:r>
            <a:r>
              <a:rPr lang="en-US" altLang="ko-KR" sz="700" dirty="0" err="1" smtClean="0"/>
              <a:t>oz</a:t>
            </a:r>
            <a:r>
              <a:rPr lang="ko-KR" altLang="en-US" sz="700" dirty="0" err="1" smtClean="0"/>
              <a:t>리포트호출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117071225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7299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</a:t>
              </a:r>
              <a:r>
                <a:rPr lang="en-US" altLang="ko-KR" sz="700" dirty="0">
                  <a:latin typeface="+mn-ea"/>
                </a:rPr>
                <a:t>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ko-KR" altLang="en-US" sz="700" dirty="0" smtClean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905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82204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935374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5276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52760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7029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27576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9430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40445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937299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총공사부기금액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6" name="직선 연결선 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직선 연결선 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225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9" name="그룹 78"/>
          <p:cNvGrpSpPr/>
          <p:nvPr/>
        </p:nvGrpSpPr>
        <p:grpSpPr>
          <a:xfrm>
            <a:off x="3842316" y="1493927"/>
            <a:ext cx="2626449" cy="354413"/>
            <a:chOff x="720490" y="4004429"/>
            <a:chExt cx="2626449" cy="354413"/>
          </a:xfrm>
        </p:grpSpPr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85" name="그룹 8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9" name="타원 9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5" name="직선 연결선 10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직선 연결선 10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타원 1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2" name="그룹 10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smtClean="0"/>
              <a:t>첨부서류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MUI-CT-03-T14</a:t>
            </a:r>
            <a:endParaRPr lang="ko-KR" altLang="en-US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5399" y="1917403"/>
            <a:ext cx="2712026" cy="1602288"/>
            <a:chOff x="3795735" y="2878425"/>
            <a:chExt cx="2712026" cy="160228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31" name="모서리가 둥근 직사각형 30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675399" y="3579462"/>
            <a:ext cx="2712026" cy="1602288"/>
            <a:chOff x="3795735" y="2878425"/>
            <a:chExt cx="2712026" cy="1602288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8" name="모서리가 둥근 직사각형 47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75462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87151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23169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7608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5550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첨부서류</a:t>
              </a:r>
            </a:p>
          </p:txBody>
        </p: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64955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8" name="그룹 6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9" name="타원 6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5" name="직선 연결선 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직선 연결선 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" name="타원 7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2" name="그룹 7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303260"/>
              </p:ext>
            </p:extLst>
          </p:nvPr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10801"/>
              </p:ext>
            </p:extLst>
          </p:nvPr>
        </p:nvGraphicFramePr>
        <p:xfrm>
          <a:off x="453000" y="1018830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639973"/>
              </p:ext>
            </p:extLst>
          </p:nvPr>
        </p:nvGraphicFramePr>
        <p:xfrm>
          <a:off x="635474" y="1413419"/>
          <a:ext cx="8701200" cy="3016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국외전자계약진행상세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일반현황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ovsElctrCtrtPrgrsDtlTab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156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ovsBacntInfoTab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보증서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ovsWtgrTab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src/ui/biz/ct/ctrtIntgList/OvsWtgrTab.t 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인지세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ovsStmtxTab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ovsCtrtDtstTab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직인등록사항이 추가되어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106038"/>
              </p:ext>
            </p:extLst>
          </p:nvPr>
        </p:nvGraphicFramePr>
        <p:xfrm>
          <a:off x="635474" y="1413419"/>
          <a:ext cx="8701200" cy="35039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유스케이스 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국외전자계약확정상세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ovsElctrCtrtCfmtnPage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계약확정상세정보 조회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일반현황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계좌정보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보증서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인지세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탭은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국외전자계약진행상세와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동일함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MUI-CT-01-T80</a:t>
                      </a:r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ovsElctrCtrtPrgrsDtlTab_Adoc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ovsCmbzCtrdocDtl_Stts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926247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466354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계약대상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ovsCmbzCtrdocDtl_Trgt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ovsCmbzCtrdocDtl_Trgt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45737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MUI-CT-01-P78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상업계약명세서 목록정보를 조회하는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125490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632221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4227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108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3176794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933370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7199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상업계약서상세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2532221" y="1772964"/>
            <a:ext cx="931134" cy="261773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</p:cNvCxnSpPr>
          <p:nvPr/>
        </p:nvCxnSpPr>
        <p:spPr>
          <a:xfrm>
            <a:off x="4363355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58" idx="2"/>
          </p:cNvCxnSpPr>
          <p:nvPr/>
        </p:nvCxnSpPr>
        <p:spPr>
          <a:xfrm flipV="1">
            <a:off x="8025623" y="3023370"/>
            <a:ext cx="1223704" cy="136733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253222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9100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진행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22675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48" idx="1"/>
          </p:cNvCxnSpPr>
          <p:nvPr/>
        </p:nvCxnSpPr>
        <p:spPr>
          <a:xfrm>
            <a:off x="2532221" y="1772964"/>
            <a:ext cx="931134" cy="6385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1430586"/>
            <a:ext cx="2314545" cy="2471097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125623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상업계약서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</p:cNvCxnSpPr>
          <p:nvPr/>
        </p:nvCxnSpPr>
        <p:spPr>
          <a:xfrm>
            <a:off x="4363355" y="1772964"/>
            <a:ext cx="73887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363355" y="2411552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4" idx="3"/>
            <a:endCxn id="158" idx="2"/>
          </p:cNvCxnSpPr>
          <p:nvPr/>
        </p:nvCxnSpPr>
        <p:spPr>
          <a:xfrm>
            <a:off x="7480663" y="2666135"/>
            <a:ext cx="1768664" cy="35723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89087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553505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계약대상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4048323"/>
            <a:ext cx="1165013" cy="1921370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57" idx="1"/>
          </p:cNvCxnSpPr>
          <p:nvPr/>
        </p:nvCxnSpPr>
        <p:spPr>
          <a:xfrm>
            <a:off x="6403486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3" name="그룹 82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35416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확정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국외전자계약진행상세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일반현황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ovsElctrCtrtCfmtnPage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85837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첨부서류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ovsElctrCtrtCfmtnDtlTab_Adoc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8" idx="0"/>
            <a:endCxn id="9" idx="2"/>
          </p:cNvCxnSpPr>
          <p:nvPr/>
        </p:nvCxnSpPr>
        <p:spPr>
          <a:xfrm flipV="1">
            <a:off x="4149437" y="3810190"/>
            <a:ext cx="674254" cy="20361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상업계약서상세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계약현황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ovsCmbzCtrdocDtl_Stts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계약대상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ovsCmbzCtrdocDtl_Trgt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상업계약서명세서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86744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생산자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0.15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11111-11-111111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556965"/>
              </p:ext>
            </p:extLst>
          </p:nvPr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214647"/>
              </p:ext>
            </p:extLst>
          </p:nvPr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탭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국외전자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계좌정보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지정운송인정보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지정운송인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운송인주소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운송인팩스번호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간이주소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Seoul, 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결재방식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송금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제조사국가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164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보증서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smtClean="0"/>
              <a:t>보증서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보증기관명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보증금면제사유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12,300,000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서울보증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인지세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미사용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납부대상액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부족액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유의사항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</a:t>
            </a:r>
            <a:r>
              <a:rPr lang="ko-KR" altLang="en-US" sz="700" dirty="0" smtClean="0">
                <a:latin typeface="+mn-ea"/>
              </a:rPr>
              <a:t>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집행유형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계약금원화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계약금외화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KD111111111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 smtClean="0">
                <a:latin typeface="+mn-ea"/>
              </a:rPr>
              <a:t>3,000,000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$ 3,000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내역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 단가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 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173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MUI-CT-01-T76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직인등록정보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첨부파일 클릭 시 뷰어 호출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2" name="그룹 51"/>
          <p:cNvGrpSpPr/>
          <p:nvPr/>
        </p:nvGrpSpPr>
        <p:grpSpPr>
          <a:xfrm>
            <a:off x="3792680" y="1533275"/>
            <a:ext cx="2712026" cy="886509"/>
            <a:chOff x="3795735" y="2878425"/>
            <a:chExt cx="2712026" cy="8865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직인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5" name="직선 연결선 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6" name="직선 연결선 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5" name="모서리가 둥근 직사각형 54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376493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업체명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등록여부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3977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Y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828" y="2021689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TESLA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.jpg [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  <p:sp>
        <p:nvSpPr>
          <p:cNvPr id="72" name="타원 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188" y="15536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C31C148-322D-495C-4D84-EC5A17BE2266}"/>
              </a:ext>
            </a:extLst>
          </p:cNvPr>
          <p:cNvSpPr txBox="1"/>
          <p:nvPr/>
        </p:nvSpPr>
        <p:spPr>
          <a:xfrm>
            <a:off x="460151" y="4216473"/>
            <a:ext cx="21149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직인등록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dl_ofslReg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3BF00A0-575D-3FF5-91B1-8260C850A8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8893101"/>
              </p:ext>
            </p:extLst>
          </p:nvPr>
        </p:nvGraphicFramePr>
        <p:xfrm>
          <a:off x="467303" y="447328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ofslFileRegYn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0440267"/>
                  </a:ext>
                </a:extLst>
              </a:tr>
            </a:tbl>
          </a:graphicData>
        </a:graphic>
      </p:graphicFrame>
      <p:grpSp>
        <p:nvGrpSpPr>
          <p:cNvPr id="14" name="그룹 1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" name="직사각형 1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첨부서류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전자계약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 err="1" smtClean="0">
                <a:latin typeface="+mn-ea"/>
              </a:rPr>
              <a:t>확정상세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확정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/>
              <a:t>– </a:t>
            </a:r>
            <a:r>
              <a:rPr lang="en-US" altLang="ko-KR" sz="800" dirty="0">
                <a:solidFill>
                  <a:srgbClr val="FF0000"/>
                </a:solidFill>
              </a:rPr>
              <a:t>(MUI-CT-01-M71)</a:t>
            </a:r>
            <a:r>
              <a:rPr lang="ko-KR" altLang="en-US" sz="800" dirty="0" err="1" smtClean="0">
                <a:solidFill>
                  <a:srgbClr val="FF0000"/>
                </a:solidFill>
              </a:rPr>
              <a:t>진행상세와</a:t>
            </a:r>
            <a:r>
              <a:rPr lang="ko-KR" altLang="en-US" sz="800" dirty="0" smtClean="0">
                <a:solidFill>
                  <a:srgbClr val="FF0000"/>
                </a:solidFill>
              </a:rPr>
              <a:t> 첨부서류를 제외하고 동일함</a:t>
            </a:r>
            <a:r>
              <a:rPr lang="en-US" altLang="ko-KR" sz="800" dirty="0" smtClean="0">
                <a:solidFill>
                  <a:srgbClr val="FF0000"/>
                </a:solidFill>
              </a:rPr>
              <a:t>.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전자계약진행상세와 동일한 </a:t>
            </a:r>
            <a:r>
              <a:rPr lang="ko-KR" altLang="en-US" sz="800" dirty="0" err="1" smtClean="0"/>
              <a:t>항목임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첨부서류 항목이 달라 다음 페이지에 첨부서류 항목 작성 참고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565928417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MUI-CT-01-T80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85497684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179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(1/5)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5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수리부속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한도액해외정비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한도액부품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무기체계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기술용역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일반장비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성과기반군수지원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복수경쟁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서류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동시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분리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종합낙찰제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역경매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일람불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인수도조건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신용장에 기재된 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대체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단순품질보증형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(I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자율품질보증형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(Ⅱ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(Ⅲ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체계품질보증형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(Ⅳ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)/5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특수검사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연구개발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 품질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통합시험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협정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국내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방위력개선사업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전력운영사업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822919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(2/5)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241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6713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074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7377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72309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보증보험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주식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증권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채권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예금증서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금융기관지급보증서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세입세출외현금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자본재공제조합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/Stand By L/C/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공제조합보증서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신용보증기금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보증금면제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방진회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계약보증금 지급 확약서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오천만원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미만 적용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중소기업중앙회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이전발행한보증서대체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6368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639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01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9481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도급계약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설계용역계약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감리용역계약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안전진단용역계약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물품제조설치계약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기타공사계약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임대차계약서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관급계약서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물품구매계약서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용역계약서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4413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0337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8424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640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8470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302821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181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508"/>
          <a:ext cx="8994883" cy="50466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Insurance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Freight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 인도조건</a:t>
                      </a:r>
                    </a:p>
                    <a:p>
                      <a:pPr algn="l" latinLnBrk="1"/>
                      <a:r>
                        <a:rPr lang="en-US" altLang="ko-KR" sz="800" dirty="0" err="1">
                          <a:latin typeface="+mj-lt"/>
                          <a:ea typeface="+mn-ea"/>
                        </a:rPr>
                        <a:t>Cost,Insurance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 and Freight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보험료포함인도조건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and Insurance Paid To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&amp; Freight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운임포함인도 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Paid To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Frontier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국경인도조건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Terminal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Paid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관세지급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Unpaid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미집급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Quay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부두인도조건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Ship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착선인도조건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 Unloaded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도착지양하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EX Works    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작업장인도조건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Alongside Ship           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선측인도조건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Carrier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운송인인도조건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On Board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본선인도조건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(3/5)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215629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74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보증보험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주식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증권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채권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전자보증서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예금증서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금융기관지급보증서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세입세출외현금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자본재공제조합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/Stand By L/C/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공제조합보증서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신용보증기금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보증금면제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방진회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계약보증금 지급 확약서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오천만원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미만 적용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중소기업중앙회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이전발행한보증서대체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(4/5)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684956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(5/5)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017756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6C7BAB1-4DBF-1BB0-0616-90DE773A1D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14A8B4-3C4E-1BE1-0D0E-C1CF0BCDA0FE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E719B54-F7D9-5296-1108-928E7079CFC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799547"/>
          <a:ext cx="8995591" cy="254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78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92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81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13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588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86693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계약명세서조회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19989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전자서명일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scwin.grd_ctrtBzenty_oncellclick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전자서명검증상세조회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77741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scwin.btn_moveList_onclick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계약통합조회목록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UI-CT-01-M01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2066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scwin.btn_cncltnRmvDmnd_onclick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해지해제요청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2278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해지해제취소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40473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801B347-F01E-A29A-70F7-551912EBC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7339516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계약담당부서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담당자성명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품목명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 smtClean="0">
                <a:latin typeface="+mn-ea"/>
              </a:rPr>
              <a:t>전력운영사업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상업계약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선급금율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en-US" altLang="ko-KR" sz="700" dirty="0" smtClean="0">
                  <a:latin typeface="+mn-ea"/>
                </a:rPr>
                <a:t>KRW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1,000,000,000 </a:t>
              </a:r>
              <a:r>
                <a:rPr lang="en-US" altLang="ko-KR" sz="700" dirty="0">
                  <a:latin typeface="+mn-ea"/>
                </a:rPr>
                <a:t>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1623210" cy="107722"/>
              <a:chOff x="764169" y="4142235"/>
              <a:chExt cx="1623210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계약현황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44736" y="4142235"/>
                <a:ext cx="62561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82925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계약대상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30" name="직사각형 229"/>
          <p:cNvSpPr/>
          <p:nvPr/>
        </p:nvSpPr>
        <p:spPr>
          <a:xfrm>
            <a:off x="7108877" y="6026889"/>
            <a:ext cx="2294693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6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4711" y="1483462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err="1" smtClean="0"/>
              <a:t>계약현황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계약대상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USD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추가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ko-KR" altLang="en-US" sz="700" dirty="0" smtClean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안내 사항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smtClean="0">
                  <a:latin typeface="+mn-ea"/>
                </a:rPr>
                <a:t>이 </a:t>
              </a:r>
              <a:r>
                <a:rPr lang="ko-KR" altLang="en-US" sz="700" dirty="0">
                  <a:latin typeface="+mn-ea"/>
                </a:rPr>
                <a:t>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1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2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3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4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5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상업계약명세서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MUI-CT-01-P78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</a:t>
            </a:r>
            <a:r>
              <a:rPr lang="ko-KR" altLang="en-US" dirty="0" err="1">
                <a:latin typeface="+mn-ea"/>
              </a:rPr>
              <a:t>계약명세서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GRAND-TOTAL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100.00 USD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목록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33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계약담당</a:t>
              </a:r>
              <a:r>
                <a:rPr lang="ko-KR" altLang="en-US" sz="700" dirty="0" smtClean="0">
                  <a:latin typeface="+mn-ea"/>
                </a:rPr>
                <a:t> 공무원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</a:t>
              </a: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무역대리점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연대보증인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테스트업체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직사각형 49"/>
          <p:cNvSpPr/>
          <p:nvPr/>
        </p:nvSpPr>
        <p:spPr>
          <a:xfrm>
            <a:off x="7067736" y="5913120"/>
            <a:ext cx="2323393" cy="1592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7067736" y="6072406"/>
            <a:ext cx="2335834" cy="15989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PC</a:t>
            </a:r>
            <a:r>
              <a:rPr lang="ko-KR" altLang="en-US" sz="500" dirty="0" smtClean="0"/>
              <a:t>에 항목설명 메뉴 없음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189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190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293142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데이터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L/I </a:t>
            </a:r>
            <a:r>
              <a:rPr lang="ko-KR" altLang="en-US" dirty="0" err="1" smtClean="0"/>
              <a:t>항목번호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Stock-No </a:t>
            </a:r>
            <a:r>
              <a:rPr lang="ko-KR" altLang="en-US" dirty="0" err="1" smtClean="0"/>
              <a:t>재고번호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Part-No </a:t>
            </a:r>
            <a:r>
              <a:rPr lang="ko-KR" altLang="en-US" dirty="0" err="1" smtClean="0"/>
              <a:t>부품번호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Nomencalature</a:t>
            </a:r>
            <a:r>
              <a:rPr lang="en-US" altLang="ko-KR" dirty="0" smtClean="0"/>
              <a:t> </a:t>
            </a:r>
            <a:r>
              <a:rPr lang="ko-KR" altLang="en-US" dirty="0" smtClean="0"/>
              <a:t>품명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Budge </a:t>
            </a:r>
            <a:r>
              <a:rPr lang="ko-KR" altLang="en-US" dirty="0" err="1" smtClean="0"/>
              <a:t>예산구분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Unit </a:t>
            </a:r>
            <a:r>
              <a:rPr lang="ko-KR" altLang="en-US" dirty="0" smtClean="0"/>
              <a:t>단위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QNty</a:t>
            </a:r>
            <a:r>
              <a:rPr lang="en-US" altLang="ko-KR" dirty="0" smtClean="0"/>
              <a:t> </a:t>
            </a:r>
            <a:r>
              <a:rPr lang="ko-KR" altLang="en-US" dirty="0" smtClean="0"/>
              <a:t>수량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UnitPrice</a:t>
            </a:r>
            <a:r>
              <a:rPr lang="en-US" altLang="ko-KR" dirty="0" smtClean="0"/>
              <a:t> </a:t>
            </a:r>
            <a:r>
              <a:rPr lang="ko-KR" altLang="en-US" dirty="0" smtClean="0"/>
              <a:t>단가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Total </a:t>
            </a:r>
            <a:r>
              <a:rPr lang="ko-KR" altLang="en-US" dirty="0" err="1" smtClean="0"/>
              <a:t>총금액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상업계약서명세서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품목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7430" y="2872750"/>
              <a:ext cx="101775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SUB-TOTAL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305563" y="2872750"/>
              <a:ext cx="86253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  <a:endParaRPr lang="en-US" altLang="ko-KR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목록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총</a:t>
            </a:r>
            <a:r>
              <a:rPr lang="en-US" altLang="ko-KR" sz="700" dirty="0" smtClean="0">
                <a:latin typeface="+mn-ea"/>
              </a:rPr>
              <a:t> 00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193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18070</TotalTime>
  <Words>26946</Words>
  <Application>Microsoft Office PowerPoint</Application>
  <PresentationFormat>A4 용지(210x297mm)</PresentationFormat>
  <Paragraphs>15018</Paragraphs>
  <Slides>194</Slides>
  <Notes>25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194</vt:i4>
      </vt:variant>
    </vt:vector>
  </HeadingPairs>
  <TitlesOfParts>
    <vt:vector size="203" baseType="lpstr">
      <vt:lpstr>HG꼬딕씨_Pro 40g</vt:lpstr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1055</cp:revision>
  <cp:lastPrinted>2016-10-27T08:57:39Z</cp:lastPrinted>
  <dcterms:created xsi:type="dcterms:W3CDTF">2016-10-27T07:41:55Z</dcterms:created>
  <dcterms:modified xsi:type="dcterms:W3CDTF">2026-08-18T05:28:03Z</dcterms:modified>
  <cp:category>서브시스템/업무명</cp:category>
  <cp:contentStatus>0.1</cp:contentStatus>
</cp:coreProperties>
</file>