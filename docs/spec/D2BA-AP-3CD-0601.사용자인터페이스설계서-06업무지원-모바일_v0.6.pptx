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56" r:id="rId2"/>
    <p:sldId id="676" r:id="rId3"/>
    <p:sldId id="356" r:id="rId4"/>
    <p:sldId id="260" r:id="rId5"/>
    <p:sldId id="264" r:id="rId6"/>
    <p:sldId id="291" r:id="rId7"/>
    <p:sldId id="358" r:id="rId8"/>
    <p:sldId id="273" r:id="rId9"/>
    <p:sldId id="292" r:id="rId10"/>
    <p:sldId id="677" r:id="rId11"/>
    <p:sldId id="306" r:id="rId12"/>
    <p:sldId id="328" r:id="rId13"/>
    <p:sldId id="678" r:id="rId14"/>
    <p:sldId id="679" r:id="rId15"/>
    <p:sldId id="680" r:id="rId16"/>
    <p:sldId id="660" r:id="rId17"/>
    <p:sldId id="661" r:id="rId18"/>
    <p:sldId id="662" r:id="rId19"/>
    <p:sldId id="663" r:id="rId20"/>
    <p:sldId id="666" r:id="rId21"/>
    <p:sldId id="664" r:id="rId22"/>
    <p:sldId id="681" r:id="rId23"/>
    <p:sldId id="682" r:id="rId24"/>
    <p:sldId id="683" r:id="rId25"/>
    <p:sldId id="665" r:id="rId26"/>
    <p:sldId id="684" r:id="rId27"/>
    <p:sldId id="685" r:id="rId28"/>
    <p:sldId id="671" r:id="rId29"/>
    <p:sldId id="674" r:id="rId30"/>
    <p:sldId id="686" r:id="rId31"/>
    <p:sldId id="687" r:id="rId3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676"/>
            <p14:sldId id="356"/>
            <p14:sldId id="260"/>
          </p14:sldIdLst>
        </p14:section>
        <p14:section name="1.사전의향서" id="{A88D8C4A-42D5-488C-851B-9A15CEB54A60}">
          <p14:sldIdLst>
            <p14:sldId id="264"/>
            <p14:sldId id="291"/>
            <p14:sldId id="358"/>
            <p14:sldId id="273"/>
            <p14:sldId id="292"/>
            <p14:sldId id="677"/>
            <p14:sldId id="306"/>
            <p14:sldId id="328"/>
            <p14:sldId id="678"/>
            <p14:sldId id="679"/>
            <p14:sldId id="680"/>
          </p14:sldIdLst>
        </p14:section>
        <p14:section name="2.세금계산서" id="{019FD015-75A8-4452-8691-168FACA46FB5}">
          <p14:sldIdLst>
            <p14:sldId id="660"/>
            <p14:sldId id="661"/>
            <p14:sldId id="662"/>
            <p14:sldId id="663"/>
            <p14:sldId id="666"/>
            <p14:sldId id="664"/>
            <p14:sldId id="681"/>
            <p14:sldId id="682"/>
            <p14:sldId id="683"/>
            <p14:sldId id="665"/>
            <p14:sldId id="684"/>
            <p14:sldId id="685"/>
            <p14:sldId id="671"/>
            <p14:sldId id="674"/>
            <p14:sldId id="686"/>
            <p14:sldId id="6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177" d="100"/>
          <a:sy n="177" d="100"/>
        </p:scale>
        <p:origin x="748" y="104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6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사용자인터페이스정의서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06.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업무지원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06.</a:t>
            </a:r>
            <a:r>
              <a:rPr lang="ko-KR" altLang="en-US" dirty="0"/>
              <a:t>업무지원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D2BA-AP_3CD-0601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/>
        </p:nvGraphicFramePr>
        <p:xfrm>
          <a:off x="652374" y="1286787"/>
          <a:ext cx="8782571" cy="2188764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2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59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8" name="Group 759">
            <a:extLst>
              <a:ext uri="{FF2B5EF4-FFF2-40B4-BE49-F238E27FC236}">
                <a16:creationId xmlns:a16="http://schemas.microsoft.com/office/drawing/2014/main" id="{319C15BD-6050-0EF7-51D6-033B70274342}"/>
              </a:ext>
            </a:extLst>
          </p:cNvPr>
          <p:cNvGraphicFramePr>
            <a:graphicFrameLocks noGrp="1"/>
          </p:cNvGraphicFramePr>
          <p:nvPr/>
        </p:nvGraphicFramePr>
        <p:xfrm>
          <a:off x="652374" y="1416776"/>
          <a:ext cx="8782571" cy="964656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391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8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401144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사전의향서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세금계산서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목록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845071"/>
              </p:ext>
            </p:extLst>
          </p:nvPr>
        </p:nvGraphicFramePr>
        <p:xfrm>
          <a:off x="635474" y="1413419"/>
          <a:ext cx="8701200" cy="233470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통합 목록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BfhdLoiList_SrchFilter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BfhdLoiList_SrchFilter.tsx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1233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MUI-TS-01-M02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사전의향서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상세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65343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MUI-TS-01-M02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상세내용 탭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사전의향서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상세 화면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상세내용 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/BfhdLoiDtl2.tsx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MUI-TS-01-M02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품목명세서탭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사전의향서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상세 화면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품목명세서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/BfhdLoiDtl3.tsx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140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MUI-TS-01-P03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의견작성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BfhdLoiWrt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사전의향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의견 작성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BfhdLoiWrt.tsx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153768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51013" y="2572029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80010" y="2364537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447238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</a:t>
            </a: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865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25" idx="1"/>
          </p:cNvCxnSpPr>
          <p:nvPr/>
        </p:nvCxnSpPr>
        <p:spPr>
          <a:xfrm>
            <a:off x="5097742" y="2454537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24" idx="1"/>
          </p:cNvCxnSpPr>
          <p:nvPr/>
        </p:nvCxnSpPr>
        <p:spPr>
          <a:xfrm flipV="1">
            <a:off x="5097742" y="1830562"/>
            <a:ext cx="931134" cy="623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5" idx="3"/>
            <a:endCxn id="158" idx="2"/>
          </p:cNvCxnSpPr>
          <p:nvPr/>
        </p:nvCxnSpPr>
        <p:spPr>
          <a:xfrm>
            <a:off x="6928876" y="2454537"/>
            <a:ext cx="75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4" idx="3"/>
            <a:endCxn id="158" idx="2"/>
          </p:cNvCxnSpPr>
          <p:nvPr/>
        </p:nvCxnSpPr>
        <p:spPr>
          <a:xfrm>
            <a:off x="6928876" y="1830562"/>
            <a:ext cx="751134" cy="623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93479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의견작성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>
            <a:off x="6478876" y="2598537"/>
            <a:ext cx="0" cy="33625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0" idx="3"/>
            <a:endCxn id="158" idx="2"/>
          </p:cNvCxnSpPr>
          <p:nvPr/>
        </p:nvCxnSpPr>
        <p:spPr>
          <a:xfrm flipV="1">
            <a:off x="6928876" y="2454537"/>
            <a:ext cx="751134" cy="62425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화면 </a:t>
            </a:r>
            <a:r>
              <a:rPr lang="ko-KR" altLang="en-US" dirty="0" smtClean="0"/>
              <a:t>영역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265382" y="1890475"/>
            <a:ext cx="1727200" cy="3005537"/>
            <a:chOff x="1265382" y="2170157"/>
            <a:chExt cx="1727200" cy="224214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FD7B626-4B5C-AE29-EFB9-628750B32B78}"/>
                </a:ext>
              </a:extLst>
            </p:cNvPr>
            <p:cNvSpPr/>
            <p:nvPr/>
          </p:nvSpPr>
          <p:spPr>
            <a:xfrm>
              <a:off x="1265382" y="2170157"/>
              <a:ext cx="1727200" cy="442253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사전의향서목록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+mn-ea"/>
                </a:rPr>
                <a:t>BfhdLoiListPage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4F2CFBC-290B-2E89-63C0-62C22747051D}"/>
                </a:ext>
              </a:extLst>
            </p:cNvPr>
            <p:cNvSpPr/>
            <p:nvPr/>
          </p:nvSpPr>
          <p:spPr>
            <a:xfrm>
              <a:off x="1265382" y="2770475"/>
              <a:ext cx="1727200" cy="442253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검색필터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+mn-ea"/>
                </a:rPr>
                <a:t>BfhdLoiList_SrchFilter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370793"/>
              <a:ext cx="1727200" cy="442253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사전의향서상세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+mn-ea"/>
                </a:rPr>
                <a:t>BfhdLoiDtlPage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970045"/>
              <a:ext cx="1727200" cy="442253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사전의향서의견작성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+mn-ea"/>
                </a:rPr>
                <a:t>BfhdLoiWrt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>
                <a:latin typeface="+mn-ea"/>
              </a:rPr>
              <a:t>사전의향서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86890"/>
            <a:ext cx="967509" cy="80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92582" y="2990174"/>
            <a:ext cx="967509" cy="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806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3455423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/>
              <a:t>검색필터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5687291" y="2990174"/>
            <a:ext cx="1226127" cy="708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609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사전의향서</a:t>
            </a:r>
            <a:r>
              <a:rPr lang="ko-KR" altLang="en-US" sz="800" dirty="0"/>
              <a:t>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01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80453"/>
            <a:ext cx="2473257" cy="803737"/>
            <a:chOff x="781461" y="2610063"/>
            <a:chExt cx="2473257" cy="803737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접수일자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2025-05-01 ~ 2025-08-15</a:t>
              </a:r>
            </a:p>
            <a:p>
              <a:r>
                <a:rPr lang="ko-KR" altLang="en-US" sz="900" b="1" dirty="0"/>
                <a:t>변속기 부품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38472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79" name="모서리가 둥근 직사각형 178"/>
            <p:cNvSpPr/>
            <p:nvPr/>
          </p:nvSpPr>
          <p:spPr>
            <a:xfrm>
              <a:off x="1376841" y="2610063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043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430971"/>
            <a:ext cx="2476203" cy="803737"/>
            <a:chOff x="778515" y="2610063"/>
            <a:chExt cx="2476203" cy="803737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접수일자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2025-07-01 ~ 2025-10-30</a:t>
              </a:r>
            </a:p>
            <a:p>
              <a:r>
                <a:rPr lang="ko-KR" altLang="en-US" sz="900" b="1" dirty="0"/>
                <a:t>장갑차 부품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38472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운영계약팀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홍길순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구매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6" y="2610063"/>
              <a:ext cx="317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미제출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124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463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구매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만료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제출기한</a:t>
            </a: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4614060" y="3209690"/>
            <a:ext cx="32324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미제출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4318635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제출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제출여부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633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4" name="그룹 93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5" name="직선 연결선 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8" name="그룹 97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9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2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03" name="그룹 102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8" name="모서리가 둥근 직사각형 10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1" name="그룹 110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제목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1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2" name="타원 111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4" name="타원 11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5" name="그룹 11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6" name="직선 연결선 11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44573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접수기간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기간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813628"/>
            <a:ext cx="2519558" cy="1370836"/>
            <a:chOff x="778515" y="4388257"/>
            <a:chExt cx="2519558" cy="1370836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품명을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1" y="5406408"/>
              <a:ext cx="91438" cy="45719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3138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 (본문)"/>
                          <a:ea typeface="맑은 고딕" panose="020B0503020000020004" pitchFamily="50" charset="-127"/>
                          <a:cs typeface="+mn-cs"/>
                        </a:rPr>
                        <a:t>rcptYmdFr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704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27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74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2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2706355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2927349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prgrsStcd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미제출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86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3770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79402"/>
              </p:ext>
            </p:extLst>
          </p:nvPr>
        </p:nvGraphicFramePr>
        <p:xfrm>
          <a:off x="453000" y="4612378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접수기간을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현재일자로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52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66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/>
                        <a:t>scwin.grd_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bfhdLoiTtl</a:t>
                      </a:r>
                      <a:r>
                        <a:rPr lang="en-US" altLang="ko-KR" sz="800" dirty="0" err="1"/>
                        <a:t>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dirty="0"/>
                        <a:t>UI-TS-01-M02) </a:t>
                      </a:r>
                      <a:r>
                        <a:rPr lang="ko-KR" altLang="en-US" sz="800" dirty="0"/>
                        <a:t>사전의향서 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2F135EB-F5B9-1B5B-A5DF-50EE71F5B30C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4" name="Text Box 73">
            <a:extLst>
              <a:ext uri="{FF2B5EF4-FFF2-40B4-BE49-F238E27FC236}">
                <a16:creationId xmlns:a16="http://schemas.microsoft.com/office/drawing/2014/main" id="{7425F7B3-7DAE-3B72-855C-DEA9777BB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9320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공고가 지명경쟁계약일 경우 </a:t>
            </a:r>
            <a:r>
              <a:rPr lang="ko-KR" altLang="en-US" dirty="0" err="1"/>
              <a:t>상세화면은</a:t>
            </a:r>
            <a:r>
              <a:rPr lang="ko-KR" altLang="en-US" dirty="0"/>
              <a:t> 계약업무담당자 또는 </a:t>
            </a:r>
            <a:r>
              <a:rPr lang="ko-KR" altLang="en-US" dirty="0" smtClean="0"/>
              <a:t>지명경쟁업체로 </a:t>
            </a:r>
            <a:r>
              <a:rPr lang="ko-KR" altLang="en-US" dirty="0"/>
              <a:t>등록된 업체만 </a:t>
            </a:r>
            <a:r>
              <a:rPr lang="ko-KR" altLang="en-US" dirty="0" err="1"/>
              <a:t>조회가능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출력 가능 </a:t>
            </a:r>
            <a:r>
              <a:rPr lang="ko-KR" altLang="en-US" dirty="0" err="1">
                <a:sym typeface="Wingdings" panose="05000000000000000000" pitchFamily="2" charset="2"/>
              </a:rPr>
              <a:t>레포트</a:t>
            </a:r>
            <a:r>
              <a:rPr lang="ko-KR" altLang="en-US" dirty="0">
                <a:sym typeface="Wingdings" panose="05000000000000000000" pitchFamily="2" charset="2"/>
              </a:rPr>
              <a:t> 목록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 </a:t>
            </a:r>
            <a:r>
              <a:rPr lang="ko-KR" altLang="en-US" dirty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섹션 도움말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 </a:t>
            </a:r>
            <a:r>
              <a:rPr lang="ko-KR" altLang="en-US" dirty="0"/>
              <a:t>영역이 사용되는 경우 도움말 아코디언 기능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사전의향서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발주부서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담당자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384721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총괄계약팀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홍길동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12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024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8949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29262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0082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1974079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3402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340244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3021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66318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7765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970667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706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970667"/>
            <a:ext cx="670770" cy="612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접수종료일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970667"/>
            <a:ext cx="18144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변속기 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2025-05-01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2025-08-15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017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154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6291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45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708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9" name="타원 188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60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3827360" y="2211584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" name="그룹 2"/>
          <p:cNvGrpSpPr/>
          <p:nvPr/>
        </p:nvGrpSpPr>
        <p:grpSpPr>
          <a:xfrm>
            <a:off x="779007" y="1971228"/>
            <a:ext cx="841905" cy="119400"/>
            <a:chOff x="781461" y="3087955"/>
            <a:chExt cx="841905" cy="119400"/>
          </a:xfrm>
        </p:grpSpPr>
        <p:sp>
          <p:nvSpPr>
            <p:cNvPr id="156" name="모서리가 둥근 직사각형 155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3881876" y="1598978"/>
            <a:ext cx="841905" cy="119400"/>
            <a:chOff x="781461" y="3087955"/>
            <a:chExt cx="841905" cy="119400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63" name="모서리가 둥근 직사각형 162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795735" y="2576379"/>
            <a:ext cx="2712026" cy="899454"/>
            <a:chOff x="675400" y="2576379"/>
            <a:chExt cx="2712026" cy="89945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7745" y="2576379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문의처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5" name="그룹 164"/>
            <p:cNvGrpSpPr/>
            <p:nvPr/>
          </p:nvGrpSpPr>
          <p:grpSpPr>
            <a:xfrm flipV="1">
              <a:off x="3119832" y="2689710"/>
              <a:ext cx="94010" cy="47005"/>
              <a:chOff x="6812560" y="3297172"/>
              <a:chExt cx="94010" cy="47005"/>
            </a:xfrm>
          </p:grpSpPr>
          <p:cxnSp>
            <p:nvCxnSpPr>
              <p:cNvPr id="166" name="직선 연결선 16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400" y="3475833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9" name="모서리가 둥근 직사각형 168"/>
            <p:cNvSpPr/>
            <p:nvPr/>
          </p:nvSpPr>
          <p:spPr>
            <a:xfrm>
              <a:off x="705042" y="3048695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0" name="그룹 169"/>
            <p:cNvGrpSpPr/>
            <p:nvPr/>
          </p:nvGrpSpPr>
          <p:grpSpPr>
            <a:xfrm>
              <a:off x="854871" y="2888603"/>
              <a:ext cx="2353084" cy="440219"/>
              <a:chOff x="854511" y="2888603"/>
              <a:chExt cx="2353084" cy="440219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부서명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담당자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연락처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3167239"/>
                <a:ext cx="493904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latin typeface="+mn-ea"/>
                  </a:rPr>
                  <a:t>총괄계약팀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3167239"/>
                <a:ext cx="638280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홍길동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3113378"/>
                <a:ext cx="6475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02-1234-5678</a:t>
                </a:r>
              </a:p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010-1234-5678</a:t>
                </a:r>
              </a:p>
            </p:txBody>
          </p:sp>
        </p:grpSp>
      </p:grp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9439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품목명세서</a:t>
            </a:r>
            <a:r>
              <a:rPr lang="ko-KR" altLang="en-US" dirty="0" smtClean="0"/>
              <a:t> </a:t>
            </a:r>
            <a:r>
              <a:rPr lang="ko-KR" altLang="en-US" dirty="0"/>
              <a:t>목록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엑셀다운</a:t>
            </a:r>
            <a:r>
              <a:rPr lang="ko-KR" altLang="en-US" dirty="0"/>
              <a:t> 버튼 클릭 이벤트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제조</a:t>
            </a:r>
            <a:r>
              <a:rPr lang="en-US" altLang="ko-KR" dirty="0"/>
              <a:t>/</a:t>
            </a:r>
            <a:r>
              <a:rPr lang="ko-KR" altLang="en-US" dirty="0"/>
              <a:t>구매 및 의견 클릭 시 팝업으로 의견 작성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 작성 내역은 화면에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팝업에서 </a:t>
            </a:r>
            <a:r>
              <a:rPr lang="ko-KR" altLang="en-US" dirty="0" err="1"/>
              <a:t>임시저장</a:t>
            </a:r>
            <a:r>
              <a:rPr lang="ko-KR" altLang="en-US" dirty="0"/>
              <a:t> 또는 제출 클릭 시 본 화면에 내용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제출 기간이 지난 경우 </a:t>
            </a:r>
            <a:r>
              <a:rPr lang="ko-KR" altLang="en-US" dirty="0" err="1"/>
              <a:t>입력폼</a:t>
            </a:r>
            <a:r>
              <a:rPr lang="ko-KR" altLang="en-US" dirty="0"/>
              <a:t> 노출하지 않으며</a:t>
            </a:r>
            <a:r>
              <a:rPr lang="en-US" altLang="ko-KR" dirty="0"/>
              <a:t>, </a:t>
            </a:r>
            <a:r>
              <a:rPr lang="ko-KR" altLang="en-US" dirty="0"/>
              <a:t>입력된 내역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재고번호</a:t>
            </a:r>
            <a:r>
              <a:rPr lang="ko-KR" altLang="en-US" dirty="0"/>
              <a:t> 팝업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더보기</a:t>
            </a:r>
            <a:r>
              <a:rPr lang="ko-KR" altLang="en-US" dirty="0"/>
              <a:t> 버튼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16366" y="2192581"/>
            <a:ext cx="2630094" cy="2154437"/>
            <a:chOff x="701175" y="1924233"/>
            <a:chExt cx="2630094" cy="2154437"/>
          </a:xfrm>
        </p:grpSpPr>
        <p:sp>
          <p:nvSpPr>
            <p:cNvPr id="160" name="직사각형 159"/>
            <p:cNvSpPr/>
            <p:nvPr/>
          </p:nvSpPr>
          <p:spPr>
            <a:xfrm>
              <a:off x="703268" y="1924233"/>
              <a:ext cx="792000" cy="21544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924234"/>
              <a:ext cx="725552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구매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의견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최초조달월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924234"/>
              <a:ext cx="1775839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A7005265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4240-3753116870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924234"/>
              <a:ext cx="2630093" cy="2147400"/>
              <a:chOff x="701175" y="1835481"/>
              <a:chExt cx="2630093" cy="214740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162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2813082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보기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6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547181" y="2384913"/>
              <a:ext cx="1784088" cy="162000"/>
            </a:xfrm>
            <a:prstGeom prst="round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/>
                </a:rPr>
                <a:t>의견을 작성해 주세</a:t>
              </a:r>
              <a:r>
                <a:rPr kumimoji="1" lang="ko-KR" altLang="en-US" sz="700" b="0" i="0" u="none" strike="noStrike" kern="0" cap="none" spc="0" normalizeH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/>
                </a:rPr>
                <a:t>요</a:t>
              </a:r>
              <a:r>
                <a:rPr kumimoji="1" lang="en-US" altLang="ko-KR" sz="700" b="0" i="0" u="none" strike="noStrike" kern="0" cap="none" spc="0" normalizeH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/>
                </a:rPr>
                <a:t>.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6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547181" y="2168862"/>
              <a:ext cx="1784088" cy="162000"/>
            </a:xfrm>
            <a:prstGeom prst="round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solidFill>
                    <a:schemeClr val="bg1">
                      <a:lumMod val="65000"/>
                    </a:schemeClr>
                  </a:solidFill>
                  <a:latin typeface="맑은 고딕"/>
                </a:rPr>
                <a:t>선택해주세요</a:t>
              </a:r>
              <a:r>
                <a:rPr kumimoji="1" lang="en-US" altLang="ko-KR" sz="700" kern="0" dirty="0">
                  <a:solidFill>
                    <a:schemeClr val="bg1">
                      <a:lumMod val="65000"/>
                    </a:schemeClr>
                  </a:solidFill>
                  <a:latin typeface="맑은 고딕"/>
                </a:rPr>
                <a:t>.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832070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308276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282" y="5472979"/>
            <a:ext cx="2448261" cy="1407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</a:rPr>
              <a:t>제조</a:t>
            </a:r>
            <a:r>
              <a:rPr lang="en-US" altLang="ko-KR" sz="700" dirty="0">
                <a:solidFill>
                  <a:srgbClr val="FF0000"/>
                </a:solidFill>
              </a:rPr>
              <a:t>/</a:t>
            </a:r>
            <a:r>
              <a:rPr lang="ko-KR" altLang="en-US" sz="700" dirty="0">
                <a:solidFill>
                  <a:srgbClr val="FF0000"/>
                </a:solidFill>
              </a:rPr>
              <a:t>구매에서 </a:t>
            </a:r>
            <a:r>
              <a:rPr lang="en-US" altLang="ko-KR" sz="700" dirty="0">
                <a:solidFill>
                  <a:srgbClr val="FF0000"/>
                </a:solidFill>
              </a:rPr>
              <a:t>[</a:t>
            </a:r>
            <a:r>
              <a:rPr lang="ko-KR" altLang="en-US" sz="700" dirty="0" err="1">
                <a:solidFill>
                  <a:srgbClr val="FF0000"/>
                </a:solidFill>
              </a:rPr>
              <a:t>의견작성</a:t>
            </a:r>
            <a:r>
              <a:rPr lang="en-US" altLang="ko-KR" sz="700" dirty="0">
                <a:solidFill>
                  <a:srgbClr val="FF0000"/>
                </a:solidFill>
              </a:rPr>
              <a:t>] </a:t>
            </a:r>
            <a:r>
              <a:rPr lang="ko-KR" altLang="en-US" sz="700" dirty="0">
                <a:solidFill>
                  <a:srgbClr val="FF0000"/>
                </a:solidFill>
              </a:rPr>
              <a:t>선택 시 의견 작성 가능합니다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3627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0" name="그룹 69"/>
          <p:cNvGrpSpPr/>
          <p:nvPr/>
        </p:nvGrpSpPr>
        <p:grpSpPr>
          <a:xfrm>
            <a:off x="3124233" y="2484826"/>
            <a:ext cx="94010" cy="47005"/>
            <a:chOff x="6812560" y="3297172"/>
            <a:chExt cx="94010" cy="47005"/>
          </a:xfrm>
        </p:grpSpPr>
        <p:cxnSp>
          <p:nvCxnSpPr>
            <p:cNvPr id="71" name="직선 연결선 7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양쪽 모서리가 둥근 사각형 82"/>
          <p:cNvSpPr/>
          <p:nvPr/>
        </p:nvSpPr>
        <p:spPr>
          <a:xfrm>
            <a:off x="379947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88549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6288418" y="3182696"/>
            <a:ext cx="94010" cy="94010"/>
            <a:chOff x="6812560" y="3297172"/>
            <a:chExt cx="94010" cy="94010"/>
          </a:xfrm>
        </p:grpSpPr>
        <p:cxnSp>
          <p:nvCxnSpPr>
            <p:cNvPr id="95" name="직선 연결선 94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855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제조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구매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 err="1">
                <a:latin typeface="+mn-ea"/>
              </a:rPr>
              <a:t>의견작성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947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모서리가 둥근 직사각형 87"/>
          <p:cNvSpPr/>
          <p:nvPr/>
        </p:nvSpPr>
        <p:spPr>
          <a:xfrm>
            <a:off x="456795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855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구매</a:t>
            </a:r>
            <a:endParaRPr lang="en-US" altLang="ko-KR" sz="700" dirty="0">
              <a:latin typeface="+mn-ea"/>
            </a:endParaRPr>
          </a:p>
        </p:txBody>
      </p:sp>
      <p:sp>
        <p:nvSpPr>
          <p:cNvPr id="9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4567958" y="4193223"/>
            <a:ext cx="1845838" cy="244350"/>
          </a:xfrm>
          <a:prstGeom prst="roundRect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>
                <a:solidFill>
                  <a:schemeClr val="bg1"/>
                </a:solidFill>
                <a:latin typeface="맑은 고딕"/>
                <a:ea typeface="맑은 고딕" panose="020B0503020000020004" pitchFamily="50" charset="-127"/>
              </a:rPr>
              <a:t>제출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0204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98" name="모서리가 둥근 직사각형 97"/>
          <p:cNvSpPr/>
          <p:nvPr/>
        </p:nvSpPr>
        <p:spPr>
          <a:xfrm>
            <a:off x="4567958" y="387236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>
                <a:solidFill>
                  <a:schemeClr val="bg1">
                    <a:lumMod val="65000"/>
                  </a:schemeClr>
                </a:solidFill>
              </a:rPr>
              <a:t>의견을 작성하세요</a:t>
            </a:r>
            <a:r>
              <a:rPr kumimoji="1" lang="en-US" altLang="ko-KR" sz="700" kern="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8556" y="394067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의견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28556" y="4193223"/>
            <a:ext cx="586688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임시저장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6194408" y="366199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1" name="그룹 110"/>
          <p:cNvGrpSpPr/>
          <p:nvPr/>
        </p:nvGrpSpPr>
        <p:grpSpPr>
          <a:xfrm>
            <a:off x="6252303" y="3761146"/>
            <a:ext cx="776938" cy="1131139"/>
            <a:chOff x="3004764" y="2490533"/>
            <a:chExt cx="776938" cy="1131139"/>
          </a:xfrm>
        </p:grpSpPr>
        <p:sp>
          <p:nvSpPr>
            <p:cNvPr id="11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선택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39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제조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TextBox 227">
              <a:extLst>
                <a:ext uri="{FF2B5EF4-FFF2-40B4-BE49-F238E27FC236}">
                  <a16:creationId xmlns:a16="http://schemas.microsoft.com/office/drawing/2014/main" id="{16FE1925-95A9-0AB2-6154-E506938CFD04}"/>
                </a:ext>
              </a:extLst>
            </p:cNvPr>
            <p:cNvSpPr txBox="1"/>
            <p:nvPr/>
          </p:nvSpPr>
          <p:spPr>
            <a:xfrm>
              <a:off x="3063151" y="3325305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ko-KR" altLang="en-US" sz="700" kern="0" dirty="0" err="1">
                  <a:solidFill>
                    <a:prstClr val="black"/>
                  </a:solidFill>
                </a:rPr>
                <a:t>의견작성</a:t>
              </a:r>
              <a:endParaRPr lang="en-US" altLang="ko-KR" sz="700" kern="0" dirty="0">
                <a:solidFill>
                  <a:prstClr val="black"/>
                </a:solidFill>
              </a:endParaRPr>
            </a:p>
          </p:txBody>
        </p:sp>
        <p:sp>
          <p:nvSpPr>
            <p:cNvPr id="141" name="TextBox 230">
              <a:extLst>
                <a:ext uri="{FF2B5EF4-FFF2-40B4-BE49-F238E27FC236}">
                  <a16:creationId xmlns:a16="http://schemas.microsoft.com/office/drawing/2014/main" id="{DC4EA8A9-095A-0AC6-FEBF-364DA2336F3D}"/>
                </a:ext>
              </a:extLst>
            </p:cNvPr>
            <p:cNvSpPr txBox="1"/>
            <p:nvPr/>
          </p:nvSpPr>
          <p:spPr>
            <a:xfrm>
              <a:off x="3063151" y="3079596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ko-KR" altLang="en-US" sz="700" kern="0" dirty="0">
                  <a:solidFill>
                    <a:prstClr val="black"/>
                  </a:solidFill>
                </a:rPr>
                <a:t>구매</a:t>
              </a:r>
              <a:endParaRPr lang="en-US" altLang="ko-KR" sz="700" kern="0" dirty="0">
                <a:solidFill>
                  <a:prstClr val="black"/>
                </a:solidFill>
              </a:endParaRPr>
            </a:p>
          </p:txBody>
        </p:sp>
        <p:grpSp>
          <p:nvGrpSpPr>
            <p:cNvPr id="142" name="그룹 141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43" name="직선 연결선 142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타원 14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255242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" name="직사각형 4"/>
          <p:cNvSpPr/>
          <p:nvPr/>
        </p:nvSpPr>
        <p:spPr>
          <a:xfrm>
            <a:off x="3799479" y="1280418"/>
            <a:ext cx="99257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+mn-ea"/>
              </a:rPr>
              <a:t>MUI-TS-01-P03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50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사전의향서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식별을 위한 사전의향서 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47485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169585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A7E6DC-64DA-F832-9B8C-583A3EE86AB5}"/>
              </a:ext>
            </a:extLst>
          </p:cNvPr>
          <p:cNvSpPr txBox="1"/>
          <p:nvPr/>
        </p:nvSpPr>
        <p:spPr>
          <a:xfrm>
            <a:off x="444290" y="2552943"/>
            <a:ext cx="178150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129D29-12E7-EC4C-5A21-9EA7614AFC2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276522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telNum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7B5F06-C68F-2911-0D19-44F26088A7F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608CDF3B-5A29-9ECB-44E4-5F1BF253D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4824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D770-B0E9-489E-BEA0-EE1CC1E3753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3366E91D-66A4-9A5D-F342-3775D21BD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52534-CB1C-39EB-E291-645AA1AC444B}"/>
              </a:ext>
            </a:extLst>
          </p:cNvPr>
          <p:cNvSpPr txBox="1"/>
          <p:nvPr/>
        </p:nvSpPr>
        <p:spPr>
          <a:xfrm>
            <a:off x="444290" y="80519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82828CA-950F-BA1E-29D3-FFAF98E4A08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290" y="1026184"/>
          <a:ext cx="8994883" cy="3878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mnftrPrchsSecd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0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etcOpnnCn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항목의 선택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19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03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86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frstSosCd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SPU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implInstCd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PRS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lshtmSecd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6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19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mtncItemSecd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RCC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79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0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6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prcmDrctnSecd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POD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8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rqtQty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344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rqtUntprc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40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89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78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60993"/>
              </p:ext>
            </p:extLst>
          </p:nvPr>
        </p:nvGraphicFramePr>
        <p:xfrm>
          <a:off x="453000" y="851801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mnftrPrchsSecd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을 선택할 수 있는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selectBox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 활성화된다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임시저장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save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저장된다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submit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제출처리 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8532B5-4519-DD07-2B67-714EA926EFF9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1C13369B-4248-C066-3634-FD775F16E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1956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>
                <a:latin typeface="+mn-ea"/>
              </a:rPr>
              <a:t>세금계산서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en-US" altLang="ko-KR" dirty="0" smtClean="0"/>
              <a:t>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5946"/>
              </p:ext>
            </p:extLst>
          </p:nvPr>
        </p:nvGraphicFramePr>
        <p:xfrm>
          <a:off x="635474" y="1413419"/>
          <a:ext cx="8701200" cy="17750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TxivList_CtrtList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세금계산서가 있는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TxivList_SrchFilter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8216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MUI-TS-04-P02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포함된 세금계산서 목록 조회 팝업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2477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MUI-TS-04-M03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TxivDtlPage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대한 일반 또는 수정세금계산서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MUI-TS-04-M04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TxivPrgrsPrst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발행일자별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세금계산서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진행현황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78852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9281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.2</a:t>
            </a:r>
            <a:r>
              <a:rPr lang="en-US" altLang="ko-KR" dirty="0"/>
              <a:t>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447238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</a:t>
            </a:r>
          </a:p>
        </p:txBody>
      </p:sp>
      <p:cxnSp>
        <p:nvCxnSpPr>
          <p:cNvPr id="3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48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 목록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48" idx="3"/>
            <a:endCxn id="55" idx="1"/>
          </p:cNvCxnSpPr>
          <p:nvPr/>
        </p:nvCxnSpPr>
        <p:spPr>
          <a:xfrm>
            <a:off x="5097742" y="2454537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51013" y="25733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80010" y="2364537"/>
            <a:ext cx="180000" cy="180000"/>
            <a:chOff x="5058274" y="2498299"/>
            <a:chExt cx="180000" cy="180000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55" idx="3"/>
            <a:endCxn id="53" idx="2"/>
          </p:cNvCxnSpPr>
          <p:nvPr/>
        </p:nvCxnSpPr>
        <p:spPr>
          <a:xfrm>
            <a:off x="6928876" y="2454537"/>
            <a:ext cx="75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29921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진행현황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7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1" idx="3"/>
            <a:endCxn id="55" idx="1"/>
          </p:cNvCxnSpPr>
          <p:nvPr/>
        </p:nvCxnSpPr>
        <p:spPr>
          <a:xfrm flipV="1">
            <a:off x="3266608" y="2454537"/>
            <a:ext cx="2762268" cy="681573"/>
          </a:xfrm>
          <a:prstGeom prst="bentConnector3">
            <a:avLst>
              <a:gd name="adj1" fmla="val 8379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1" idx="1"/>
          </p:cNvCxnSpPr>
          <p:nvPr/>
        </p:nvCxnSpPr>
        <p:spPr>
          <a:xfrm>
            <a:off x="1435474" y="1772964"/>
            <a:ext cx="931134" cy="13631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197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>
                <a:latin typeface="+mn-ea"/>
              </a:rPr>
              <a:t>세금계산서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86890"/>
            <a:ext cx="967509" cy="80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92582" y="2990174"/>
            <a:ext cx="967509" cy="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806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3455423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/>
              <a:t>검색필터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5687291" y="2990174"/>
            <a:ext cx="1226127" cy="708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890475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계약목록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TxivList_CtrtListPage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614712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38948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TxivList_SrchFilter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61899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TxivPrgrsPrstPage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784851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TxivDtlPage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338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2061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72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 있는 경우 </a:t>
            </a:r>
            <a:r>
              <a:rPr lang="ko-KR" altLang="en-US" dirty="0" err="1"/>
              <a:t>바텀</a:t>
            </a:r>
            <a:r>
              <a:rPr lang="ko-KR" altLang="en-US" dirty="0"/>
              <a:t> 시트를 통해 세금계산서 발행 목록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계약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계약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24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89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69565"/>
            <a:ext cx="2473257" cy="821562"/>
            <a:chOff x="781461" y="2610063"/>
            <a:chExt cx="2473257" cy="821562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083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6091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420083"/>
            <a:ext cx="2476203" cy="803737"/>
            <a:chOff x="778515" y="2610063"/>
            <a:chExt cx="2476203" cy="803737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2436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구매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경쟁입찰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0156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786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3544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만료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제출기한</a:t>
            </a: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4614060" y="3209690"/>
            <a:ext cx="32324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미제출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4318635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제출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제출여부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614060" y="3542221"/>
            <a:ext cx="32324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미제출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4318635" y="354222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제출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4806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계약종류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18635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9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88867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4776097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5232765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5690227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6147576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4318635" y="405521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5199541" y="4055214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5885028" y="4055214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318635" y="4223183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4876890" y="4223183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767485" y="4223183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490952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521050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513581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4" name="직선 연결선 9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9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6" name="그룹 10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7" name="모서리가 둥근 직사각형 10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0" name="그룹 109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1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1" name="타원 110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3" name="타원 112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4" name="그룹 113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74432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물려있는 경우 팝업에서 목록을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이동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목록 팝업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목록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MUI-TS-04-P02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세부 세금계산서 목록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781461" y="3199121"/>
            <a:ext cx="2473257" cy="807615"/>
            <a:chOff x="781461" y="2610063"/>
            <a:chExt cx="2473257" cy="807615"/>
          </a:xfrm>
        </p:grpSpPr>
        <p:sp>
          <p:nvSpPr>
            <p:cNvPr id="1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1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2986791"/>
              <a:ext cx="657231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95" name="모서리가 둥근 직사각형 19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일반</a:t>
              </a:r>
            </a:p>
          </p:txBody>
        </p:sp>
        <p:sp>
          <p:nvSpPr>
            <p:cNvPr id="196" name="모서리가 둥근 직사각형 195"/>
            <p:cNvSpPr/>
            <p:nvPr/>
          </p:nvSpPr>
          <p:spPr>
            <a:xfrm>
              <a:off x="1075654" y="2610063"/>
              <a:ext cx="4745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14962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111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 000 000 - 01</a:t>
            </a:r>
          </a:p>
          <a:p>
            <a:r>
              <a:rPr lang="ko-KR" altLang="en-US" sz="900" b="1" dirty="0"/>
              <a:t>변속기 부품 계약의 건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11" name="그룹 210"/>
          <p:cNvGrpSpPr/>
          <p:nvPr/>
        </p:nvGrpSpPr>
        <p:grpSpPr>
          <a:xfrm>
            <a:off x="781461" y="4261376"/>
            <a:ext cx="2473257" cy="807615"/>
            <a:chOff x="781461" y="2610063"/>
            <a:chExt cx="2473257" cy="807615"/>
          </a:xfrm>
        </p:grpSpPr>
        <p:sp>
          <p:nvSpPr>
            <p:cNvPr id="21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21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21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2986791"/>
              <a:ext cx="657231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5" name="모서리가 둥근 직사각형 21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수정</a:t>
              </a:r>
            </a:p>
          </p:txBody>
        </p:sp>
        <p:sp>
          <p:nvSpPr>
            <p:cNvPr id="216" name="모서리가 둥근 직사각형 215"/>
            <p:cNvSpPr/>
            <p:nvPr/>
          </p:nvSpPr>
          <p:spPr>
            <a:xfrm>
              <a:off x="1075655" y="2610063"/>
              <a:ext cx="24514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</a:p>
          </p:txBody>
        </p:sp>
        <p:sp>
          <p:nvSpPr>
            <p:cNvPr id="220" name="모서리가 둥근 직사각형 219"/>
            <p:cNvSpPr/>
            <p:nvPr/>
          </p:nvSpPr>
          <p:spPr>
            <a:xfrm>
              <a:off x="1373979" y="2610063"/>
              <a:ext cx="66595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</p:grp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구분</a:t>
            </a:r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수정</a:t>
            </a: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318634" y="2877159"/>
            <a:ext cx="47561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4840814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작성</a:t>
            </a:r>
            <a:endParaRPr lang="ko-KR" altLang="en-US" sz="600" dirty="0"/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5130857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5099260" y="3209690"/>
            <a:ext cx="57287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공급가액 변동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318635" y="3209690"/>
            <a:ext cx="72644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기재사항 </a:t>
            </a:r>
            <a:r>
              <a:rPr lang="ko-KR" altLang="en-US" sz="600" dirty="0" err="1"/>
              <a:t>착오정정</a:t>
            </a:r>
            <a:endParaRPr lang="ko-KR" altLang="en-US" sz="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수정사유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6023985" y="3209690"/>
            <a:ext cx="51229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계약의 해제</a:t>
            </a: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5726322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rPr>
              <a:t>환입</a:t>
            </a:r>
            <a:endParaRPr lang="ko-KR" altLang="en-US" sz="60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42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29149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바텀시트</a:t>
            </a:r>
            <a:r>
              <a:rPr lang="ko-KR" altLang="en-US" dirty="0"/>
              <a:t> 시스템 </a:t>
            </a:r>
            <a:r>
              <a:rPr lang="ko-KR" altLang="en-US" dirty="0" err="1"/>
              <a:t>드롭다운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다이얼</a:t>
            </a:r>
            <a:r>
              <a:rPr lang="en-US" altLang="ko-KR" dirty="0"/>
              <a:t>) </a:t>
            </a:r>
            <a:r>
              <a:rPr lang="ko-KR" altLang="en-US" dirty="0"/>
              <a:t>활용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세금계산서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2025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543589"/>
            <a:chOff x="675399" y="3490553"/>
            <a:chExt cx="2712027" cy="543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계약연도</a:t>
              </a:r>
              <a:r>
                <a:rPr lang="ko-KR" altLang="en-US" sz="700" b="1" dirty="0">
                  <a:latin typeface="+mn-ea"/>
                </a:rPr>
                <a:t>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연도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0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034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507850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업체명을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2" y="5184741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63" name="그룹 62"/>
          <p:cNvGrpSpPr/>
          <p:nvPr/>
        </p:nvGrpSpPr>
        <p:grpSpPr>
          <a:xfrm>
            <a:off x="3145721" y="2247351"/>
            <a:ext cx="91438" cy="45719"/>
            <a:chOff x="6812560" y="3297172"/>
            <a:chExt cx="94010" cy="47005"/>
          </a:xfrm>
        </p:grpSpPr>
        <p:cxnSp>
          <p:nvCxnSpPr>
            <p:cNvPr id="70" name="직선 연결선 6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그룹 71"/>
          <p:cNvGrpSpPr/>
          <p:nvPr/>
        </p:nvGrpSpPr>
        <p:grpSpPr>
          <a:xfrm>
            <a:off x="3282878" y="2211357"/>
            <a:ext cx="776938" cy="1211284"/>
            <a:chOff x="3004764" y="2490533"/>
            <a:chExt cx="776938" cy="1211284"/>
          </a:xfrm>
        </p:grpSpPr>
        <p:sp>
          <p:nvSpPr>
            <p:cNvPr id="73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2025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7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2026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2025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2024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⁞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78" name="그룹 7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77954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896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dml_SrchCtrtList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736891"/>
            <a:ext cx="214698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800" b="0" kern="1200" spc="-6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계약년도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항목 검색 조건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CTRT_YMD like ‘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%’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020645"/>
          <a:ext cx="8994883" cy="218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bidxMtnm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 (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(WTB_PDB411.RPRS_ITEM_NM)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(WTB_PDB500N.CTRT_NM)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457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30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WTB_PVB134(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조달원공통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M/S)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WTB_PDB500N.FINL_USER_IDEN = WTB_PDU101.USER_ID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E3D9436D-3099-6420-C71A-FD88C714F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6449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8ED3A-F52A-F319-8372-292D836D881F}"/>
              </a:ext>
            </a:extLst>
          </p:cNvPr>
          <p:cNvSpPr txBox="1"/>
          <p:nvPr/>
        </p:nvSpPr>
        <p:spPr>
          <a:xfrm>
            <a:off x="458117" y="797452"/>
            <a:ext cx="25156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3787482-7219-3755-3826-A59DE5690C5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81206"/>
          <a:ext cx="8994883" cy="3080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71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3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9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</a:rPr>
                        <a:t>수정 세금계산서 </a:t>
                      </a:r>
                      <a:r>
                        <a:rPr lang="ko-KR" altLang="en-US" sz="800" dirty="0" err="1">
                          <a:latin typeface="+mn-ea"/>
                        </a:rPr>
                        <a:t>구분명</a:t>
                      </a:r>
                      <a:r>
                        <a:rPr lang="ko-KR" altLang="en-US" sz="800" dirty="0">
                          <a:latin typeface="+mn-ea"/>
                        </a:rPr>
                        <a:t>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= “R”, “U“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“UR”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수정세금계산서 작성사유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 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45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71499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1787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1176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758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5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713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569330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22238"/>
              </p:ext>
            </p:extLst>
          </p:nvPr>
        </p:nvGraphicFramePr>
        <p:xfrm>
          <a:off x="453000" y="84746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6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20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05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 err="1"/>
                        <a:t>계약년도를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scwin.btn_srchCtrtList_onclick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</a:rPr>
                        <a:t>계약목록 데이터를 조회한다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36445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1740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세금계산서작성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MUI-TS-04-M03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772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발주부서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담당자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384721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총괄계약팀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홍길동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12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4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8949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29262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0082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1974079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303981"/>
            <a:ext cx="12886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41731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611466"/>
            <a:ext cx="792000" cy="8681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61146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611466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발행번호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책번호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일련번호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611466"/>
            <a:ext cx="18144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1234-4567-7890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0000 000 00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00000-00000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8425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562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6998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0060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9" name="타원 188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79007" y="1971228"/>
            <a:ext cx="841905" cy="119400"/>
            <a:chOff x="781461" y="3087955"/>
            <a:chExt cx="841905" cy="119400"/>
          </a:xfrm>
        </p:grpSpPr>
        <p:sp>
          <p:nvSpPr>
            <p:cNvPr id="156" name="모서리가 둥근 직사각형 155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3881876" y="1598978"/>
            <a:ext cx="841905" cy="119400"/>
            <a:chOff x="781461" y="3087955"/>
            <a:chExt cx="841905" cy="119400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63" name="모서리가 둥근 직사각형 162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795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6974"/>
            <a:ext cx="1237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공급자 정보</a:t>
            </a:r>
          </a:p>
        </p:txBody>
      </p:sp>
      <p:grpSp>
        <p:nvGrpSpPr>
          <p:cNvPr id="95" name="그룹 94"/>
          <p:cNvGrpSpPr/>
          <p:nvPr/>
        </p:nvGrpSpPr>
        <p:grpSpPr>
          <a:xfrm flipV="1">
            <a:off x="3143548" y="4710305"/>
            <a:ext cx="94010" cy="47005"/>
            <a:chOff x="6812560" y="3297172"/>
            <a:chExt cx="94010" cy="47005"/>
          </a:xfrm>
        </p:grpSpPr>
        <p:cxnSp>
          <p:nvCxnSpPr>
            <p:cNvPr id="96" name="직선 연결선 9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직선 연결선 9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직사각형 97"/>
          <p:cNvSpPr/>
          <p:nvPr/>
        </p:nvSpPr>
        <p:spPr>
          <a:xfrm>
            <a:off x="722583" y="4904459"/>
            <a:ext cx="792000" cy="132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445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4459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사업자번호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대표명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상호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업체명</a:t>
            </a:r>
            <a:r>
              <a:rPr lang="en-US" altLang="ko-KR" sz="700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업태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주소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4459"/>
            <a:ext cx="18144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123-45-67890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</a:t>
            </a:r>
            <a:r>
              <a:rPr lang="ko-KR" altLang="en-US" sz="700" dirty="0">
                <a:latin typeface="+mn-ea"/>
              </a:rPr>
              <a:t>업체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종로구</a:t>
            </a:r>
            <a:r>
              <a:rPr lang="en-US" altLang="ko-KR" sz="700" dirty="0">
                <a:latin typeface="+mn-ea"/>
              </a:rPr>
              <a:t>…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55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492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29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25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676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48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3839085" y="2137232"/>
            <a:ext cx="2660475" cy="1612847"/>
            <a:chOff x="3970705" y="3216762"/>
            <a:chExt cx="2660475" cy="1612847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공급받는자</a:t>
              </a:r>
              <a:r>
                <a:rPr lang="ko-KR" altLang="en-US" sz="700" dirty="0">
                  <a:latin typeface="+mn-ea"/>
                </a:rPr>
                <a:t>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972798" y="3524247"/>
              <a:ext cx="792000" cy="13053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827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923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6146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296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3" name="그룹 152"/>
          <p:cNvGrpSpPr/>
          <p:nvPr/>
        </p:nvGrpSpPr>
        <p:grpSpPr>
          <a:xfrm>
            <a:off x="3839085" y="3863113"/>
            <a:ext cx="2660475" cy="752297"/>
            <a:chOff x="3970705" y="3216762"/>
            <a:chExt cx="2660475" cy="752297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계약서 일반정보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98" name="직선 연결선 19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직선 연결선 19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9" name="직사각형 158"/>
            <p:cNvSpPr/>
            <p:nvPr/>
          </p:nvSpPr>
          <p:spPr>
            <a:xfrm>
              <a:off x="3972798" y="3524247"/>
              <a:ext cx="792000" cy="4435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</a:t>
              </a: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81717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8" name="그룹 207"/>
          <p:cNvGrpSpPr/>
          <p:nvPr/>
        </p:nvGrpSpPr>
        <p:grpSpPr>
          <a:xfrm>
            <a:off x="4751839" y="4237240"/>
            <a:ext cx="1499574" cy="107722"/>
            <a:chOff x="1597442" y="5895087"/>
            <a:chExt cx="1499574" cy="107722"/>
          </a:xfrm>
        </p:grpSpPr>
        <p:sp>
          <p:nvSpPr>
            <p:cNvPr id="209" name="타원 208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타원 209"/>
            <p:cNvSpPr/>
            <p:nvPr/>
          </p:nvSpPr>
          <p:spPr>
            <a:xfrm>
              <a:off x="216920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면세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213" name="타원 212"/>
            <p:cNvSpPr/>
            <p:nvPr/>
          </p:nvSpPr>
          <p:spPr>
            <a:xfrm>
              <a:off x="275975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1748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15" name="그룹 214"/>
          <p:cNvGrpSpPr/>
          <p:nvPr/>
        </p:nvGrpSpPr>
        <p:grpSpPr>
          <a:xfrm>
            <a:off x="4751839" y="4457464"/>
            <a:ext cx="1088560" cy="107722"/>
            <a:chOff x="1597442" y="5895087"/>
            <a:chExt cx="1088560" cy="107722"/>
          </a:xfrm>
        </p:grpSpPr>
        <p:sp>
          <p:nvSpPr>
            <p:cNvPr id="216" name="타원 215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타원 216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확정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예정</a:t>
              </a: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3839085" y="4717075"/>
            <a:ext cx="2660475" cy="1508106"/>
            <a:chOff x="3970705" y="3524246"/>
            <a:chExt cx="2660475" cy="1508106"/>
          </a:xfrm>
        </p:grpSpPr>
        <p:sp>
          <p:nvSpPr>
            <p:cNvPr id="223" name="직사각형 222"/>
            <p:cNvSpPr/>
            <p:nvPr/>
          </p:nvSpPr>
          <p:spPr>
            <a:xfrm>
              <a:off x="3972798" y="3524246"/>
              <a:ext cx="792000" cy="15081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 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계약건명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2025-01-10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변속기 부품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643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7804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59657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102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19021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54790"/>
          <a:ext cx="8994883" cy="545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 경우 조건에 따라 변경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As-is :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commandMap.sOption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1) “1: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시설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,3: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2) “5:FMS”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재무관증빙번호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3) “4: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bookNo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regSn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47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69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56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51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splrPicNm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15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splrEntlno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96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splrTkcgDeptNm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58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splrEmlAddr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54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594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94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4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504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854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06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:VATA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51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232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06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191FAC9D-E4E4-9782-8F9B-459B88AF5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2486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24503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40091"/>
              </p:ext>
            </p:extLst>
          </p:nvPr>
        </p:nvGraphicFramePr>
        <p:xfrm>
          <a:off x="453000" y="2728504"/>
          <a:ext cx="8995591" cy="94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72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10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세금계산서구분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화면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‘. 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으로 변경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상세조회 및 작성화면은 동일한 화면 사용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scwin.btn_TxivDtlOtpt_onclick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세금계산서상세내용 팝업을 호출하여 해당 화면을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( Window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print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처리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71762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2517488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63A7A-3C64-D8D7-2D49-13287D99CFD9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3422736-CCA7-9469-9BA9-B941106107D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54790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</a:tbl>
          </a:graphicData>
        </a:graphic>
      </p:graphicFrame>
      <p:sp>
        <p:nvSpPr>
          <p:cNvPr id="9" name="Text Box 73">
            <a:extLst>
              <a:ext uri="{FF2B5EF4-FFF2-40B4-BE49-F238E27FC236}">
                <a16:creationId xmlns:a16="http://schemas.microsoft.com/office/drawing/2014/main" id="{EE39B7DB-6549-D18B-849E-7ED7453CA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880682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8078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 err="1"/>
              <a:t>진행현황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947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6750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발행번호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5723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일반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4" y="2610063"/>
              <a:ext cx="4862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0664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667875"/>
            <a:ext cx="2476203" cy="1080735"/>
            <a:chOff x="778515" y="2610063"/>
            <a:chExt cx="2476203" cy="1080735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발행번호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5723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수정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379571" y="2610063"/>
              <a:ext cx="67377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077463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5493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068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799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구분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수정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4318634" y="2877159"/>
            <a:ext cx="47561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4840814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작성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5130857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5099260" y="3209690"/>
            <a:ext cx="57287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공급가액 변동</a:t>
            </a:r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4318635" y="3209690"/>
            <a:ext cx="72644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기재사항 </a:t>
            </a:r>
            <a:r>
              <a:rPr lang="ko-KR" altLang="en-US" sz="600" dirty="0" err="1"/>
              <a:t>착오정정</a:t>
            </a:r>
            <a:endParaRPr lang="ko-KR" altLang="en-US" sz="6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수정사유</a:t>
            </a:r>
            <a:endParaRPr lang="ko-KR" altLang="en-US" sz="700" dirty="0">
              <a:latin typeface="+mn-ea"/>
            </a:endParaRPr>
          </a:p>
        </p:txBody>
      </p:sp>
      <p:sp>
        <p:nvSpPr>
          <p:cNvPr id="179" name="모서리가 둥근 직사각형 178"/>
          <p:cNvSpPr/>
          <p:nvPr/>
        </p:nvSpPr>
        <p:spPr>
          <a:xfrm>
            <a:off x="6023985" y="3209690"/>
            <a:ext cx="51229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계약의 해제</a:t>
            </a:r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5726322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rPr>
              <a:t>환입</a:t>
            </a:r>
            <a:endParaRPr lang="ko-KR" altLang="en-US" sz="6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84" name="직선 연결선 8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7" name="그룹 8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8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9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91" name="그룹 90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95" name="그룹 94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96" name="모서리가 둥근 직사각형 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99" name="그룹 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00" name="타원 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02" name="타원 1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3" name="그룹 1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9376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세금계산서진행현황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발행일자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13628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3145721" y="2911318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1454056" y="309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계약건명을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50619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계약건명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수정구분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1454056" y="3315676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계약번호를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1454056" y="376103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상태를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1454056" y="3538395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구분을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41" name="그룹 140"/>
          <p:cNvGrpSpPr/>
          <p:nvPr/>
        </p:nvGrpSpPr>
        <p:grpSpPr>
          <a:xfrm>
            <a:off x="3145723" y="3831779"/>
            <a:ext cx="91438" cy="45719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3" name="그룹 162"/>
          <p:cNvGrpSpPr/>
          <p:nvPr/>
        </p:nvGrpSpPr>
        <p:grpSpPr>
          <a:xfrm>
            <a:off x="3145723" y="3610111"/>
            <a:ext cx="91438" cy="45719"/>
            <a:chOff x="6812560" y="3297172"/>
            <a:chExt cx="94010" cy="47005"/>
          </a:xfrm>
        </p:grpSpPr>
        <p:cxnSp>
          <p:nvCxnSpPr>
            <p:cNvPr id="164" name="직선 연결선 16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177049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2049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dmt_SrchTxivPrgrsPrst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73660"/>
            <a:ext cx="30494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7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발행일자시작일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시작일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종료일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 진행상태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17819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557414"/>
          <a:ext cx="8994883" cy="3540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67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계산서구분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851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계산서발행번호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701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38935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9619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19996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09177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63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264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35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splrWrtDt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제출일시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As-is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WTB_XDT611.SUP_SIGN_DATE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78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elsgnRsltCd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국세청결과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17005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40D4824D-7A8A-6FF7-E945-AA3DA642D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0972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5F124-9EBA-E119-105D-59BDEB46042A}"/>
              </a:ext>
            </a:extLst>
          </p:cNvPr>
          <p:cNvSpPr txBox="1"/>
          <p:nvPr/>
        </p:nvSpPr>
        <p:spPr>
          <a:xfrm>
            <a:off x="458117" y="57779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09C01E7-E3D6-734F-7BFE-91353DFEF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054746"/>
              </p:ext>
            </p:extLst>
          </p:nvPr>
        </p:nvGraphicFramePr>
        <p:xfrm>
          <a:off x="453000" y="85592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906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0" dirty="0" err="1"/>
                        <a:t>scwin.btn_Srch</a:t>
                      </a:r>
                      <a:r>
                        <a:rPr lang="en-US" altLang="ko-KR" sz="800" b="0" dirty="0" err="1">
                          <a:solidFill>
                            <a:prstClr val="black"/>
                          </a:solidFill>
                        </a:rPr>
                        <a:t>TxivPrgrsPrst_onclick</a:t>
                      </a:r>
                      <a:endParaRPr lang="ko-KR" altLang="en-US" sz="800" b="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조건에 따른 세금계산서진행현황 목록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scwin.grd_TxivPrgrsPrst_onclick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세금계산서상세정보를 조회하는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/>
                        <a:t>(UI-TS-04-M03) </a:t>
                      </a:r>
                      <a:r>
                        <a:rPr lang="ko-KR" altLang="en-US" sz="800" dirty="0"/>
                        <a:t>세금계산서작성 팝업으로 호출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924937"/>
                  </a:ext>
                </a:extLst>
              </a:tr>
            </a:tbl>
          </a:graphicData>
        </a:graphic>
      </p:graphicFrame>
      <p:sp>
        <p:nvSpPr>
          <p:cNvPr id="16" name="Text Box 73">
            <a:extLst>
              <a:ext uri="{FF2B5EF4-FFF2-40B4-BE49-F238E27FC236}">
                <a16:creationId xmlns:a16="http://schemas.microsoft.com/office/drawing/2014/main" id="{C50305C5-0706-6C5A-8776-896C01A4C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91092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884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10798</TotalTime>
  <Words>3844</Words>
  <Application>Microsoft Office PowerPoint</Application>
  <PresentationFormat>A4 용지(210x297mm)</PresentationFormat>
  <Paragraphs>1714</Paragraphs>
  <Slides>31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Pretendard Medium</vt:lpstr>
      <vt:lpstr>맑은 고딕</vt:lpstr>
      <vt:lpstr>맑은 고딕 (본문)</vt:lpstr>
      <vt:lpstr>Arial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INSoft</cp:lastModifiedBy>
  <cp:revision>674</cp:revision>
  <cp:lastPrinted>2016-10-27T08:57:39Z</cp:lastPrinted>
  <dcterms:created xsi:type="dcterms:W3CDTF">2016-10-27T07:41:55Z</dcterms:created>
  <dcterms:modified xsi:type="dcterms:W3CDTF">2026-06-12T06:29:49Z</dcterms:modified>
  <cp:category>서브시스템/업무명</cp:category>
  <cp:contentStatus>0.1</cp:contentStatus>
</cp:coreProperties>
</file>